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3"/>
  </p:notesMasterIdLst>
  <p:sldIdLst>
    <p:sldId id="485" r:id="rId2"/>
    <p:sldId id="579" r:id="rId3"/>
    <p:sldId id="652" r:id="rId4"/>
    <p:sldId id="653" r:id="rId5"/>
    <p:sldId id="583" r:id="rId6"/>
    <p:sldId id="657" r:id="rId7"/>
    <p:sldId id="666" r:id="rId8"/>
    <p:sldId id="668" r:id="rId9"/>
    <p:sldId id="669" r:id="rId10"/>
    <p:sldId id="670" r:id="rId11"/>
    <p:sldId id="665" r:id="rId12"/>
    <p:sldId id="672" r:id="rId13"/>
    <p:sldId id="674" r:id="rId14"/>
    <p:sldId id="675" r:id="rId15"/>
    <p:sldId id="676" r:id="rId16"/>
    <p:sldId id="671" r:id="rId17"/>
    <p:sldId id="667" r:id="rId18"/>
    <p:sldId id="655" r:id="rId19"/>
    <p:sldId id="656" r:id="rId20"/>
    <p:sldId id="264" r:id="rId21"/>
    <p:sldId id="258" r:id="rId22"/>
    <p:sldId id="584" r:id="rId23"/>
    <p:sldId id="585" r:id="rId24"/>
    <p:sldId id="586" r:id="rId25"/>
    <p:sldId id="587" r:id="rId26"/>
    <p:sldId id="589" r:id="rId27"/>
    <p:sldId id="663" r:id="rId28"/>
    <p:sldId id="661" r:id="rId29"/>
    <p:sldId id="588" r:id="rId30"/>
    <p:sldId id="658" r:id="rId31"/>
    <p:sldId id="617" r:id="rId32"/>
    <p:sldId id="620" r:id="rId33"/>
    <p:sldId id="619" r:id="rId34"/>
    <p:sldId id="621" r:id="rId35"/>
    <p:sldId id="622" r:id="rId36"/>
    <p:sldId id="659" r:id="rId37"/>
    <p:sldId id="660" r:id="rId38"/>
    <p:sldId id="291" r:id="rId39"/>
    <p:sldId id="664" r:id="rId40"/>
    <p:sldId id="654" r:id="rId41"/>
    <p:sldId id="631" r:id="rId42"/>
  </p:sldIdLst>
  <p:sldSz cx="12192000" cy="6858000"/>
  <p:notesSz cx="6858000" cy="9144000"/>
  <p:embeddedFontLst>
    <p:embeddedFont>
      <p:font typeface="Comic Sans MS" panose="030F0902030302020204" pitchFamily="66" charset="0"/>
      <p:regular r:id="rId44"/>
    </p:embeddedFont>
    <p:embeddedFont>
      <p:font typeface="Consolas" panose="020B0609020204030204" pitchFamily="49" charset="0"/>
      <p:regular r:id="rId45"/>
      <p:bold r:id="rId46"/>
      <p:italic r:id="rId47"/>
      <p:boldItalic r:id="rId48"/>
    </p:embeddedFont>
    <p:embeddedFont>
      <p:font typeface="Verdana" panose="020B0604030504040204" pitchFamily="34" charset="0"/>
      <p:regular r:id="rId49"/>
      <p:bold r:id="rId50"/>
      <p:italic r:id="rId51"/>
      <p:boldItalic r:id="rId5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79"/>
            <p14:sldId id="652"/>
            <p14:sldId id="653"/>
            <p14:sldId id="583"/>
            <p14:sldId id="657"/>
            <p14:sldId id="666"/>
            <p14:sldId id="668"/>
            <p14:sldId id="669"/>
            <p14:sldId id="670"/>
            <p14:sldId id="665"/>
            <p14:sldId id="672"/>
            <p14:sldId id="674"/>
            <p14:sldId id="675"/>
            <p14:sldId id="676"/>
            <p14:sldId id="671"/>
            <p14:sldId id="667"/>
            <p14:sldId id="655"/>
            <p14:sldId id="656"/>
            <p14:sldId id="264"/>
            <p14:sldId id="258"/>
            <p14:sldId id="584"/>
            <p14:sldId id="585"/>
            <p14:sldId id="586"/>
            <p14:sldId id="587"/>
            <p14:sldId id="589"/>
            <p14:sldId id="663"/>
            <p14:sldId id="661"/>
            <p14:sldId id="588"/>
            <p14:sldId id="658"/>
            <p14:sldId id="617"/>
            <p14:sldId id="620"/>
            <p14:sldId id="619"/>
            <p14:sldId id="621"/>
            <p14:sldId id="622"/>
            <p14:sldId id="659"/>
            <p14:sldId id="660"/>
            <p14:sldId id="291"/>
            <p14:sldId id="664"/>
            <p14:sldId id="654"/>
            <p14:sldId id="631"/>
          </p14:sldIdLst>
        </p14:section>
        <p14:section name="Default Section" id="{8798EF7B-FA91-3F42-BBDB-C5DCFDEAEC0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autoAdjust="0"/>
    <p:restoredTop sz="65677" autoAdjust="0"/>
  </p:normalViewPr>
  <p:slideViewPr>
    <p:cSldViewPr snapToGrid="0">
      <p:cViewPr varScale="1">
        <p:scale>
          <a:sx n="87" d="100"/>
          <a:sy n="87" d="100"/>
        </p:scale>
        <p:origin x="1072" y="528"/>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4.fntdata"/><Relationship Id="rId50" Type="http://schemas.openxmlformats.org/officeDocument/2006/relationships/font" Target="fonts/font7.fntdata"/><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2.fntdata"/><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fntdata"/><Relationship Id="rId52"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font" Target="fonts/font5.fntdata"/><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8.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12/30/25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7D45D-864D-6F16-9399-9980DE25E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EF937C-5A8B-D87B-37FA-06DDEDEB09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6CA6C-7677-4E66-F358-20ADFF87AC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9F2DD3-B28E-1D3E-582A-20D17A88461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7822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Assemble/Act/Assess. Testing a function like this one is always going to involve:</a:t>
            </a:r>
          </a:p>
          <a:p>
            <a:endParaRPr lang="en-US" dirty="0"/>
          </a:p>
          <a:p>
            <a:r>
              <a:rPr lang="en-US" dirty="0"/>
              <a:t> - Assembling an input</a:t>
            </a:r>
          </a:p>
          <a:p>
            <a:r>
              <a:rPr lang="en-US" dirty="0"/>
              <a:t> - Acting by passing that input to the function</a:t>
            </a:r>
          </a:p>
          <a:p>
            <a:r>
              <a:rPr lang="en-US" dirty="0"/>
              <a:t> - Assessing something about what the function does</a:t>
            </a:r>
          </a:p>
          <a:p>
            <a:endParaRPr lang="en-US" dirty="0"/>
          </a:p>
          <a:p>
            <a:r>
              <a:rPr lang="en-US" dirty="0"/>
              <a:t>How should we test this function? What inputs should we pass it?</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4114674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types of </a:t>
            </a:r>
            <a:r>
              <a:rPr lang="en-US" i="1" dirty="0"/>
              <a:t>contracts</a:t>
            </a:r>
            <a:r>
              <a:rPr lang="en-US" dirty="0"/>
              <a:t> in this function: the TypeScript one says that the input must be a number, and the one document in the precondition that says that it must be a nonnegative integer.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36385892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Unlike some languages, the type contracts in TypeScript are </a:t>
            </a:r>
            <a:r>
              <a:rPr lang="en-US" i="1" dirty="0"/>
              <a:t>totally unchecked</a:t>
            </a:r>
            <a:r>
              <a:rPr lang="en-US" i="0" dirty="0"/>
              <a:t> — Node will happily run the function with an argument that doesn’t have type “number,” just as it will happily run it on an input that violates the “nonnegative integer” contract in the precondition. This is fundamental to TypeScript but can be very confusing if you’re used to types in languages that aren’t Python and JavaScript.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So why are we using TypeScript at all? Well, a lot of people obviously find a lot of value in using TypeScript, and we’re using it in this course for a reason.</a:t>
            </a: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21715154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reality is that different software projects use TypeScript in fundamentally different ways. It’s possible, in most cases, to make choices in a project that make mistakes less likely. Our project code sets up the </a:t>
            </a:r>
            <a:r>
              <a:rPr lang="en-US" dirty="0" err="1"/>
              <a:t>ESLint</a:t>
            </a:r>
            <a:r>
              <a:rPr lang="en-US" dirty="0"/>
              <a:t> linter with a lot of rules that enforce this strict use of TypeScript.</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6940653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DFC98-E2A8-20CC-E47E-A3D62A5406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A58091-5571-2F6A-5AD5-117F8D4403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F46AD6-FB09-0D82-691F-86AD1BE0524A}"/>
              </a:ext>
            </a:extLst>
          </p:cNvPr>
          <p:cNvSpPr>
            <a:spLocks noGrp="1"/>
          </p:cNvSpPr>
          <p:nvPr>
            <p:ph type="body" idx="1"/>
          </p:nvPr>
        </p:nvSpPr>
        <p:spPr/>
        <p:txBody>
          <a:bodyPr/>
          <a:lstStyle/>
          <a:p>
            <a:r>
              <a:rPr lang="en-US" dirty="0"/>
              <a:t>Here’s a more real version of the initial example, a piece of code from the project codebase. Both the comments and the types are telling us about the function’s preconditions, which help set  the expectations for testing the code.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We’d definitely want to test this function with a valid chat ID and an invalid chat ID.</a:t>
            </a:r>
          </a:p>
          <a:p>
            <a:endParaRPr lang="en-US" dirty="0"/>
          </a:p>
          <a:p>
            <a:r>
              <a:rPr lang="en-US" dirty="0"/>
              <a:t>TypeScript won’t consistently enforce that we’ll only pass a message ID that’s a string, and not a number or an object or something else — and TypeScript definitely won’t enforce that you only call the function with valid message IDs that correspond to actual messages. But the contracts on this function — but if we’re trusting that this function will be called in ways that respect the function’s contracts, we don’t need to test it with a message ID 4, or with a random string message ID that doesn’t correspond to a message.</a:t>
            </a:r>
          </a:p>
          <a:p>
            <a:endParaRPr lang="en-US" dirty="0"/>
          </a:p>
          <a:p>
            <a:r>
              <a:rPr lang="en-US" dirty="0"/>
              <a:t>But maybe we don’t trust ourselves and the evolution of our code over time, so we want to write the test anyway! There’s not a single right answer. What are the tradeoffs for writing tests that violate the stated preconditions? (One answer: if you write tests that violate the preconditions, that may push you to check for the precondition violation in code. Which means your code is now more slower and more complicated than it had to be!)</a:t>
            </a:r>
          </a:p>
        </p:txBody>
      </p:sp>
      <p:sp>
        <p:nvSpPr>
          <p:cNvPr id="4" name="Slide Number Placeholder 3">
            <a:extLst>
              <a:ext uri="{FF2B5EF4-FFF2-40B4-BE49-F238E27FC236}">
                <a16:creationId xmlns:a16="http://schemas.microsoft.com/office/drawing/2014/main" id="{5783F7D6-E117-4578-6CD9-C7D9C9E9520B}"/>
              </a:ext>
            </a:extLst>
          </p:cNvPr>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8750228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E3D2D4-3B06-92DD-2ABB-088B1DBA78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A101BA-48A2-D84E-4FC4-92812349A7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17B64-C914-2D5D-3BBC-4469E3D1FD1F}"/>
              </a:ext>
            </a:extLst>
          </p:cNvPr>
          <p:cNvSpPr>
            <a:spLocks noGrp="1"/>
          </p:cNvSpPr>
          <p:nvPr>
            <p:ph type="body" idx="1"/>
          </p:nvPr>
        </p:nvSpPr>
        <p:spPr/>
        <p:txBody>
          <a:bodyPr/>
          <a:lstStyle/>
          <a:p>
            <a:r>
              <a:rPr lang="en-US" dirty="0"/>
              <a:t>Not all inputs to your programs can be trusted to have any particular shape or form, however!</a:t>
            </a:r>
          </a:p>
          <a:p>
            <a:endParaRPr lang="en-US" dirty="0"/>
          </a:p>
          <a:p>
            <a:r>
              <a:rPr lang="en-US" dirty="0"/>
              <a:t>When you give an input to a website through a web browser, the code on the web browser will make sure the request has a specific format. But the nature of web applications is that those submissions can </a:t>
            </a:r>
            <a:r>
              <a:rPr lang="en-US" i="1" dirty="0"/>
              <a:t>always </a:t>
            </a:r>
            <a:r>
              <a:rPr lang="en-US" i="0" dirty="0"/>
              <a:t>be done in different ways, without the same guardrails.</a:t>
            </a:r>
          </a:p>
          <a:p>
            <a:endParaRPr lang="en-US" i="0" dirty="0"/>
          </a:p>
          <a:p>
            <a:r>
              <a:rPr lang="en-US" i="0" dirty="0"/>
              <a:t>On the upper right we show the same action of creating a </a:t>
            </a:r>
            <a:r>
              <a:rPr lang="en-US" i="0" dirty="0" err="1"/>
              <a:t>GameNite</a:t>
            </a:r>
            <a:r>
              <a:rPr lang="en-US" i="0" dirty="0"/>
              <a:t> account being done through the “Postman” program (there’s a Postman tutorial on the website), and on the command line with a command-line “curl” command. (You can get “curl” commands out of Postman too.)</a:t>
            </a:r>
            <a:endParaRPr lang="en-US" dirty="0"/>
          </a:p>
        </p:txBody>
      </p:sp>
      <p:sp>
        <p:nvSpPr>
          <p:cNvPr id="4" name="Slide Number Placeholder 3">
            <a:extLst>
              <a:ext uri="{FF2B5EF4-FFF2-40B4-BE49-F238E27FC236}">
                <a16:creationId xmlns:a16="http://schemas.microsoft.com/office/drawing/2014/main" id="{2FF8C9A4-B2EE-6557-8062-EF8775204CD1}"/>
              </a:ext>
            </a:extLst>
          </p:cNvPr>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261962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3F2F5-3486-F3D4-01BD-3A260D56A4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BA9310-4DD7-173D-212C-E57A29B49F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FC2DE8-FE51-C4EA-5FC3-AEBE167FCF82}"/>
              </a:ext>
            </a:extLst>
          </p:cNvPr>
          <p:cNvSpPr>
            <a:spLocks noGrp="1"/>
          </p:cNvSpPr>
          <p:nvPr>
            <p:ph type="body" idx="1"/>
          </p:nvPr>
        </p:nvSpPr>
        <p:spPr/>
        <p:txBody>
          <a:bodyPr/>
          <a:lstStyle/>
          <a:p>
            <a:r>
              <a:rPr lang="en-US" dirty="0"/>
              <a:t>TypeScript has a way of dealing with inputs when you can’t trust that the input is going to obey any sort of contract: the unknown type.</a:t>
            </a:r>
          </a:p>
          <a:p>
            <a:endParaRPr lang="en-US" dirty="0"/>
          </a:p>
          <a:p>
            <a:r>
              <a:rPr lang="en-US" dirty="0"/>
              <a:t>(click)</a:t>
            </a:r>
          </a:p>
          <a:p>
            <a:r>
              <a:rPr lang="en-US" dirty="0"/>
              <a:t>If you have an unknown value and you try to do pretty much anything to it (such as cast it to uppercase like it’s a string), TypeScript will yell at you. </a:t>
            </a:r>
          </a:p>
          <a:p>
            <a:endParaRPr lang="en-US" dirty="0"/>
          </a:p>
          <a:p>
            <a:r>
              <a:rPr lang="en-US" dirty="0"/>
              <a:t>(click)</a:t>
            </a:r>
          </a:p>
          <a:p>
            <a:r>
              <a:rPr lang="en-US" dirty="0"/>
              <a:t>But if you check that it’s a string first with JavaScript’s </a:t>
            </a:r>
            <a:r>
              <a:rPr lang="en-US" dirty="0" err="1"/>
              <a:t>typeof</a:t>
            </a:r>
            <a:r>
              <a:rPr lang="en-US" dirty="0"/>
              <a:t> function, TypeScript will then remember that you’ve checked that it’s a string.</a:t>
            </a:r>
          </a:p>
        </p:txBody>
      </p:sp>
      <p:sp>
        <p:nvSpPr>
          <p:cNvPr id="4" name="Slide Number Placeholder 3">
            <a:extLst>
              <a:ext uri="{FF2B5EF4-FFF2-40B4-BE49-F238E27FC236}">
                <a16:creationId xmlns:a16="http://schemas.microsoft.com/office/drawing/2014/main" id="{9BF8BCC5-B2AB-557F-2B03-6F1C9309125F}"/>
              </a:ext>
            </a:extLst>
          </p:cNvPr>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26391178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5B551-2ACB-87DF-621E-8CF85F2285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3843C4-E597-FB7B-4107-41A7F5EE87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35BE9-25C8-D5D8-AEDF-FF73546206B2}"/>
              </a:ext>
            </a:extLst>
          </p:cNvPr>
          <p:cNvSpPr>
            <a:spLocks noGrp="1"/>
          </p:cNvSpPr>
          <p:nvPr>
            <p:ph type="body" idx="1"/>
          </p:nvPr>
        </p:nvSpPr>
        <p:spPr/>
        <p:txBody>
          <a:bodyPr/>
          <a:lstStyle/>
          <a:p>
            <a:r>
              <a:rPr lang="en-US" dirty="0"/>
              <a:t>This was just about shortest code I could come up with to use straightforward TypeScript to reliably take an unknown piece of data and get record with a string username and a string password.</a:t>
            </a:r>
          </a:p>
        </p:txBody>
      </p:sp>
      <p:sp>
        <p:nvSpPr>
          <p:cNvPr id="4" name="Slide Number Placeholder 3">
            <a:extLst>
              <a:ext uri="{FF2B5EF4-FFF2-40B4-BE49-F238E27FC236}">
                <a16:creationId xmlns:a16="http://schemas.microsoft.com/office/drawing/2014/main" id="{2FEAF677-102E-2F95-DC9E-3BC9DE0972A6}"/>
              </a:ext>
            </a:extLst>
          </p:cNvPr>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9602522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EF256-FC42-E509-0AE2-20ED6E83ED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A4400-19B1-61D6-AC65-F55617D330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E9C0F3-BA1B-3144-59CA-48D65C56BABC}"/>
              </a:ext>
            </a:extLst>
          </p:cNvPr>
          <p:cNvSpPr>
            <a:spLocks noGrp="1"/>
          </p:cNvSpPr>
          <p:nvPr>
            <p:ph type="body" idx="1"/>
          </p:nvPr>
        </p:nvSpPr>
        <p:spPr/>
        <p:txBody>
          <a:bodyPr/>
          <a:lstStyle/>
          <a:p>
            <a:r>
              <a:rPr lang="en-US" dirty="0"/>
              <a:t>Zod is a library that lets us create representations of the TypeScript types we want to enforce, and then use a function like </a:t>
            </a:r>
            <a:r>
              <a:rPr lang="en-US" dirty="0" err="1"/>
              <a:t>safeParse</a:t>
            </a:r>
            <a:r>
              <a:rPr lang="en-US" dirty="0"/>
              <a:t> to ensure that the object really has the structure we expect it to have.</a:t>
            </a:r>
          </a:p>
          <a:p>
            <a:endParaRPr lang="en-US" dirty="0"/>
          </a:p>
          <a:p>
            <a:r>
              <a:rPr lang="en-US" dirty="0"/>
              <a:t>(click)</a:t>
            </a:r>
          </a:p>
          <a:p>
            <a:r>
              <a:rPr lang="en-US" dirty="0"/>
              <a:t>If you put this code in </a:t>
            </a:r>
            <a:r>
              <a:rPr lang="en-US" dirty="0" err="1"/>
              <a:t>VSCode</a:t>
            </a:r>
            <a:r>
              <a:rPr lang="en-US" dirty="0"/>
              <a:t> and hover over “Auth”, you’ll see it’s exactly the type that we want, so we don’t even have to write the same type twice.</a:t>
            </a:r>
          </a:p>
          <a:p>
            <a:endParaRPr lang="en-US" dirty="0"/>
          </a:p>
        </p:txBody>
      </p:sp>
      <p:sp>
        <p:nvSpPr>
          <p:cNvPr id="4" name="Slide Number Placeholder 3">
            <a:extLst>
              <a:ext uri="{FF2B5EF4-FFF2-40B4-BE49-F238E27FC236}">
                <a16:creationId xmlns:a16="http://schemas.microsoft.com/office/drawing/2014/main" id="{B5E2D8E2-9F92-7BAD-8C7B-7855949EF681}"/>
              </a:ext>
            </a:extLst>
          </p:cNvPr>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5184569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E1702-4BAC-79EB-B53B-BC8CF5D42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0FDF9D-7C0E-C4F8-454B-3BEA9702CC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794D1-4E79-1855-BC36-03022E538370}"/>
              </a:ext>
            </a:extLst>
          </p:cNvPr>
          <p:cNvSpPr>
            <a:spLocks noGrp="1"/>
          </p:cNvSpPr>
          <p:nvPr>
            <p:ph type="body" idx="1"/>
          </p:nvPr>
        </p:nvSpPr>
        <p:spPr/>
        <p:txBody>
          <a:bodyPr/>
          <a:lstStyle/>
          <a:p>
            <a:r>
              <a:rPr lang="en-US" dirty="0"/>
              <a:t>Here’s a small webserver that uses Express, the same library that the course project uses. </a:t>
            </a:r>
          </a:p>
          <a:p>
            <a:endParaRPr lang="en-US" dirty="0"/>
          </a:p>
          <a:p>
            <a:r>
              <a:rPr lang="en-US" dirty="0"/>
              <a:t>(click)</a:t>
            </a:r>
          </a:p>
          <a:p>
            <a:r>
              <a:rPr lang="en-US" dirty="0"/>
              <a:t>The third line covers an enormous amount of validation — it ensures that our web server will only respond to specific requests that send JSON data (we’ll be using JSON data a lot in the class, there’s an article about it in the </a:t>
            </a:r>
            <a:r>
              <a:rPr lang="en-US" dirty="0" err="1"/>
              <a:t>resoures</a:t>
            </a:r>
            <a:r>
              <a:rPr lang="en-US" dirty="0"/>
              <a:t> for this lecture)</a:t>
            </a:r>
          </a:p>
          <a:p>
            <a:endParaRPr lang="en-US" dirty="0"/>
          </a:p>
          <a:p>
            <a:r>
              <a:rPr lang="en-US" dirty="0"/>
              <a:t>(click)</a:t>
            </a:r>
          </a:p>
          <a:p>
            <a:r>
              <a:rPr lang="en-US" dirty="0"/>
              <a:t>However, the line that lets `</a:t>
            </a:r>
            <a:r>
              <a:rPr lang="en-US" dirty="0" err="1"/>
              <a:t>req.body</a:t>
            </a:r>
            <a:r>
              <a:rPr lang="en-US" dirty="0"/>
              <a:t>` be treated as an `Auth` is no good — it’s only allowed because the express library treats untrusted request bodies as “any”, not as “unknown.” This makes the express server a lot easier to use… and also makes it a lot easier to make errors.</a:t>
            </a:r>
          </a:p>
          <a:p>
            <a:endParaRPr lang="en-US" dirty="0"/>
          </a:p>
          <a:p>
            <a:r>
              <a:rPr lang="en-US" dirty="0"/>
              <a:t>Given how complicated we just saw it was to make sure that an unknown input had the correct format, this decision mostly makes sense.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(Optional Q: what input would cause an exception that typescript would seem to make impossible? See next hidden slide)</a:t>
            </a:r>
          </a:p>
          <a:p>
            <a:endParaRPr lang="en-US" dirty="0"/>
          </a:p>
        </p:txBody>
      </p:sp>
      <p:sp>
        <p:nvSpPr>
          <p:cNvPr id="4" name="Slide Number Placeholder 3">
            <a:extLst>
              <a:ext uri="{FF2B5EF4-FFF2-40B4-BE49-F238E27FC236}">
                <a16:creationId xmlns:a16="http://schemas.microsoft.com/office/drawing/2014/main" id="{D39EB4E5-C472-2AD0-15A2-BA687D7569A5}"/>
              </a:ext>
            </a:extLst>
          </p:cNvPr>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28221397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18DB-7251-A596-69C9-9AD34AC1A4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92CD85-3EEA-141E-25BC-E1DC51954E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FD64E0-2374-DAF7-3837-0B2C34A60862}"/>
              </a:ext>
            </a:extLst>
          </p:cNvPr>
          <p:cNvSpPr>
            <a:spLocks noGrp="1"/>
          </p:cNvSpPr>
          <p:nvPr>
            <p:ph type="body" idx="1"/>
          </p:nvPr>
        </p:nvSpPr>
        <p:spPr/>
        <p:txBody>
          <a:bodyPr/>
          <a:lstStyle/>
          <a:p>
            <a:r>
              <a:rPr lang="en-US" dirty="0"/>
              <a:t>Plausible but incorrect answer: null or 3, anything that will cause an error if you try to project out the “password” field. This actually doesn’t work, because </a:t>
            </a:r>
            <a:r>
              <a:rPr lang="en-US" dirty="0" err="1"/>
              <a:t>express.json</a:t>
            </a:r>
            <a:r>
              <a:rPr lang="en-US" dirty="0"/>
              <a:t>() only accepts JSON that represents an </a:t>
            </a:r>
            <a:r>
              <a:rPr lang="en-US" i="1" dirty="0"/>
              <a:t>object </a:t>
            </a:r>
            <a:r>
              <a:rPr lang="en-US" i="0" dirty="0"/>
              <a:t>or an </a:t>
            </a:r>
            <a:r>
              <a:rPr lang="en-US" i="1" dirty="0"/>
              <a:t>array</a:t>
            </a:r>
            <a:r>
              <a:rPr lang="en-US" i="0" dirty="0"/>
              <a:t>. </a:t>
            </a:r>
          </a:p>
          <a:p>
            <a:endParaRPr lang="en-US" i="0" dirty="0"/>
          </a:p>
          <a:p>
            <a:r>
              <a:rPr lang="en-US" i="0" dirty="0"/>
              <a:t>You can allow any JSON by replacing </a:t>
            </a:r>
            <a:r>
              <a:rPr lang="en-US" i="0" dirty="0" err="1"/>
              <a:t>express.json</a:t>
            </a:r>
            <a:r>
              <a:rPr lang="en-US" i="0" dirty="0"/>
              <a:t>() with </a:t>
            </a:r>
            <a:r>
              <a:rPr lang="en-US" i="0" dirty="0" err="1"/>
              <a:t>express.json</a:t>
            </a:r>
            <a:r>
              <a:rPr lang="en-US" i="0" dirty="0"/>
              <a:t>({ strict: false })</a:t>
            </a:r>
          </a:p>
          <a:p>
            <a:endParaRPr lang="en-US" i="0" dirty="0"/>
          </a:p>
          <a:p>
            <a:r>
              <a:rPr lang="en-US" dirty="0"/>
              <a:t>True answer: something like { username: 4, password: secret } will trigger </a:t>
            </a:r>
            <a:r>
              <a:rPr lang="en-US" dirty="0" err="1"/>
              <a:t>toUpperCase</a:t>
            </a:r>
            <a:endParaRPr lang="en-US" dirty="0"/>
          </a:p>
        </p:txBody>
      </p:sp>
      <p:sp>
        <p:nvSpPr>
          <p:cNvPr id="4" name="Slide Number Placeholder 3">
            <a:extLst>
              <a:ext uri="{FF2B5EF4-FFF2-40B4-BE49-F238E27FC236}">
                <a16:creationId xmlns:a16="http://schemas.microsoft.com/office/drawing/2014/main" id="{5F57C527-7D2C-1311-07F0-43B863181E44}"/>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38250799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43747-9C7C-B08C-A838-CF2D7CE849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0C7350-0944-ADF6-0F6B-905B5FA76A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F1F15C-CD2B-B4DF-C52A-D7A02F1A7FA2}"/>
              </a:ext>
            </a:extLst>
          </p:cNvPr>
          <p:cNvSpPr>
            <a:spLocks noGrp="1"/>
          </p:cNvSpPr>
          <p:nvPr>
            <p:ph type="body" idx="1"/>
          </p:nvPr>
        </p:nvSpPr>
        <p:spPr/>
        <p:txBody>
          <a:bodyPr/>
          <a:lstStyle/>
          <a:p>
            <a:r>
              <a:rPr lang="en-US" dirty="0"/>
              <a:t>Express’s design was set in stone before tools like Zod existed that made it easier to build code that actually gets validation right.</a:t>
            </a:r>
          </a:p>
        </p:txBody>
      </p:sp>
      <p:sp>
        <p:nvSpPr>
          <p:cNvPr id="4" name="Slide Number Placeholder 3">
            <a:extLst>
              <a:ext uri="{FF2B5EF4-FFF2-40B4-BE49-F238E27FC236}">
                <a16:creationId xmlns:a16="http://schemas.microsoft.com/office/drawing/2014/main" id="{F43FEA7B-6C46-36E4-0B8C-291CE694E7AB}"/>
              </a:ext>
            </a:extLst>
          </p:cNvPr>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31667529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582AA-0745-BA15-74D3-06667398E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D5C473-E215-555C-0B09-E0427B4F5D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4BABB8-45F6-0015-2938-F3E70E175F23}"/>
              </a:ext>
            </a:extLst>
          </p:cNvPr>
          <p:cNvSpPr>
            <a:spLocks noGrp="1"/>
          </p:cNvSpPr>
          <p:nvPr>
            <p:ph type="body" idx="1"/>
          </p:nvPr>
        </p:nvSpPr>
        <p:spPr/>
        <p:txBody>
          <a:bodyPr/>
          <a:lstStyle/>
          <a:p>
            <a:r>
              <a:rPr lang="en-US" dirty="0"/>
              <a:t>There’s not a good answer to whether you need to test inputs that violate your contracts!</a:t>
            </a:r>
          </a:p>
          <a:p>
            <a:endParaRPr lang="en-US" dirty="0"/>
          </a:p>
          <a:p>
            <a:r>
              <a:rPr lang="en-US" dirty="0"/>
              <a:t>But you can’t trust anything that you’re receiving from the user over a network connection, even if the webpage prevents certain user actions. Many, many security vulnerabilities are just people getting this wrong.</a:t>
            </a:r>
          </a:p>
        </p:txBody>
      </p:sp>
      <p:sp>
        <p:nvSpPr>
          <p:cNvPr id="4" name="Slide Number Placeholder 3">
            <a:extLst>
              <a:ext uri="{FF2B5EF4-FFF2-40B4-BE49-F238E27FC236}">
                <a16:creationId xmlns:a16="http://schemas.microsoft.com/office/drawing/2014/main" id="{68A0AE77-A17A-0513-CD4C-9F4BA22F3571}"/>
              </a:ext>
            </a:extLst>
          </p:cNvPr>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35973981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2677B-204E-5CCF-86C7-304CF10C00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92DC3-E99F-D1A1-14A5-6E16E074D5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316F66-E7D2-842F-807C-2C4992AF70B6}"/>
              </a:ext>
            </a:extLst>
          </p:cNvPr>
          <p:cNvSpPr>
            <a:spLocks noGrp="1"/>
          </p:cNvSpPr>
          <p:nvPr>
            <p:ph type="body" idx="1"/>
          </p:nvPr>
        </p:nvSpPr>
        <p:spPr/>
        <p:txBody>
          <a:bodyPr/>
          <a:lstStyle/>
          <a:p>
            <a:r>
              <a:rPr lang="en-US" dirty="0"/>
              <a:t>The reality is that different software projects use TypeScript in fundamentally different ways. It’s possible, in most cases, to make choices in a project that make mistakes less likely. Our project code sets up the </a:t>
            </a:r>
            <a:r>
              <a:rPr lang="en-US" dirty="0" err="1"/>
              <a:t>ESLint</a:t>
            </a:r>
            <a:r>
              <a:rPr lang="en-US" dirty="0"/>
              <a:t> linter with a lot of rules that enforce this strict use of TypeScript.</a:t>
            </a:r>
          </a:p>
          <a:p>
            <a:endParaRPr lang="en-US" dirty="0"/>
          </a:p>
          <a:p>
            <a:r>
              <a:rPr lang="en-US" dirty="0"/>
              <a:t>The unknown type means that TypeScript won’t let you assume anything about what the value is. The any type </a:t>
            </a:r>
            <a:r>
              <a:rPr lang="en-US" i="1" dirty="0"/>
              <a:t>seems</a:t>
            </a:r>
            <a:r>
              <a:rPr lang="en-US" i="0" dirty="0"/>
              <a:t> like it should mean the same thing, but what it actually does is let TypeScript pretend that your types make perfect sense no matter what. This is a recipe for having no idea what’s going on in your application!</a:t>
            </a:r>
            <a:endParaRPr lang="en-US" dirty="0"/>
          </a:p>
        </p:txBody>
      </p:sp>
      <p:sp>
        <p:nvSpPr>
          <p:cNvPr id="4" name="Slide Number Placeholder 3">
            <a:extLst>
              <a:ext uri="{FF2B5EF4-FFF2-40B4-BE49-F238E27FC236}">
                <a16:creationId xmlns:a16="http://schemas.microsoft.com/office/drawing/2014/main" id="{F3920446-8B88-37F6-D5AB-D82389EE7111}"/>
              </a:ext>
            </a:extLst>
          </p:cNvPr>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12241135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433312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taking an unknown value in TypeScript and checking that it has the structure expected by the Auth type.</a:t>
            </a:r>
          </a:p>
          <a:p>
            <a:endParaRPr lang="en-US" dirty="0"/>
          </a:p>
          <a:p>
            <a:r>
              <a:rPr lang="en-US" dirty="0"/>
              <a:t>This is pretty complicated to do comprehensively: and there are still other things that could have been checked here that we didn’t check. Can you figure out any surprising values that might get </a:t>
            </a:r>
            <a:r>
              <a:rPr lang="en-US" dirty="0" err="1"/>
              <a:t>isAuth</a:t>
            </a:r>
            <a:r>
              <a:rPr lang="en-US" dirty="0"/>
              <a:t> to evaluate to true? (The only one I can think of is if there are extra fields, which is a good one to point out)</a:t>
            </a:r>
          </a:p>
          <a:p>
            <a:endParaRPr lang="en-US" dirty="0"/>
          </a:p>
          <a:p>
            <a:r>
              <a:rPr lang="en-US" dirty="0"/>
              <a:t>First, remember: unknown is the right type to use if you don’t know the type of something, not any</a:t>
            </a:r>
          </a:p>
          <a:p>
            <a:endParaRPr lang="en-US" dirty="0"/>
          </a:p>
          <a:p>
            <a:r>
              <a:rPr lang="en-US" dirty="0"/>
              <a:t>Second, while you probably won’t need to use the “x is &lt;type&gt;” TypeScript construct in this class, when you encounter it you have to be very careful: TypeScript will just trust you that if you pass the function that the thing must be the type you say it is. (TypeScript: it’s really helpful but it’s full of lots and lots of footguns and caveats!)</a:t>
            </a:r>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3176568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Shape 324"/>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p:cNvSpPr>
            <a:spLocks noGrp="1"/>
          </p:cNvSpPr>
          <p:nvPr>
            <p:ph type="body" sz="quarter" idx="1"/>
          </p:nvPr>
        </p:nvSpPr>
        <p:spPr>
          <a:prstGeom prst="rect">
            <a:avLst/>
          </a:prstGeom>
        </p:spPr>
        <p:txBody>
          <a:bodyPr/>
          <a:lstStyle>
            <a:lvl1pPr defTabSz="914400">
              <a:defRPr sz="1200"/>
            </a:lvl1pPr>
          </a:lstStyle>
          <a:p>
            <a:r>
              <a:rPr dirty="0"/>
              <a:t>&lt;read slide&gt;</a:t>
            </a:r>
            <a:r>
              <a:rPr lang="en-US" dirty="0"/>
              <a:t> .  &lt;click&gt; Our focus is on testing as part of the test-driven development process.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assumption behind test-driven specification is that the real specification is often not written out explicitly or precisely, so often the tests are the most effective documentation of that unwritten spec. You may have specific domain knowledge that future developers who touch the code do not</a:t>
            </a:r>
          </a:p>
          <a:p>
            <a:endParaRPr lang="en-US" dirty="0"/>
          </a:p>
          <a:p>
            <a:r>
              <a:rPr lang="en-US" dirty="0"/>
              <a:t>This leads to the Beyonce rule:  "if you liked it you should have put a test on it".   This rule recognizes that often the tests *are* the specification.</a:t>
            </a:r>
          </a:p>
          <a:p>
            <a:endParaRPr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Shape 277"/>
          <p:cNvSpPr>
            <a:spLocks noGrp="1" noRot="1" noChangeAspect="1"/>
          </p:cNvSpPr>
          <p:nvPr>
            <p:ph type="sldImg"/>
          </p:nvPr>
        </p:nvSpPr>
        <p:spPr>
          <a:xfrm>
            <a:off x="381000" y="685800"/>
            <a:ext cx="6096000" cy="3429000"/>
          </a:xfrm>
          <a:prstGeom prst="rect">
            <a:avLst/>
          </a:prstGeom>
        </p:spPr>
        <p:txBody>
          <a:bodyPr/>
          <a:lstStyle/>
          <a:p>
            <a:endParaRPr/>
          </a:p>
        </p:txBody>
      </p:sp>
      <p:sp>
        <p:nvSpPr>
          <p:cNvPr id="278" name="Shape 278"/>
          <p:cNvSpPr>
            <a:spLocks noGrp="1"/>
          </p:cNvSpPr>
          <p:nvPr>
            <p:ph type="body" sz="quarter" idx="1"/>
          </p:nvPr>
        </p:nvSpPr>
        <p:spPr>
          <a:prstGeom prst="rect">
            <a:avLst/>
          </a:prstGeom>
        </p:spPr>
        <p:txBody>
          <a:bodyPr/>
          <a:lstStyle/>
          <a:p>
            <a:pPr defTabSz="914400">
              <a:defRPr sz="1200"/>
            </a:pPr>
            <a:r>
              <a:rPr dirty="0"/>
              <a:t>&lt;read slide</a:t>
            </a:r>
            <a:r>
              <a:rPr lang="en-US" dirty="0"/>
              <a:t>&gt;</a:t>
            </a:r>
          </a:p>
          <a:p>
            <a:pPr defTabSz="914400">
              <a:defRPr sz="1200"/>
            </a:pPr>
            <a:r>
              <a:rPr lang="en-US" dirty="0"/>
              <a:t>Discuss: Are there any other qualities for a “good” test?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 I’ve been saved more than once by trying to intentionally break my code and noticing that the test I expected to fail didn’t fail — this meant the test wasn’t checking what I expected it to!)</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9180905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B80F2-2C9B-12B8-0D16-5174A8CD94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4E6585-1A51-5728-B06A-4BA3DD6706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B79137-AD76-D014-11A3-ED532727C702}"/>
              </a:ext>
            </a:extLst>
          </p:cNvPr>
          <p:cNvSpPr>
            <a:spLocks noGrp="1"/>
          </p:cNvSpPr>
          <p:nvPr>
            <p:ph type="body" idx="1"/>
          </p:nvPr>
        </p:nvSpPr>
        <p:spPr/>
        <p:txBody>
          <a:bodyPr/>
          <a:lstStyle/>
          <a:p>
            <a:r>
              <a:rPr lang="en-US" dirty="0"/>
              <a:t>(Rob: I’ve been saved more than once by trying to intentionally break my code and noticing that the test I expected to fail didn’t fail — this meant the test wasn’t checking what I expected it to!)</a:t>
            </a:r>
          </a:p>
        </p:txBody>
      </p:sp>
      <p:sp>
        <p:nvSpPr>
          <p:cNvPr id="4" name="Slide Number Placeholder 3">
            <a:extLst>
              <a:ext uri="{FF2B5EF4-FFF2-40B4-BE49-F238E27FC236}">
                <a16:creationId xmlns:a16="http://schemas.microsoft.com/office/drawing/2014/main" id="{805342C6-3369-7CC8-4388-FC3B2A34975A}"/>
              </a:ext>
            </a:extLst>
          </p:cNvPr>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294339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BAAC8-87D3-B43D-06B6-472BAC7A6B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85EC69-E8A2-E64B-A0EE-1B94E54BF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B9AB61-3E6D-2957-36D3-6F3A5194528E}"/>
              </a:ext>
            </a:extLst>
          </p:cNvPr>
          <p:cNvSpPr>
            <a:spLocks noGrp="1"/>
          </p:cNvSpPr>
          <p:nvPr>
            <p:ph type="body" idx="1"/>
          </p:nvPr>
        </p:nvSpPr>
        <p:spPr/>
        <p:txBody>
          <a:bodyPr/>
          <a:lstStyle/>
          <a:p>
            <a:r>
              <a:rPr lang="en-US" dirty="0"/>
              <a:t>Possible answers: </a:t>
            </a:r>
          </a:p>
          <a:p>
            <a:pPr marL="171450" indent="-171450">
              <a:buFontTx/>
              <a:buChar char="-"/>
            </a:pPr>
            <a:r>
              <a:rPr lang="en-US" dirty="0"/>
              <a:t>numbers too large or small to be zip codes, zip codes that start with one or more zeros</a:t>
            </a:r>
          </a:p>
          <a:p>
            <a:pPr marL="171450" indent="-171450">
              <a:buFontTx/>
              <a:buChar char="-"/>
            </a:pPr>
            <a:r>
              <a:rPr lang="en-US" dirty="0"/>
              <a:t>Strings too short or two long to be a 5-digit zip code, 5-digit numbers that are and are not valid zip codes, 5-character strings that aren’t all digits</a:t>
            </a:r>
          </a:p>
          <a:p>
            <a:pPr marL="171450" indent="-171450">
              <a:buFontTx/>
              <a:buChar char="-"/>
            </a:pPr>
            <a:r>
              <a:rPr lang="en-US" dirty="0"/>
              <a:t>Arrays that are empty, that contain duplicate names, that contain all unique names, that are sorted or not</a:t>
            </a:r>
          </a:p>
          <a:p>
            <a:pPr marL="171450" indent="-171450">
              <a:buFontTx/>
              <a:buChar char="-"/>
            </a:pPr>
            <a:endParaRPr lang="en-US" dirty="0"/>
          </a:p>
        </p:txBody>
      </p:sp>
      <p:sp>
        <p:nvSpPr>
          <p:cNvPr id="4" name="Slide Number Placeholder 3">
            <a:extLst>
              <a:ext uri="{FF2B5EF4-FFF2-40B4-BE49-F238E27FC236}">
                <a16:creationId xmlns:a16="http://schemas.microsoft.com/office/drawing/2014/main" id="{3E616984-8C34-EF57-6A08-1E0CEC7CB447}"/>
              </a:ext>
            </a:extLst>
          </p:cNvPr>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22048230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way to think about when you’ve written enough tests is </a:t>
            </a:r>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279679357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4" name="Shape 834"/>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p:cNvSpPr>
            <a:spLocks noGrp="1"/>
          </p:cNvSpPr>
          <p:nvPr>
            <p:ph type="body" sz="quarter" idx="1"/>
          </p:nvPr>
        </p:nvSpPr>
        <p:spPr>
          <a:prstGeom prst="rect">
            <a:avLst/>
          </a:prstGeom>
        </p:spPr>
        <p:txBody>
          <a:bodyPr/>
          <a:lstStyle/>
          <a:p>
            <a:r>
              <a:rPr lang="en-US" dirty="0"/>
              <a:t>Note that this is the kind of mistake that </a:t>
            </a:r>
            <a:r>
              <a:rPr lang="en-US" b="1" dirty="0"/>
              <a:t>you</a:t>
            </a:r>
            <a:r>
              <a:rPr lang="en-US" b="0" dirty="0"/>
              <a:t> might make if you were in a hurry, or tired, or it was late at night.</a:t>
            </a:r>
            <a:endParaRPr lang="en-US" dirty="0"/>
          </a:p>
          <a:p>
            <a:endParaRPr lang="en-US" dirty="0"/>
          </a:p>
          <a:p>
            <a:r>
              <a:rPr lang="en-US" dirty="0"/>
              <a:t>Snidely Whiplash (over there on the right) asks "can you tell the difference"?</a:t>
            </a:r>
          </a:p>
        </p:txBody>
      </p:sp>
    </p:spTree>
    <p:extLst>
      <p:ext uri="{BB962C8B-B14F-4D97-AF65-F5344CB8AC3E}">
        <p14:creationId xmlns:p14="http://schemas.microsoft.com/office/powerpoint/2010/main" val="30231196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opponent starts by running your tests against your code (this is called the "dry run").  It then generates a set of modified versions of your code.   These are called the "mutants".   Some mutations introduce bugs (here, mutants 1 and 2).  Some mutations may be benign (here mutant 3).  </a:t>
            </a:r>
          </a:p>
          <a:p>
            <a:endParaRPr lang="en-US" dirty="0"/>
          </a:p>
        </p:txBody>
      </p:sp>
    </p:spTree>
    <p:extLst>
      <p:ext uri="{BB962C8B-B14F-4D97-AF65-F5344CB8AC3E}">
        <p14:creationId xmlns:p14="http://schemas.microsoft.com/office/powerpoint/2010/main" val="89520327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 each round of the game, your tests are run against each of the mutants.  Your tests will reject some of the mutants-- they are definitely buggy because they don't pass your tests.   We say those mutants are "dead". </a:t>
            </a:r>
          </a:p>
        </p:txBody>
      </p:sp>
    </p:spTree>
    <p:extLst>
      <p:ext uri="{BB962C8B-B14F-4D97-AF65-F5344CB8AC3E}">
        <p14:creationId xmlns:p14="http://schemas.microsoft.com/office/powerpoint/2010/main" val="2365647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But what about mutant #3?  Remember that the opponent doesn't have a reference solution or reference tests, so some of the mutants they generate may be innocuous.   You get to see exactly what was changed in mutant #3 (and any other surviving mutant), so you can inspect each surviving mutant by hand to decide.</a:t>
            </a:r>
          </a:p>
        </p:txBody>
      </p:sp>
    </p:spTree>
    <p:extLst>
      <p:ext uri="{BB962C8B-B14F-4D97-AF65-F5344CB8AC3E}">
        <p14:creationId xmlns:p14="http://schemas.microsoft.com/office/powerpoint/2010/main" val="16315999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&lt;click&gt;</a:t>
            </a:r>
          </a:p>
          <a:p>
            <a:r>
              <a:rPr lang="en-US" dirty="0"/>
              <a:t>Here, we imagine that you've decided that mutant #3 wasn't really bug: it was a change that doesn't affect the successful operation of your program.</a:t>
            </a:r>
          </a:p>
          <a:p>
            <a:endParaRPr lang="en-US" dirty="0"/>
          </a:p>
          <a:p>
            <a:r>
              <a:rPr lang="en-US" dirty="0"/>
              <a:t>You've killed all the buggy mutants, and all the survivors are harmless. You win!</a:t>
            </a:r>
          </a:p>
        </p:txBody>
      </p:sp>
    </p:spTree>
    <p:extLst>
      <p:ext uri="{BB962C8B-B14F-4D97-AF65-F5344CB8AC3E}">
        <p14:creationId xmlns:p14="http://schemas.microsoft.com/office/powerpoint/2010/main" val="79980962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&lt;click&gt;</a:t>
            </a:r>
          </a:p>
          <a:p>
            <a:r>
              <a:rPr lang="en-US" dirty="0"/>
              <a:t>Alternatively, you could decide that the modification introduced in mutant 3 really was a bug.   So you need to go back and modify your tests or write new tests to catch it.</a:t>
            </a:r>
          </a:p>
          <a:p>
            <a:endParaRPr lang="en-US" dirty="0"/>
          </a:p>
          <a:p>
            <a:r>
              <a:rPr lang="en-US" dirty="0"/>
              <a:t>And of course, then you go back to the beginning and run your new tests again, against the same set of mutants.</a:t>
            </a:r>
          </a:p>
          <a:p>
            <a:endParaRPr lang="en-US" dirty="0"/>
          </a:p>
          <a:p>
            <a:endParaRPr lang="en-US" dirty="0"/>
          </a:p>
        </p:txBody>
      </p:sp>
    </p:spTree>
    <p:extLst>
      <p:ext uri="{BB962C8B-B14F-4D97-AF65-F5344CB8AC3E}">
        <p14:creationId xmlns:p14="http://schemas.microsoft.com/office/powerpoint/2010/main" val="1896237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B48171-4442-B15D-DE0D-B372B9BDC397}"/>
            </a:ext>
          </a:extLst>
        </p:cNvPr>
        <p:cNvGrpSpPr/>
        <p:nvPr/>
      </p:nvGrpSpPr>
      <p:grpSpPr>
        <a:xfrm>
          <a:off x="0" y="0"/>
          <a:ext cx="0" cy="0"/>
          <a:chOff x="0" y="0"/>
          <a:chExt cx="0" cy="0"/>
        </a:xfrm>
      </p:grpSpPr>
      <p:sp>
        <p:nvSpPr>
          <p:cNvPr id="834" name="Shape 834">
            <a:extLst>
              <a:ext uri="{FF2B5EF4-FFF2-40B4-BE49-F238E27FC236}">
                <a16:creationId xmlns:a16="http://schemas.microsoft.com/office/drawing/2014/main" id="{C66D89A7-B0D1-C436-6C0D-DB4F9CEF4451}"/>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a:extLst>
              <a:ext uri="{FF2B5EF4-FFF2-40B4-BE49-F238E27FC236}">
                <a16:creationId xmlns:a16="http://schemas.microsoft.com/office/drawing/2014/main" id="{0871838B-0D1F-E7BC-D35F-37CF66C33B3C}"/>
              </a:ext>
            </a:extLst>
          </p:cNvPr>
          <p:cNvSpPr>
            <a:spLocks noGrp="1"/>
          </p:cNvSpPr>
          <p:nvPr>
            <p:ph type="body" sz="quarter" idx="1"/>
          </p:nvPr>
        </p:nvSpPr>
        <p:spPr>
          <a:prstGeom prst="rect">
            <a:avLst/>
          </a:prstGeom>
        </p:spPr>
        <p:txBody>
          <a:bodyPr/>
          <a:lstStyle/>
          <a:p>
            <a:r>
              <a:rPr lang="en-US" dirty="0"/>
              <a:t>The idea of "mutation testing" is that most defects are the result of simple errors.  (Is this a realistic assumption?  Spoiler alert: it's realistic enough!)</a:t>
            </a:r>
          </a:p>
          <a:p>
            <a:endParaRPr lang="en-US" dirty="0"/>
          </a:p>
          <a:p>
            <a:r>
              <a:rPr lang="en-US" dirty="0"/>
              <a:t> In mutation testing, the adversary generates buggy code by making simple changes.  Generating buggy code in this way is clearly automatable.</a:t>
            </a:r>
          </a:p>
          <a:p>
            <a:endParaRPr lang="en-US" dirty="0"/>
          </a:p>
          <a:p>
            <a:r>
              <a:rPr lang="en-US" dirty="0"/>
              <a:t>Note that this is the kind of mistake that </a:t>
            </a:r>
            <a:r>
              <a:rPr lang="en-US" b="1" dirty="0"/>
              <a:t>you</a:t>
            </a:r>
            <a:r>
              <a:rPr lang="en-US" b="0" dirty="0"/>
              <a:t> might make if you were in a hurry, or tired, or it was late at night.</a:t>
            </a:r>
            <a:endParaRPr lang="en-US" dirty="0"/>
          </a:p>
          <a:p>
            <a:endParaRPr lang="en-US" dirty="0"/>
          </a:p>
          <a:p>
            <a:r>
              <a:rPr lang="en-US" dirty="0"/>
              <a:t>Snidely Whiplash (over there on the right) asks "can you tell the difference"?</a:t>
            </a:r>
          </a:p>
          <a:p>
            <a:endParaRPr lang="en-US" dirty="0"/>
          </a:p>
          <a:p>
            <a:r>
              <a:rPr lang="en-US" dirty="0"/>
              <a:t>(Recall that a while ago we promised you help in making sure that your regions have the right boundaries.   This will help!)</a:t>
            </a:r>
            <a:endParaRPr dirty="0"/>
          </a:p>
        </p:txBody>
      </p:sp>
    </p:spTree>
    <p:extLst>
      <p:ext uri="{BB962C8B-B14F-4D97-AF65-F5344CB8AC3E}">
        <p14:creationId xmlns:p14="http://schemas.microsoft.com/office/powerpoint/2010/main" val="366740707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05A32-CF27-6208-B335-532EE2A1F371}"/>
            </a:ext>
          </a:extLst>
        </p:cNvPr>
        <p:cNvGrpSpPr/>
        <p:nvPr/>
      </p:nvGrpSpPr>
      <p:grpSpPr>
        <a:xfrm>
          <a:off x="0" y="0"/>
          <a:ext cx="0" cy="0"/>
          <a:chOff x="0" y="0"/>
          <a:chExt cx="0" cy="0"/>
        </a:xfrm>
      </p:grpSpPr>
      <p:sp>
        <p:nvSpPr>
          <p:cNvPr id="834" name="Shape 834">
            <a:extLst>
              <a:ext uri="{FF2B5EF4-FFF2-40B4-BE49-F238E27FC236}">
                <a16:creationId xmlns:a16="http://schemas.microsoft.com/office/drawing/2014/main" id="{AF7354D2-CBDA-E105-4FAE-71A74BF56188}"/>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a:extLst>
              <a:ext uri="{FF2B5EF4-FFF2-40B4-BE49-F238E27FC236}">
                <a16:creationId xmlns:a16="http://schemas.microsoft.com/office/drawing/2014/main" id="{A2E9D587-82F1-3A4C-DC13-B23C2340E902}"/>
              </a:ext>
            </a:extLst>
          </p:cNvPr>
          <p:cNvSpPr>
            <a:spLocks noGrp="1"/>
          </p:cNvSpPr>
          <p:nvPr>
            <p:ph type="body" sz="quarter" idx="1"/>
          </p:nvPr>
        </p:nvSpPr>
        <p:spPr>
          <a:prstGeom prst="rect">
            <a:avLst/>
          </a:prstGeom>
        </p:spPr>
        <p:txBody>
          <a:bodyPr/>
          <a:lstStyle/>
          <a:p>
            <a:r>
              <a:rPr lang="en-US"/>
              <a:t>The idea of "mutation testing" is that most defects are the result of simple errors.  (Is this a realistic assumption?  Spoiler alert: it's realistic enough!)</a:t>
            </a:r>
          </a:p>
          <a:p>
            <a:endParaRPr lang="en-US"/>
          </a:p>
          <a:p>
            <a:r>
              <a:rPr lang="en-US"/>
              <a:t> In mutation testing, the adversary generates buggy code by making simple changes.  Generating buggy code in this way is clearly automatable.</a:t>
            </a:r>
          </a:p>
          <a:p>
            <a:endParaRPr lang="en-US"/>
          </a:p>
          <a:p>
            <a:r>
              <a:rPr lang="en-US"/>
              <a:t>Note that this is the kind of mistake that </a:t>
            </a:r>
            <a:r>
              <a:rPr lang="en-US" b="1"/>
              <a:t>you</a:t>
            </a:r>
            <a:r>
              <a:rPr lang="en-US" b="0"/>
              <a:t> might make if you were in a hurry, or tired, or it was late at night.</a:t>
            </a:r>
            <a:endParaRPr lang="en-US"/>
          </a:p>
          <a:p>
            <a:endParaRPr lang="en-US"/>
          </a:p>
          <a:p>
            <a:r>
              <a:rPr lang="en-US"/>
              <a:t>Snidely Whiplash (over there on the right) asks "can you tell the difference"?</a:t>
            </a:r>
          </a:p>
          <a:p>
            <a:endParaRPr lang="en-US"/>
          </a:p>
          <a:p>
            <a:r>
              <a:rPr lang="en-US"/>
              <a:t>(Recall that a while ago we promised you help in making sure that your regions have the right boundaries.   This will help!)</a:t>
            </a:r>
            <a:endParaRPr/>
          </a:p>
        </p:txBody>
      </p:sp>
    </p:spTree>
    <p:extLst>
      <p:ext uri="{BB962C8B-B14F-4D97-AF65-F5344CB8AC3E}">
        <p14:creationId xmlns:p14="http://schemas.microsoft.com/office/powerpoint/2010/main" val="310592327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might look at these mutants, which are caused by such simple operations, and wonder: but do these one-line mutations really represent the kinds of bugs that occur in real software? Because ultimately, that is what we are looking to evaluate, right? Do our tests find real bugs?</a:t>
            </a:r>
          </a:p>
          <a:p>
            <a:endParaRPr lang="en-US" dirty="0"/>
          </a:p>
          <a:p>
            <a:r>
              <a:rPr lang="en-US" dirty="0"/>
              <a:t>This study (and others that have replicated it) is important because it shows that this process of enhancing a test suite to detect more mutants might be worth the effort, because there is empirical evidence that: given two test suites, where one detects more mutants than the other (on the same SUT), the one that detects more mutants also finds more real bugs.</a:t>
            </a:r>
          </a:p>
        </p:txBody>
      </p:sp>
    </p:spTree>
    <p:extLst>
      <p:ext uri="{BB962C8B-B14F-4D97-AF65-F5344CB8AC3E}">
        <p14:creationId xmlns:p14="http://schemas.microsoft.com/office/powerpoint/2010/main" val="361692482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7D4C7-0636-00E9-42C5-425BF03D0252}"/>
            </a:ext>
          </a:extLst>
        </p:cNvPr>
        <p:cNvGrpSpPr/>
        <p:nvPr/>
      </p:nvGrpSpPr>
      <p:grpSpPr>
        <a:xfrm>
          <a:off x="0" y="0"/>
          <a:ext cx="0" cy="0"/>
          <a:chOff x="0" y="0"/>
          <a:chExt cx="0" cy="0"/>
        </a:xfrm>
      </p:grpSpPr>
      <p:sp>
        <p:nvSpPr>
          <p:cNvPr id="834" name="Shape 834">
            <a:extLst>
              <a:ext uri="{FF2B5EF4-FFF2-40B4-BE49-F238E27FC236}">
                <a16:creationId xmlns:a16="http://schemas.microsoft.com/office/drawing/2014/main" id="{79702974-F08D-91D5-FAD5-D5DDC47AE4A8}"/>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a:extLst>
              <a:ext uri="{FF2B5EF4-FFF2-40B4-BE49-F238E27FC236}">
                <a16:creationId xmlns:a16="http://schemas.microsoft.com/office/drawing/2014/main" id="{2D7FE792-4D68-F933-599A-7E3A55485DD6}"/>
              </a:ext>
            </a:extLst>
          </p:cNvPr>
          <p:cNvSpPr>
            <a:spLocks noGrp="1"/>
          </p:cNvSpPr>
          <p:nvPr>
            <p:ph type="body" sz="quarter" idx="1"/>
          </p:nvPr>
        </p:nvSpPr>
        <p:spPr>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Here's an example.   Should we make this particular error message part of the specification? Or is this an example of over-specification?  (Discuss)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Thinking about testing as a two-player game helps highlight these questions about what good tests are, and what it means for a program to pass its tests.</a:t>
            </a:r>
          </a:p>
          <a:p>
            <a:endParaRPr dirty="0"/>
          </a:p>
        </p:txBody>
      </p:sp>
    </p:spTree>
    <p:extLst>
      <p:ext uri="{BB962C8B-B14F-4D97-AF65-F5344CB8AC3E}">
        <p14:creationId xmlns:p14="http://schemas.microsoft.com/office/powerpoint/2010/main" val="398538873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This module is divided into 3 lessons: &lt;read slide&gt;</a:t>
            </a:r>
          </a:p>
        </p:txBody>
      </p:sp>
    </p:spTree>
    <p:extLst>
      <p:ext uri="{BB962C8B-B14F-4D97-AF65-F5344CB8AC3E}">
        <p14:creationId xmlns:p14="http://schemas.microsoft.com/office/powerpoint/2010/main" val="35160475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12/30/25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12/30/25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12/30/25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12/30/25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12/30/25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12/30/25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12/30/25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12/30/25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12/30/25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12/30/25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12/30/25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12/30/25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12/30/25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tif"/><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32.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11.jpe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jpeg"/><Relationship Id="rId4" Type="http://schemas.openxmlformats.org/officeDocument/2006/relationships/image" Target="../media/image9.png"/></Relationships>
</file>

<file path=ppt/slides/_rels/slide33.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11.jpe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jpeg"/><Relationship Id="rId4" Type="http://schemas.openxmlformats.org/officeDocument/2006/relationships/image" Target="../media/image9.png"/></Relationships>
</file>

<file path=ppt/slides/_rels/slide34.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11.jpe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jpeg"/><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11.jpe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jpeg"/><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3.1: Trusting TypeScript (or not!)</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2BE18-3AE8-5179-4D00-84381E759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68EF13-A512-C5B8-A0FE-38A71254D667}"/>
              </a:ext>
            </a:extLst>
          </p:cNvPr>
          <p:cNvSpPr>
            <a:spLocks noGrp="1"/>
          </p:cNvSpPr>
          <p:nvPr>
            <p:ph type="title"/>
          </p:nvPr>
        </p:nvSpPr>
        <p:spPr>
          <a:xfrm>
            <a:off x="838200" y="18255"/>
            <a:ext cx="10515600" cy="1325563"/>
          </a:xfrm>
        </p:spPr>
        <p:txBody>
          <a:bodyPr/>
          <a:lstStyle/>
          <a:p>
            <a:r>
              <a:rPr lang="en-US"/>
              <a:t>Learning Goals for this Lesson</a:t>
            </a:r>
          </a:p>
        </p:txBody>
      </p:sp>
      <p:sp>
        <p:nvSpPr>
          <p:cNvPr id="3" name="Content Placeholder 2">
            <a:extLst>
              <a:ext uri="{FF2B5EF4-FFF2-40B4-BE49-F238E27FC236}">
                <a16:creationId xmlns:a16="http://schemas.microsoft.com/office/drawing/2014/main" id="{EF268340-BE83-1862-6D5D-0EE450FC7AC4}"/>
              </a:ext>
            </a:extLst>
          </p:cNvPr>
          <p:cNvSpPr>
            <a:spLocks noGrp="1"/>
          </p:cNvSpPr>
          <p:nvPr>
            <p:ph idx="1"/>
          </p:nvPr>
        </p:nvSpPr>
        <p:spPr>
          <a:xfrm>
            <a:off x="838200" y="1500188"/>
            <a:ext cx="7886700" cy="4351337"/>
          </a:xfrm>
        </p:spPr>
        <p:txBody>
          <a:bodyPr/>
          <a:lstStyle/>
          <a:p>
            <a:pPr marL="0" indent="0">
              <a:buNone/>
            </a:pPr>
            <a:r>
              <a:rPr lang="en-US" dirty="0"/>
              <a:t>At the end of this lesson, you should be able to</a:t>
            </a:r>
          </a:p>
          <a:p>
            <a:pPr lvl="1"/>
            <a:r>
              <a:rPr lang="en-US" dirty="0"/>
              <a:t>Explain how TypeScript types and documented preconditions influence what tests you need to write</a:t>
            </a:r>
          </a:p>
          <a:p>
            <a:pPr lvl="1"/>
            <a:r>
              <a:rPr lang="en-US" dirty="0"/>
              <a:t>Explain the difference between the </a:t>
            </a:r>
            <a:r>
              <a:rPr lang="en-US" dirty="0">
                <a:solidFill>
                  <a:srgbClr val="FF0000"/>
                </a:solidFill>
                <a:latin typeface="Menlo" panose="020B0609030804020204" pitchFamily="49" charset="0"/>
                <a:ea typeface="Menlo" panose="020B0609030804020204" pitchFamily="49" charset="0"/>
                <a:cs typeface="Menlo" panose="020B0609030804020204" pitchFamily="49" charset="0"/>
              </a:rPr>
              <a:t>any</a:t>
            </a:r>
            <a:r>
              <a:rPr lang="en-US" dirty="0"/>
              <a:t> vs </a:t>
            </a:r>
            <a:r>
              <a:rPr lang="en-US">
                <a:latin typeface="Menlo" panose="020B0609030804020204" pitchFamily="49" charset="0"/>
                <a:ea typeface="Menlo" panose="020B0609030804020204" pitchFamily="49" charset="0"/>
                <a:cs typeface="Menlo" panose="020B0609030804020204" pitchFamily="49" charset="0"/>
              </a:rPr>
              <a:t>unknown</a:t>
            </a:r>
            <a:r>
              <a:rPr lang="en-US"/>
              <a:t> types </a:t>
            </a:r>
            <a:r>
              <a:rPr lang="en-US" dirty="0"/>
              <a:t>in TypeScript</a:t>
            </a:r>
          </a:p>
          <a:p>
            <a:pPr lvl="1"/>
            <a:endParaRPr lang="en-US" dirty="0"/>
          </a:p>
        </p:txBody>
      </p:sp>
      <p:sp>
        <p:nvSpPr>
          <p:cNvPr id="4" name="Slide Number Placeholder 3">
            <a:extLst>
              <a:ext uri="{FF2B5EF4-FFF2-40B4-BE49-F238E27FC236}">
                <a16:creationId xmlns:a16="http://schemas.microsoft.com/office/drawing/2014/main" id="{C21BC9FA-323D-ED50-496E-44D057EBF080}"/>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a:t>
            </a:fld>
            <a:endParaRPr lang="en-US" noProof="0"/>
          </a:p>
        </p:txBody>
      </p:sp>
    </p:spTree>
    <p:extLst>
      <p:ext uri="{BB962C8B-B14F-4D97-AF65-F5344CB8AC3E}">
        <p14:creationId xmlns:p14="http://schemas.microsoft.com/office/powerpoint/2010/main" val="19800943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9083E-BC03-7143-3305-7D5C8856EC3B}"/>
              </a:ext>
            </a:extLst>
          </p:cNvPr>
          <p:cNvSpPr>
            <a:spLocks noGrp="1"/>
          </p:cNvSpPr>
          <p:nvPr>
            <p:ph type="title"/>
          </p:nvPr>
        </p:nvSpPr>
        <p:spPr/>
        <p:txBody>
          <a:bodyPr/>
          <a:lstStyle/>
          <a:p>
            <a:r>
              <a:rPr lang="en-US" dirty="0"/>
              <a:t>What Inputs Should We Test?</a:t>
            </a:r>
          </a:p>
        </p:txBody>
      </p:sp>
      <p:sp>
        <p:nvSpPr>
          <p:cNvPr id="3" name="Content Placeholder 2">
            <a:extLst>
              <a:ext uri="{FF2B5EF4-FFF2-40B4-BE49-F238E27FC236}">
                <a16:creationId xmlns:a16="http://schemas.microsoft.com/office/drawing/2014/main" id="{CEEB21CC-6ECC-AE79-F5AB-B8188A7BA5D6}"/>
              </a:ext>
            </a:extLst>
          </p:cNvPr>
          <p:cNvSpPr>
            <a:spLocks noGrp="1"/>
          </p:cNvSpPr>
          <p:nvPr>
            <p:ph idx="1"/>
          </p:nvPr>
        </p:nvSpPr>
        <p:spPr/>
        <p:txBody>
          <a:bodyPr/>
          <a:lstStyle/>
          <a:p>
            <a:pPr marL="0" indent="0">
              <a:buNone/>
            </a:pPr>
            <a:r>
              <a:rPr lang="en-US" dirty="0"/>
              <a:t>What input values do I need to test this function on?</a:t>
            </a:r>
          </a:p>
        </p:txBody>
      </p:sp>
      <p:sp>
        <p:nvSpPr>
          <p:cNvPr id="4" name="Slide Number Placeholder 3">
            <a:extLst>
              <a:ext uri="{FF2B5EF4-FFF2-40B4-BE49-F238E27FC236}">
                <a16:creationId xmlns:a16="http://schemas.microsoft.com/office/drawing/2014/main" id="{D90F8408-869B-696B-6166-4C6F4BDF59FB}"/>
              </a:ext>
            </a:extLst>
          </p:cNvPr>
          <p:cNvSpPr>
            <a:spLocks noGrp="1"/>
          </p:cNvSpPr>
          <p:nvPr>
            <p:ph type="sldNum" sz="quarter" idx="12"/>
          </p:nvPr>
        </p:nvSpPr>
        <p:spPr/>
        <p:txBody>
          <a:bodyPr/>
          <a:lstStyle/>
          <a:p>
            <a:fld id="{20F37917-FD3A-4669-9018-DA04BCDD3D75}" type="slidenum">
              <a:rPr lang="en-US" smtClean="0"/>
              <a:t>3</a:t>
            </a:fld>
            <a:endParaRPr lang="en-US"/>
          </a:p>
        </p:txBody>
      </p:sp>
      <p:sp>
        <p:nvSpPr>
          <p:cNvPr id="5" name="TextBox 4">
            <a:extLst>
              <a:ext uri="{FF2B5EF4-FFF2-40B4-BE49-F238E27FC236}">
                <a16:creationId xmlns:a16="http://schemas.microsoft.com/office/drawing/2014/main" id="{657D6DBF-0D3B-3245-8AFD-BA6693B645B6}"/>
              </a:ext>
            </a:extLst>
          </p:cNvPr>
          <p:cNvSpPr txBox="1"/>
          <p:nvPr/>
        </p:nvSpPr>
        <p:spPr>
          <a:xfrm>
            <a:off x="744069" y="2501474"/>
            <a:ext cx="11354146" cy="342395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Menlo" panose="020B0609030804020204" pitchFamily="49" charset="0"/>
              </a:rPr>
              <a:t>/**</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 Prints "hello" repeatedly</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 </a:t>
            </a:r>
            <a:r>
              <a:rPr lang="en-US" b="0" dirty="0">
                <a:solidFill>
                  <a:srgbClr val="0000FF"/>
                </a:solidFill>
                <a:effectLst/>
                <a:latin typeface="Menlo" panose="020B0609030804020204" pitchFamily="49" charset="0"/>
              </a:rPr>
              <a:t>@param</a:t>
            </a:r>
            <a:r>
              <a:rPr lang="en-US" b="0" dirty="0">
                <a:solidFill>
                  <a:srgbClr val="008000"/>
                </a:solidFill>
                <a:effectLst/>
                <a:latin typeface="Menlo" panose="020B0609030804020204" pitchFamily="49" charset="0"/>
              </a:rPr>
              <a:t> </a:t>
            </a:r>
            <a:r>
              <a:rPr lang="en-US" b="0" dirty="0" err="1">
                <a:solidFill>
                  <a:srgbClr val="001080"/>
                </a:solidFill>
                <a:effectLst/>
                <a:latin typeface="Menlo" panose="020B0609030804020204" pitchFamily="49" charset="0"/>
              </a:rPr>
              <a:t>numHellos</a:t>
            </a:r>
            <a:r>
              <a:rPr lang="en-US" b="0" dirty="0">
                <a:solidFill>
                  <a:srgbClr val="008000"/>
                </a:solidFill>
                <a:effectLst/>
                <a:latin typeface="Menlo" panose="020B0609030804020204" pitchFamily="49" charset="0"/>
              </a:rPr>
              <a:t> - number of times to print “hello”, </a:t>
            </a:r>
          </a:p>
          <a:p>
            <a:pPr>
              <a:lnSpc>
                <a:spcPct val="110000"/>
              </a:lnSpc>
              <a:buNone/>
            </a:pPr>
            <a:r>
              <a:rPr lang="en-US" dirty="0">
                <a:solidFill>
                  <a:srgbClr val="008000"/>
                </a:solidFill>
                <a:latin typeface="Menlo" panose="020B0609030804020204" pitchFamily="49" charset="0"/>
              </a:rPr>
              <a:t> *   </a:t>
            </a:r>
            <a:r>
              <a:rPr lang="en-US" b="0" dirty="0">
                <a:solidFill>
                  <a:srgbClr val="008000"/>
                </a:solidFill>
                <a:effectLst/>
                <a:latin typeface="Menlo" panose="020B0609030804020204" pitchFamily="49" charset="0"/>
              </a:rPr>
              <a:t>must be an integer &gt;= 0</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00FF"/>
                </a:solidFill>
                <a:effectLst/>
                <a:latin typeface="Menlo" panose="020B0609030804020204" pitchFamily="49" charset="0"/>
              </a:rPr>
              <a:t>function</a:t>
            </a:r>
            <a:r>
              <a:rPr lang="en-US" b="0" dirty="0">
                <a:solidFill>
                  <a:srgbClr val="3B3B3B"/>
                </a:solidFill>
                <a:effectLst/>
                <a:latin typeface="Menlo" panose="020B0609030804020204" pitchFamily="49" charset="0"/>
              </a:rPr>
              <a:t> </a:t>
            </a:r>
            <a:r>
              <a:rPr lang="en-US" b="0" dirty="0" err="1">
                <a:solidFill>
                  <a:srgbClr val="795E26"/>
                </a:solidFill>
                <a:effectLst/>
                <a:latin typeface="Menlo" panose="020B0609030804020204" pitchFamily="49" charset="0"/>
              </a:rPr>
              <a:t>helloNTimes</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numHellos</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number</a:t>
            </a:r>
            <a:r>
              <a:rPr lang="en-US" b="0" dirty="0">
                <a:solidFill>
                  <a:srgbClr val="3B3B3B"/>
                </a:solidFill>
                <a:effectLst/>
                <a:latin typeface="Menlo" panose="020B0609030804020204" pitchFamily="49" charset="0"/>
              </a:rPr>
              <a:t>) {</a:t>
            </a:r>
          </a:p>
          <a:p>
            <a:pPr>
              <a:lnSpc>
                <a:spcPct val="110000"/>
              </a:lnSpc>
              <a:buNone/>
            </a:pPr>
            <a:r>
              <a:rPr lang="en-US" b="0" dirty="0">
                <a:solidFill>
                  <a:srgbClr val="AF00DB"/>
                </a:solidFill>
                <a:effectLst/>
                <a:latin typeface="Menlo" panose="020B0609030804020204" pitchFamily="49" charset="0"/>
              </a:rPr>
              <a:t>  for</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let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i</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numHellos</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i</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98658"/>
                </a:solidFill>
                <a:effectLst/>
                <a:latin typeface="Menlo" panose="020B0609030804020204" pitchFamily="49" charset="0"/>
              </a:rPr>
              <a:t>0</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i</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p>
          <a:p>
            <a:pPr>
              <a:lnSpc>
                <a:spcPct val="11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console</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log</a:t>
            </a:r>
            <a:r>
              <a:rPr lang="en-US" b="0" dirty="0">
                <a:solidFill>
                  <a:srgbClr val="3B3B3B"/>
                </a:solidFill>
                <a:effectLst/>
                <a:latin typeface="Menlo" panose="020B0609030804020204" pitchFamily="49" charset="0"/>
              </a:rPr>
              <a:t>(</a:t>
            </a:r>
            <a:r>
              <a:rPr lang="en-US" dirty="0">
                <a:solidFill>
                  <a:srgbClr val="A31515"/>
                </a:solidFill>
                <a:latin typeface="Menlo" panose="020B0609030804020204" pitchFamily="49" charset="0"/>
              </a:rPr>
              <a:t>'hello'</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  }</a:t>
            </a:r>
          </a:p>
          <a:p>
            <a:pPr>
              <a:lnSpc>
                <a:spcPct val="110000"/>
              </a:lnSpc>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4076227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9547C-41A0-F32E-2BDC-4D84006584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01F7CE-2D51-2318-DF4A-346A1DA283B7}"/>
              </a:ext>
            </a:extLst>
          </p:cNvPr>
          <p:cNvSpPr>
            <a:spLocks noGrp="1"/>
          </p:cNvSpPr>
          <p:nvPr>
            <p:ph type="title"/>
          </p:nvPr>
        </p:nvSpPr>
        <p:spPr>
          <a:xfrm>
            <a:off x="838200" y="18255"/>
            <a:ext cx="10515600" cy="1325563"/>
          </a:xfrm>
        </p:spPr>
        <p:txBody>
          <a:bodyPr/>
          <a:lstStyle/>
          <a:p>
            <a:r>
              <a:rPr lang="en-US" dirty="0"/>
              <a:t>What Inputs Should We Test?</a:t>
            </a:r>
          </a:p>
        </p:txBody>
      </p:sp>
      <p:sp>
        <p:nvSpPr>
          <p:cNvPr id="3" name="Content Placeholder 2">
            <a:extLst>
              <a:ext uri="{FF2B5EF4-FFF2-40B4-BE49-F238E27FC236}">
                <a16:creationId xmlns:a16="http://schemas.microsoft.com/office/drawing/2014/main" id="{46CB4E3C-38C0-4649-19E8-4346BD0F5913}"/>
              </a:ext>
            </a:extLst>
          </p:cNvPr>
          <p:cNvSpPr>
            <a:spLocks noGrp="1"/>
          </p:cNvSpPr>
          <p:nvPr>
            <p:ph idx="1"/>
          </p:nvPr>
        </p:nvSpPr>
        <p:spPr>
          <a:xfrm>
            <a:off x="838199" y="1500188"/>
            <a:ext cx="10906126" cy="4351337"/>
          </a:xfrm>
        </p:spPr>
        <p:txBody>
          <a:bodyPr/>
          <a:lstStyle/>
          <a:p>
            <a:pPr marL="0" indent="0">
              <a:buNone/>
            </a:pPr>
            <a:r>
              <a:rPr lang="en-US" dirty="0"/>
              <a:t>What input values do I need to test this function on?</a:t>
            </a:r>
          </a:p>
          <a:p>
            <a:r>
              <a:rPr lang="en-US" dirty="0"/>
              <a:t>Edge cases (definitely 0)</a:t>
            </a:r>
          </a:p>
          <a:p>
            <a:r>
              <a:rPr lang="en-US" dirty="0"/>
              <a:t>Probably 1 and some larger number? </a:t>
            </a:r>
            <a:br>
              <a:rPr lang="en-US" dirty="0"/>
            </a:br>
            <a:r>
              <a:rPr lang="en-US" dirty="0"/>
              <a:t>But most numbers &gt; 1 are kind of interchangeable.</a:t>
            </a:r>
          </a:p>
          <a:p>
            <a:pPr lvl="1"/>
            <a:r>
              <a:rPr lang="en-US" dirty="0"/>
              <a:t>If we want to sound fancy, we can call these “equivalence classes of inputs.”</a:t>
            </a:r>
          </a:p>
          <a:p>
            <a:r>
              <a:rPr lang="en-US" dirty="0"/>
              <a:t>What about -3? 1.4? </a:t>
            </a:r>
            <a:r>
              <a:rPr lang="en-US" dirty="0" err="1"/>
              <a:t>NaN</a:t>
            </a:r>
            <a:r>
              <a:rPr lang="en-US" dirty="0"/>
              <a:t>? </a:t>
            </a:r>
            <a:r>
              <a:rPr lang="en-US" sz="1800" b="0" dirty="0">
                <a:solidFill>
                  <a:srgbClr val="0000FF"/>
                </a:solidFill>
                <a:effectLst/>
                <a:latin typeface="Menlo" panose="020B0609030804020204" pitchFamily="49" charset="0"/>
              </a:rPr>
              <a:t>null</a:t>
            </a:r>
            <a:r>
              <a:rPr lang="en-US" dirty="0"/>
              <a:t>? </a:t>
            </a:r>
            <a:r>
              <a:rPr lang="en-US" sz="1800" b="0" dirty="0">
                <a:solidFill>
                  <a:srgbClr val="3B3B3B"/>
                </a:solidFill>
                <a:effectLst/>
                <a:latin typeface="Menlo" panose="020B0609030804020204" pitchFamily="49" charset="0"/>
              </a:rPr>
              <a:t>{ </a:t>
            </a:r>
            <a:r>
              <a:rPr lang="en-US" sz="1800" b="0" dirty="0">
                <a:solidFill>
                  <a:srgbClr val="001080"/>
                </a:solidFill>
                <a:effectLst/>
                <a:latin typeface="Menlo" panose="020B0609030804020204" pitchFamily="49" charset="0"/>
              </a:rPr>
              <a:t>lol:</a:t>
            </a:r>
            <a:r>
              <a:rPr lang="en-US" sz="1800" b="0" dirty="0">
                <a:solidFill>
                  <a:srgbClr val="3B3B3B"/>
                </a:solidFill>
                <a:effectLst/>
                <a:latin typeface="Menlo" panose="020B0609030804020204" pitchFamily="49" charset="0"/>
              </a:rPr>
              <a:t> </a:t>
            </a:r>
            <a:r>
              <a:rPr lang="en-US" sz="1800" b="0" dirty="0">
                <a:solidFill>
                  <a:srgbClr val="A31515"/>
                </a:solidFill>
                <a:effectLst/>
                <a:latin typeface="Menlo" panose="020B0609030804020204" pitchFamily="49" charset="0"/>
              </a:rPr>
              <a:t>'owned'</a:t>
            </a:r>
            <a:r>
              <a:rPr lang="en-US" sz="1800" b="0" dirty="0">
                <a:solidFill>
                  <a:srgbClr val="3B3B3B"/>
                </a:solidFill>
                <a:effectLst/>
                <a:latin typeface="Menlo" panose="020B0609030804020204" pitchFamily="49" charset="0"/>
              </a:rPr>
              <a:t> }</a:t>
            </a:r>
            <a:r>
              <a:rPr lang="en-US" sz="1800" dirty="0"/>
              <a:t> </a:t>
            </a:r>
            <a:r>
              <a:rPr lang="en-US" dirty="0"/>
              <a:t>?</a:t>
            </a:r>
            <a:endParaRPr lang="en-US" b="0" dirty="0">
              <a:solidFill>
                <a:srgbClr val="3B3B3B"/>
              </a:solidFill>
              <a:effectLst/>
              <a:latin typeface="Menlo" panose="020B0609030804020204" pitchFamily="49" charset="0"/>
            </a:endParaRPr>
          </a:p>
          <a:p>
            <a:endParaRPr lang="en-US" dirty="0"/>
          </a:p>
        </p:txBody>
      </p:sp>
      <p:sp>
        <p:nvSpPr>
          <p:cNvPr id="4" name="Slide Number Placeholder 3">
            <a:extLst>
              <a:ext uri="{FF2B5EF4-FFF2-40B4-BE49-F238E27FC236}">
                <a16:creationId xmlns:a16="http://schemas.microsoft.com/office/drawing/2014/main" id="{528707C5-21D4-7449-8506-19BBA58B5C03}"/>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4</a:t>
            </a:fld>
            <a:endParaRPr lang="en-US"/>
          </a:p>
        </p:txBody>
      </p:sp>
      <p:sp>
        <p:nvSpPr>
          <p:cNvPr id="6" name="TextBox 5">
            <a:extLst>
              <a:ext uri="{FF2B5EF4-FFF2-40B4-BE49-F238E27FC236}">
                <a16:creationId xmlns:a16="http://schemas.microsoft.com/office/drawing/2014/main" id="{672F0922-83D5-1321-785B-9E49D3F3F01A}"/>
              </a:ext>
            </a:extLst>
          </p:cNvPr>
          <p:cNvSpPr txBox="1"/>
          <p:nvPr/>
        </p:nvSpPr>
        <p:spPr>
          <a:xfrm>
            <a:off x="744069" y="4635277"/>
            <a:ext cx="11354146" cy="220515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Menlo" panose="020B0609030804020204" pitchFamily="49" charset="0"/>
              </a:rPr>
              <a:t>/**</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 Prints "hello" repeatedly</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a:t>
            </a:r>
            <a:endParaRPr lang="en-US" b="0" dirty="0">
              <a:solidFill>
                <a:srgbClr val="3B3B3B"/>
              </a:solidFill>
              <a:effectLst/>
              <a:latin typeface="Menlo" panose="020B0609030804020204" pitchFamily="49" charset="0"/>
            </a:endParaRPr>
          </a:p>
          <a:p>
            <a:pPr>
              <a:lnSpc>
                <a:spcPct val="110000"/>
              </a:lnSpc>
              <a:buNone/>
            </a:pPr>
            <a:r>
              <a:rPr lang="en-US" dirty="0">
                <a:solidFill>
                  <a:srgbClr val="008000"/>
                </a:solidFill>
                <a:latin typeface="Menlo" panose="020B0609030804020204" pitchFamily="49" charset="0"/>
              </a:rPr>
              <a:t> * </a:t>
            </a:r>
            <a:r>
              <a:rPr lang="en-US" dirty="0">
                <a:solidFill>
                  <a:srgbClr val="0000FF"/>
                </a:solidFill>
                <a:latin typeface="Menlo" panose="020B0609030804020204" pitchFamily="49" charset="0"/>
              </a:rPr>
              <a:t>@param</a:t>
            </a:r>
            <a:r>
              <a:rPr lang="en-US" dirty="0">
                <a:solidFill>
                  <a:srgbClr val="008000"/>
                </a:solidFill>
                <a:latin typeface="Menlo" panose="020B0609030804020204" pitchFamily="49" charset="0"/>
              </a:rPr>
              <a:t> </a:t>
            </a:r>
            <a:r>
              <a:rPr lang="en-US" dirty="0" err="1">
                <a:solidFill>
                  <a:srgbClr val="001080"/>
                </a:solidFill>
                <a:latin typeface="Menlo" panose="020B0609030804020204" pitchFamily="49" charset="0"/>
              </a:rPr>
              <a:t>numHellos</a:t>
            </a:r>
            <a:r>
              <a:rPr lang="en-US" dirty="0">
                <a:solidFill>
                  <a:srgbClr val="008000"/>
                </a:solidFill>
                <a:latin typeface="Menlo" panose="020B0609030804020204" pitchFamily="49" charset="0"/>
              </a:rPr>
              <a:t> - number of times to print “hello”, </a:t>
            </a:r>
          </a:p>
          <a:p>
            <a:pPr>
              <a:lnSpc>
                <a:spcPct val="110000"/>
              </a:lnSpc>
              <a:buNone/>
            </a:pPr>
            <a:r>
              <a:rPr lang="en-US" dirty="0">
                <a:solidFill>
                  <a:srgbClr val="008000"/>
                </a:solidFill>
                <a:latin typeface="Menlo" panose="020B0609030804020204" pitchFamily="49" charset="0"/>
              </a:rPr>
              <a:t> *   </a:t>
            </a:r>
            <a:r>
              <a:rPr lang="en-US" b="0" dirty="0">
                <a:solidFill>
                  <a:srgbClr val="008000"/>
                </a:solidFill>
                <a:effectLst/>
                <a:latin typeface="Menlo" panose="020B0609030804020204" pitchFamily="49" charset="0"/>
              </a:rPr>
              <a:t>must be an integer &gt;= 0</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00FF"/>
                </a:solidFill>
                <a:effectLst/>
                <a:latin typeface="Menlo" panose="020B0609030804020204" pitchFamily="49" charset="0"/>
              </a:rPr>
              <a:t>function</a:t>
            </a:r>
            <a:r>
              <a:rPr lang="en-US" b="0" dirty="0">
                <a:solidFill>
                  <a:srgbClr val="3B3B3B"/>
                </a:solidFill>
                <a:effectLst/>
                <a:latin typeface="Menlo" panose="020B0609030804020204" pitchFamily="49" charset="0"/>
              </a:rPr>
              <a:t> </a:t>
            </a:r>
            <a:r>
              <a:rPr lang="en-US" dirty="0" err="1">
                <a:solidFill>
                  <a:srgbClr val="795E26"/>
                </a:solidFill>
                <a:latin typeface="Menlo" panose="020B0609030804020204" pitchFamily="49" charset="0"/>
              </a:rPr>
              <a:t>helloNTimes</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numHellos</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number</a:t>
            </a: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2144752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EDE22-3767-1FAB-9FB0-77BAC9825D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B3E4AB-2B15-1894-7865-F2911DC398EA}"/>
              </a:ext>
            </a:extLst>
          </p:cNvPr>
          <p:cNvSpPr>
            <a:spLocks noGrp="1"/>
          </p:cNvSpPr>
          <p:nvPr>
            <p:ph type="title"/>
          </p:nvPr>
        </p:nvSpPr>
        <p:spPr>
          <a:xfrm>
            <a:off x="838200" y="18255"/>
            <a:ext cx="10515600" cy="1325563"/>
          </a:xfrm>
        </p:spPr>
        <p:txBody>
          <a:bodyPr/>
          <a:lstStyle/>
          <a:p>
            <a:r>
              <a:rPr lang="en-US" dirty="0"/>
              <a:t>TypeScript Types Cannot Be Trusted</a:t>
            </a:r>
          </a:p>
        </p:txBody>
      </p:sp>
      <p:sp>
        <p:nvSpPr>
          <p:cNvPr id="4" name="Slide Number Placeholder 3">
            <a:extLst>
              <a:ext uri="{FF2B5EF4-FFF2-40B4-BE49-F238E27FC236}">
                <a16:creationId xmlns:a16="http://schemas.microsoft.com/office/drawing/2014/main" id="{2EAC7836-85FC-F37E-8C61-93C949391FC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5</a:t>
            </a:fld>
            <a:endParaRPr lang="en-US"/>
          </a:p>
        </p:txBody>
      </p:sp>
      <p:sp>
        <p:nvSpPr>
          <p:cNvPr id="10" name="Content Placeholder 9">
            <a:extLst>
              <a:ext uri="{FF2B5EF4-FFF2-40B4-BE49-F238E27FC236}">
                <a16:creationId xmlns:a16="http://schemas.microsoft.com/office/drawing/2014/main" id="{BEDE1200-EC64-29F2-0CEE-B96321774A9E}"/>
              </a:ext>
            </a:extLst>
          </p:cNvPr>
          <p:cNvSpPr>
            <a:spLocks noGrp="1"/>
          </p:cNvSpPr>
          <p:nvPr>
            <p:ph idx="1"/>
          </p:nvPr>
        </p:nvSpPr>
        <p:spPr>
          <a:xfrm>
            <a:off x="838200" y="1500159"/>
            <a:ext cx="8877300" cy="5457854"/>
          </a:xfrm>
        </p:spPr>
        <p:txBody>
          <a:bodyPr>
            <a:normAutofit/>
          </a:bodyPr>
          <a:lstStyle/>
          <a:p>
            <a:r>
              <a:rPr lang="en-US" dirty="0"/>
              <a:t>TypeScript types are, at the end of the day, </a:t>
            </a:r>
            <a:br>
              <a:rPr lang="en-US" dirty="0"/>
            </a:br>
            <a:r>
              <a:rPr lang="en-US" dirty="0"/>
              <a:t>no better than preconditions mentioned in comments.</a:t>
            </a:r>
            <a:br>
              <a:rPr lang="en-US" dirty="0"/>
            </a:br>
            <a:endParaRPr lang="en-US" dirty="0"/>
          </a:p>
          <a:p>
            <a:pPr marL="457200" lvl="1" indent="0">
              <a:buNone/>
            </a:pPr>
            <a:r>
              <a:rPr lang="en-US" sz="1600" b="0" dirty="0" err="1">
                <a:solidFill>
                  <a:srgbClr val="795E26"/>
                </a:solidFill>
                <a:effectLst/>
                <a:latin typeface="Menlo" panose="020B0609030804020204" pitchFamily="49" charset="0"/>
              </a:rPr>
              <a:t>helloNTimes</a:t>
            </a:r>
            <a:r>
              <a:rPr lang="en-US" sz="1600" b="0" dirty="0">
                <a:solidFill>
                  <a:srgbClr val="3B3B3B"/>
                </a:solidFill>
                <a:effectLst/>
                <a:latin typeface="Menlo" panose="020B0609030804020204" pitchFamily="49" charset="0"/>
              </a:rPr>
              <a:t>({ </a:t>
            </a:r>
            <a:r>
              <a:rPr lang="en-US" sz="1600" b="0" dirty="0">
                <a:solidFill>
                  <a:srgbClr val="001080"/>
                </a:solidFill>
                <a:effectLst/>
                <a:latin typeface="Menlo" panose="020B0609030804020204" pitchFamily="49" charset="0"/>
              </a:rPr>
              <a:t>lol:</a:t>
            </a:r>
            <a:r>
              <a:rPr lang="en-US" sz="1600" b="0" dirty="0">
                <a:solidFill>
                  <a:srgbClr val="3B3B3B"/>
                </a:solidFill>
                <a:effectLst/>
                <a:latin typeface="Menlo" panose="020B0609030804020204" pitchFamily="49" charset="0"/>
              </a:rPr>
              <a:t> </a:t>
            </a:r>
            <a:r>
              <a:rPr lang="en-US" sz="1600" b="0" dirty="0">
                <a:solidFill>
                  <a:srgbClr val="A31515"/>
                </a:solidFill>
                <a:effectLst/>
                <a:latin typeface="Menlo" panose="020B0609030804020204" pitchFamily="49" charset="0"/>
              </a:rPr>
              <a:t>'owned '</a:t>
            </a:r>
            <a:r>
              <a:rPr lang="en-US" sz="1600" b="0" dirty="0">
                <a:solidFill>
                  <a:srgbClr val="3B3B3B"/>
                </a:solidFill>
                <a:effectLst/>
                <a:latin typeface="Menlo" panose="020B0609030804020204" pitchFamily="49" charset="0"/>
              </a:rPr>
              <a:t> } </a:t>
            </a:r>
            <a:r>
              <a:rPr lang="en-US" sz="1600" b="0" dirty="0">
                <a:solidFill>
                  <a:srgbClr val="AF00DB"/>
                </a:solidFill>
                <a:effectLst/>
                <a:latin typeface="Menlo" panose="020B0609030804020204" pitchFamily="49" charset="0"/>
              </a:rPr>
              <a:t>as</a:t>
            </a:r>
            <a:r>
              <a:rPr lang="en-US" sz="1600" b="0" dirty="0">
                <a:solidFill>
                  <a:srgbClr val="3B3B3B"/>
                </a:solidFill>
                <a:effectLst/>
                <a:latin typeface="Menlo" panose="020B0609030804020204" pitchFamily="49" charset="0"/>
              </a:rPr>
              <a:t> </a:t>
            </a:r>
            <a:r>
              <a:rPr lang="en-US" sz="1600" b="0" dirty="0">
                <a:solidFill>
                  <a:srgbClr val="267F99"/>
                </a:solidFill>
                <a:effectLst/>
                <a:latin typeface="Menlo" panose="020B0609030804020204" pitchFamily="49" charset="0"/>
              </a:rPr>
              <a:t>unknown</a:t>
            </a:r>
            <a:r>
              <a:rPr lang="en-US" sz="1600" b="0" dirty="0">
                <a:solidFill>
                  <a:srgbClr val="3B3B3B"/>
                </a:solidFill>
                <a:effectLst/>
                <a:latin typeface="Menlo" panose="020B0609030804020204" pitchFamily="49" charset="0"/>
              </a:rPr>
              <a:t> </a:t>
            </a:r>
            <a:r>
              <a:rPr lang="en-US" sz="1600" b="0" dirty="0">
                <a:solidFill>
                  <a:srgbClr val="AF00DB"/>
                </a:solidFill>
                <a:effectLst/>
                <a:latin typeface="Menlo" panose="020B0609030804020204" pitchFamily="49" charset="0"/>
              </a:rPr>
              <a:t>as</a:t>
            </a:r>
            <a:r>
              <a:rPr lang="en-US" sz="1600" b="0" dirty="0">
                <a:solidFill>
                  <a:srgbClr val="3B3B3B"/>
                </a:solidFill>
                <a:effectLst/>
                <a:latin typeface="Menlo" panose="020B0609030804020204" pitchFamily="49" charset="0"/>
              </a:rPr>
              <a:t> </a:t>
            </a:r>
            <a:r>
              <a:rPr lang="en-US" sz="1600" b="0" dirty="0">
                <a:solidFill>
                  <a:srgbClr val="267F99"/>
                </a:solidFill>
                <a:effectLst/>
                <a:latin typeface="Menlo" panose="020B0609030804020204" pitchFamily="49" charset="0"/>
              </a:rPr>
              <a:t>number</a:t>
            </a:r>
            <a:r>
              <a:rPr lang="en-US" sz="1600" b="0" dirty="0">
                <a:solidFill>
                  <a:srgbClr val="3B3B3B"/>
                </a:solidFill>
                <a:effectLst/>
                <a:latin typeface="Menlo" panose="020B0609030804020204" pitchFamily="49" charset="0"/>
              </a:rPr>
              <a:t>)</a:t>
            </a:r>
          </a:p>
          <a:p>
            <a:pPr marL="0" indent="0">
              <a:buNone/>
            </a:pPr>
            <a:endParaRPr lang="en-US" dirty="0"/>
          </a:p>
          <a:p>
            <a:r>
              <a:rPr lang="en-US" dirty="0"/>
              <a:t>They do at least make it less likely you’ll screw up </a:t>
            </a:r>
            <a:r>
              <a:rPr lang="en-US" i="1" dirty="0"/>
              <a:t>accidentally…</a:t>
            </a:r>
            <a:endParaRPr lang="en-US" dirty="0"/>
          </a:p>
        </p:txBody>
      </p:sp>
    </p:spTree>
    <p:extLst>
      <p:ext uri="{BB962C8B-B14F-4D97-AF65-F5344CB8AC3E}">
        <p14:creationId xmlns:p14="http://schemas.microsoft.com/office/powerpoint/2010/main" val="1104949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79078-7FEB-FB08-C9B4-ECDECB1558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52A5D-57C7-9E80-03A8-9998E491CB18}"/>
              </a:ext>
            </a:extLst>
          </p:cNvPr>
          <p:cNvSpPr>
            <a:spLocks noGrp="1"/>
          </p:cNvSpPr>
          <p:nvPr>
            <p:ph type="title"/>
          </p:nvPr>
        </p:nvSpPr>
        <p:spPr/>
        <p:txBody>
          <a:bodyPr/>
          <a:lstStyle/>
          <a:p>
            <a:r>
              <a:rPr lang="en-US" dirty="0"/>
              <a:t>TypeScript Types… Can Be Trusted?</a:t>
            </a:r>
          </a:p>
        </p:txBody>
      </p:sp>
      <p:sp>
        <p:nvSpPr>
          <p:cNvPr id="5" name="Content Placeholder 4">
            <a:extLst>
              <a:ext uri="{FF2B5EF4-FFF2-40B4-BE49-F238E27FC236}">
                <a16:creationId xmlns:a16="http://schemas.microsoft.com/office/drawing/2014/main" id="{C37A77FF-2F73-32A6-C83B-33D520E1CC75}"/>
              </a:ext>
            </a:extLst>
          </p:cNvPr>
          <p:cNvSpPr>
            <a:spLocks noGrp="1"/>
          </p:cNvSpPr>
          <p:nvPr>
            <p:ph idx="1"/>
          </p:nvPr>
        </p:nvSpPr>
        <p:spPr>
          <a:xfrm>
            <a:off x="838200" y="1500160"/>
            <a:ext cx="9300882" cy="4351338"/>
          </a:xfrm>
        </p:spPr>
        <p:txBody>
          <a:bodyPr>
            <a:normAutofit/>
          </a:bodyPr>
          <a:lstStyle/>
          <a:p>
            <a:r>
              <a:rPr lang="en-US" dirty="0"/>
              <a:t>If you use TypeScript with care, you can rely on the control it gives you over what might get passed to the function</a:t>
            </a:r>
          </a:p>
          <a:p>
            <a:pPr lvl="1"/>
            <a:r>
              <a:rPr lang="en-US" dirty="0"/>
              <a:t>If a function is only being called from other sources that respect contracts… then you can rely on the contracts being respected?</a:t>
            </a:r>
          </a:p>
          <a:p>
            <a:pPr lvl="1"/>
            <a:r>
              <a:rPr lang="en-US" dirty="0"/>
              <a:t>Don’t have contracts on functions that won’t be respected!</a:t>
            </a:r>
          </a:p>
        </p:txBody>
      </p:sp>
      <p:sp>
        <p:nvSpPr>
          <p:cNvPr id="4" name="Slide Number Placeholder 3">
            <a:extLst>
              <a:ext uri="{FF2B5EF4-FFF2-40B4-BE49-F238E27FC236}">
                <a16:creationId xmlns:a16="http://schemas.microsoft.com/office/drawing/2014/main" id="{1AE47F66-96DD-AF15-C1DD-4071CF94F6BF}"/>
              </a:ext>
            </a:extLst>
          </p:cNvPr>
          <p:cNvSpPr>
            <a:spLocks noGrp="1"/>
          </p:cNvSpPr>
          <p:nvPr>
            <p:ph type="sldNum" sz="quarter" idx="12"/>
          </p:nvPr>
        </p:nvSpPr>
        <p:spPr/>
        <p:txBody>
          <a:bodyPr/>
          <a:lstStyle/>
          <a:p>
            <a:fld id="{20F37917-FD3A-4669-9018-DA04BCDD3D75}" type="slidenum">
              <a:rPr lang="en-US" smtClean="0"/>
              <a:pPr/>
              <a:t>6</a:t>
            </a:fld>
            <a:endParaRPr lang="en-US"/>
          </a:p>
        </p:txBody>
      </p:sp>
      <p:sp>
        <p:nvSpPr>
          <p:cNvPr id="3" name="TextBox 2">
            <a:extLst>
              <a:ext uri="{FF2B5EF4-FFF2-40B4-BE49-F238E27FC236}">
                <a16:creationId xmlns:a16="http://schemas.microsoft.com/office/drawing/2014/main" id="{1FB16FB1-5FD1-C403-9583-EA8AD5F90D5E}"/>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TextBox 8">
            <a:extLst>
              <a:ext uri="{FF2B5EF4-FFF2-40B4-BE49-F238E27FC236}">
                <a16:creationId xmlns:a16="http://schemas.microsoft.com/office/drawing/2014/main" id="{A289D19E-0F6F-CF73-B14A-BF609439A95C}"/>
              </a:ext>
            </a:extLst>
          </p:cNvPr>
          <p:cNvSpPr txBox="1"/>
          <p:nvPr/>
        </p:nvSpPr>
        <p:spPr>
          <a:xfrm>
            <a:off x="443753" y="223221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TextBox 5">
            <a:extLst>
              <a:ext uri="{FF2B5EF4-FFF2-40B4-BE49-F238E27FC236}">
                <a16:creationId xmlns:a16="http://schemas.microsoft.com/office/drawing/2014/main" id="{F25E5EA8-3C62-C15C-87FA-BFED90716FB6}"/>
              </a:ext>
            </a:extLst>
          </p:cNvPr>
          <p:cNvSpPr txBox="1"/>
          <p:nvPr/>
        </p:nvSpPr>
        <p:spPr>
          <a:xfrm>
            <a:off x="4504765" y="75303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900754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C7678-E75D-D72A-E335-A8B087B989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29018A-9F15-2F80-C8A4-C95F0D4A3CCF}"/>
              </a:ext>
            </a:extLst>
          </p:cNvPr>
          <p:cNvSpPr>
            <a:spLocks noGrp="1"/>
          </p:cNvSpPr>
          <p:nvPr>
            <p:ph type="title"/>
          </p:nvPr>
        </p:nvSpPr>
        <p:spPr/>
        <p:txBody>
          <a:bodyPr/>
          <a:lstStyle/>
          <a:p>
            <a:r>
              <a:rPr lang="en-US" dirty="0"/>
              <a:t>What Trusting Contracts Looks Like</a:t>
            </a:r>
          </a:p>
        </p:txBody>
      </p:sp>
      <p:sp>
        <p:nvSpPr>
          <p:cNvPr id="5" name="Content Placeholder 4">
            <a:extLst>
              <a:ext uri="{FF2B5EF4-FFF2-40B4-BE49-F238E27FC236}">
                <a16:creationId xmlns:a16="http://schemas.microsoft.com/office/drawing/2014/main" id="{A1DBC17E-04F1-ECEF-3F16-CA1E32B3D223}"/>
              </a:ext>
            </a:extLst>
          </p:cNvPr>
          <p:cNvSpPr>
            <a:spLocks noGrp="1"/>
          </p:cNvSpPr>
          <p:nvPr>
            <p:ph idx="1"/>
          </p:nvPr>
        </p:nvSpPr>
        <p:spPr>
          <a:xfrm>
            <a:off x="838199" y="1500159"/>
            <a:ext cx="8157519" cy="4653505"/>
          </a:xfrm>
        </p:spPr>
        <p:txBody>
          <a:bodyPr>
            <a:noAutofit/>
          </a:bodyPr>
          <a:lstStyle/>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Adds a message to a chat, updating the chat</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@param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chatId</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Ostensible chat id</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@param user </a:t>
            </a: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Authenticated user </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@param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messageId</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Valid message id</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@returns </a:t>
            </a: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the updated chat info object</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@throws </a:t>
            </a: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if the chat id is not valid</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2000" dirty="0">
                <a:solidFill>
                  <a:srgbClr val="AF00DB"/>
                </a:solidFill>
                <a:latin typeface="Menlo" panose="020B0609030804020204" pitchFamily="49" charset="0"/>
              </a:rPr>
              <a:t>export</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function</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addMessageToChat</a:t>
            </a:r>
            <a:r>
              <a:rPr lang="en-US" sz="20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chatId</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0070C0"/>
                </a:solidFill>
                <a:latin typeface="Menlo" panose="020B0609030804020204" pitchFamily="49" charset="0"/>
                <a:ea typeface="Menlo" panose="020B0609030804020204" pitchFamily="49" charset="0"/>
                <a:cs typeface="Menlo" panose="020B0609030804020204" pitchFamily="49" charset="0"/>
              </a:rPr>
              <a:t>string</a:t>
            </a:r>
            <a:r>
              <a:rPr lang="en-US" sz="20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user</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70C0"/>
                </a:solidFill>
                <a:latin typeface="Menlo" panose="020B0609030804020204" pitchFamily="49" charset="0"/>
                <a:ea typeface="Menlo" panose="020B0609030804020204" pitchFamily="49" charset="0"/>
                <a:cs typeface="Menlo" panose="020B0609030804020204" pitchFamily="49" charset="0"/>
              </a:rPr>
              <a:t>UserWithId</a:t>
            </a:r>
            <a:r>
              <a:rPr lang="en-US" sz="20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messageId</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0070C0"/>
                </a:solidFill>
                <a:latin typeface="Menlo" panose="020B0609030804020204" pitchFamily="49" charset="0"/>
                <a:ea typeface="Menlo" panose="020B0609030804020204" pitchFamily="49" charset="0"/>
                <a:cs typeface="Menlo" panose="020B0609030804020204" pitchFamily="49" charset="0"/>
              </a:rPr>
              <a:t>string</a:t>
            </a:r>
          </a:p>
          <a:p>
            <a:pPr marL="0" indent="0">
              <a:spcBef>
                <a:spcPts val="0"/>
              </a:spcBef>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70C0"/>
                </a:solidFill>
                <a:latin typeface="Menlo" panose="020B0609030804020204" pitchFamily="49" charset="0"/>
                <a:ea typeface="Menlo" panose="020B0609030804020204" pitchFamily="49" charset="0"/>
                <a:cs typeface="Menlo" panose="020B0609030804020204" pitchFamily="49" charset="0"/>
              </a:rPr>
              <a:t>ChatInfo</a:t>
            </a:r>
            <a:r>
              <a:rPr lang="en-US" sz="2000" dirty="0">
                <a:latin typeface="Menlo" panose="020B0609030804020204" pitchFamily="49" charset="0"/>
                <a:ea typeface="Menlo" panose="020B0609030804020204" pitchFamily="49" charset="0"/>
                <a:cs typeface="Menlo" panose="020B0609030804020204" pitchFamily="49" charset="0"/>
              </a:rPr>
              <a:t> {</a:t>
            </a:r>
          </a:p>
          <a:p>
            <a:pPr marL="0" indent="0">
              <a:lnSpc>
                <a:spcPct val="110000"/>
              </a:lnSpc>
              <a:spcBef>
                <a:spcPts val="0"/>
              </a:spcBef>
              <a:buNone/>
            </a:pPr>
            <a:endParaRPr lang="en-US" sz="2000" dirty="0">
              <a:latin typeface="Menlo" panose="020B0609030804020204" pitchFamily="49" charset="0"/>
              <a:ea typeface="Menlo" panose="020B0609030804020204" pitchFamily="49" charset="0"/>
              <a:cs typeface="Menlo" panose="020B0609030804020204" pitchFamily="49" charset="0"/>
            </a:endParaRPr>
          </a:p>
        </p:txBody>
      </p:sp>
      <p:sp>
        <p:nvSpPr>
          <p:cNvPr id="4" name="Slide Number Placeholder 3">
            <a:extLst>
              <a:ext uri="{FF2B5EF4-FFF2-40B4-BE49-F238E27FC236}">
                <a16:creationId xmlns:a16="http://schemas.microsoft.com/office/drawing/2014/main" id="{B0DD90AE-4FCF-BC2E-F3C1-4EFD0FC1E22D}"/>
              </a:ext>
            </a:extLst>
          </p:cNvPr>
          <p:cNvSpPr>
            <a:spLocks noGrp="1"/>
          </p:cNvSpPr>
          <p:nvPr>
            <p:ph type="sldNum" sz="quarter" idx="12"/>
          </p:nvPr>
        </p:nvSpPr>
        <p:spPr/>
        <p:txBody>
          <a:bodyPr/>
          <a:lstStyle/>
          <a:p>
            <a:fld id="{20F37917-FD3A-4669-9018-DA04BCDD3D75}" type="slidenum">
              <a:rPr lang="en-US" smtClean="0"/>
              <a:pPr/>
              <a:t>7</a:t>
            </a:fld>
            <a:endParaRPr lang="en-US"/>
          </a:p>
        </p:txBody>
      </p:sp>
      <p:sp>
        <p:nvSpPr>
          <p:cNvPr id="3" name="TextBox 2">
            <a:extLst>
              <a:ext uri="{FF2B5EF4-FFF2-40B4-BE49-F238E27FC236}">
                <a16:creationId xmlns:a16="http://schemas.microsoft.com/office/drawing/2014/main" id="{157E633B-897C-3F90-E004-3105CE2B8C78}"/>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F5129D48-C8A2-154A-F6AE-7AC539ED4FA5}"/>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1331119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E99D1-3EFE-CC1D-4232-46A4B4731E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DCDC19-47F1-62C9-F77F-A3DD8994E0CF}"/>
              </a:ext>
            </a:extLst>
          </p:cNvPr>
          <p:cNvSpPr>
            <a:spLocks noGrp="1"/>
          </p:cNvSpPr>
          <p:nvPr>
            <p:ph type="title"/>
          </p:nvPr>
        </p:nvSpPr>
        <p:spPr/>
        <p:txBody>
          <a:bodyPr/>
          <a:lstStyle/>
          <a:p>
            <a:r>
              <a:rPr lang="en-US" dirty="0"/>
              <a:t>Untrusted Inputs</a:t>
            </a:r>
          </a:p>
        </p:txBody>
      </p:sp>
      <p:sp>
        <p:nvSpPr>
          <p:cNvPr id="4" name="Slide Number Placeholder 3">
            <a:extLst>
              <a:ext uri="{FF2B5EF4-FFF2-40B4-BE49-F238E27FC236}">
                <a16:creationId xmlns:a16="http://schemas.microsoft.com/office/drawing/2014/main" id="{49BF43A1-E0F6-792E-915A-F1EE88354758}"/>
              </a:ext>
            </a:extLst>
          </p:cNvPr>
          <p:cNvSpPr>
            <a:spLocks noGrp="1"/>
          </p:cNvSpPr>
          <p:nvPr>
            <p:ph type="sldNum" sz="quarter" idx="12"/>
          </p:nvPr>
        </p:nvSpPr>
        <p:spPr/>
        <p:txBody>
          <a:bodyPr/>
          <a:lstStyle/>
          <a:p>
            <a:fld id="{20F37917-FD3A-4669-9018-DA04BCDD3D75}" type="slidenum">
              <a:rPr lang="en-US" smtClean="0"/>
              <a:pPr/>
              <a:t>8</a:t>
            </a:fld>
            <a:endParaRPr lang="en-US" dirty="0"/>
          </a:p>
        </p:txBody>
      </p:sp>
      <p:sp>
        <p:nvSpPr>
          <p:cNvPr id="3" name="TextBox 2">
            <a:extLst>
              <a:ext uri="{FF2B5EF4-FFF2-40B4-BE49-F238E27FC236}">
                <a16:creationId xmlns:a16="http://schemas.microsoft.com/office/drawing/2014/main" id="{26933C7F-EDFD-7B22-60C3-822A5D294ED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1A5354DA-E2DB-A31F-8480-DB5EC910D95D}"/>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Content Placeholder 6">
            <a:extLst>
              <a:ext uri="{FF2B5EF4-FFF2-40B4-BE49-F238E27FC236}">
                <a16:creationId xmlns:a16="http://schemas.microsoft.com/office/drawing/2014/main" id="{B07DBF23-21C5-DE37-E827-58241A3AB489}"/>
              </a:ext>
            </a:extLst>
          </p:cNvPr>
          <p:cNvSpPr>
            <a:spLocks noGrp="1"/>
          </p:cNvSpPr>
          <p:nvPr>
            <p:ph idx="1"/>
          </p:nvPr>
        </p:nvSpPr>
        <p:spPr>
          <a:xfrm>
            <a:off x="342582" y="1509357"/>
            <a:ext cx="4598128" cy="3519843"/>
          </a:xfrm>
        </p:spPr>
        <p:txBody>
          <a:bodyPr>
            <a:normAutofit/>
          </a:bodyPr>
          <a:lstStyle/>
          <a:p>
            <a:pPr marL="0" indent="0">
              <a:buNone/>
            </a:pPr>
            <a:r>
              <a:rPr lang="en-US" dirty="0"/>
              <a:t>Any input given to a web app</a:t>
            </a:r>
            <a:br>
              <a:rPr lang="en-US" dirty="0"/>
            </a:br>
            <a:r>
              <a:rPr lang="en-US" dirty="0"/>
              <a:t>can also</a:t>
            </a:r>
            <a:br>
              <a:rPr lang="en-US" dirty="0"/>
            </a:br>
            <a:r>
              <a:rPr lang="en-US" dirty="0"/>
              <a:t>be given</a:t>
            </a:r>
            <a:br>
              <a:rPr lang="en-US" dirty="0"/>
            </a:br>
            <a:r>
              <a:rPr lang="en-US" dirty="0"/>
              <a:t>by other</a:t>
            </a:r>
            <a:br>
              <a:rPr lang="en-US" dirty="0"/>
            </a:br>
            <a:r>
              <a:rPr lang="en-US" dirty="0"/>
              <a:t>means…</a:t>
            </a:r>
          </a:p>
        </p:txBody>
      </p:sp>
      <p:pic>
        <p:nvPicPr>
          <p:cNvPr id="8" name="Picture 7">
            <a:extLst>
              <a:ext uri="{FF2B5EF4-FFF2-40B4-BE49-F238E27FC236}">
                <a16:creationId xmlns:a16="http://schemas.microsoft.com/office/drawing/2014/main" id="{A27C73C2-A36E-1690-B592-29A0DCEE9962}"/>
              </a:ext>
            </a:extLst>
          </p:cNvPr>
          <p:cNvPicPr>
            <a:picLocks noChangeAspect="1"/>
          </p:cNvPicPr>
          <p:nvPr/>
        </p:nvPicPr>
        <p:blipFill>
          <a:blip r:embed="rId3"/>
          <a:stretch>
            <a:fillRect/>
          </a:stretch>
        </p:blipFill>
        <p:spPr>
          <a:xfrm>
            <a:off x="2130317" y="2261135"/>
            <a:ext cx="3130123" cy="3096705"/>
          </a:xfrm>
          <a:prstGeom prst="rect">
            <a:avLst/>
          </a:prstGeom>
        </p:spPr>
        <p:style>
          <a:lnRef idx="2">
            <a:schemeClr val="accent2">
              <a:shade val="15000"/>
            </a:schemeClr>
          </a:lnRef>
          <a:fillRef idx="1">
            <a:schemeClr val="accent2"/>
          </a:fillRef>
          <a:effectRef idx="0">
            <a:schemeClr val="accent2"/>
          </a:effectRef>
          <a:fontRef idx="minor">
            <a:schemeClr val="lt1"/>
          </a:fontRef>
        </p:style>
      </p:pic>
      <p:sp>
        <p:nvSpPr>
          <p:cNvPr id="9" name="TextBox 8">
            <a:extLst>
              <a:ext uri="{FF2B5EF4-FFF2-40B4-BE49-F238E27FC236}">
                <a16:creationId xmlns:a16="http://schemas.microsoft.com/office/drawing/2014/main" id="{05900EFC-DE70-FBE8-2791-FB2B07B74AEB}"/>
              </a:ext>
            </a:extLst>
          </p:cNvPr>
          <p:cNvSpPr txBox="1"/>
          <p:nvPr/>
        </p:nvSpPr>
        <p:spPr>
          <a:xfrm>
            <a:off x="354676" y="5357840"/>
            <a:ext cx="11482647" cy="8311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curl https://</a:t>
            </a:r>
            <a:r>
              <a:rPr lang="en-US" dirty="0" err="1">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strategy.town</a:t>
            </a:r>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a:t>
            </a:r>
            <a:r>
              <a:rPr lang="en-US" dirty="0" err="1">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api</a:t>
            </a:r>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/user/signup -H 'Content-Type: application/</a:t>
            </a:r>
            <a:r>
              <a:rPr lang="en-US" dirty="0" err="1">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json</a:t>
            </a:r>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  --data '{ "username": "</a:t>
            </a:r>
            <a:r>
              <a:rPr lang="en-US" dirty="0" err="1">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trugamer</a:t>
            </a:r>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 "password": "Hunter2" }'</a:t>
            </a:r>
          </a:p>
        </p:txBody>
      </p:sp>
      <p:pic>
        <p:nvPicPr>
          <p:cNvPr id="10" name="Picture 9">
            <a:extLst>
              <a:ext uri="{FF2B5EF4-FFF2-40B4-BE49-F238E27FC236}">
                <a16:creationId xmlns:a16="http://schemas.microsoft.com/office/drawing/2014/main" id="{4020EB59-7465-48E2-D307-42A460E296D6}"/>
              </a:ext>
            </a:extLst>
          </p:cNvPr>
          <p:cNvPicPr>
            <a:picLocks noChangeAspect="1"/>
          </p:cNvPicPr>
          <p:nvPr/>
        </p:nvPicPr>
        <p:blipFill>
          <a:blip r:embed="rId4"/>
          <a:stretch>
            <a:fillRect/>
          </a:stretch>
        </p:blipFill>
        <p:spPr>
          <a:xfrm>
            <a:off x="5270077" y="898937"/>
            <a:ext cx="6576883" cy="4458903"/>
          </a:xfrm>
          <a:prstGeom prst="rect">
            <a:avLst/>
          </a:prstGeom>
          <a:ln>
            <a:solidFill>
              <a:schemeClr val="accent1"/>
            </a:solidFill>
          </a:ln>
        </p:spPr>
      </p:pic>
      <p:sp>
        <p:nvSpPr>
          <p:cNvPr id="12" name="TextBox 11">
            <a:extLst>
              <a:ext uri="{FF2B5EF4-FFF2-40B4-BE49-F238E27FC236}">
                <a16:creationId xmlns:a16="http://schemas.microsoft.com/office/drawing/2014/main" id="{AF846D40-6CA3-FF19-8447-AC098381090C}"/>
              </a:ext>
            </a:extLst>
          </p:cNvPr>
          <p:cNvSpPr txBox="1"/>
          <p:nvPr/>
        </p:nvSpPr>
        <p:spPr>
          <a:xfrm>
            <a:off x="1841157" y="200179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3" name="TextBox 12">
            <a:extLst>
              <a:ext uri="{FF2B5EF4-FFF2-40B4-BE49-F238E27FC236}">
                <a16:creationId xmlns:a16="http://schemas.microsoft.com/office/drawing/2014/main" id="{A6AAFFBB-2531-3239-1536-926BA1CE3E55}"/>
              </a:ext>
            </a:extLst>
          </p:cNvPr>
          <p:cNvSpPr txBox="1"/>
          <p:nvPr/>
        </p:nvSpPr>
        <p:spPr>
          <a:xfrm>
            <a:off x="3524865" y="1828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5692584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C4F2E-07F2-D81B-66BA-BB4EF1E92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941892-B670-C220-0AC5-0F82ECC89AAE}"/>
              </a:ext>
            </a:extLst>
          </p:cNvPr>
          <p:cNvSpPr>
            <a:spLocks noGrp="1"/>
          </p:cNvSpPr>
          <p:nvPr>
            <p:ph type="title"/>
          </p:nvPr>
        </p:nvSpPr>
        <p:spPr/>
        <p:txBody>
          <a:bodyPr/>
          <a:lstStyle/>
          <a:p>
            <a:r>
              <a:rPr lang="en-US" dirty="0"/>
              <a:t>Untrusted Inputs should be </a:t>
            </a:r>
            <a:r>
              <a:rPr lang="en-US" dirty="0">
                <a:latin typeface="Menlo" panose="020B0609030804020204" pitchFamily="49" charset="0"/>
                <a:ea typeface="Menlo" panose="020B0609030804020204" pitchFamily="49" charset="0"/>
                <a:cs typeface="Menlo" panose="020B0609030804020204" pitchFamily="49" charset="0"/>
              </a:rPr>
              <a:t>unknown</a:t>
            </a:r>
          </a:p>
        </p:txBody>
      </p:sp>
      <p:sp>
        <p:nvSpPr>
          <p:cNvPr id="4" name="Slide Number Placeholder 3">
            <a:extLst>
              <a:ext uri="{FF2B5EF4-FFF2-40B4-BE49-F238E27FC236}">
                <a16:creationId xmlns:a16="http://schemas.microsoft.com/office/drawing/2014/main" id="{789D95B4-F24B-7C04-70AB-3D4867516548}"/>
              </a:ext>
            </a:extLst>
          </p:cNvPr>
          <p:cNvSpPr>
            <a:spLocks noGrp="1"/>
          </p:cNvSpPr>
          <p:nvPr>
            <p:ph type="sldNum" sz="quarter" idx="12"/>
          </p:nvPr>
        </p:nvSpPr>
        <p:spPr/>
        <p:txBody>
          <a:bodyPr/>
          <a:lstStyle/>
          <a:p>
            <a:fld id="{20F37917-FD3A-4669-9018-DA04BCDD3D75}" type="slidenum">
              <a:rPr lang="en-US" smtClean="0"/>
              <a:pPr/>
              <a:t>9</a:t>
            </a:fld>
            <a:endParaRPr lang="en-US" dirty="0"/>
          </a:p>
        </p:txBody>
      </p:sp>
      <p:sp>
        <p:nvSpPr>
          <p:cNvPr id="3" name="TextBox 2">
            <a:extLst>
              <a:ext uri="{FF2B5EF4-FFF2-40B4-BE49-F238E27FC236}">
                <a16:creationId xmlns:a16="http://schemas.microsoft.com/office/drawing/2014/main" id="{CAB67779-0FD8-1EDF-670B-3D3FBE19B5F4}"/>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24032205-46D0-6F87-1E21-A5DECCF9C4C9}"/>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Content Placeholder 5">
            <a:extLst>
              <a:ext uri="{FF2B5EF4-FFF2-40B4-BE49-F238E27FC236}">
                <a16:creationId xmlns:a16="http://schemas.microsoft.com/office/drawing/2014/main" id="{45FD9428-A4EC-DE5B-666A-02FAA3D7F1C8}"/>
              </a:ext>
            </a:extLst>
          </p:cNvPr>
          <p:cNvSpPr>
            <a:spLocks noGrp="1"/>
          </p:cNvSpPr>
          <p:nvPr>
            <p:ph idx="1"/>
          </p:nvPr>
        </p:nvSpPr>
        <p:spPr>
          <a:xfrm>
            <a:off x="838199" y="1500160"/>
            <a:ext cx="10515599" cy="4856190"/>
          </a:xfrm>
        </p:spPr>
        <p:txBody>
          <a:bodyPr>
            <a:normAutofit lnSpcReduction="10000"/>
          </a:bodyPr>
          <a:lstStyle/>
          <a:p>
            <a:r>
              <a:rPr lang="en-US" dirty="0"/>
              <a:t>The appropriate TypeScript type for an unknown value is </a:t>
            </a:r>
            <a:r>
              <a:rPr lang="en-US" dirty="0">
                <a:latin typeface="Menlo" panose="020B0609030804020204" pitchFamily="49" charset="0"/>
                <a:ea typeface="Menlo" panose="020B0609030804020204" pitchFamily="49" charset="0"/>
                <a:cs typeface="Menlo" panose="020B0609030804020204" pitchFamily="49" charset="0"/>
              </a:rPr>
              <a:t>unknown</a:t>
            </a:r>
          </a:p>
          <a:p>
            <a:pPr marL="0" indent="0">
              <a:buNone/>
            </a:pPr>
            <a:endParaRPr lang="en-US" dirty="0">
              <a:latin typeface="Menlo" panose="020B0609030804020204" pitchFamily="49" charset="0"/>
              <a:ea typeface="Menlo" panose="020B0609030804020204" pitchFamily="49" charset="0"/>
              <a:cs typeface="Menlo" panose="020B0609030804020204" pitchFamily="49" charset="0"/>
            </a:endParaRPr>
          </a:p>
          <a:p>
            <a:pPr marL="0" indent="0">
              <a:buNone/>
            </a:pP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function</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lookAtMe</a:t>
            </a:r>
            <a:r>
              <a:rPr lang="en-US" sz="2000" dirty="0">
                <a:latin typeface="Menlo" panose="020B0609030804020204" pitchFamily="49" charset="0"/>
                <a:ea typeface="Menlo" panose="020B0609030804020204" pitchFamily="49" charset="0"/>
                <a:cs typeface="Menlo" panose="020B0609030804020204" pitchFamily="49" charset="0"/>
              </a:rPr>
              <a:t>(</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input</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0070C0"/>
                </a:solidFill>
                <a:latin typeface="Menlo" panose="020B0609030804020204" pitchFamily="49" charset="0"/>
                <a:ea typeface="Menlo" panose="020B0609030804020204" pitchFamily="49" charset="0"/>
                <a:cs typeface="Menlo" panose="020B0609030804020204" pitchFamily="49" charset="0"/>
              </a:rPr>
              <a:t>unknown</a:t>
            </a:r>
            <a:r>
              <a:rPr lang="en-US" sz="2000" dirty="0">
                <a:latin typeface="Menlo" panose="020B0609030804020204" pitchFamily="49" charset="0"/>
                <a:ea typeface="Menlo" panose="020B0609030804020204" pitchFamily="49" charset="0"/>
                <a:cs typeface="Menlo" panose="020B0609030804020204" pitchFamily="49" charset="0"/>
              </a:rPr>
              <a:t>) {</a:t>
            </a:r>
          </a:p>
          <a:p>
            <a:pPr marL="0" indent="0">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latin typeface="Menlo" panose="020B0609030804020204" pitchFamily="49" charset="0"/>
                <a:ea typeface="Menlo" panose="020B0609030804020204" pitchFamily="49" charset="0"/>
                <a:cs typeface="Menlo" panose="020B0609030804020204" pitchFamily="49" charset="0"/>
              </a:rPr>
              <a:t>console.log</a:t>
            </a:r>
            <a:r>
              <a:rPr lang="en-US" sz="2000" dirty="0">
                <a:latin typeface="Menlo" panose="020B0609030804020204" pitchFamily="49" charset="0"/>
                <a:ea typeface="Menlo" panose="020B0609030804020204" pitchFamily="49" charset="0"/>
                <a:cs typeface="Menlo" panose="020B0609030804020204" pitchFamily="49" charset="0"/>
              </a:rPr>
              <a:t>(</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input</a:t>
            </a:r>
            <a:r>
              <a:rPr lang="en-US" sz="2000" dirty="0" err="1">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toUpperCase</a:t>
            </a:r>
            <a:r>
              <a:rPr lang="en-US" sz="2000" dirty="0">
                <a:latin typeface="Menlo" panose="020B0609030804020204" pitchFamily="49" charset="0"/>
                <a:ea typeface="Menlo" panose="020B0609030804020204" pitchFamily="49" charset="0"/>
                <a:cs typeface="Menlo" panose="020B0609030804020204" pitchFamily="49" charset="0"/>
              </a:rPr>
              <a:t>());</a:t>
            </a:r>
          </a:p>
          <a:p>
            <a:pPr marL="0" indent="0">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AF00DB"/>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AF00DB"/>
                </a:solidFill>
                <a:latin typeface="Menlo" panose="020B0609030804020204" pitchFamily="49" charset="0"/>
              </a:rPr>
              <a:t>if</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input </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C00000"/>
                </a:solidFill>
                <a:latin typeface="Menlo" panose="020B0609030804020204" pitchFamily="49" charset="0"/>
                <a:ea typeface="Menlo" panose="020B0609030804020204" pitchFamily="49" charset="0"/>
                <a:cs typeface="Menlo" panose="020B0609030804020204" pitchFamily="49" charset="0"/>
              </a:rPr>
              <a:t>"string"</a:t>
            </a:r>
            <a:r>
              <a:rPr lang="en-US" sz="2000" dirty="0">
                <a:latin typeface="Menlo" panose="020B0609030804020204" pitchFamily="49" charset="0"/>
                <a:ea typeface="Menlo" panose="020B0609030804020204" pitchFamily="49" charset="0"/>
                <a:cs typeface="Menlo" panose="020B0609030804020204" pitchFamily="49" charset="0"/>
              </a:rPr>
              <a:t>) {</a:t>
            </a:r>
          </a:p>
          <a:p>
            <a:pPr marL="0" indent="0">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console</a:t>
            </a:r>
            <a:r>
              <a:rPr lang="en-US" sz="2000" dirty="0" err="1">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log</a:t>
            </a:r>
            <a:r>
              <a:rPr lang="en-US" sz="2000" dirty="0">
                <a:latin typeface="Menlo" panose="020B0609030804020204" pitchFamily="49" charset="0"/>
                <a:ea typeface="Menlo" panose="020B0609030804020204" pitchFamily="49" charset="0"/>
                <a:cs typeface="Menlo" panose="020B0609030804020204" pitchFamily="49" charset="0"/>
              </a:rPr>
              <a:t>(</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input</a:t>
            </a:r>
            <a:r>
              <a:rPr lang="en-US" sz="2000" dirty="0" err="1">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toUpperCase</a:t>
            </a:r>
            <a:r>
              <a:rPr lang="en-US" sz="2000" dirty="0">
                <a:latin typeface="Menlo" panose="020B0609030804020204" pitchFamily="49" charset="0"/>
                <a:ea typeface="Menlo" panose="020B0609030804020204" pitchFamily="49" charset="0"/>
                <a:cs typeface="Menlo" panose="020B0609030804020204" pitchFamily="49" charset="0"/>
              </a:rPr>
              <a:t>());</a:t>
            </a:r>
          </a:p>
          <a:p>
            <a:pPr marL="0" indent="0">
              <a:buNone/>
            </a:pPr>
            <a:r>
              <a:rPr lang="en-US" sz="2000" dirty="0">
                <a:latin typeface="Menlo" panose="020B0609030804020204" pitchFamily="49" charset="0"/>
                <a:ea typeface="Menlo" panose="020B0609030804020204" pitchFamily="49" charset="0"/>
                <a:cs typeface="Menlo" panose="020B0609030804020204" pitchFamily="49" charset="0"/>
              </a:rPr>
              <a:t>  }</a:t>
            </a:r>
          </a:p>
          <a:p>
            <a:pPr marL="0" indent="0">
              <a:buNone/>
            </a:pPr>
            <a:r>
              <a:rPr lang="en-US" sz="2000" dirty="0">
                <a:latin typeface="Menlo" panose="020B0609030804020204" pitchFamily="49" charset="0"/>
                <a:ea typeface="Menlo" panose="020B0609030804020204" pitchFamily="49" charset="0"/>
                <a:cs typeface="Menlo" panose="020B0609030804020204" pitchFamily="49" charset="0"/>
              </a:rPr>
              <a:t>}</a:t>
            </a:r>
            <a:br>
              <a:rPr lang="en-US" sz="2100" dirty="0">
                <a:latin typeface="Menlo" panose="020B0609030804020204" pitchFamily="49" charset="0"/>
                <a:ea typeface="Menlo" panose="020B0609030804020204" pitchFamily="49" charset="0"/>
                <a:cs typeface="Menlo" panose="020B0609030804020204" pitchFamily="49" charset="0"/>
              </a:rPr>
            </a:br>
            <a:endParaRPr lang="en-US" sz="2100" dirty="0">
              <a:latin typeface="Menlo" panose="020B0609030804020204" pitchFamily="49" charset="0"/>
              <a:ea typeface="Menlo" panose="020B0609030804020204" pitchFamily="49" charset="0"/>
              <a:cs typeface="Menlo" panose="020B0609030804020204" pitchFamily="49" charset="0"/>
            </a:endParaRPr>
          </a:p>
          <a:p>
            <a:r>
              <a:rPr lang="en-US" dirty="0">
                <a:latin typeface="Calibri" panose="020F0502020204030204" pitchFamily="34" charset="0"/>
                <a:ea typeface="Menlo" panose="020B0609030804020204" pitchFamily="49" charset="0"/>
                <a:cs typeface="Calibri" panose="020F0502020204030204" pitchFamily="34" charset="0"/>
              </a:rPr>
              <a:t>If you use the </a:t>
            </a:r>
            <a:r>
              <a:rPr lang="en-US" dirty="0">
                <a:solidFill>
                  <a:srgbClr val="FF0000"/>
                </a:solidFill>
                <a:latin typeface="Menlo" panose="020B0609030804020204" pitchFamily="49" charset="0"/>
                <a:ea typeface="Menlo" panose="020B0609030804020204" pitchFamily="49" charset="0"/>
                <a:cs typeface="Menlo" panose="020B0609030804020204" pitchFamily="49" charset="0"/>
              </a:rPr>
              <a:t>any</a:t>
            </a:r>
            <a:r>
              <a:rPr lang="en-US" dirty="0">
                <a:latin typeface="Calibri" panose="020F0502020204030204" pitchFamily="34" charset="0"/>
                <a:ea typeface="Menlo" panose="020B0609030804020204" pitchFamily="49" charset="0"/>
                <a:cs typeface="Calibri" panose="020F0502020204030204" pitchFamily="34" charset="0"/>
              </a:rPr>
              <a:t> type instead, TypeScript will just say “ok, I guess you know what you’re doing”</a:t>
            </a:r>
          </a:p>
          <a:p>
            <a:pPr marL="0" indent="0">
              <a:buNone/>
            </a:pPr>
            <a:endParaRPr lang="en-US" dirty="0">
              <a:latin typeface="Menlo" panose="020B0609030804020204" pitchFamily="49" charset="0"/>
              <a:ea typeface="Menlo" panose="020B0609030804020204" pitchFamily="49" charset="0"/>
              <a:cs typeface="Menlo" panose="020B0609030804020204" pitchFamily="49" charset="0"/>
            </a:endParaRPr>
          </a:p>
          <a:p>
            <a:endParaRPr lang="en-US" dirty="0">
              <a:latin typeface="Menlo" panose="020B0609030804020204" pitchFamily="49" charset="0"/>
              <a:ea typeface="Menlo" panose="020B0609030804020204" pitchFamily="49" charset="0"/>
              <a:cs typeface="Menlo" panose="020B0609030804020204" pitchFamily="49" charset="0"/>
            </a:endParaRPr>
          </a:p>
        </p:txBody>
      </p:sp>
      <p:sp>
        <p:nvSpPr>
          <p:cNvPr id="11" name="AutoShape 9">
            <a:extLst>
              <a:ext uri="{FF2B5EF4-FFF2-40B4-BE49-F238E27FC236}">
                <a16:creationId xmlns:a16="http://schemas.microsoft.com/office/drawing/2014/main" id="{AB28CA65-9D21-D22A-CFE2-BC1D530FA211}"/>
              </a:ext>
            </a:extLst>
          </p:cNvPr>
          <p:cNvSpPr>
            <a:spLocks/>
          </p:cNvSpPr>
          <p:nvPr/>
        </p:nvSpPr>
        <p:spPr bwMode="auto">
          <a:xfrm>
            <a:off x="8043888" y="2301189"/>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TypeScript error here!</a:t>
            </a:r>
          </a:p>
        </p:txBody>
      </p:sp>
      <p:cxnSp>
        <p:nvCxnSpPr>
          <p:cNvPr id="15" name="Straight Arrow Connector 14">
            <a:extLst>
              <a:ext uri="{FF2B5EF4-FFF2-40B4-BE49-F238E27FC236}">
                <a16:creationId xmlns:a16="http://schemas.microsoft.com/office/drawing/2014/main" id="{8254D0C4-B77E-A70A-08B5-496BD696E952}"/>
              </a:ext>
            </a:extLst>
          </p:cNvPr>
          <p:cNvCxnSpPr>
            <a:cxnSpLocks/>
            <a:stCxn id="11" idx="1"/>
          </p:cNvCxnSpPr>
          <p:nvPr/>
        </p:nvCxnSpPr>
        <p:spPr>
          <a:xfrm flipH="1">
            <a:off x="6341806" y="2731812"/>
            <a:ext cx="1702082" cy="26211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BA6B0B8-7851-E694-4E67-ADC772252335}"/>
              </a:ext>
            </a:extLst>
          </p:cNvPr>
          <p:cNvCxnSpPr>
            <a:cxnSpLocks/>
          </p:cNvCxnSpPr>
          <p:nvPr/>
        </p:nvCxnSpPr>
        <p:spPr>
          <a:xfrm flipH="1" flipV="1">
            <a:off x="6341806" y="3928255"/>
            <a:ext cx="1623423" cy="17480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6" name="AutoShape 9">
            <a:extLst>
              <a:ext uri="{FF2B5EF4-FFF2-40B4-BE49-F238E27FC236}">
                <a16:creationId xmlns:a16="http://schemas.microsoft.com/office/drawing/2014/main" id="{40F315DA-B79C-C615-3DE7-EC73AF2C91A4}"/>
              </a:ext>
            </a:extLst>
          </p:cNvPr>
          <p:cNvSpPr>
            <a:spLocks/>
          </p:cNvSpPr>
          <p:nvPr/>
        </p:nvSpPr>
        <p:spPr bwMode="auto">
          <a:xfrm>
            <a:off x="7894753" y="3695566"/>
            <a:ext cx="1697166" cy="948286"/>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it’s ok here!</a:t>
            </a:r>
            <a:endParaRPr lang="en-US" altLang="en-US" sz="2400" i="1"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endParaRPr>
          </a:p>
        </p:txBody>
      </p:sp>
    </p:spTree>
    <p:extLst>
      <p:ext uri="{BB962C8B-B14F-4D97-AF65-F5344CB8AC3E}">
        <p14:creationId xmlns:p14="http://schemas.microsoft.com/office/powerpoint/2010/main" val="1960269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8F090-0895-49D9-2431-9ABA97330C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F84536-288B-181C-8012-F26F25F6CB2F}"/>
              </a:ext>
            </a:extLst>
          </p:cNvPr>
          <p:cNvSpPr>
            <a:spLocks noGrp="1"/>
          </p:cNvSpPr>
          <p:nvPr>
            <p:ph type="title"/>
          </p:nvPr>
        </p:nvSpPr>
        <p:spPr/>
        <p:txBody>
          <a:bodyPr/>
          <a:lstStyle/>
          <a:p>
            <a:r>
              <a:rPr lang="en-US" dirty="0"/>
              <a:t>Untrusted Inputs Should be “</a:t>
            </a:r>
            <a:r>
              <a:rPr lang="en-US" dirty="0">
                <a:latin typeface="Menlo" panose="020B0609030804020204" pitchFamily="49" charset="0"/>
                <a:ea typeface="Menlo" panose="020B0609030804020204" pitchFamily="49" charset="0"/>
                <a:cs typeface="Menlo" panose="020B0609030804020204" pitchFamily="49" charset="0"/>
              </a:rPr>
              <a:t>unknown”</a:t>
            </a:r>
            <a:endParaRPr lang="en-US" dirty="0"/>
          </a:p>
        </p:txBody>
      </p:sp>
      <p:sp>
        <p:nvSpPr>
          <p:cNvPr id="5" name="Content Placeholder 4">
            <a:extLst>
              <a:ext uri="{FF2B5EF4-FFF2-40B4-BE49-F238E27FC236}">
                <a16:creationId xmlns:a16="http://schemas.microsoft.com/office/drawing/2014/main" id="{49E07EEE-FB1E-20BA-06E3-3771093ABBDF}"/>
              </a:ext>
            </a:extLst>
          </p:cNvPr>
          <p:cNvSpPr>
            <a:spLocks noGrp="1"/>
          </p:cNvSpPr>
          <p:nvPr>
            <p:ph idx="1"/>
          </p:nvPr>
        </p:nvSpPr>
        <p:spPr/>
        <p:txBody>
          <a:bodyPr/>
          <a:lstStyle/>
          <a:p>
            <a:pPr marL="0" indent="0">
              <a:buNone/>
            </a:pPr>
            <a:r>
              <a:rPr lang="en-US" dirty="0"/>
              <a:t>This can get complicated fast…</a:t>
            </a:r>
          </a:p>
        </p:txBody>
      </p:sp>
      <p:sp>
        <p:nvSpPr>
          <p:cNvPr id="4" name="Slide Number Placeholder 3">
            <a:extLst>
              <a:ext uri="{FF2B5EF4-FFF2-40B4-BE49-F238E27FC236}">
                <a16:creationId xmlns:a16="http://schemas.microsoft.com/office/drawing/2014/main" id="{8E5AF579-B008-6D6E-98BF-0D376A02FC39}"/>
              </a:ext>
            </a:extLst>
          </p:cNvPr>
          <p:cNvSpPr>
            <a:spLocks noGrp="1"/>
          </p:cNvSpPr>
          <p:nvPr>
            <p:ph type="sldNum" sz="quarter" idx="12"/>
          </p:nvPr>
        </p:nvSpPr>
        <p:spPr/>
        <p:txBody>
          <a:bodyPr/>
          <a:lstStyle/>
          <a:p>
            <a:fld id="{20F37917-FD3A-4669-9018-DA04BCDD3D75}" type="slidenum">
              <a:rPr lang="en-US" smtClean="0"/>
              <a:pPr/>
              <a:t>10</a:t>
            </a:fld>
            <a:endParaRPr lang="en-US"/>
          </a:p>
        </p:txBody>
      </p:sp>
      <p:sp>
        <p:nvSpPr>
          <p:cNvPr id="6" name="TextBox 5">
            <a:extLst>
              <a:ext uri="{FF2B5EF4-FFF2-40B4-BE49-F238E27FC236}">
                <a16:creationId xmlns:a16="http://schemas.microsoft.com/office/drawing/2014/main" id="{A2E5CDC5-E826-1286-F372-5AA31B5541BB}"/>
              </a:ext>
            </a:extLst>
          </p:cNvPr>
          <p:cNvSpPr txBox="1"/>
          <p:nvPr/>
        </p:nvSpPr>
        <p:spPr>
          <a:xfrm>
            <a:off x="744069" y="2501474"/>
            <a:ext cx="11354146" cy="474739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dirty="0">
                <a:solidFill>
                  <a:srgbClr val="002060"/>
                </a:solidFill>
                <a:latin typeface="Menlo" panose="020B0609030804020204" pitchFamily="49" charset="0"/>
              </a:rPr>
              <a:t>type</a:t>
            </a:r>
            <a:r>
              <a:rPr lang="en-US" sz="2000" dirty="0">
                <a:solidFill>
                  <a:srgbClr val="0000FF"/>
                </a:solidFill>
                <a:latin typeface="Menlo" panose="020B0609030804020204" pitchFamily="49" charset="0"/>
              </a:rPr>
              <a:t> </a:t>
            </a:r>
            <a:r>
              <a:rPr lang="en-US" sz="2000" dirty="0">
                <a:solidFill>
                  <a:srgbClr val="0070C0"/>
                </a:solidFill>
                <a:latin typeface="Menlo" panose="020B0609030804020204" pitchFamily="49" charset="0"/>
              </a:rPr>
              <a:t>Auth</a:t>
            </a:r>
            <a:r>
              <a:rPr lang="en-US" sz="2000" dirty="0">
                <a:solidFill>
                  <a:srgbClr val="795E26"/>
                </a:solidFill>
                <a:latin typeface="Menlo" panose="020B0609030804020204" pitchFamily="49" charset="0"/>
              </a:rPr>
              <a:t> </a:t>
            </a:r>
            <a:r>
              <a:rPr lang="en-US" sz="2000" dirty="0">
                <a:solidFill>
                  <a:schemeClr val="tx1"/>
                </a:solidFill>
                <a:latin typeface="Menlo" panose="020B0609030804020204" pitchFamily="49" charset="0"/>
              </a:rPr>
              <a:t>= { username: </a:t>
            </a:r>
            <a:r>
              <a:rPr lang="en-US" sz="2000" dirty="0">
                <a:solidFill>
                  <a:schemeClr val="accent5">
                    <a:lumMod val="50000"/>
                  </a:schemeClr>
                </a:solidFill>
                <a:latin typeface="Menlo" panose="020B0609030804020204" pitchFamily="49" charset="0"/>
              </a:rPr>
              <a:t>string</a:t>
            </a:r>
            <a:r>
              <a:rPr lang="en-US" sz="2000" dirty="0">
                <a:solidFill>
                  <a:schemeClr val="tx1"/>
                </a:solidFill>
                <a:latin typeface="Menlo" panose="020B0609030804020204" pitchFamily="49" charset="0"/>
              </a:rPr>
              <a:t>, password: </a:t>
            </a:r>
            <a:r>
              <a:rPr lang="en-US" sz="2000" dirty="0">
                <a:solidFill>
                  <a:schemeClr val="accent5">
                    <a:lumMod val="50000"/>
                  </a:schemeClr>
                </a:solidFill>
                <a:latin typeface="Menlo" panose="020B0609030804020204" pitchFamily="49" charset="0"/>
              </a:rPr>
              <a:t>string</a:t>
            </a:r>
            <a:r>
              <a:rPr lang="en-US" sz="2000" dirty="0">
                <a:solidFill>
                  <a:schemeClr val="tx1"/>
                </a:solidFill>
                <a:latin typeface="Menlo" panose="020B0609030804020204" pitchFamily="49" charset="0"/>
              </a:rPr>
              <a:t> }</a:t>
            </a:r>
            <a:endParaRPr lang="en-US" sz="2000" b="0" dirty="0">
              <a:solidFill>
                <a:schemeClr val="tx1"/>
              </a:solidFill>
              <a:effectLst/>
              <a:latin typeface="Menlo" panose="020B0609030804020204" pitchFamily="49" charset="0"/>
            </a:endParaRPr>
          </a:p>
          <a:p>
            <a:pPr>
              <a:lnSpc>
                <a:spcPct val="110000"/>
              </a:lnSpc>
              <a:buNone/>
            </a:pPr>
            <a:endParaRPr lang="en-US" sz="2000" b="0" dirty="0">
              <a:solidFill>
                <a:schemeClr val="tx1"/>
              </a:solidFill>
              <a:effectLst/>
              <a:latin typeface="Menlo" panose="020B0609030804020204" pitchFamily="49" charset="0"/>
              <a:ea typeface="Menlo" panose="020B0609030804020204" pitchFamily="49" charset="0"/>
              <a:cs typeface="Menlo" panose="020B0609030804020204" pitchFamily="49" charset="0"/>
            </a:endParaRPr>
          </a:p>
          <a:p>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function</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useAuth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x</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0070C0"/>
                </a:solidFill>
                <a:latin typeface="Menlo" panose="020B0609030804020204" pitchFamily="49" charset="0"/>
                <a:ea typeface="Menlo" panose="020B0609030804020204" pitchFamily="49" charset="0"/>
                <a:cs typeface="Menlo" panose="020B0609030804020204" pitchFamily="49" charset="0"/>
              </a:rPr>
              <a:t>unknown</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if (</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x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C00000"/>
                </a:solidFill>
                <a:latin typeface="Menlo" panose="020B0609030804020204" pitchFamily="49" charset="0"/>
                <a:ea typeface="Menlo" panose="020B0609030804020204" pitchFamily="49" charset="0"/>
                <a:cs typeface="Menlo" panose="020B0609030804020204" pitchFamily="49" charset="0"/>
              </a:rPr>
              <a:t>'object'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&amp;&amp; x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null</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&amp;&amp;</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C00000"/>
                </a:solidFill>
                <a:latin typeface="Menlo" panose="020B0609030804020204" pitchFamily="49" charset="0"/>
                <a:ea typeface="Menlo" panose="020B0609030804020204" pitchFamily="49" charset="0"/>
                <a:cs typeface="Menlo" panose="020B0609030804020204" pitchFamily="49" charset="0"/>
              </a:rPr>
              <a:t>'username'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in x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&amp;&amp;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x.username</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C00000"/>
                </a:solidFill>
                <a:latin typeface="Menlo" panose="020B0609030804020204" pitchFamily="49" charset="0"/>
                <a:ea typeface="Menlo" panose="020B0609030804020204" pitchFamily="49" charset="0"/>
                <a:cs typeface="Menlo" panose="020B0609030804020204" pitchFamily="49" charset="0"/>
              </a:rPr>
              <a:t>'string’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&amp;&amp;</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C00000"/>
                </a:solidFill>
                <a:latin typeface="Menlo" panose="020B0609030804020204" pitchFamily="49" charset="0"/>
                <a:ea typeface="Menlo" panose="020B0609030804020204" pitchFamily="49" charset="0"/>
                <a:cs typeface="Menlo" panose="020B0609030804020204" pitchFamily="49" charset="0"/>
              </a:rPr>
              <a:t>'password'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in x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&amp;&amp;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x.password</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C00000"/>
                </a:solidFill>
                <a:latin typeface="Menlo" panose="020B0609030804020204" pitchFamily="49" charset="0"/>
                <a:ea typeface="Menlo" panose="020B0609030804020204" pitchFamily="49" charset="0"/>
                <a:cs typeface="Menlo" panose="020B0609030804020204" pitchFamily="49" charset="0"/>
              </a:rPr>
              <a:t>'string’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 {</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x.username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password</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x.password</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p>
          <a:p>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write the code you care about here!</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p>
          <a:p>
            <a:b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br>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pPr>
              <a:lnSpc>
                <a:spcPct val="110000"/>
              </a:lnSpc>
            </a:pPr>
            <a:endParaRPr lang="en-US" b="0" dirty="0">
              <a:solidFill>
                <a:srgbClr val="3B3B3B"/>
              </a:solidFill>
              <a:effectLst/>
              <a:latin typeface="Menlo" panose="020B0609030804020204" pitchFamily="49" charset="0"/>
            </a:endParaRPr>
          </a:p>
        </p:txBody>
      </p:sp>
      <p:sp>
        <p:nvSpPr>
          <p:cNvPr id="3" name="TextBox 2">
            <a:extLst>
              <a:ext uri="{FF2B5EF4-FFF2-40B4-BE49-F238E27FC236}">
                <a16:creationId xmlns:a16="http://schemas.microsoft.com/office/drawing/2014/main" id="{44ABBD34-51F2-BCB0-3D1B-EBCE2F58A959}"/>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32F5209A-94C8-F0EB-DC68-4788D4ECEAF6}"/>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7789372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6231A-34C9-209A-BC1A-53AE6CF5D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54A8D1-432E-E65D-05C7-871F056B1146}"/>
              </a:ext>
            </a:extLst>
          </p:cNvPr>
          <p:cNvSpPr>
            <a:spLocks noGrp="1"/>
          </p:cNvSpPr>
          <p:nvPr>
            <p:ph type="title"/>
          </p:nvPr>
        </p:nvSpPr>
        <p:spPr>
          <a:xfrm>
            <a:off x="838200" y="18255"/>
            <a:ext cx="10515600" cy="1325563"/>
          </a:xfrm>
        </p:spPr>
        <p:txBody>
          <a:bodyPr/>
          <a:lstStyle/>
          <a:p>
            <a:r>
              <a:rPr lang="en-US" dirty="0"/>
              <a:t>Libraries Make Checking Types Easier</a:t>
            </a:r>
          </a:p>
        </p:txBody>
      </p:sp>
      <p:sp>
        <p:nvSpPr>
          <p:cNvPr id="4" name="Slide Number Placeholder 3">
            <a:extLst>
              <a:ext uri="{FF2B5EF4-FFF2-40B4-BE49-F238E27FC236}">
                <a16:creationId xmlns:a16="http://schemas.microsoft.com/office/drawing/2014/main" id="{9394747E-E436-62C9-8F94-58A9BB24680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11</a:t>
            </a:fld>
            <a:endParaRPr lang="en-US"/>
          </a:p>
        </p:txBody>
      </p:sp>
      <p:sp>
        <p:nvSpPr>
          <p:cNvPr id="5" name="Content Placeholder 4">
            <a:extLst>
              <a:ext uri="{FF2B5EF4-FFF2-40B4-BE49-F238E27FC236}">
                <a16:creationId xmlns:a16="http://schemas.microsoft.com/office/drawing/2014/main" id="{58CDFBA0-AD38-CEBC-6D8D-0FD6CB79A672}"/>
              </a:ext>
            </a:extLst>
          </p:cNvPr>
          <p:cNvSpPr>
            <a:spLocks noGrp="1"/>
          </p:cNvSpPr>
          <p:nvPr>
            <p:ph idx="1"/>
          </p:nvPr>
        </p:nvSpPr>
        <p:spPr>
          <a:xfrm>
            <a:off x="838200" y="1500160"/>
            <a:ext cx="7887346" cy="1001314"/>
          </a:xfrm>
        </p:spPr>
        <p:txBody>
          <a:bodyPr>
            <a:normAutofit/>
          </a:bodyPr>
          <a:lstStyle/>
          <a:p>
            <a:pPr marL="0" indent="0">
              <a:buNone/>
            </a:pPr>
            <a:r>
              <a:rPr lang="en-US" i="1" dirty="0"/>
              <a:t>Zod</a:t>
            </a:r>
            <a:r>
              <a:rPr lang="en-US" dirty="0"/>
              <a:t> is a library that makes testing the structure of inputs less tedious and error-prone.</a:t>
            </a:r>
          </a:p>
        </p:txBody>
      </p:sp>
      <p:sp>
        <p:nvSpPr>
          <p:cNvPr id="6" name="TextBox 5">
            <a:extLst>
              <a:ext uri="{FF2B5EF4-FFF2-40B4-BE49-F238E27FC236}">
                <a16:creationId xmlns:a16="http://schemas.microsoft.com/office/drawing/2014/main" id="{A14025D7-3318-3D14-3892-FF116EEA0A8E}"/>
              </a:ext>
            </a:extLst>
          </p:cNvPr>
          <p:cNvSpPr txBox="1"/>
          <p:nvPr/>
        </p:nvSpPr>
        <p:spPr>
          <a:xfrm>
            <a:off x="744069" y="2755351"/>
            <a:ext cx="11354146" cy="41018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dirty="0">
                <a:solidFill>
                  <a:srgbClr val="AF00DB"/>
                </a:solidFill>
                <a:latin typeface="Menlo" panose="020B0609030804020204" pitchFamily="49" charset="0"/>
              </a:rPr>
              <a:t>import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 z } </a:t>
            </a:r>
            <a:r>
              <a:rPr lang="en-US" sz="2000" dirty="0">
                <a:solidFill>
                  <a:srgbClr val="AF00DB"/>
                </a:solidFill>
                <a:latin typeface="Menlo" panose="020B0609030804020204" pitchFamily="49" charset="0"/>
              </a:rPr>
              <a:t>from</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zod</a:t>
            </a:r>
            <a:r>
              <a:rPr lang="en-US" sz="20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z.</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object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username: </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z.</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password: </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z.</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type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infer</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&lt;</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typeof</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&gt;;</a:t>
            </a: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r>
              <a:rPr lang="en-US" sz="2000"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success: false }</a:t>
            </a:r>
          </a:p>
          <a:p>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console.log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zAuth</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safeParse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username: 4, password: null }))</a:t>
            </a:r>
          </a:p>
          <a:p>
            <a:r>
              <a:rPr lang="en-US" sz="2000"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success: true, data: { username: "", password: "" } }</a:t>
            </a:r>
          </a:p>
          <a:p>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console.log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zAuth</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safeParse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username: "", password: "" })) </a:t>
            </a:r>
          </a:p>
          <a:p>
            <a:pPr>
              <a:lnSpc>
                <a:spcPct val="110000"/>
              </a:lnSpc>
            </a:pPr>
            <a:endParaRPr lang="en-US" sz="2000" b="0" dirty="0">
              <a:solidFill>
                <a:srgbClr val="3B3B3B"/>
              </a:solidFill>
              <a:effectLst/>
              <a:latin typeface="Menlo" panose="020B0609030804020204" pitchFamily="49" charset="0"/>
            </a:endParaRPr>
          </a:p>
        </p:txBody>
      </p:sp>
      <p:sp>
        <p:nvSpPr>
          <p:cNvPr id="3" name="TextBox 2">
            <a:extLst>
              <a:ext uri="{FF2B5EF4-FFF2-40B4-BE49-F238E27FC236}">
                <a16:creationId xmlns:a16="http://schemas.microsoft.com/office/drawing/2014/main" id="{485AB0D8-371E-71DD-F09E-114D34A6C11D}"/>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94A18262-B510-B75A-5395-24208D918ECB}"/>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AutoShape 9">
            <a:extLst>
              <a:ext uri="{FF2B5EF4-FFF2-40B4-BE49-F238E27FC236}">
                <a16:creationId xmlns:a16="http://schemas.microsoft.com/office/drawing/2014/main" id="{874C090F-8ACA-361F-4622-1A018C2594C9}"/>
              </a:ext>
            </a:extLst>
          </p:cNvPr>
          <p:cNvSpPr>
            <a:spLocks/>
          </p:cNvSpPr>
          <p:nvPr/>
        </p:nvSpPr>
        <p:spPr bwMode="auto">
          <a:xfrm>
            <a:off x="5386431" y="4237471"/>
            <a:ext cx="2557312"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endPar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endParaRPr>
          </a:p>
        </p:txBody>
      </p:sp>
      <p:cxnSp>
        <p:nvCxnSpPr>
          <p:cNvPr id="12" name="Straight Arrow Connector 11">
            <a:extLst>
              <a:ext uri="{FF2B5EF4-FFF2-40B4-BE49-F238E27FC236}">
                <a16:creationId xmlns:a16="http://schemas.microsoft.com/office/drawing/2014/main" id="{C8408240-44F8-94B2-97DF-165D3D8B00B6}"/>
              </a:ext>
            </a:extLst>
          </p:cNvPr>
          <p:cNvCxnSpPr>
            <a:cxnSpLocks/>
          </p:cNvCxnSpPr>
          <p:nvPr/>
        </p:nvCxnSpPr>
        <p:spPr>
          <a:xfrm flipH="1" flipV="1">
            <a:off x="2168013" y="4026310"/>
            <a:ext cx="3341811" cy="65468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99DC8529-A309-1F1E-40C3-9FAB71392CF7}"/>
              </a:ext>
            </a:extLst>
          </p:cNvPr>
          <p:cNvPicPr>
            <a:picLocks noChangeAspect="1"/>
          </p:cNvPicPr>
          <p:nvPr/>
        </p:nvPicPr>
        <p:blipFill>
          <a:blip r:embed="rId3"/>
          <a:stretch>
            <a:fillRect/>
          </a:stretch>
        </p:blipFill>
        <p:spPr>
          <a:xfrm>
            <a:off x="5594787" y="4397381"/>
            <a:ext cx="2197100" cy="965200"/>
          </a:xfrm>
          <a:prstGeom prst="rect">
            <a:avLst/>
          </a:prstGeom>
        </p:spPr>
      </p:pic>
    </p:spTree>
    <p:extLst>
      <p:ext uri="{BB962C8B-B14F-4D97-AF65-F5344CB8AC3E}">
        <p14:creationId xmlns:p14="http://schemas.microsoft.com/office/powerpoint/2010/main" val="4968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A1C12-5A51-3F91-C2D4-5A72137FA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2283A-F2BC-2E1A-EDDD-DBC7224889D6}"/>
              </a:ext>
            </a:extLst>
          </p:cNvPr>
          <p:cNvSpPr>
            <a:spLocks noGrp="1"/>
          </p:cNvSpPr>
          <p:nvPr>
            <p:ph type="title"/>
          </p:nvPr>
        </p:nvSpPr>
        <p:spPr/>
        <p:txBody>
          <a:bodyPr/>
          <a:lstStyle/>
          <a:p>
            <a:r>
              <a:rPr lang="en-US" dirty="0"/>
              <a:t>Using “any”: Common, Not Great</a:t>
            </a:r>
          </a:p>
        </p:txBody>
      </p:sp>
      <p:sp>
        <p:nvSpPr>
          <p:cNvPr id="4" name="Slide Number Placeholder 3">
            <a:extLst>
              <a:ext uri="{FF2B5EF4-FFF2-40B4-BE49-F238E27FC236}">
                <a16:creationId xmlns:a16="http://schemas.microsoft.com/office/drawing/2014/main" id="{7350D23E-0381-6F7A-A9B2-4765EE624A2B}"/>
              </a:ext>
            </a:extLst>
          </p:cNvPr>
          <p:cNvSpPr>
            <a:spLocks noGrp="1"/>
          </p:cNvSpPr>
          <p:nvPr>
            <p:ph type="sldNum" sz="quarter" idx="12"/>
          </p:nvPr>
        </p:nvSpPr>
        <p:spPr/>
        <p:txBody>
          <a:bodyPr/>
          <a:lstStyle/>
          <a:p>
            <a:fld id="{20F37917-FD3A-4669-9018-DA04BCDD3D75}" type="slidenum">
              <a:rPr lang="en-US" smtClean="0"/>
              <a:pPr/>
              <a:t>12</a:t>
            </a:fld>
            <a:endParaRPr lang="en-US"/>
          </a:p>
        </p:txBody>
      </p:sp>
      <p:sp>
        <p:nvSpPr>
          <p:cNvPr id="3" name="TextBox 2">
            <a:extLst>
              <a:ext uri="{FF2B5EF4-FFF2-40B4-BE49-F238E27FC236}">
                <a16:creationId xmlns:a16="http://schemas.microsoft.com/office/drawing/2014/main" id="{D950AF2B-7C82-9281-05D3-BA227EF41381}"/>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38C5D0DF-44F7-7B6D-DF1E-D5BB857A1F0A}"/>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BBC8F0AD-6C72-2CB3-C0C1-DA5D65242B60}"/>
              </a:ext>
            </a:extLst>
          </p:cNvPr>
          <p:cNvSpPr>
            <a:spLocks noGrp="1"/>
          </p:cNvSpPr>
          <p:nvPr>
            <p:ph idx="1"/>
          </p:nvPr>
        </p:nvSpPr>
        <p:spPr>
          <a:xfrm>
            <a:off x="838199" y="1500159"/>
            <a:ext cx="10960511" cy="5092369"/>
          </a:xfrm>
        </p:spPr>
        <p:txBody>
          <a:bodyPr>
            <a:noAutofit/>
          </a:bodyPr>
          <a:lstStyle/>
          <a:p>
            <a:pPr marL="0" indent="0">
              <a:spcBef>
                <a:spcPts val="0"/>
              </a:spcBef>
              <a:buNone/>
            </a:pPr>
            <a:endParaRPr lang="en-US" sz="1800" dirty="0">
              <a:solidFill>
                <a:srgbClr val="AF00DB"/>
              </a:solidFill>
              <a:latin typeface="Menlo" panose="020B0609030804020204" pitchFamily="49" charset="0"/>
            </a:endParaRPr>
          </a:p>
          <a:p>
            <a:pPr marL="0" indent="0">
              <a:spcBef>
                <a:spcPts val="0"/>
              </a:spcBef>
              <a:buNone/>
            </a:pPr>
            <a:r>
              <a:rPr lang="en-US" sz="1800" dirty="0">
                <a:solidFill>
                  <a:srgbClr val="AF00DB"/>
                </a:solidFill>
                <a:latin typeface="Menlo" panose="020B0609030804020204" pitchFamily="49" charset="0"/>
              </a:rPr>
              <a:t>import</a:t>
            </a:r>
            <a:r>
              <a:rPr lang="en-US" sz="1800" dirty="0">
                <a:latin typeface="Menlo" panose="020B0609030804020204" pitchFamily="49" charset="0"/>
                <a:ea typeface="Menlo" panose="020B0609030804020204" pitchFamily="49" charset="0"/>
                <a:cs typeface="Menlo" panose="020B0609030804020204" pitchFamily="49" charset="0"/>
              </a:rPr>
              <a:t> express </a:t>
            </a:r>
            <a:r>
              <a:rPr lang="en-US" sz="1800" dirty="0">
                <a:solidFill>
                  <a:srgbClr val="AF00DB"/>
                </a:solidFill>
                <a:latin typeface="Menlo" panose="020B0609030804020204" pitchFamily="49" charset="0"/>
              </a:rPr>
              <a:t>from</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'express'</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const app </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express</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app</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use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express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json</a:t>
            </a:r>
            <a:r>
              <a:rPr lang="en-US" sz="1800" dirty="0">
                <a:latin typeface="Menlo" panose="020B0609030804020204" pitchFamily="49" charset="0"/>
                <a:ea typeface="Menlo" panose="020B0609030804020204" pitchFamily="49" charset="0"/>
                <a:cs typeface="Menlo" panose="020B0609030804020204" pitchFamily="49" charset="0"/>
              </a:rPr>
              <a:t>());</a:t>
            </a:r>
            <a:br>
              <a:rPr lang="en-US" sz="1800" dirty="0">
                <a:latin typeface="Menlo" panose="020B0609030804020204" pitchFamily="49" charset="0"/>
                <a:ea typeface="Menlo" panose="020B0609030804020204" pitchFamily="49" charset="0"/>
                <a:cs typeface="Menlo" panose="020B0609030804020204" pitchFamily="49" charset="0"/>
              </a:rPr>
            </a:b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type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1800" dirty="0">
                <a:latin typeface="Menlo" panose="020B0609030804020204" pitchFamily="49" charset="0"/>
                <a:ea typeface="Menlo" panose="020B0609030804020204" pitchFamily="49" charset="0"/>
                <a:cs typeface="Menlo" panose="020B0609030804020204" pitchFamily="49" charset="0"/>
              </a:rPr>
              <a:t> = {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string</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password</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string</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app</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post</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req</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a:latin typeface="Menlo" panose="020B0609030804020204" pitchFamily="49" charset="0"/>
                <a:ea typeface="Menlo" panose="020B0609030804020204" pitchFamily="49" charset="0"/>
                <a:cs typeface="Menlo" panose="020B0609030804020204" pitchFamily="49" charset="0"/>
              </a:rPr>
              <a:t>) =&gt;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1800" dirty="0">
                <a:latin typeface="Menlo" panose="020B0609030804020204" pitchFamily="49" charset="0"/>
                <a:ea typeface="Menlo" panose="020B0609030804020204" pitchFamily="49" charset="0"/>
                <a:cs typeface="Menlo" panose="020B0609030804020204" pitchFamily="49" charset="0"/>
              </a:rPr>
              <a:t> =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req.body</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br>
              <a:rPr lang="en-US" sz="1800" dirty="0">
                <a:latin typeface="Menlo" panose="020B0609030804020204" pitchFamily="49" charset="0"/>
                <a:ea typeface="Menlo" panose="020B0609030804020204" pitchFamily="49" charset="0"/>
                <a:cs typeface="Menlo" panose="020B0609030804020204" pitchFamily="49" charset="0"/>
              </a:rPr>
            </a:b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AF00DB"/>
                </a:solidFill>
                <a:latin typeface="Menlo" panose="020B0609030804020204" pitchFamily="49" charset="0"/>
              </a:rPr>
              <a:t>if</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auth.password</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'secret'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status</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403</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send</a:t>
            </a:r>
            <a:r>
              <a:rPr lang="en-US" sz="1800" dirty="0">
                <a:latin typeface="Menlo" panose="020B0609030804020204" pitchFamily="49" charset="0"/>
                <a:ea typeface="Menlo" panose="020B0609030804020204" pitchFamily="49" charset="0"/>
                <a:cs typeface="Menlo" panose="020B0609030804020204" pitchFamily="49" charset="0"/>
              </a:rPr>
              <a:t>({ error: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'Wrong password' </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 </a:t>
            </a:r>
            <a:r>
              <a:rPr lang="en-US" sz="1800" dirty="0">
                <a:solidFill>
                  <a:srgbClr val="AF00DB"/>
                </a:solidFill>
                <a:latin typeface="Menlo" panose="020B0609030804020204" pitchFamily="49" charset="0"/>
              </a:rPr>
              <a:t>else</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send</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message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`WELCOME,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toUpperCase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app</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listen</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8000</a:t>
            </a:r>
            <a:r>
              <a:rPr lang="en-US" sz="1800" dirty="0">
                <a:latin typeface="Menlo" panose="020B0609030804020204" pitchFamily="49" charset="0"/>
                <a:ea typeface="Menlo" panose="020B0609030804020204" pitchFamily="49" charset="0"/>
                <a:cs typeface="Menlo" panose="020B0609030804020204" pitchFamily="49" charset="0"/>
              </a:rPr>
              <a:t>, () =&gt;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console</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log</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`Listening on port 8000`</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br>
              <a:rPr lang="en-US" sz="1800" dirty="0">
                <a:latin typeface="Menlo" panose="020B0609030804020204" pitchFamily="49" charset="0"/>
                <a:ea typeface="Menlo" panose="020B0609030804020204" pitchFamily="49" charset="0"/>
                <a:cs typeface="Menlo" panose="020B0609030804020204" pitchFamily="49" charset="0"/>
              </a:rPr>
            </a:b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lnSpc>
                <a:spcPct val="110000"/>
              </a:lnSpc>
              <a:spcBef>
                <a:spcPts val="0"/>
              </a:spcBef>
              <a:buNone/>
            </a:pPr>
            <a:endParaRPr lang="en-US" sz="1800" dirty="0">
              <a:solidFill>
                <a:srgbClr val="3B3B3B"/>
              </a:solidFill>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p:txBody>
      </p:sp>
      <p:sp>
        <p:nvSpPr>
          <p:cNvPr id="9" name="AutoShape 9">
            <a:extLst>
              <a:ext uri="{FF2B5EF4-FFF2-40B4-BE49-F238E27FC236}">
                <a16:creationId xmlns:a16="http://schemas.microsoft.com/office/drawing/2014/main" id="{8CE9BC04-E4BD-BD9A-2502-EAAB315019F1}"/>
              </a:ext>
            </a:extLst>
          </p:cNvPr>
          <p:cNvSpPr>
            <a:spLocks/>
          </p:cNvSpPr>
          <p:nvPr/>
        </p:nvSpPr>
        <p:spPr bwMode="auto">
          <a:xfrm>
            <a:off x="8442095" y="3067009"/>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This has type “</a:t>
            </a:r>
            <a:r>
              <a:rPr lang="en-US" altLang="en-US" sz="2400" dirty="0">
                <a:solidFill>
                  <a:srgbClr val="FFFFFF"/>
                </a:solidFill>
                <a:latin typeface="Menlo" panose="020B0609030804020204" pitchFamily="49" charset="0"/>
                <a:ea typeface="Menlo" panose="020B0609030804020204" pitchFamily="49" charset="0"/>
                <a:cs typeface="Menlo" panose="020B0609030804020204" pitchFamily="49" charset="0"/>
                <a:sym typeface="Helvetica" panose="020B0604020202020204" pitchFamily="34" charset="0"/>
              </a:rPr>
              <a:t>any</a:t>
            </a:r>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 😭</a:t>
            </a:r>
          </a:p>
        </p:txBody>
      </p:sp>
      <p:cxnSp>
        <p:nvCxnSpPr>
          <p:cNvPr id="10" name="Straight Arrow Connector 9">
            <a:extLst>
              <a:ext uri="{FF2B5EF4-FFF2-40B4-BE49-F238E27FC236}">
                <a16:creationId xmlns:a16="http://schemas.microsoft.com/office/drawing/2014/main" id="{9C9F905D-85D7-0A13-2F2C-5B7C40264145}"/>
              </a:ext>
            </a:extLst>
          </p:cNvPr>
          <p:cNvCxnSpPr>
            <a:cxnSpLocks/>
          </p:cNvCxnSpPr>
          <p:nvPr/>
        </p:nvCxnSpPr>
        <p:spPr>
          <a:xfrm flipH="1">
            <a:off x="5220929" y="3497632"/>
            <a:ext cx="3221166" cy="93246"/>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5" name="AutoShape 9">
            <a:extLst>
              <a:ext uri="{FF2B5EF4-FFF2-40B4-BE49-F238E27FC236}">
                <a16:creationId xmlns:a16="http://schemas.microsoft.com/office/drawing/2014/main" id="{B95C8717-DEDA-995F-58A6-B727C8BBE736}"/>
              </a:ext>
            </a:extLst>
          </p:cNvPr>
          <p:cNvSpPr>
            <a:spLocks/>
          </p:cNvSpPr>
          <p:nvPr/>
        </p:nvSpPr>
        <p:spPr bwMode="auto">
          <a:xfrm>
            <a:off x="8442095" y="1612582"/>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Only accept JSON</a:t>
            </a:r>
          </a:p>
        </p:txBody>
      </p:sp>
      <p:cxnSp>
        <p:nvCxnSpPr>
          <p:cNvPr id="16" name="Straight Arrow Connector 15">
            <a:extLst>
              <a:ext uri="{FF2B5EF4-FFF2-40B4-BE49-F238E27FC236}">
                <a16:creationId xmlns:a16="http://schemas.microsoft.com/office/drawing/2014/main" id="{B7F05F48-178B-5C00-18FE-9C3CF41951AC}"/>
              </a:ext>
            </a:extLst>
          </p:cNvPr>
          <p:cNvCxnSpPr>
            <a:cxnSpLocks/>
          </p:cNvCxnSpPr>
          <p:nvPr/>
        </p:nvCxnSpPr>
        <p:spPr>
          <a:xfrm flipH="1">
            <a:off x="4262284" y="2043205"/>
            <a:ext cx="4179811" cy="43062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092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5"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FD6FD4F-AD6C-B698-F7C9-015C684A24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791A0B-9268-C912-4D6A-6B12B43B5BEA}"/>
              </a:ext>
            </a:extLst>
          </p:cNvPr>
          <p:cNvSpPr>
            <a:spLocks noGrp="1"/>
          </p:cNvSpPr>
          <p:nvPr>
            <p:ph type="title"/>
          </p:nvPr>
        </p:nvSpPr>
        <p:spPr/>
        <p:txBody>
          <a:bodyPr/>
          <a:lstStyle/>
          <a:p>
            <a:r>
              <a:rPr lang="en-US" dirty="0"/>
              <a:t>Using “any”: Common, Not Great</a:t>
            </a:r>
          </a:p>
        </p:txBody>
      </p:sp>
      <p:sp>
        <p:nvSpPr>
          <p:cNvPr id="4" name="Slide Number Placeholder 3">
            <a:extLst>
              <a:ext uri="{FF2B5EF4-FFF2-40B4-BE49-F238E27FC236}">
                <a16:creationId xmlns:a16="http://schemas.microsoft.com/office/drawing/2014/main" id="{BBE33987-87EE-3562-EF73-2F2889C22840}"/>
              </a:ext>
            </a:extLst>
          </p:cNvPr>
          <p:cNvSpPr>
            <a:spLocks noGrp="1"/>
          </p:cNvSpPr>
          <p:nvPr>
            <p:ph type="sldNum" sz="quarter" idx="12"/>
          </p:nvPr>
        </p:nvSpPr>
        <p:spPr/>
        <p:txBody>
          <a:bodyPr/>
          <a:lstStyle/>
          <a:p>
            <a:fld id="{20F37917-FD3A-4669-9018-DA04BCDD3D75}" type="slidenum">
              <a:rPr lang="en-US" smtClean="0"/>
              <a:pPr/>
              <a:t>13</a:t>
            </a:fld>
            <a:endParaRPr lang="en-US"/>
          </a:p>
        </p:txBody>
      </p:sp>
      <p:sp>
        <p:nvSpPr>
          <p:cNvPr id="3" name="TextBox 2">
            <a:extLst>
              <a:ext uri="{FF2B5EF4-FFF2-40B4-BE49-F238E27FC236}">
                <a16:creationId xmlns:a16="http://schemas.microsoft.com/office/drawing/2014/main" id="{3D3BB57D-155C-8893-253D-4E4D7B35BBC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76A8FD9D-8AD3-CF4F-E3EE-D67128BBE996}"/>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6E2100AB-F345-9F0F-0A8D-8879B8C8D869}"/>
              </a:ext>
            </a:extLst>
          </p:cNvPr>
          <p:cNvSpPr>
            <a:spLocks noGrp="1"/>
          </p:cNvSpPr>
          <p:nvPr>
            <p:ph idx="1"/>
          </p:nvPr>
        </p:nvSpPr>
        <p:spPr>
          <a:xfrm>
            <a:off x="838199" y="1500159"/>
            <a:ext cx="10960511" cy="5092369"/>
          </a:xfrm>
        </p:spPr>
        <p:txBody>
          <a:bodyPr>
            <a:noAutofit/>
          </a:bodyPr>
          <a:lstStyle/>
          <a:p>
            <a:pPr marL="0" indent="0">
              <a:spcBef>
                <a:spcPts val="0"/>
              </a:spcBef>
              <a:buNone/>
            </a:pPr>
            <a:endParaRPr lang="en-US" sz="1800" dirty="0">
              <a:solidFill>
                <a:srgbClr val="AF00DB"/>
              </a:solidFill>
              <a:latin typeface="Menlo" panose="020B0609030804020204" pitchFamily="49" charset="0"/>
            </a:endParaRPr>
          </a:p>
          <a:p>
            <a:pPr marL="0" indent="0">
              <a:spcBef>
                <a:spcPts val="0"/>
              </a:spcBef>
              <a:buNone/>
            </a:pPr>
            <a:r>
              <a:rPr lang="en-US" sz="1800" dirty="0">
                <a:solidFill>
                  <a:srgbClr val="AF00DB"/>
                </a:solidFill>
                <a:latin typeface="Menlo" panose="020B0609030804020204" pitchFamily="49" charset="0"/>
              </a:rPr>
              <a:t>import</a:t>
            </a:r>
            <a:r>
              <a:rPr lang="en-US" sz="1800" dirty="0">
                <a:latin typeface="Menlo" panose="020B0609030804020204" pitchFamily="49" charset="0"/>
                <a:ea typeface="Menlo" panose="020B0609030804020204" pitchFamily="49" charset="0"/>
                <a:cs typeface="Menlo" panose="020B0609030804020204" pitchFamily="49" charset="0"/>
              </a:rPr>
              <a:t> express </a:t>
            </a:r>
            <a:r>
              <a:rPr lang="en-US" sz="1800" dirty="0">
                <a:solidFill>
                  <a:srgbClr val="AF00DB"/>
                </a:solidFill>
                <a:latin typeface="Menlo" panose="020B0609030804020204" pitchFamily="49" charset="0"/>
              </a:rPr>
              <a:t>from</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'express'</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const app </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express</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app</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use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express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json</a:t>
            </a:r>
            <a:r>
              <a:rPr lang="en-US" sz="1800" dirty="0">
                <a:latin typeface="Menlo" panose="020B0609030804020204" pitchFamily="49" charset="0"/>
                <a:ea typeface="Menlo" panose="020B0609030804020204" pitchFamily="49" charset="0"/>
                <a:cs typeface="Menlo" panose="020B0609030804020204" pitchFamily="49" charset="0"/>
              </a:rPr>
              <a:t>());</a:t>
            </a:r>
            <a:br>
              <a:rPr lang="en-US" sz="1800" dirty="0">
                <a:latin typeface="Menlo" panose="020B0609030804020204" pitchFamily="49" charset="0"/>
                <a:ea typeface="Menlo" panose="020B0609030804020204" pitchFamily="49" charset="0"/>
                <a:cs typeface="Menlo" panose="020B0609030804020204" pitchFamily="49" charset="0"/>
              </a:rPr>
            </a:b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type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1800" dirty="0">
                <a:latin typeface="Menlo" panose="020B0609030804020204" pitchFamily="49" charset="0"/>
                <a:ea typeface="Menlo" panose="020B0609030804020204" pitchFamily="49" charset="0"/>
                <a:cs typeface="Menlo" panose="020B0609030804020204" pitchFamily="49" charset="0"/>
              </a:rPr>
              <a:t> = {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string</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password</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string</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app</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post</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req</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a:latin typeface="Menlo" panose="020B0609030804020204" pitchFamily="49" charset="0"/>
                <a:ea typeface="Menlo" panose="020B0609030804020204" pitchFamily="49" charset="0"/>
                <a:cs typeface="Menlo" panose="020B0609030804020204" pitchFamily="49" charset="0"/>
              </a:rPr>
              <a:t>) =&gt;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1800" dirty="0">
                <a:latin typeface="Menlo" panose="020B0609030804020204" pitchFamily="49" charset="0"/>
                <a:ea typeface="Menlo" panose="020B0609030804020204" pitchFamily="49" charset="0"/>
                <a:cs typeface="Menlo" panose="020B0609030804020204" pitchFamily="49" charset="0"/>
              </a:rPr>
              <a:t> =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req.body</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br>
              <a:rPr lang="en-US" sz="1800" dirty="0">
                <a:latin typeface="Menlo" panose="020B0609030804020204" pitchFamily="49" charset="0"/>
                <a:ea typeface="Menlo" panose="020B0609030804020204" pitchFamily="49" charset="0"/>
                <a:cs typeface="Menlo" panose="020B0609030804020204" pitchFamily="49" charset="0"/>
              </a:rPr>
            </a:b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AF00DB"/>
                </a:solidFill>
                <a:latin typeface="Menlo" panose="020B0609030804020204" pitchFamily="49" charset="0"/>
              </a:rPr>
              <a:t>if</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auth.password</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'secret'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status</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403</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send</a:t>
            </a:r>
            <a:r>
              <a:rPr lang="en-US" sz="1800" dirty="0">
                <a:latin typeface="Menlo" panose="020B0609030804020204" pitchFamily="49" charset="0"/>
                <a:ea typeface="Menlo" panose="020B0609030804020204" pitchFamily="49" charset="0"/>
                <a:cs typeface="Menlo" panose="020B0609030804020204" pitchFamily="49" charset="0"/>
              </a:rPr>
              <a:t>({ error: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'Wrong password' </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 </a:t>
            </a:r>
            <a:r>
              <a:rPr lang="en-US" sz="1800" dirty="0">
                <a:solidFill>
                  <a:srgbClr val="AF00DB"/>
                </a:solidFill>
                <a:latin typeface="Menlo" panose="020B0609030804020204" pitchFamily="49" charset="0"/>
              </a:rPr>
              <a:t>else</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send</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message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`WELCOME,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toUpperCase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app</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listen</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8000</a:t>
            </a:r>
            <a:r>
              <a:rPr lang="en-US" sz="1800" dirty="0">
                <a:latin typeface="Menlo" panose="020B0609030804020204" pitchFamily="49" charset="0"/>
                <a:ea typeface="Menlo" panose="020B0609030804020204" pitchFamily="49" charset="0"/>
                <a:cs typeface="Menlo" panose="020B0609030804020204" pitchFamily="49" charset="0"/>
              </a:rPr>
              <a:t>, () =&gt;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console</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log</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`Listening on port 8000`</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br>
              <a:rPr lang="en-US" sz="1800" dirty="0">
                <a:latin typeface="Menlo" panose="020B0609030804020204" pitchFamily="49" charset="0"/>
                <a:ea typeface="Menlo" panose="020B0609030804020204" pitchFamily="49" charset="0"/>
                <a:cs typeface="Menlo" panose="020B0609030804020204" pitchFamily="49" charset="0"/>
              </a:rPr>
            </a:b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lnSpc>
                <a:spcPct val="110000"/>
              </a:lnSpc>
              <a:spcBef>
                <a:spcPts val="0"/>
              </a:spcBef>
              <a:buNone/>
            </a:pPr>
            <a:endParaRPr lang="en-US" sz="1800" dirty="0">
              <a:solidFill>
                <a:srgbClr val="3B3B3B"/>
              </a:solidFill>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p:txBody>
      </p:sp>
      <p:sp>
        <p:nvSpPr>
          <p:cNvPr id="6" name="AutoShape 9">
            <a:extLst>
              <a:ext uri="{FF2B5EF4-FFF2-40B4-BE49-F238E27FC236}">
                <a16:creationId xmlns:a16="http://schemas.microsoft.com/office/drawing/2014/main" id="{387B3737-7F28-7DB7-B5B0-33B4FE6A5BB8}"/>
              </a:ext>
            </a:extLst>
          </p:cNvPr>
          <p:cNvSpPr>
            <a:spLocks/>
          </p:cNvSpPr>
          <p:nvPr/>
        </p:nvSpPr>
        <p:spPr bwMode="auto">
          <a:xfrm>
            <a:off x="5639902" y="304081"/>
            <a:ext cx="5967080" cy="3869713"/>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endPar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endParaRPr>
          </a:p>
        </p:txBody>
      </p:sp>
      <p:cxnSp>
        <p:nvCxnSpPr>
          <p:cNvPr id="7" name="Straight Arrow Connector 6">
            <a:extLst>
              <a:ext uri="{FF2B5EF4-FFF2-40B4-BE49-F238E27FC236}">
                <a16:creationId xmlns:a16="http://schemas.microsoft.com/office/drawing/2014/main" id="{0155CAA9-09AF-AF34-412B-3A8DFE7FD745}"/>
              </a:ext>
            </a:extLst>
          </p:cNvPr>
          <p:cNvCxnSpPr>
            <a:cxnSpLocks/>
          </p:cNvCxnSpPr>
          <p:nvPr/>
        </p:nvCxnSpPr>
        <p:spPr>
          <a:xfrm flipH="1">
            <a:off x="7639665" y="3760838"/>
            <a:ext cx="368709" cy="159700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51379210-EB90-4E38-F7EA-3229E05022BB}"/>
              </a:ext>
            </a:extLst>
          </p:cNvPr>
          <p:cNvPicPr>
            <a:picLocks noChangeAspect="1"/>
          </p:cNvPicPr>
          <p:nvPr/>
        </p:nvPicPr>
        <p:blipFill>
          <a:blip r:embed="rId3"/>
          <a:stretch>
            <a:fillRect/>
          </a:stretch>
        </p:blipFill>
        <p:spPr>
          <a:xfrm>
            <a:off x="6153150" y="560438"/>
            <a:ext cx="4914900" cy="3200400"/>
          </a:xfrm>
          <a:prstGeom prst="rect">
            <a:avLst/>
          </a:prstGeom>
        </p:spPr>
      </p:pic>
      <p:sp>
        <p:nvSpPr>
          <p:cNvPr id="11" name="TextBox 10">
            <a:extLst>
              <a:ext uri="{FF2B5EF4-FFF2-40B4-BE49-F238E27FC236}">
                <a16:creationId xmlns:a16="http://schemas.microsoft.com/office/drawing/2014/main" id="{397FD718-7D32-FC65-DF53-EEA3BD17CE39}"/>
              </a:ext>
            </a:extLst>
          </p:cNvPr>
          <p:cNvSpPr txBox="1"/>
          <p:nvPr/>
        </p:nvSpPr>
        <p:spPr>
          <a:xfrm>
            <a:off x="88490" y="556014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88106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B81AD-3594-57AA-6142-BF4B9EA434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8A0ABE-953F-F16A-5176-C3659229014F}"/>
              </a:ext>
            </a:extLst>
          </p:cNvPr>
          <p:cNvSpPr>
            <a:spLocks noGrp="1"/>
          </p:cNvSpPr>
          <p:nvPr>
            <p:ph type="title"/>
          </p:nvPr>
        </p:nvSpPr>
        <p:spPr/>
        <p:txBody>
          <a:bodyPr/>
          <a:lstStyle/>
          <a:p>
            <a:r>
              <a:rPr lang="en-US" dirty="0"/>
              <a:t>Zod In A Tiny Web Server </a:t>
            </a:r>
          </a:p>
        </p:txBody>
      </p:sp>
      <p:sp>
        <p:nvSpPr>
          <p:cNvPr id="4" name="Slide Number Placeholder 3">
            <a:extLst>
              <a:ext uri="{FF2B5EF4-FFF2-40B4-BE49-F238E27FC236}">
                <a16:creationId xmlns:a16="http://schemas.microsoft.com/office/drawing/2014/main" id="{25147EF1-C39A-3535-BB73-A90B0DF82CB5}"/>
              </a:ext>
            </a:extLst>
          </p:cNvPr>
          <p:cNvSpPr>
            <a:spLocks noGrp="1"/>
          </p:cNvSpPr>
          <p:nvPr>
            <p:ph type="sldNum" sz="quarter" idx="12"/>
          </p:nvPr>
        </p:nvSpPr>
        <p:spPr/>
        <p:txBody>
          <a:bodyPr/>
          <a:lstStyle/>
          <a:p>
            <a:fld id="{20F37917-FD3A-4669-9018-DA04BCDD3D75}" type="slidenum">
              <a:rPr lang="en-US" smtClean="0"/>
              <a:pPr/>
              <a:t>14</a:t>
            </a:fld>
            <a:endParaRPr lang="en-US"/>
          </a:p>
        </p:txBody>
      </p:sp>
      <p:sp>
        <p:nvSpPr>
          <p:cNvPr id="3" name="TextBox 2">
            <a:extLst>
              <a:ext uri="{FF2B5EF4-FFF2-40B4-BE49-F238E27FC236}">
                <a16:creationId xmlns:a16="http://schemas.microsoft.com/office/drawing/2014/main" id="{04A6F1FE-58CC-223C-F7AF-0E95EDDBA9A8}"/>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5433D702-0BA4-2D56-0931-DD91A6E6B991}"/>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CD488ED7-E8B6-9CAF-5DCC-8F76283D60F7}"/>
              </a:ext>
            </a:extLst>
          </p:cNvPr>
          <p:cNvSpPr>
            <a:spLocks noGrp="1"/>
          </p:cNvSpPr>
          <p:nvPr>
            <p:ph idx="1"/>
          </p:nvPr>
        </p:nvSpPr>
        <p:spPr>
          <a:xfrm>
            <a:off x="838199" y="1500159"/>
            <a:ext cx="10960511" cy="5092369"/>
          </a:xfrm>
        </p:spPr>
        <p:txBody>
          <a:bodyPr>
            <a:noAutofit/>
          </a:bodyPr>
          <a:lstStyle/>
          <a:p>
            <a:pPr marL="0" indent="0">
              <a:spcBef>
                <a:spcPts val="0"/>
              </a:spcBef>
              <a:buNone/>
            </a:pPr>
            <a:r>
              <a:rPr lang="en-US" sz="1800" dirty="0">
                <a:solidFill>
                  <a:srgbClr val="AF00DB"/>
                </a:solidFill>
                <a:latin typeface="Menlo" panose="020B0609030804020204" pitchFamily="49" charset="0"/>
              </a:rPr>
              <a:t>import</a:t>
            </a:r>
            <a:r>
              <a:rPr lang="en-US" sz="1800" dirty="0">
                <a:latin typeface="Menlo" panose="020B0609030804020204" pitchFamily="49" charset="0"/>
                <a:ea typeface="Menlo" panose="020B0609030804020204" pitchFamily="49" charset="0"/>
                <a:cs typeface="Menlo" panose="020B0609030804020204" pitchFamily="49" charset="0"/>
              </a:rPr>
              <a:t> { z } </a:t>
            </a:r>
            <a:r>
              <a:rPr lang="en-US" sz="1800" dirty="0">
                <a:solidFill>
                  <a:srgbClr val="AF00DB"/>
                </a:solidFill>
                <a:latin typeface="Menlo" panose="020B0609030804020204" pitchFamily="49" charset="0"/>
              </a:rPr>
              <a:t>from</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C00000"/>
                </a:solidFill>
                <a:latin typeface="Menlo" panose="020B0609030804020204" pitchFamily="49" charset="0"/>
                <a:ea typeface="Menlo" panose="020B0609030804020204" pitchFamily="49" charset="0"/>
                <a:cs typeface="Menlo" panose="020B0609030804020204" pitchFamily="49" charset="0"/>
              </a:rPr>
              <a:t>zod</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a:t>
            </a:r>
            <a:endParaRPr lang="en-US" sz="1800" dirty="0">
              <a:solidFill>
                <a:srgbClr val="AF00DB"/>
              </a:solidFill>
              <a:latin typeface="Menlo" panose="020B0609030804020204" pitchFamily="49" charset="0"/>
            </a:endParaRPr>
          </a:p>
          <a:p>
            <a:pPr marL="0" indent="0">
              <a:spcBef>
                <a:spcPts val="0"/>
              </a:spcBef>
              <a:buNone/>
            </a:pPr>
            <a:r>
              <a:rPr lang="en-US" sz="1800" dirty="0">
                <a:solidFill>
                  <a:schemeClr val="bg1">
                    <a:lumMod val="65000"/>
                  </a:schemeClr>
                </a:solidFill>
                <a:latin typeface="Menlo" panose="020B0609030804020204" pitchFamily="49" charset="0"/>
              </a:rPr>
              <a:t>import</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express </a:t>
            </a:r>
            <a:r>
              <a:rPr lang="en-US" sz="1800" dirty="0">
                <a:solidFill>
                  <a:schemeClr val="bg1">
                    <a:lumMod val="65000"/>
                  </a:schemeClr>
                </a:solidFill>
                <a:latin typeface="Menlo" panose="020B0609030804020204" pitchFamily="49" charset="0"/>
              </a:rPr>
              <a:t>from</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'express';</a:t>
            </a:r>
          </a:p>
          <a:p>
            <a:pPr marL="0" indent="0">
              <a:spcBef>
                <a:spcPts val="0"/>
              </a:spcBef>
              <a:buNone/>
            </a:pP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const app = express();</a:t>
            </a:r>
          </a:p>
          <a:p>
            <a:pPr marL="0" indent="0">
              <a:spcBef>
                <a:spcPts val="0"/>
              </a:spcBef>
              <a:buNone/>
            </a:pPr>
            <a:r>
              <a:rPr lang="en-US" sz="1800"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app.use</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express.json</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t>
            </a:r>
            <a:b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br>
            <a:endPar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70C0"/>
                </a:solidFill>
                <a:latin typeface="Menlo" panose="020B0609030804020204" pitchFamily="49" charset="0"/>
                <a:ea typeface="Menlo" panose="020B0609030804020204" pitchFamily="49" charset="0"/>
                <a:cs typeface="Menlo" panose="020B0609030804020204" pitchFamily="49" charset="0"/>
              </a:rPr>
              <a:t>zAuth</a:t>
            </a:r>
            <a:r>
              <a:rPr lang="en-US" sz="1800" dirty="0">
                <a:latin typeface="Menlo" panose="020B0609030804020204" pitchFamily="49" charset="0"/>
                <a:ea typeface="Menlo" panose="020B0609030804020204" pitchFamily="49" charset="0"/>
                <a:cs typeface="Menlo" panose="020B0609030804020204" pitchFamily="49" charset="0"/>
              </a:rPr>
              <a:t> = </a:t>
            </a:r>
            <a:r>
              <a:rPr lang="en-US" sz="1800" dirty="0" err="1">
                <a:latin typeface="Menlo" panose="020B0609030804020204" pitchFamily="49" charset="0"/>
                <a:ea typeface="Menlo" panose="020B0609030804020204" pitchFamily="49" charset="0"/>
                <a:cs typeface="Menlo" panose="020B0609030804020204" pitchFamily="49" charset="0"/>
              </a:rPr>
              <a:t>z.</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object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latin typeface="Menlo" panose="020B0609030804020204" pitchFamily="49" charset="0"/>
                <a:ea typeface="Menlo" panose="020B0609030804020204" pitchFamily="49" charset="0"/>
                <a:cs typeface="Menlo" panose="020B0609030804020204" pitchFamily="49" charset="0"/>
              </a:rPr>
              <a:t>z.</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password</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latin typeface="Menlo" panose="020B0609030804020204" pitchFamily="49" charset="0"/>
                <a:ea typeface="Menlo" panose="020B0609030804020204" pitchFamily="49" charset="0"/>
                <a:cs typeface="Menlo" panose="020B0609030804020204" pitchFamily="49" charset="0"/>
              </a:rPr>
              <a:t>z.</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app.post</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(req, res) =&gt;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 </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zAuth</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safeParse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req.body</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AF00DB"/>
                </a:solidFill>
                <a:latin typeface="Menlo" panose="020B0609030804020204" pitchFamily="49" charset="0"/>
              </a:rPr>
              <a:t>if</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auth.error</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status</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400</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send</a:t>
            </a:r>
            <a:r>
              <a:rPr lang="en-US" sz="1800" dirty="0">
                <a:latin typeface="Menlo" panose="020B0609030804020204" pitchFamily="49" charset="0"/>
                <a:ea typeface="Menlo" panose="020B0609030804020204" pitchFamily="49" charset="0"/>
                <a:cs typeface="Menlo" panose="020B0609030804020204" pitchFamily="49" charset="0"/>
              </a:rPr>
              <a:t>({ error: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'Unexpected message' </a:t>
            </a:r>
            <a:r>
              <a:rPr lang="en-US" sz="1800" dirty="0">
                <a:latin typeface="Menlo" panose="020B0609030804020204" pitchFamily="49" charset="0"/>
                <a:ea typeface="Menlo" panose="020B0609030804020204" pitchFamily="49" charset="0"/>
                <a:cs typeface="Menlo" panose="020B0609030804020204" pitchFamily="49" charset="0"/>
              </a:rPr>
              <a:t>});  </a:t>
            </a:r>
            <a:br>
              <a:rPr lang="en-US" sz="1800" dirty="0">
                <a:latin typeface="Menlo" panose="020B0609030804020204" pitchFamily="49" charset="0"/>
                <a:ea typeface="Menlo" panose="020B0609030804020204" pitchFamily="49" charset="0"/>
                <a:cs typeface="Menlo" panose="020B0609030804020204" pitchFamily="49" charset="0"/>
              </a:rPr>
            </a:br>
            <a:r>
              <a:rPr lang="en-US" sz="1800" dirty="0">
                <a:latin typeface="Menlo" panose="020B0609030804020204" pitchFamily="49" charset="0"/>
                <a:ea typeface="Menlo" panose="020B0609030804020204" pitchFamily="49" charset="0"/>
                <a:cs typeface="Menlo" panose="020B0609030804020204" pitchFamily="49" charset="0"/>
              </a:rPr>
              <a:t>  } </a:t>
            </a:r>
            <a:r>
              <a:rPr lang="en-US" sz="1800" dirty="0">
                <a:solidFill>
                  <a:srgbClr val="AF00DB"/>
                </a:solidFill>
                <a:latin typeface="Menlo" panose="020B0609030804020204" pitchFamily="49" charset="0"/>
              </a:rPr>
              <a:t>else if</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a:t>
            </a:r>
            <a:r>
              <a:rPr lang="en-US" sz="1800" b="1" dirty="0" err="1">
                <a:solidFill>
                  <a:srgbClr val="002060"/>
                </a:solidFill>
                <a:latin typeface="Menlo" panose="020B0609030804020204" pitchFamily="49" charset="0"/>
                <a:ea typeface="Menlo" panose="020B0609030804020204" pitchFamily="49" charset="0"/>
                <a:cs typeface="Menlo" panose="020B0609030804020204" pitchFamily="49" charset="0"/>
              </a:rPr>
              <a:t>data</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.password</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'secret'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a:t>
            </a:r>
            <a:r>
              <a:rPr lang="en-US" sz="1800"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res.status</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(403).send({ error: 'Wrong password' });</a:t>
            </a:r>
          </a:p>
          <a:p>
            <a:pPr marL="0" indent="0">
              <a:spcBef>
                <a:spcPts val="0"/>
              </a:spcBef>
              <a:buNone/>
            </a:pP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 </a:t>
            </a:r>
            <a:r>
              <a:rPr lang="en-US" sz="1800" dirty="0">
                <a:solidFill>
                  <a:schemeClr val="bg1">
                    <a:lumMod val="65000"/>
                  </a:schemeClr>
                </a:solidFill>
                <a:latin typeface="Menlo" panose="020B0609030804020204" pitchFamily="49" charset="0"/>
              </a:rPr>
              <a:t>else</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send</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message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`WELCOME,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b="1" dirty="0" err="1">
                <a:solidFill>
                  <a:srgbClr val="002060"/>
                </a:solidFill>
                <a:latin typeface="Menlo" panose="020B0609030804020204" pitchFamily="49" charset="0"/>
                <a:ea typeface="Menlo" panose="020B0609030804020204" pitchFamily="49" charset="0"/>
                <a:cs typeface="Menlo" panose="020B0609030804020204" pitchFamily="49" charset="0"/>
              </a:rPr>
              <a:t>data</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toUpperCase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endPar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app.listen</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(8000, () =&gt; </a:t>
            </a:r>
            <a:r>
              <a:rPr lang="en-US" sz="1800"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console.log</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(`Listening on port 8000`));</a:t>
            </a:r>
          </a:p>
          <a:p>
            <a:pPr marL="0" indent="0">
              <a:spcBef>
                <a:spcPts val="0"/>
              </a:spcBef>
              <a:buNone/>
            </a:pPr>
            <a:br>
              <a:rPr lang="en-US" sz="1800" dirty="0">
                <a:latin typeface="Menlo" panose="020B0609030804020204" pitchFamily="49" charset="0"/>
                <a:ea typeface="Menlo" panose="020B0609030804020204" pitchFamily="49" charset="0"/>
                <a:cs typeface="Menlo" panose="020B0609030804020204" pitchFamily="49" charset="0"/>
              </a:rPr>
            </a:b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lnSpc>
                <a:spcPct val="110000"/>
              </a:lnSpc>
              <a:spcBef>
                <a:spcPts val="0"/>
              </a:spcBef>
              <a:buNone/>
            </a:pPr>
            <a:endParaRPr lang="en-US" sz="1800" dirty="0">
              <a:solidFill>
                <a:srgbClr val="3B3B3B"/>
              </a:solidFill>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20468137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E7F18-B45B-CFC5-09EA-8501955B2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D6194F-7AC3-5E4A-D2E2-B1757CE5665E}"/>
              </a:ext>
            </a:extLst>
          </p:cNvPr>
          <p:cNvSpPr>
            <a:spLocks noGrp="1"/>
          </p:cNvSpPr>
          <p:nvPr>
            <p:ph type="title"/>
          </p:nvPr>
        </p:nvSpPr>
        <p:spPr/>
        <p:txBody>
          <a:bodyPr/>
          <a:lstStyle/>
          <a:p>
            <a:r>
              <a:rPr lang="en-US" dirty="0"/>
              <a:t>Review</a:t>
            </a:r>
          </a:p>
        </p:txBody>
      </p:sp>
      <p:sp>
        <p:nvSpPr>
          <p:cNvPr id="4" name="Slide Number Placeholder 3">
            <a:extLst>
              <a:ext uri="{FF2B5EF4-FFF2-40B4-BE49-F238E27FC236}">
                <a16:creationId xmlns:a16="http://schemas.microsoft.com/office/drawing/2014/main" id="{22A396DC-EAD6-C238-812F-A74D841313EC}"/>
              </a:ext>
            </a:extLst>
          </p:cNvPr>
          <p:cNvSpPr>
            <a:spLocks noGrp="1"/>
          </p:cNvSpPr>
          <p:nvPr>
            <p:ph type="sldNum" sz="quarter" idx="12"/>
          </p:nvPr>
        </p:nvSpPr>
        <p:spPr/>
        <p:txBody>
          <a:bodyPr/>
          <a:lstStyle/>
          <a:p>
            <a:fld id="{20F37917-FD3A-4669-9018-DA04BCDD3D75}" type="slidenum">
              <a:rPr lang="en-US" smtClean="0"/>
              <a:pPr/>
              <a:t>15</a:t>
            </a:fld>
            <a:endParaRPr lang="en-US"/>
          </a:p>
        </p:txBody>
      </p:sp>
      <p:sp>
        <p:nvSpPr>
          <p:cNvPr id="3" name="TextBox 2">
            <a:extLst>
              <a:ext uri="{FF2B5EF4-FFF2-40B4-BE49-F238E27FC236}">
                <a16:creationId xmlns:a16="http://schemas.microsoft.com/office/drawing/2014/main" id="{28CC9EFF-765C-086B-0DEB-9908E5B4857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45DFBD17-BF04-419C-395B-AF5A030E043D}"/>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Content Placeholder 5">
            <a:extLst>
              <a:ext uri="{FF2B5EF4-FFF2-40B4-BE49-F238E27FC236}">
                <a16:creationId xmlns:a16="http://schemas.microsoft.com/office/drawing/2014/main" id="{C47B2FF9-0368-E616-6EDC-433FB770B78D}"/>
              </a:ext>
            </a:extLst>
          </p:cNvPr>
          <p:cNvSpPr>
            <a:spLocks noGrp="1"/>
          </p:cNvSpPr>
          <p:nvPr>
            <p:ph idx="1"/>
          </p:nvPr>
        </p:nvSpPr>
        <p:spPr/>
        <p:txBody>
          <a:bodyPr/>
          <a:lstStyle/>
          <a:p>
            <a:r>
              <a:rPr lang="en-US" dirty="0"/>
              <a:t>One view of TypeScript is that it’s a handy way of documenting, and </a:t>
            </a:r>
            <a:r>
              <a:rPr lang="en-US" i="1" dirty="0"/>
              <a:t>imperfectly</a:t>
            </a:r>
            <a:r>
              <a:rPr lang="en-US" dirty="0"/>
              <a:t> checking, the contracts (preconditions and postconditions) of your code</a:t>
            </a:r>
          </a:p>
          <a:p>
            <a:r>
              <a:rPr lang="en-US" dirty="0"/>
              <a:t>Do you need to test inputs that violate your contracts? It depends!</a:t>
            </a:r>
          </a:p>
          <a:p>
            <a:r>
              <a:rPr lang="en-US" dirty="0"/>
              <a:t>You can never trust that the input to a web server will obey any sort of </a:t>
            </a:r>
            <a:r>
              <a:rPr lang="en-US"/>
              <a:t>contract — </a:t>
            </a:r>
            <a:r>
              <a:rPr lang="en-US" dirty="0"/>
              <a:t>important to test!</a:t>
            </a:r>
          </a:p>
        </p:txBody>
      </p:sp>
    </p:spTree>
    <p:extLst>
      <p:ext uri="{BB962C8B-B14F-4D97-AF65-F5344CB8AC3E}">
        <p14:creationId xmlns:p14="http://schemas.microsoft.com/office/powerpoint/2010/main" val="17411719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13A434-134B-DEC4-0437-7993A5536EE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2C853A3-60F1-001B-4631-61E238A8F1FC}"/>
              </a:ext>
            </a:extLst>
          </p:cNvPr>
          <p:cNvSpPr>
            <a:spLocks noGrp="1"/>
          </p:cNvSpPr>
          <p:nvPr>
            <p:ph idx="1"/>
          </p:nvPr>
        </p:nvSpPr>
        <p:spPr/>
        <p:txBody>
          <a:bodyPr/>
          <a:lstStyle/>
          <a:p>
            <a:endParaRPr lang="en-US" dirty="0"/>
          </a:p>
        </p:txBody>
      </p:sp>
      <p:sp>
        <p:nvSpPr>
          <p:cNvPr id="4" name="Slide Number Placeholder 3">
            <a:extLst>
              <a:ext uri="{FF2B5EF4-FFF2-40B4-BE49-F238E27FC236}">
                <a16:creationId xmlns:a16="http://schemas.microsoft.com/office/drawing/2014/main" id="{BCDF65F4-4DE9-113C-9388-33600A1B9438}"/>
              </a:ext>
            </a:extLst>
          </p:cNvPr>
          <p:cNvSpPr>
            <a:spLocks noGrp="1"/>
          </p:cNvSpPr>
          <p:nvPr>
            <p:ph type="sldNum" sz="quarter" idx="12"/>
          </p:nvPr>
        </p:nvSpPr>
        <p:spPr/>
        <p:txBody>
          <a:bodyPr/>
          <a:lstStyle/>
          <a:p>
            <a:fld id="{20F37917-FD3A-4669-9018-DA04BCDD3D75}" type="slidenum">
              <a:rPr lang="en-US" smtClean="0"/>
              <a:t>16</a:t>
            </a:fld>
            <a:endParaRPr lang="en-US"/>
          </a:p>
        </p:txBody>
      </p:sp>
    </p:spTree>
    <p:extLst>
      <p:ext uri="{BB962C8B-B14F-4D97-AF65-F5344CB8AC3E}">
        <p14:creationId xmlns:p14="http://schemas.microsoft.com/office/powerpoint/2010/main" val="30337893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721DD-02B2-53E0-2188-A7E399ED38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0DC57E-4A12-B34A-32C6-F9788573BD2B}"/>
              </a:ext>
            </a:extLst>
          </p:cNvPr>
          <p:cNvSpPr>
            <a:spLocks noGrp="1"/>
          </p:cNvSpPr>
          <p:nvPr>
            <p:ph type="title"/>
          </p:nvPr>
        </p:nvSpPr>
        <p:spPr/>
        <p:txBody>
          <a:bodyPr/>
          <a:lstStyle/>
          <a:p>
            <a:r>
              <a:rPr lang="en-US" dirty="0"/>
              <a:t>TypeScript Types… Can Be Trusted?</a:t>
            </a:r>
          </a:p>
        </p:txBody>
      </p:sp>
      <p:sp>
        <p:nvSpPr>
          <p:cNvPr id="5" name="Content Placeholder 4">
            <a:extLst>
              <a:ext uri="{FF2B5EF4-FFF2-40B4-BE49-F238E27FC236}">
                <a16:creationId xmlns:a16="http://schemas.microsoft.com/office/drawing/2014/main" id="{000CE07F-9B18-5131-C2D5-8A3CA557BAD7}"/>
              </a:ext>
            </a:extLst>
          </p:cNvPr>
          <p:cNvSpPr>
            <a:spLocks noGrp="1"/>
          </p:cNvSpPr>
          <p:nvPr>
            <p:ph idx="1"/>
          </p:nvPr>
        </p:nvSpPr>
        <p:spPr>
          <a:xfrm>
            <a:off x="838200" y="1500160"/>
            <a:ext cx="9300882" cy="4351338"/>
          </a:xfrm>
        </p:spPr>
        <p:txBody>
          <a:bodyPr>
            <a:normAutofit/>
          </a:bodyPr>
          <a:lstStyle/>
          <a:p>
            <a:r>
              <a:rPr lang="en-US" dirty="0"/>
              <a:t>If you use TypeScript with care, you can rely on the control it gives you over what might get passed to the function</a:t>
            </a:r>
          </a:p>
          <a:p>
            <a:pPr lvl="1"/>
            <a:r>
              <a:rPr lang="en-US" dirty="0"/>
              <a:t>If a function is only being called from other sources that respect contracts… then you can rely on the contracts being respected?</a:t>
            </a:r>
          </a:p>
          <a:p>
            <a:pPr lvl="1"/>
            <a:r>
              <a:rPr lang="en-US" dirty="0"/>
              <a:t>Don’t have contracts on functions that won’t be respected!</a:t>
            </a:r>
          </a:p>
          <a:p>
            <a:r>
              <a:rPr lang="en-US" dirty="0"/>
              <a:t>Sometimes you </a:t>
            </a:r>
            <a:r>
              <a:rPr lang="en-US" i="1" dirty="0"/>
              <a:t>cannot </a:t>
            </a:r>
            <a:r>
              <a:rPr lang="en-US" dirty="0"/>
              <a:t>control your input, like when it’s coming directly from a user or a network request</a:t>
            </a:r>
          </a:p>
          <a:p>
            <a:r>
              <a:rPr lang="en-US" dirty="0"/>
              <a:t>The </a:t>
            </a:r>
            <a:r>
              <a:rPr lang="en-US" dirty="0">
                <a:solidFill>
                  <a:srgbClr val="0070C0"/>
                </a:solidFill>
                <a:latin typeface="Menlo" panose="020B0609030804020204" pitchFamily="49" charset="0"/>
                <a:ea typeface="Menlo" panose="020B0609030804020204" pitchFamily="49" charset="0"/>
                <a:cs typeface="Menlo" panose="020B0609030804020204" pitchFamily="49" charset="0"/>
              </a:rPr>
              <a:t>unknown</a:t>
            </a:r>
            <a:r>
              <a:rPr lang="en-US" dirty="0"/>
              <a:t> type (NOT the </a:t>
            </a:r>
            <a:r>
              <a:rPr lang="en-US" dirty="0">
                <a:solidFill>
                  <a:srgbClr val="FF0000"/>
                </a:solidFill>
                <a:latin typeface="Menlo" panose="020B0609030804020204" pitchFamily="49" charset="0"/>
                <a:ea typeface="Menlo" panose="020B0609030804020204" pitchFamily="49" charset="0"/>
                <a:cs typeface="Menlo" panose="020B0609030804020204" pitchFamily="49" charset="0"/>
              </a:rPr>
              <a:t>any</a:t>
            </a:r>
            <a:r>
              <a:rPr lang="en-US" dirty="0"/>
              <a:t> type) helps in these situations</a:t>
            </a:r>
          </a:p>
        </p:txBody>
      </p:sp>
      <p:sp>
        <p:nvSpPr>
          <p:cNvPr id="4" name="Slide Number Placeholder 3">
            <a:extLst>
              <a:ext uri="{FF2B5EF4-FFF2-40B4-BE49-F238E27FC236}">
                <a16:creationId xmlns:a16="http://schemas.microsoft.com/office/drawing/2014/main" id="{535AF715-18A9-64E5-DD70-DA6A6D7F1C2D}"/>
              </a:ext>
            </a:extLst>
          </p:cNvPr>
          <p:cNvSpPr>
            <a:spLocks noGrp="1"/>
          </p:cNvSpPr>
          <p:nvPr>
            <p:ph type="sldNum" sz="quarter" idx="12"/>
          </p:nvPr>
        </p:nvSpPr>
        <p:spPr/>
        <p:txBody>
          <a:bodyPr/>
          <a:lstStyle/>
          <a:p>
            <a:fld id="{20F37917-FD3A-4669-9018-DA04BCDD3D75}" type="slidenum">
              <a:rPr lang="en-US" smtClean="0"/>
              <a:pPr/>
              <a:t>17</a:t>
            </a:fld>
            <a:endParaRPr lang="en-US"/>
          </a:p>
        </p:txBody>
      </p:sp>
      <p:sp>
        <p:nvSpPr>
          <p:cNvPr id="3" name="TextBox 2">
            <a:extLst>
              <a:ext uri="{FF2B5EF4-FFF2-40B4-BE49-F238E27FC236}">
                <a16:creationId xmlns:a16="http://schemas.microsoft.com/office/drawing/2014/main" id="{849D798B-886A-484B-D03D-EF2D41000B01}"/>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TextBox 8">
            <a:extLst>
              <a:ext uri="{FF2B5EF4-FFF2-40B4-BE49-F238E27FC236}">
                <a16:creationId xmlns:a16="http://schemas.microsoft.com/office/drawing/2014/main" id="{40FFDFD7-87E6-6132-7535-E934641B5807}"/>
              </a:ext>
            </a:extLst>
          </p:cNvPr>
          <p:cNvSpPr txBox="1"/>
          <p:nvPr/>
        </p:nvSpPr>
        <p:spPr>
          <a:xfrm>
            <a:off x="443753" y="223221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TextBox 5">
            <a:extLst>
              <a:ext uri="{FF2B5EF4-FFF2-40B4-BE49-F238E27FC236}">
                <a16:creationId xmlns:a16="http://schemas.microsoft.com/office/drawing/2014/main" id="{D79AE66F-C925-E4AE-C129-74F251E673EE}"/>
              </a:ext>
            </a:extLst>
          </p:cNvPr>
          <p:cNvSpPr txBox="1"/>
          <p:nvPr/>
        </p:nvSpPr>
        <p:spPr>
          <a:xfrm>
            <a:off x="4504765" y="75303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7935521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A4E342-459E-7A94-3206-AAEB380DD1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A7571-3002-2AA7-ACDB-016744198D7B}"/>
              </a:ext>
            </a:extLst>
          </p:cNvPr>
          <p:cNvSpPr>
            <a:spLocks noGrp="1"/>
          </p:cNvSpPr>
          <p:nvPr>
            <p:ph type="title"/>
          </p:nvPr>
        </p:nvSpPr>
        <p:spPr/>
        <p:txBody>
          <a:bodyPr/>
          <a:lstStyle/>
          <a:p>
            <a:r>
              <a:rPr lang="en-US" dirty="0"/>
              <a:t>TypeScript (can) Make Testing Trickier!</a:t>
            </a:r>
          </a:p>
        </p:txBody>
      </p:sp>
      <p:sp>
        <p:nvSpPr>
          <p:cNvPr id="5" name="Content Placeholder 4">
            <a:extLst>
              <a:ext uri="{FF2B5EF4-FFF2-40B4-BE49-F238E27FC236}">
                <a16:creationId xmlns:a16="http://schemas.microsoft.com/office/drawing/2014/main" id="{63F11D85-B614-119A-E96B-7F26059E1E8E}"/>
              </a:ext>
            </a:extLst>
          </p:cNvPr>
          <p:cNvSpPr>
            <a:spLocks noGrp="1"/>
          </p:cNvSpPr>
          <p:nvPr>
            <p:ph idx="1"/>
          </p:nvPr>
        </p:nvSpPr>
        <p:spPr>
          <a:xfrm>
            <a:off x="838200" y="1500160"/>
            <a:ext cx="9300882" cy="4351338"/>
          </a:xfrm>
        </p:spPr>
        <p:txBody>
          <a:bodyPr>
            <a:normAutofit/>
          </a:bodyPr>
          <a:lstStyle/>
          <a:p>
            <a:r>
              <a:rPr lang="en-US" dirty="0"/>
              <a:t>TypeScript can lull you into a false sense of security that you </a:t>
            </a:r>
            <a:r>
              <a:rPr lang="en-US" i="1" dirty="0"/>
              <a:t>don’t</a:t>
            </a:r>
            <a:r>
              <a:rPr lang="en-US" dirty="0"/>
              <a:t> need to check whether your number-accepting function can handle a string.</a:t>
            </a:r>
          </a:p>
          <a:p>
            <a:r>
              <a:rPr lang="en-US" dirty="0"/>
              <a:t>It makes sense </a:t>
            </a:r>
            <a:r>
              <a:rPr lang="en-US" i="1" dirty="0"/>
              <a:t>sometimes</a:t>
            </a:r>
            <a:r>
              <a:rPr lang="en-US" dirty="0"/>
              <a:t> to treat your precondition comments as not-needing-to-be tested</a:t>
            </a:r>
          </a:p>
          <a:p>
            <a:r>
              <a:rPr lang="en-US" dirty="0"/>
              <a:t>It makes sense </a:t>
            </a:r>
            <a:r>
              <a:rPr lang="en-US" i="1" dirty="0"/>
              <a:t>often </a:t>
            </a:r>
            <a:r>
              <a:rPr lang="en-US" dirty="0"/>
              <a:t>to treat your TypeScript types as </a:t>
            </a:r>
            <a:br>
              <a:rPr lang="en-US" dirty="0"/>
            </a:br>
            <a:r>
              <a:rPr lang="en-US" dirty="0"/>
              <a:t>not-needing-to-be-tested, especially if you use TypeScript appropriately (avoid the use of the </a:t>
            </a:r>
            <a:r>
              <a:rPr lang="en-US" dirty="0">
                <a:solidFill>
                  <a:srgbClr val="FF0000"/>
                </a:solidFill>
                <a:latin typeface="Menlo" panose="020B0609030804020204" pitchFamily="49" charset="0"/>
                <a:ea typeface="Menlo" panose="020B0609030804020204" pitchFamily="49" charset="0"/>
                <a:cs typeface="Menlo" panose="020B0609030804020204" pitchFamily="49" charset="0"/>
              </a:rPr>
              <a:t>any</a:t>
            </a:r>
            <a:r>
              <a:rPr lang="en-US" dirty="0"/>
              <a:t> type!)  </a:t>
            </a:r>
          </a:p>
          <a:p>
            <a:endParaRPr lang="en-US" dirty="0"/>
          </a:p>
        </p:txBody>
      </p:sp>
      <p:sp>
        <p:nvSpPr>
          <p:cNvPr id="4" name="Slide Number Placeholder 3">
            <a:extLst>
              <a:ext uri="{FF2B5EF4-FFF2-40B4-BE49-F238E27FC236}">
                <a16:creationId xmlns:a16="http://schemas.microsoft.com/office/drawing/2014/main" id="{7ED81EC7-D680-06C1-9222-B95F2F189963}"/>
              </a:ext>
            </a:extLst>
          </p:cNvPr>
          <p:cNvSpPr>
            <a:spLocks noGrp="1"/>
          </p:cNvSpPr>
          <p:nvPr>
            <p:ph type="sldNum" sz="quarter" idx="12"/>
          </p:nvPr>
        </p:nvSpPr>
        <p:spPr/>
        <p:txBody>
          <a:bodyPr/>
          <a:lstStyle/>
          <a:p>
            <a:fld id="{20F37917-FD3A-4669-9018-DA04BCDD3D75}" type="slidenum">
              <a:rPr lang="en-US" smtClean="0"/>
              <a:pPr/>
              <a:t>18</a:t>
            </a:fld>
            <a:endParaRPr lang="en-US"/>
          </a:p>
        </p:txBody>
      </p:sp>
      <p:sp>
        <p:nvSpPr>
          <p:cNvPr id="3" name="TextBox 2">
            <a:extLst>
              <a:ext uri="{FF2B5EF4-FFF2-40B4-BE49-F238E27FC236}">
                <a16:creationId xmlns:a16="http://schemas.microsoft.com/office/drawing/2014/main" id="{B18E2D9A-4256-AB96-52EA-141676FF6788}"/>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TextBox 8">
            <a:extLst>
              <a:ext uri="{FF2B5EF4-FFF2-40B4-BE49-F238E27FC236}">
                <a16:creationId xmlns:a16="http://schemas.microsoft.com/office/drawing/2014/main" id="{5C6BE914-C89F-75FF-CA9F-FB0F3CEE5884}"/>
              </a:ext>
            </a:extLst>
          </p:cNvPr>
          <p:cNvSpPr txBox="1"/>
          <p:nvPr/>
        </p:nvSpPr>
        <p:spPr>
          <a:xfrm>
            <a:off x="443753" y="223221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949679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F37E0-EC2E-A56B-E348-01956A9E9D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36C5A-1C12-B6ED-0731-A002ADD3FECE}"/>
              </a:ext>
            </a:extLst>
          </p:cNvPr>
          <p:cNvSpPr>
            <a:spLocks noGrp="1"/>
          </p:cNvSpPr>
          <p:nvPr>
            <p:ph type="title"/>
          </p:nvPr>
        </p:nvSpPr>
        <p:spPr>
          <a:xfrm>
            <a:off x="838200" y="18255"/>
            <a:ext cx="10515600" cy="1325563"/>
          </a:xfrm>
        </p:spPr>
        <p:txBody>
          <a:bodyPr/>
          <a:lstStyle/>
          <a:p>
            <a:r>
              <a:rPr lang="en-US" dirty="0"/>
              <a:t>(Un)authenticated Inputs</a:t>
            </a:r>
          </a:p>
        </p:txBody>
      </p:sp>
      <p:sp>
        <p:nvSpPr>
          <p:cNvPr id="4" name="Slide Number Placeholder 3">
            <a:extLst>
              <a:ext uri="{FF2B5EF4-FFF2-40B4-BE49-F238E27FC236}">
                <a16:creationId xmlns:a16="http://schemas.microsoft.com/office/drawing/2014/main" id="{89966352-EB99-270A-DF9F-1B1E3AF8E79F}"/>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19</a:t>
            </a:fld>
            <a:endParaRPr lang="en-US"/>
          </a:p>
        </p:txBody>
      </p:sp>
      <p:sp>
        <p:nvSpPr>
          <p:cNvPr id="5" name="Content Placeholder 4">
            <a:extLst>
              <a:ext uri="{FF2B5EF4-FFF2-40B4-BE49-F238E27FC236}">
                <a16:creationId xmlns:a16="http://schemas.microsoft.com/office/drawing/2014/main" id="{17FE361B-C10F-F1E5-611C-7B8D2621C24C}"/>
              </a:ext>
            </a:extLst>
          </p:cNvPr>
          <p:cNvSpPr>
            <a:spLocks noGrp="1"/>
          </p:cNvSpPr>
          <p:nvPr>
            <p:ph idx="1"/>
          </p:nvPr>
        </p:nvSpPr>
        <p:spPr>
          <a:xfrm>
            <a:off x="838200" y="1500160"/>
            <a:ext cx="7887346" cy="785840"/>
          </a:xfrm>
        </p:spPr>
        <p:txBody>
          <a:bodyPr/>
          <a:lstStyle/>
          <a:p>
            <a:pPr marL="0" indent="0">
              <a:buNone/>
            </a:pPr>
            <a:r>
              <a:rPr lang="en-US" dirty="0"/>
              <a:t>With difficulty, you can check an unknown value</a:t>
            </a:r>
          </a:p>
        </p:txBody>
      </p:sp>
      <p:sp>
        <p:nvSpPr>
          <p:cNvPr id="6" name="TextBox 5">
            <a:extLst>
              <a:ext uri="{FF2B5EF4-FFF2-40B4-BE49-F238E27FC236}">
                <a16:creationId xmlns:a16="http://schemas.microsoft.com/office/drawing/2014/main" id="{8FCC4CC6-BB97-AA4F-EADE-0026A52DD19A}"/>
              </a:ext>
            </a:extLst>
          </p:cNvPr>
          <p:cNvSpPr txBox="1"/>
          <p:nvPr/>
        </p:nvSpPr>
        <p:spPr>
          <a:xfrm>
            <a:off x="744069" y="2501474"/>
            <a:ext cx="11354146" cy="32023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dirty="0">
                <a:solidFill>
                  <a:srgbClr val="002060"/>
                </a:solidFill>
                <a:latin typeface="Menlo" panose="020B0609030804020204" pitchFamily="49" charset="0"/>
              </a:rPr>
              <a:t>type</a:t>
            </a:r>
            <a:r>
              <a:rPr lang="en-US" dirty="0">
                <a:solidFill>
                  <a:srgbClr val="0000FF"/>
                </a:solidFill>
                <a:latin typeface="Menlo" panose="020B0609030804020204" pitchFamily="49" charset="0"/>
              </a:rPr>
              <a:t> </a:t>
            </a:r>
            <a:r>
              <a:rPr lang="en-US" dirty="0">
                <a:solidFill>
                  <a:srgbClr val="795E26"/>
                </a:solidFill>
                <a:latin typeface="Menlo" panose="020B0609030804020204" pitchFamily="49" charset="0"/>
              </a:rPr>
              <a:t>Auth </a:t>
            </a:r>
            <a:r>
              <a:rPr lang="en-US" dirty="0">
                <a:solidFill>
                  <a:schemeClr val="tx1"/>
                </a:solidFill>
                <a:latin typeface="Menlo" panose="020B0609030804020204" pitchFamily="49" charset="0"/>
              </a:rPr>
              <a:t>= { username: </a:t>
            </a:r>
            <a:r>
              <a:rPr lang="en-US" dirty="0">
                <a:solidFill>
                  <a:schemeClr val="accent5">
                    <a:lumMod val="50000"/>
                  </a:schemeClr>
                </a:solidFill>
                <a:latin typeface="Menlo" panose="020B0609030804020204" pitchFamily="49" charset="0"/>
              </a:rPr>
              <a:t>string</a:t>
            </a:r>
            <a:r>
              <a:rPr lang="en-US" dirty="0">
                <a:solidFill>
                  <a:schemeClr val="tx1"/>
                </a:solidFill>
                <a:latin typeface="Menlo" panose="020B0609030804020204" pitchFamily="49" charset="0"/>
              </a:rPr>
              <a:t>, password: </a:t>
            </a:r>
            <a:r>
              <a:rPr lang="en-US" dirty="0">
                <a:solidFill>
                  <a:schemeClr val="accent5">
                    <a:lumMod val="50000"/>
                  </a:schemeClr>
                </a:solidFill>
                <a:latin typeface="Menlo" panose="020B0609030804020204" pitchFamily="49" charset="0"/>
              </a:rPr>
              <a:t>string</a:t>
            </a:r>
            <a:r>
              <a:rPr lang="en-US" dirty="0">
                <a:solidFill>
                  <a:schemeClr val="tx1"/>
                </a:solidFill>
                <a:latin typeface="Menlo" panose="020B0609030804020204" pitchFamily="49" charset="0"/>
              </a:rPr>
              <a:t> }</a:t>
            </a:r>
            <a:endParaRPr lang="en-US" b="0" dirty="0">
              <a:solidFill>
                <a:schemeClr val="tx1"/>
              </a:solidFill>
              <a:effectLst/>
              <a:latin typeface="Menlo" panose="020B0609030804020204" pitchFamily="49" charset="0"/>
            </a:endParaRPr>
          </a:p>
          <a:p>
            <a:pPr>
              <a:lnSpc>
                <a:spcPct val="110000"/>
              </a:lnSpc>
              <a:buNone/>
            </a:pPr>
            <a:endParaRPr lang="en-US" b="0" dirty="0">
              <a:solidFill>
                <a:srgbClr val="008000"/>
              </a:solidFill>
              <a:effectLst/>
              <a:latin typeface="Menlo" panose="020B0609030804020204" pitchFamily="49" charset="0"/>
            </a:endParaRPr>
          </a:p>
          <a:p>
            <a:r>
              <a:rPr lang="en-US" dirty="0">
                <a:solidFill>
                  <a:srgbClr val="002060"/>
                </a:solidFill>
                <a:latin typeface="Menlo" panose="020B0609030804020204" pitchFamily="49" charset="0"/>
                <a:ea typeface="Menlo" panose="020B0609030804020204" pitchFamily="49" charset="0"/>
                <a:cs typeface="Menlo" panose="020B0609030804020204" pitchFamily="49" charset="0"/>
              </a:rPr>
              <a:t>function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isAuth</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(x: </a:t>
            </a:r>
            <a:r>
              <a:rPr lang="en-US" dirty="0">
                <a:solidFill>
                  <a:schemeClr val="accent5">
                    <a:lumMod val="50000"/>
                  </a:schemeClr>
                </a:solidFill>
                <a:latin typeface="Menlo" panose="020B0609030804020204" pitchFamily="49" charset="0"/>
                <a:ea typeface="Menlo" panose="020B0609030804020204" pitchFamily="49" charset="0"/>
                <a:cs typeface="Menlo" panose="020B0609030804020204" pitchFamily="49" charset="0"/>
              </a:rPr>
              <a:t>unknown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 x is </a:t>
            </a:r>
            <a:r>
              <a:rPr lang="en-US" dirty="0">
                <a:solidFill>
                  <a:srgbClr val="795E26"/>
                </a:solidFill>
                <a:latin typeface="Menlo" panose="020B0609030804020204" pitchFamily="49" charset="0"/>
              </a:rPr>
              <a:t>Auth</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AF00DB"/>
                </a:solidFill>
                <a:latin typeface="Menlo" panose="020B0609030804020204" pitchFamily="49" charset="0"/>
              </a:rPr>
              <a:t>return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002060"/>
                </a:solidFill>
                <a:latin typeface="Menlo" panose="020B0609030804020204" pitchFamily="49" charset="0"/>
              </a:rPr>
              <a:t>typeof</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x === </a:t>
            </a:r>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'object'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&amp;&amp;</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x !== </a:t>
            </a:r>
            <a:r>
              <a:rPr lang="en-US" dirty="0">
                <a:solidFill>
                  <a:srgbClr val="002060"/>
                </a:solidFill>
                <a:latin typeface="Menlo" panose="020B0609030804020204" pitchFamily="49" charset="0"/>
                <a:ea typeface="Menlo" panose="020B0609030804020204" pitchFamily="49" charset="0"/>
                <a:cs typeface="Menlo" panose="020B0609030804020204" pitchFamily="49" charset="0"/>
              </a:rPr>
              <a:t>null</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&amp;&amp;</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'username'</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2060"/>
                </a:solidFill>
                <a:latin typeface="Menlo" panose="020B0609030804020204" pitchFamily="49" charset="0"/>
                <a:ea typeface="Menlo" panose="020B0609030804020204" pitchFamily="49" charset="0"/>
                <a:cs typeface="Menlo" panose="020B0609030804020204" pitchFamily="49" charset="0"/>
              </a:rPr>
              <a:t>in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x &amp;&amp; </a:t>
            </a:r>
            <a:r>
              <a:rPr lang="en-US"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x.username</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&amp;&amp;</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'password'</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2060"/>
                </a:solidFill>
                <a:latin typeface="Menlo" panose="020B0609030804020204" pitchFamily="49" charset="0"/>
                <a:ea typeface="Menlo" panose="020B0609030804020204" pitchFamily="49" charset="0"/>
                <a:cs typeface="Menlo" panose="020B0609030804020204" pitchFamily="49" charset="0"/>
              </a:rPr>
              <a:t>in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x &amp;&amp; </a:t>
            </a:r>
            <a:r>
              <a:rPr lang="en-US"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x.password</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pPr>
              <a:lnSpc>
                <a:spcPct val="110000"/>
              </a:lnSpc>
            </a:pPr>
            <a:endParaRPr lang="en-US" b="0" dirty="0">
              <a:solidFill>
                <a:srgbClr val="3B3B3B"/>
              </a:solidFill>
              <a:effectLst/>
              <a:latin typeface="Menlo" panose="020B0609030804020204" pitchFamily="49" charset="0"/>
            </a:endParaRPr>
          </a:p>
        </p:txBody>
      </p:sp>
      <p:sp>
        <p:nvSpPr>
          <p:cNvPr id="7" name="AutoShape 9">
            <a:extLst>
              <a:ext uri="{FF2B5EF4-FFF2-40B4-BE49-F238E27FC236}">
                <a16:creationId xmlns:a16="http://schemas.microsoft.com/office/drawing/2014/main" id="{F5BFD086-0EB2-8F5C-B04B-7AED98FB0008}"/>
              </a:ext>
            </a:extLst>
          </p:cNvPr>
          <p:cNvSpPr>
            <a:spLocks/>
          </p:cNvSpPr>
          <p:nvPr/>
        </p:nvSpPr>
        <p:spPr bwMode="auto">
          <a:xfrm>
            <a:off x="8038971" y="1559292"/>
            <a:ext cx="4153029"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“unknown,” NOT “any,” is the type for unauthenticated inputs</a:t>
            </a:r>
          </a:p>
        </p:txBody>
      </p:sp>
      <p:cxnSp>
        <p:nvCxnSpPr>
          <p:cNvPr id="8" name="Straight Arrow Connector 7">
            <a:extLst>
              <a:ext uri="{FF2B5EF4-FFF2-40B4-BE49-F238E27FC236}">
                <a16:creationId xmlns:a16="http://schemas.microsoft.com/office/drawing/2014/main" id="{07F4BBAE-F557-AC8B-A00D-9BBE6FFC6191}"/>
              </a:ext>
            </a:extLst>
          </p:cNvPr>
          <p:cNvCxnSpPr>
            <a:cxnSpLocks/>
            <a:stCxn id="7" idx="1"/>
          </p:cNvCxnSpPr>
          <p:nvPr/>
        </p:nvCxnSpPr>
        <p:spPr>
          <a:xfrm flipH="1">
            <a:off x="4316506" y="2201803"/>
            <a:ext cx="3722465" cy="89102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941B2547-E16A-5C73-37DD-0F0102E42566}"/>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0" name="AutoShape 9">
            <a:extLst>
              <a:ext uri="{FF2B5EF4-FFF2-40B4-BE49-F238E27FC236}">
                <a16:creationId xmlns:a16="http://schemas.microsoft.com/office/drawing/2014/main" id="{693FB59D-8720-3800-F0D4-DEA7EF36A2D9}"/>
              </a:ext>
            </a:extLst>
          </p:cNvPr>
          <p:cNvSpPr>
            <a:spLocks/>
          </p:cNvSpPr>
          <p:nvPr/>
        </p:nvSpPr>
        <p:spPr bwMode="auto">
          <a:xfrm>
            <a:off x="7801407" y="4997630"/>
            <a:ext cx="4153029" cy="17238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If a value passes this function, TypeScript will just assume it’s an Auth, </a:t>
            </a:r>
            <a:r>
              <a:rPr lang="en-US" altLang="en-US" sz="2400" i="1"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even if you write the function wrong</a:t>
            </a:r>
          </a:p>
        </p:txBody>
      </p:sp>
      <p:cxnSp>
        <p:nvCxnSpPr>
          <p:cNvPr id="11" name="Straight Arrow Connector 10">
            <a:extLst>
              <a:ext uri="{FF2B5EF4-FFF2-40B4-BE49-F238E27FC236}">
                <a16:creationId xmlns:a16="http://schemas.microsoft.com/office/drawing/2014/main" id="{8C359A16-AB04-7109-2237-F503D619C01E}"/>
              </a:ext>
            </a:extLst>
          </p:cNvPr>
          <p:cNvCxnSpPr>
            <a:cxnSpLocks/>
          </p:cNvCxnSpPr>
          <p:nvPr/>
        </p:nvCxnSpPr>
        <p:spPr>
          <a:xfrm flipH="1" flipV="1">
            <a:off x="5862918" y="3497135"/>
            <a:ext cx="2057400" cy="163964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1886E25C-9752-AE05-188E-109B6D435914}"/>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971840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Title 1"/>
          <p:cNvSpPr txBox="1">
            <a:spLocks noGrp="1"/>
          </p:cNvSpPr>
          <p:nvPr>
            <p:ph type="title"/>
          </p:nvPr>
        </p:nvSpPr>
        <p:spPr>
          <a:prstGeom prst="rect">
            <a:avLst/>
          </a:prstGeom>
        </p:spPr>
        <p:txBody>
          <a:bodyPr/>
          <a:lstStyle/>
          <a:p>
            <a:r>
              <a:rPr lang="en-US" dirty="0"/>
              <a:t>Why do we test?</a:t>
            </a:r>
            <a:endParaRPr dirty="0"/>
          </a:p>
        </p:txBody>
      </p:sp>
      <p:sp>
        <p:nvSpPr>
          <p:cNvPr id="322" name="Content Placeholder 5"/>
          <p:cNvSpPr txBox="1">
            <a:spLocks noGrp="1"/>
          </p:cNvSpPr>
          <p:nvPr>
            <p:ph idx="1"/>
          </p:nvPr>
        </p:nvSpPr>
        <p:spPr>
          <a:xfrm>
            <a:off x="838199" y="1500160"/>
            <a:ext cx="8574741" cy="4351338"/>
          </a:xfrm>
          <a:prstGeom prst="rect">
            <a:avLst/>
          </a:prstGeom>
        </p:spPr>
        <p:txBody>
          <a:bodyPr>
            <a:normAutofit fontScale="55000" lnSpcReduction="20000"/>
          </a:bodyPr>
          <a:lstStyle/>
          <a:p>
            <a:pPr marL="214884" indent="-214884" defTabSz="859536">
              <a:spcBef>
                <a:spcPts val="900"/>
              </a:spcBef>
              <a:defRPr sz="5264"/>
            </a:pPr>
            <a:r>
              <a:rPr dirty="0"/>
              <a:t>Test Driven Development</a:t>
            </a:r>
          </a:p>
          <a:p>
            <a:pPr marL="429768" lvl="1" indent="-214884" defTabSz="859536">
              <a:spcBef>
                <a:spcPts val="450"/>
              </a:spcBef>
              <a:defRPr sz="4512"/>
            </a:pPr>
            <a:r>
              <a:rPr lang="en-US" dirty="0"/>
              <a:t>If we start with tests, passing the tests lets us know we’re done meeting the conditions of satisfaction</a:t>
            </a:r>
          </a:p>
          <a:p>
            <a:pPr marL="214884" indent="-214884" defTabSz="859536">
              <a:spcBef>
                <a:spcPts val="900"/>
              </a:spcBef>
              <a:defRPr sz="5264"/>
            </a:pPr>
            <a:r>
              <a:rPr lang="en-US" dirty="0"/>
              <a:t>Acceptance Testing</a:t>
            </a:r>
          </a:p>
          <a:p>
            <a:pPr marL="429768" lvl="1" indent="-214884" defTabSz="859536">
              <a:spcBef>
                <a:spcPts val="450"/>
              </a:spcBef>
              <a:defRPr sz="4512"/>
            </a:pPr>
            <a:r>
              <a:rPr lang="en-US" dirty="0"/>
              <a:t>Does the customer agree we’ve met the conditions of satisfaction?</a:t>
            </a:r>
            <a:endParaRPr dirty="0"/>
          </a:p>
          <a:p>
            <a:pPr marL="214884" indent="-214884" defTabSz="859536">
              <a:spcBef>
                <a:spcPts val="900"/>
              </a:spcBef>
              <a:defRPr sz="5264"/>
            </a:pPr>
            <a:r>
              <a:rPr dirty="0"/>
              <a:t>Regression Test</a:t>
            </a:r>
            <a:r>
              <a:rPr lang="en-US" dirty="0"/>
              <a:t>ing</a:t>
            </a:r>
            <a:endParaRPr dirty="0"/>
          </a:p>
          <a:p>
            <a:pPr marL="429768" lvl="1" indent="-214884" defTabSz="859536">
              <a:spcBef>
                <a:spcPts val="450"/>
              </a:spcBef>
              <a:defRPr sz="4512"/>
            </a:pPr>
            <a:r>
              <a:rPr dirty="0"/>
              <a:t>Did something change since some previous version? </a:t>
            </a:r>
          </a:p>
          <a:p>
            <a:pPr marL="429768" lvl="1" indent="-214884" defTabSz="859536">
              <a:spcBef>
                <a:spcPts val="450"/>
              </a:spcBef>
              <a:defRPr sz="4512"/>
            </a:pPr>
            <a:r>
              <a:rPr dirty="0"/>
              <a:t>Prevent bugs from (re-)entering during maintenance.</a:t>
            </a:r>
          </a:p>
          <a:p>
            <a:pPr marL="429768" lvl="1" indent="-214884" defTabSz="859536">
              <a:spcBef>
                <a:spcPts val="450"/>
              </a:spcBef>
              <a:defRPr sz="4512"/>
            </a:pPr>
            <a:r>
              <a:rPr dirty="0"/>
              <a:t>“Good” test suite detects bugs that </a:t>
            </a:r>
            <a:r>
              <a:rPr lang="en-US" dirty="0"/>
              <a:t>(inevitably) get added as software is developed over time: tests are for </a:t>
            </a:r>
            <a:r>
              <a:rPr lang="en-US" i="1" dirty="0"/>
              <a:t>the future</a:t>
            </a:r>
            <a:endParaRPr lang="en-US" dirty="0"/>
          </a:p>
        </p:txBody>
      </p:sp>
      <p:sp>
        <p:nvSpPr>
          <p:cNvPr id="323" name="Slide Number Placeholder 4"/>
          <p:cNvSpPr txBox="1">
            <a:spLocks noGrp="1"/>
          </p:cNvSpPr>
          <p:nvPr>
            <p:ph type="sldNum" sz="quarter" idx="4294967295"/>
          </p:nvPr>
        </p:nvSpPr>
        <p:spPr>
          <a:xfrm>
            <a:off x="11687175" y="12836525"/>
            <a:ext cx="504825" cy="482600"/>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20</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 name="Title 1"/>
          <p:cNvSpPr txBox="1">
            <a:spLocks noGrp="1"/>
          </p:cNvSpPr>
          <p:nvPr>
            <p:ph type="title"/>
          </p:nvPr>
        </p:nvSpPr>
        <p:spPr>
          <a:xfrm>
            <a:off x="838200" y="18255"/>
            <a:ext cx="10515600" cy="1325563"/>
          </a:xfrm>
          <a:prstGeom prst="rect">
            <a:avLst/>
          </a:prstGeom>
        </p:spPr>
        <p:txBody>
          <a:bodyPr/>
          <a:lstStyle/>
          <a:p>
            <a:r>
              <a:rPr dirty="0"/>
              <a:t>What makes for a good test (suite)?</a:t>
            </a:r>
          </a:p>
        </p:txBody>
      </p:sp>
      <p:sp>
        <p:nvSpPr>
          <p:cNvPr id="275" name="Content Placeholder 2"/>
          <p:cNvSpPr txBox="1">
            <a:spLocks noGrp="1"/>
          </p:cNvSpPr>
          <p:nvPr>
            <p:ph type="body" idx="1"/>
          </p:nvPr>
        </p:nvSpPr>
        <p:spPr>
          <a:xfrm>
            <a:off x="838200" y="1547052"/>
            <a:ext cx="7887345" cy="4351338"/>
          </a:xfrm>
          <a:prstGeom prst="rect">
            <a:avLst/>
          </a:prstGeom>
        </p:spPr>
        <p:txBody>
          <a:bodyPr/>
          <a:lstStyle/>
          <a:p>
            <a:r>
              <a:rPr dirty="0"/>
              <a:t>Desirable properties of test suites:</a:t>
            </a:r>
          </a:p>
          <a:p>
            <a:pPr marL="457200" lvl="1"/>
            <a:r>
              <a:rPr dirty="0"/>
              <a:t>Find bugs</a:t>
            </a:r>
          </a:p>
          <a:p>
            <a:pPr marL="457200" lvl="1"/>
            <a:r>
              <a:rPr dirty="0"/>
              <a:t>Run automatically</a:t>
            </a:r>
          </a:p>
          <a:p>
            <a:pPr marL="457200" lvl="1"/>
            <a:r>
              <a:rPr dirty="0"/>
              <a:t>Are relatively cheap to run</a:t>
            </a:r>
            <a:endParaRPr lang="en-US" dirty="0"/>
          </a:p>
          <a:p>
            <a:pPr marL="457200" lvl="1"/>
            <a:r>
              <a:rPr lang="en-US" dirty="0"/>
              <a:t>Don't depend on the order of tests.</a:t>
            </a:r>
            <a:endParaRPr dirty="0"/>
          </a:p>
          <a:p>
            <a:r>
              <a:rPr dirty="0"/>
              <a:t>Desirable properties of individual tests:</a:t>
            </a:r>
          </a:p>
          <a:p>
            <a:pPr marL="457200" lvl="1"/>
            <a:r>
              <a:rPr dirty="0"/>
              <a:t>Understandable and </a:t>
            </a:r>
            <a:r>
              <a:rPr dirty="0" err="1"/>
              <a:t>debuggable</a:t>
            </a:r>
            <a:endParaRPr dirty="0"/>
          </a:p>
          <a:p>
            <a:pPr marL="457200" lvl="1"/>
            <a:r>
              <a:rPr dirty="0"/>
              <a:t>No false alarms (not “flaky”)</a:t>
            </a:r>
          </a:p>
        </p:txBody>
      </p:sp>
      <p:sp>
        <p:nvSpPr>
          <p:cNvPr id="276" name="Slide Number Placeholder 3"/>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21</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139C2-5471-E61B-A6FD-8D2422B39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17E5B9-5FCF-FEA0-EF85-C7492DA19659}"/>
              </a:ext>
            </a:extLst>
          </p:cNvPr>
          <p:cNvSpPr>
            <a:spLocks noGrp="1"/>
          </p:cNvSpPr>
          <p:nvPr>
            <p:ph type="title"/>
          </p:nvPr>
        </p:nvSpPr>
        <p:spPr>
          <a:xfrm>
            <a:off x="838200" y="18255"/>
            <a:ext cx="10515600" cy="1325563"/>
          </a:xfrm>
        </p:spPr>
        <p:txBody>
          <a:bodyPr/>
          <a:lstStyle/>
          <a:p>
            <a:r>
              <a:rPr lang="en-US"/>
              <a:t>Code Coverage</a:t>
            </a:r>
          </a:p>
        </p:txBody>
      </p:sp>
      <p:sp>
        <p:nvSpPr>
          <p:cNvPr id="4" name="Slide Number Placeholder 3">
            <a:extLst>
              <a:ext uri="{FF2B5EF4-FFF2-40B4-BE49-F238E27FC236}">
                <a16:creationId xmlns:a16="http://schemas.microsoft.com/office/drawing/2014/main" id="{0A29A8B9-A610-C4FD-2926-B7BD4F00E29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22</a:t>
            </a:fld>
            <a:endParaRPr lang="en-US"/>
          </a:p>
        </p:txBody>
      </p:sp>
      <p:sp>
        <p:nvSpPr>
          <p:cNvPr id="10" name="Content Placeholder 9">
            <a:extLst>
              <a:ext uri="{FF2B5EF4-FFF2-40B4-BE49-F238E27FC236}">
                <a16:creationId xmlns:a16="http://schemas.microsoft.com/office/drawing/2014/main" id="{5BA32395-303A-EA3B-B383-3B063412234B}"/>
              </a:ext>
            </a:extLst>
          </p:cNvPr>
          <p:cNvSpPr>
            <a:spLocks noGrp="1"/>
          </p:cNvSpPr>
          <p:nvPr>
            <p:ph idx="1"/>
          </p:nvPr>
        </p:nvSpPr>
        <p:spPr>
          <a:xfrm>
            <a:off x="838200" y="1500159"/>
            <a:ext cx="7887346" cy="5221316"/>
          </a:xfrm>
        </p:spPr>
        <p:txBody>
          <a:bodyPr>
            <a:normAutofit/>
          </a:bodyPr>
          <a:lstStyle/>
          <a:p>
            <a:r>
              <a:rPr lang="en-US"/>
              <a:t>The industry standard answer for “have I written enough tests”</a:t>
            </a:r>
          </a:p>
          <a:p>
            <a:r>
              <a:rPr lang="en-US"/>
              <a:t>Measures “how much of your code” is exercised by your tests</a:t>
            </a:r>
          </a:p>
          <a:p>
            <a:r>
              <a:rPr lang="en-US"/>
              <a:t>If none of your test even </a:t>
            </a:r>
            <a:r>
              <a:rPr lang="en-US" i="1"/>
              <a:t>execute</a:t>
            </a:r>
            <a:r>
              <a:rPr lang="en-US"/>
              <a:t> a piece of code, it’s definitely not being tested!</a:t>
            </a:r>
          </a:p>
          <a:p>
            <a:endParaRPr lang="en-US"/>
          </a:p>
        </p:txBody>
      </p:sp>
    </p:spTree>
    <p:extLst>
      <p:ext uri="{BB962C8B-B14F-4D97-AF65-F5344CB8AC3E}">
        <p14:creationId xmlns:p14="http://schemas.microsoft.com/office/powerpoint/2010/main" val="15633415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68DFF-D7BB-13BF-CA3C-2866BE9B07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BF8E00-1CE9-8EE5-3CBB-E4301F131DD0}"/>
              </a:ext>
            </a:extLst>
          </p:cNvPr>
          <p:cNvSpPr>
            <a:spLocks noGrp="1"/>
          </p:cNvSpPr>
          <p:nvPr>
            <p:ph type="title"/>
          </p:nvPr>
        </p:nvSpPr>
        <p:spPr>
          <a:xfrm>
            <a:off x="838200" y="18255"/>
            <a:ext cx="10515600" cy="1325563"/>
          </a:xfrm>
        </p:spPr>
        <p:txBody>
          <a:bodyPr/>
          <a:lstStyle/>
          <a:p>
            <a:r>
              <a:rPr lang="en-US"/>
              <a:t>Code Coverage</a:t>
            </a:r>
          </a:p>
        </p:txBody>
      </p:sp>
      <p:sp>
        <p:nvSpPr>
          <p:cNvPr id="4" name="Slide Number Placeholder 3">
            <a:extLst>
              <a:ext uri="{FF2B5EF4-FFF2-40B4-BE49-F238E27FC236}">
                <a16:creationId xmlns:a16="http://schemas.microsoft.com/office/drawing/2014/main" id="{197B8237-DA67-CC8A-F2A8-DEF0DA641FA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23</a:t>
            </a:fld>
            <a:endParaRPr lang="en-US"/>
          </a:p>
        </p:txBody>
      </p:sp>
      <p:sp>
        <p:nvSpPr>
          <p:cNvPr id="10" name="Content Placeholder 9">
            <a:extLst>
              <a:ext uri="{FF2B5EF4-FFF2-40B4-BE49-F238E27FC236}">
                <a16:creationId xmlns:a16="http://schemas.microsoft.com/office/drawing/2014/main" id="{EF657526-5CD9-6D31-F247-63D6442BDF12}"/>
              </a:ext>
            </a:extLst>
          </p:cNvPr>
          <p:cNvSpPr>
            <a:spLocks noGrp="1"/>
          </p:cNvSpPr>
          <p:nvPr>
            <p:ph idx="1"/>
          </p:nvPr>
        </p:nvSpPr>
        <p:spPr>
          <a:xfrm>
            <a:off x="838200" y="1500159"/>
            <a:ext cx="4882662" cy="5221316"/>
          </a:xfrm>
        </p:spPr>
        <p:txBody>
          <a:bodyPr>
            <a:normAutofit/>
          </a:bodyPr>
          <a:lstStyle/>
          <a:p>
            <a:r>
              <a:rPr lang="en-US" i="1"/>
              <a:t>Line </a:t>
            </a:r>
            <a:r>
              <a:rPr lang="en-US"/>
              <a:t>and </a:t>
            </a:r>
            <a:r>
              <a:rPr lang="en-US" i="1"/>
              <a:t>Statement </a:t>
            </a:r>
            <a:r>
              <a:rPr lang="en-US"/>
              <a:t>coverage: coarsest measure.</a:t>
            </a:r>
          </a:p>
          <a:p>
            <a:r>
              <a:rPr lang="en-US"/>
              <a:t>Testing x = 0 exercises lines 1 and 2</a:t>
            </a:r>
          </a:p>
          <a:p>
            <a:r>
              <a:rPr lang="en-US"/>
              <a:t>Testing x = 10 exercises lines 1, 4, 5, and 6.</a:t>
            </a:r>
          </a:p>
          <a:p>
            <a:pPr marL="0" indent="0">
              <a:buNone/>
            </a:pPr>
            <a:endParaRPr lang="en-US"/>
          </a:p>
        </p:txBody>
      </p:sp>
      <p:sp>
        <p:nvSpPr>
          <p:cNvPr id="3" name="TextBox 2">
            <a:extLst>
              <a:ext uri="{FF2B5EF4-FFF2-40B4-BE49-F238E27FC236}">
                <a16:creationId xmlns:a16="http://schemas.microsoft.com/office/drawing/2014/main" id="{DAED0082-17B9-FF5F-8F05-BB126115B63F}"/>
              </a:ext>
            </a:extLst>
          </p:cNvPr>
          <p:cNvSpPr txBox="1"/>
          <p:nvPr/>
        </p:nvSpPr>
        <p:spPr>
          <a:xfrm>
            <a:off x="6283569" y="2501474"/>
            <a:ext cx="5814645" cy="21013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b="0">
                <a:solidFill>
                  <a:schemeClr val="bg2">
                    <a:lumMod val="90000"/>
                  </a:schemeClr>
                </a:solidFill>
                <a:effectLst/>
                <a:latin typeface="Menlo" panose="020B0609030804020204" pitchFamily="49" charset="0"/>
              </a:rPr>
              <a:t>1| </a:t>
            </a:r>
            <a:r>
              <a:rPr lang="en-US" sz="2000" b="0">
                <a:solidFill>
                  <a:srgbClr val="AF00DB"/>
                </a:solidFill>
                <a:effectLst/>
                <a:latin typeface="Menlo" panose="020B0609030804020204" pitchFamily="49" charset="0"/>
              </a:rPr>
              <a:t>if</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0</a:t>
            </a:r>
            <a:r>
              <a:rPr lang="en-US" sz="2000" b="0">
                <a:solidFill>
                  <a:srgbClr val="3B3B3B"/>
                </a:solidFill>
                <a:effectLst/>
                <a:latin typeface="Menlo" panose="020B0609030804020204" pitchFamily="49" charset="0"/>
              </a:rPr>
              <a:t>) {</a:t>
            </a:r>
          </a:p>
          <a:p>
            <a:pPr>
              <a:lnSpc>
                <a:spcPct val="110000"/>
              </a:lnSpc>
              <a:buNone/>
            </a:pPr>
            <a:r>
              <a:rPr lang="en-US" sz="2000">
                <a:solidFill>
                  <a:schemeClr val="bg2">
                    <a:lumMod val="90000"/>
                  </a:schemeClr>
                </a:solidFill>
                <a:latin typeface="Menlo" panose="020B0609030804020204" pitchFamily="49" charset="0"/>
              </a:rPr>
              <a:t>2</a:t>
            </a:r>
            <a:r>
              <a:rPr lang="en-US" sz="2000" b="0">
                <a:solidFill>
                  <a:schemeClr val="bg2">
                    <a:lumMod val="90000"/>
                  </a:schemeClr>
                </a:solidFill>
                <a:effectLst/>
                <a:latin typeface="Menlo" panose="020B0609030804020204" pitchFamily="49" charset="0"/>
              </a:rPr>
              <a:t>|</a:t>
            </a:r>
            <a:r>
              <a:rPr lang="en-US" sz="2000" b="0">
                <a:solidFill>
                  <a:srgbClr val="AF00DB"/>
                </a:solidFill>
                <a:effectLst/>
                <a:latin typeface="Menlo" panose="020B0609030804020204" pitchFamily="49" charset="0"/>
              </a:rPr>
              <a:t>  return</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3</a:t>
            </a:r>
            <a:r>
              <a:rPr lang="en-US" sz="2000" b="0">
                <a:solidFill>
                  <a:srgbClr val="3B3B3B"/>
                </a:solidFill>
                <a:effectLst/>
                <a:latin typeface="Menlo" panose="020B0609030804020204" pitchFamily="49" charset="0"/>
              </a:rPr>
              <a:t>;</a:t>
            </a:r>
          </a:p>
          <a:p>
            <a:pPr>
              <a:lnSpc>
                <a:spcPct val="110000"/>
              </a:lnSpc>
              <a:buNone/>
            </a:pPr>
            <a:r>
              <a:rPr lang="en-US" sz="2000">
                <a:solidFill>
                  <a:schemeClr val="bg2">
                    <a:lumMod val="90000"/>
                  </a:schemeClr>
                </a:solidFill>
                <a:latin typeface="Menlo" panose="020B0609030804020204" pitchFamily="49" charset="0"/>
              </a:rPr>
              <a:t>3</a:t>
            </a:r>
            <a:r>
              <a:rPr lang="en-US" sz="2000" b="0">
                <a:solidFill>
                  <a:schemeClr val="bg2">
                    <a:lumMod val="90000"/>
                  </a:schemeClr>
                </a:solidFill>
                <a:effectLst/>
                <a:latin typeface="Menlo" panose="020B0609030804020204" pitchFamily="49" charset="0"/>
              </a:rPr>
              <a:t>| </a:t>
            </a:r>
            <a:r>
              <a:rPr lang="en-US" sz="2000" b="0">
                <a:solidFill>
                  <a:srgbClr val="3B3B3B"/>
                </a:solidFill>
                <a:effectLst/>
                <a:latin typeface="Menlo" panose="020B0609030804020204" pitchFamily="49" charset="0"/>
              </a:rPr>
              <a:t>}</a:t>
            </a:r>
          </a:p>
          <a:p>
            <a:pPr>
              <a:lnSpc>
                <a:spcPct val="110000"/>
              </a:lnSpc>
              <a:buNone/>
            </a:pPr>
            <a:r>
              <a:rPr lang="en-US" sz="2000">
                <a:solidFill>
                  <a:schemeClr val="bg2">
                    <a:lumMod val="90000"/>
                  </a:schemeClr>
                </a:solidFill>
                <a:latin typeface="Menlo" panose="020B0609030804020204" pitchFamily="49" charset="0"/>
              </a:rPr>
              <a:t>4</a:t>
            </a:r>
            <a:r>
              <a:rPr lang="en-US" sz="2000" b="0">
                <a:solidFill>
                  <a:schemeClr val="bg2">
                    <a:lumMod val="90000"/>
                  </a:schemeClr>
                </a:solidFill>
                <a:effectLst/>
                <a:latin typeface="Menlo" panose="020B0609030804020204" pitchFamily="49" charset="0"/>
              </a:rPr>
              <a:t>| </a:t>
            </a:r>
            <a:r>
              <a:rPr lang="en-US" sz="2000" b="0">
                <a:solidFill>
                  <a:srgbClr val="0000FF"/>
                </a:solidFill>
                <a:effectLst/>
                <a:latin typeface="Menlo" panose="020B0609030804020204" pitchFamily="49" charset="0"/>
              </a:rPr>
              <a:t>const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y</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&gt;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4</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2</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3</a:t>
            </a:r>
            <a:r>
              <a:rPr lang="en-US" sz="2000" b="0">
                <a:solidFill>
                  <a:srgbClr val="3B3B3B"/>
                </a:solidFill>
                <a:effectLst/>
                <a:latin typeface="Menlo" panose="020B0609030804020204" pitchFamily="49" charset="0"/>
              </a:rPr>
              <a:t>;</a:t>
            </a:r>
          </a:p>
          <a:p>
            <a:pPr>
              <a:lnSpc>
                <a:spcPct val="110000"/>
              </a:lnSpc>
              <a:buNone/>
            </a:pPr>
            <a:r>
              <a:rPr lang="en-US" sz="2000">
                <a:solidFill>
                  <a:schemeClr val="bg2">
                    <a:lumMod val="90000"/>
                  </a:schemeClr>
                </a:solidFill>
                <a:latin typeface="Menlo" panose="020B0609030804020204" pitchFamily="49" charset="0"/>
              </a:rPr>
              <a:t>5</a:t>
            </a:r>
            <a:r>
              <a:rPr lang="en-US" sz="2000" b="0">
                <a:solidFill>
                  <a:schemeClr val="bg2">
                    <a:lumMod val="90000"/>
                  </a:schemeClr>
                </a:solidFill>
                <a:effectLst/>
                <a:latin typeface="Menlo" panose="020B0609030804020204" pitchFamily="49" charset="0"/>
              </a:rPr>
              <a:t>| </a:t>
            </a:r>
            <a:r>
              <a:rPr lang="en-US" sz="2000" b="0">
                <a:solidFill>
                  <a:srgbClr val="0000FF"/>
                </a:solidFill>
                <a:effectLst/>
                <a:latin typeface="Menlo" panose="020B0609030804020204" pitchFamily="49" charset="0"/>
              </a:rPr>
              <a:t>const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z</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2</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0</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a:solidFill>
                  <a:srgbClr val="098658"/>
                </a:solidFill>
                <a:latin typeface="Menlo" panose="020B0609030804020204" pitchFamily="49" charset="0"/>
              </a:rPr>
              <a:t>1</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a:solidFill>
                  <a:srgbClr val="098658"/>
                </a:solidFill>
                <a:latin typeface="Menlo" panose="020B0609030804020204" pitchFamily="49" charset="0"/>
              </a:rPr>
              <a:t>2</a:t>
            </a:r>
            <a:r>
              <a:rPr lang="en-US" sz="2000" b="0">
                <a:solidFill>
                  <a:srgbClr val="3B3B3B"/>
                </a:solidFill>
                <a:effectLst/>
                <a:latin typeface="Menlo" panose="020B0609030804020204" pitchFamily="49" charset="0"/>
              </a:rPr>
              <a:t>;</a:t>
            </a:r>
          </a:p>
          <a:p>
            <a:pPr>
              <a:lnSpc>
                <a:spcPct val="110000"/>
              </a:lnSpc>
            </a:pPr>
            <a:r>
              <a:rPr lang="en-US" sz="2000">
                <a:solidFill>
                  <a:schemeClr val="bg2">
                    <a:lumMod val="90000"/>
                  </a:schemeClr>
                </a:solidFill>
                <a:latin typeface="Menlo" panose="020B0609030804020204" pitchFamily="49" charset="0"/>
              </a:rPr>
              <a:t>6</a:t>
            </a:r>
            <a:r>
              <a:rPr lang="en-US" sz="2000" b="0">
                <a:solidFill>
                  <a:schemeClr val="bg2">
                    <a:lumMod val="90000"/>
                  </a:schemeClr>
                </a:solidFill>
                <a:effectLst/>
                <a:latin typeface="Menlo" panose="020B0609030804020204" pitchFamily="49" charset="0"/>
              </a:rPr>
              <a:t>| </a:t>
            </a:r>
            <a:r>
              <a:rPr lang="en-US" sz="2000" b="0">
                <a:solidFill>
                  <a:srgbClr val="AF00DB"/>
                </a:solidFill>
                <a:effectLst/>
                <a:latin typeface="Menlo" panose="020B0609030804020204" pitchFamily="49" charset="0"/>
              </a:rPr>
              <a:t>return</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y</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z</a:t>
            </a:r>
            <a:r>
              <a:rPr lang="en-US" sz="2000" b="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42371734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C54B7-BFC5-9945-2D28-D359F42F70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64B2C3-5073-2087-CA96-FBB0691CB932}"/>
              </a:ext>
            </a:extLst>
          </p:cNvPr>
          <p:cNvSpPr>
            <a:spLocks noGrp="1"/>
          </p:cNvSpPr>
          <p:nvPr>
            <p:ph type="title"/>
          </p:nvPr>
        </p:nvSpPr>
        <p:spPr>
          <a:xfrm>
            <a:off x="838200" y="18255"/>
            <a:ext cx="10515600" cy="1325563"/>
          </a:xfrm>
        </p:spPr>
        <p:txBody>
          <a:bodyPr/>
          <a:lstStyle/>
          <a:p>
            <a:r>
              <a:rPr lang="en-US"/>
              <a:t>Code Coverage</a:t>
            </a:r>
          </a:p>
        </p:txBody>
      </p:sp>
      <p:sp>
        <p:nvSpPr>
          <p:cNvPr id="4" name="Slide Number Placeholder 3">
            <a:extLst>
              <a:ext uri="{FF2B5EF4-FFF2-40B4-BE49-F238E27FC236}">
                <a16:creationId xmlns:a16="http://schemas.microsoft.com/office/drawing/2014/main" id="{5C3A877A-33BE-B69F-DBBE-68746C5C65A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24</a:t>
            </a:fld>
            <a:endParaRPr lang="en-US"/>
          </a:p>
        </p:txBody>
      </p:sp>
      <p:sp>
        <p:nvSpPr>
          <p:cNvPr id="10" name="Content Placeholder 9">
            <a:extLst>
              <a:ext uri="{FF2B5EF4-FFF2-40B4-BE49-F238E27FC236}">
                <a16:creationId xmlns:a16="http://schemas.microsoft.com/office/drawing/2014/main" id="{7B0DA18A-C669-7174-EDB0-48C854EF5236}"/>
              </a:ext>
            </a:extLst>
          </p:cNvPr>
          <p:cNvSpPr>
            <a:spLocks noGrp="1"/>
          </p:cNvSpPr>
          <p:nvPr>
            <p:ph idx="1"/>
          </p:nvPr>
        </p:nvSpPr>
        <p:spPr>
          <a:xfrm>
            <a:off x="838200" y="1500159"/>
            <a:ext cx="4882662" cy="5221316"/>
          </a:xfrm>
        </p:spPr>
        <p:txBody>
          <a:bodyPr>
            <a:normAutofit/>
          </a:bodyPr>
          <a:lstStyle/>
          <a:p>
            <a:r>
              <a:rPr lang="en-US" i="1"/>
              <a:t>Branch </a:t>
            </a:r>
            <a:r>
              <a:rPr lang="en-US"/>
              <a:t>coverage: most widely used in industry.</a:t>
            </a:r>
          </a:p>
          <a:p>
            <a:r>
              <a:rPr lang="en-US"/>
              <a:t>Testing with x &gt; 4 and x &lt;= 4 necessary to handle both branches on line 4.</a:t>
            </a:r>
          </a:p>
          <a:p>
            <a:r>
              <a:rPr lang="en-US"/>
              <a:t>Testing with odd and even numbers necessary to handle both branches on line 5.</a:t>
            </a:r>
          </a:p>
          <a:p>
            <a:r>
              <a:rPr lang="en-US"/>
              <a:t>The values -2, 0, 1, and 10 get full branch coverage.</a:t>
            </a:r>
          </a:p>
          <a:p>
            <a:pPr marL="0" indent="0">
              <a:buNone/>
            </a:pPr>
            <a:endParaRPr lang="en-US"/>
          </a:p>
        </p:txBody>
      </p:sp>
      <p:sp>
        <p:nvSpPr>
          <p:cNvPr id="3" name="TextBox 2">
            <a:extLst>
              <a:ext uri="{FF2B5EF4-FFF2-40B4-BE49-F238E27FC236}">
                <a16:creationId xmlns:a16="http://schemas.microsoft.com/office/drawing/2014/main" id="{C9FC927A-64D8-5231-F584-534E6971C572}"/>
              </a:ext>
            </a:extLst>
          </p:cNvPr>
          <p:cNvSpPr txBox="1"/>
          <p:nvPr/>
        </p:nvSpPr>
        <p:spPr>
          <a:xfrm>
            <a:off x="6283569" y="2501474"/>
            <a:ext cx="5814645" cy="21013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b="0">
                <a:solidFill>
                  <a:schemeClr val="bg2">
                    <a:lumMod val="90000"/>
                  </a:schemeClr>
                </a:solidFill>
                <a:effectLst/>
                <a:latin typeface="Menlo" panose="020B0609030804020204" pitchFamily="49" charset="0"/>
              </a:rPr>
              <a:t>1| </a:t>
            </a:r>
            <a:r>
              <a:rPr lang="en-US" sz="2000" b="0">
                <a:solidFill>
                  <a:srgbClr val="AF00DB"/>
                </a:solidFill>
                <a:effectLst/>
                <a:latin typeface="Menlo" panose="020B0609030804020204" pitchFamily="49" charset="0"/>
              </a:rPr>
              <a:t>if</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0</a:t>
            </a:r>
            <a:r>
              <a:rPr lang="en-US" sz="2000" b="0">
                <a:solidFill>
                  <a:srgbClr val="3B3B3B"/>
                </a:solidFill>
                <a:effectLst/>
                <a:latin typeface="Menlo" panose="020B0609030804020204" pitchFamily="49" charset="0"/>
              </a:rPr>
              <a:t>) {</a:t>
            </a:r>
          </a:p>
          <a:p>
            <a:pPr>
              <a:lnSpc>
                <a:spcPct val="110000"/>
              </a:lnSpc>
              <a:buNone/>
            </a:pPr>
            <a:r>
              <a:rPr lang="en-US" sz="2000">
                <a:solidFill>
                  <a:schemeClr val="bg2">
                    <a:lumMod val="90000"/>
                  </a:schemeClr>
                </a:solidFill>
                <a:latin typeface="Menlo" panose="020B0609030804020204" pitchFamily="49" charset="0"/>
              </a:rPr>
              <a:t>2</a:t>
            </a:r>
            <a:r>
              <a:rPr lang="en-US" sz="2000" b="0">
                <a:solidFill>
                  <a:schemeClr val="bg2">
                    <a:lumMod val="90000"/>
                  </a:schemeClr>
                </a:solidFill>
                <a:effectLst/>
                <a:latin typeface="Menlo" panose="020B0609030804020204" pitchFamily="49" charset="0"/>
              </a:rPr>
              <a:t>|</a:t>
            </a:r>
            <a:r>
              <a:rPr lang="en-US" sz="2000" b="0">
                <a:solidFill>
                  <a:srgbClr val="AF00DB"/>
                </a:solidFill>
                <a:effectLst/>
                <a:latin typeface="Menlo" panose="020B0609030804020204" pitchFamily="49" charset="0"/>
              </a:rPr>
              <a:t>  return</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3</a:t>
            </a:r>
            <a:r>
              <a:rPr lang="en-US" sz="2000" b="0">
                <a:solidFill>
                  <a:srgbClr val="3B3B3B"/>
                </a:solidFill>
                <a:effectLst/>
                <a:latin typeface="Menlo" panose="020B0609030804020204" pitchFamily="49" charset="0"/>
              </a:rPr>
              <a:t>;</a:t>
            </a:r>
          </a:p>
          <a:p>
            <a:pPr>
              <a:lnSpc>
                <a:spcPct val="110000"/>
              </a:lnSpc>
              <a:buNone/>
            </a:pPr>
            <a:r>
              <a:rPr lang="en-US" sz="2000">
                <a:solidFill>
                  <a:schemeClr val="bg2">
                    <a:lumMod val="90000"/>
                  </a:schemeClr>
                </a:solidFill>
                <a:latin typeface="Menlo" panose="020B0609030804020204" pitchFamily="49" charset="0"/>
              </a:rPr>
              <a:t>3</a:t>
            </a:r>
            <a:r>
              <a:rPr lang="en-US" sz="2000" b="0">
                <a:solidFill>
                  <a:schemeClr val="bg2">
                    <a:lumMod val="90000"/>
                  </a:schemeClr>
                </a:solidFill>
                <a:effectLst/>
                <a:latin typeface="Menlo" panose="020B0609030804020204" pitchFamily="49" charset="0"/>
              </a:rPr>
              <a:t>| </a:t>
            </a:r>
            <a:r>
              <a:rPr lang="en-US" sz="2000" b="0">
                <a:solidFill>
                  <a:srgbClr val="3B3B3B"/>
                </a:solidFill>
                <a:effectLst/>
                <a:latin typeface="Menlo" panose="020B0609030804020204" pitchFamily="49" charset="0"/>
              </a:rPr>
              <a:t>}</a:t>
            </a:r>
          </a:p>
          <a:p>
            <a:pPr>
              <a:lnSpc>
                <a:spcPct val="110000"/>
              </a:lnSpc>
              <a:buNone/>
            </a:pPr>
            <a:r>
              <a:rPr lang="en-US" sz="2000">
                <a:solidFill>
                  <a:schemeClr val="bg2">
                    <a:lumMod val="90000"/>
                  </a:schemeClr>
                </a:solidFill>
                <a:latin typeface="Menlo" panose="020B0609030804020204" pitchFamily="49" charset="0"/>
              </a:rPr>
              <a:t>4</a:t>
            </a:r>
            <a:r>
              <a:rPr lang="en-US" sz="2000" b="0">
                <a:solidFill>
                  <a:schemeClr val="bg2">
                    <a:lumMod val="90000"/>
                  </a:schemeClr>
                </a:solidFill>
                <a:effectLst/>
                <a:latin typeface="Menlo" panose="020B0609030804020204" pitchFamily="49" charset="0"/>
              </a:rPr>
              <a:t>| </a:t>
            </a:r>
            <a:r>
              <a:rPr lang="en-US" sz="2000" b="0">
                <a:solidFill>
                  <a:srgbClr val="0000FF"/>
                </a:solidFill>
                <a:effectLst/>
                <a:latin typeface="Menlo" panose="020B0609030804020204" pitchFamily="49" charset="0"/>
              </a:rPr>
              <a:t>const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y</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&gt;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4</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2</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3</a:t>
            </a:r>
            <a:r>
              <a:rPr lang="en-US" sz="2000" b="0">
                <a:solidFill>
                  <a:srgbClr val="3B3B3B"/>
                </a:solidFill>
                <a:effectLst/>
                <a:latin typeface="Menlo" panose="020B0609030804020204" pitchFamily="49" charset="0"/>
              </a:rPr>
              <a:t>;</a:t>
            </a:r>
          </a:p>
          <a:p>
            <a:pPr>
              <a:lnSpc>
                <a:spcPct val="110000"/>
              </a:lnSpc>
              <a:buNone/>
            </a:pPr>
            <a:r>
              <a:rPr lang="en-US" sz="2000">
                <a:solidFill>
                  <a:schemeClr val="bg2">
                    <a:lumMod val="90000"/>
                  </a:schemeClr>
                </a:solidFill>
                <a:latin typeface="Menlo" panose="020B0609030804020204" pitchFamily="49" charset="0"/>
              </a:rPr>
              <a:t>5</a:t>
            </a:r>
            <a:r>
              <a:rPr lang="en-US" sz="2000" b="0">
                <a:solidFill>
                  <a:schemeClr val="bg2">
                    <a:lumMod val="90000"/>
                  </a:schemeClr>
                </a:solidFill>
                <a:effectLst/>
                <a:latin typeface="Menlo" panose="020B0609030804020204" pitchFamily="49" charset="0"/>
              </a:rPr>
              <a:t>| </a:t>
            </a:r>
            <a:r>
              <a:rPr lang="en-US" sz="2000" b="0">
                <a:solidFill>
                  <a:srgbClr val="0000FF"/>
                </a:solidFill>
                <a:effectLst/>
                <a:latin typeface="Menlo" panose="020B0609030804020204" pitchFamily="49" charset="0"/>
              </a:rPr>
              <a:t>const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z</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2</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0</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a:solidFill>
                  <a:srgbClr val="098658"/>
                </a:solidFill>
                <a:latin typeface="Menlo" panose="020B0609030804020204" pitchFamily="49" charset="0"/>
              </a:rPr>
              <a:t>1</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a:solidFill>
                  <a:srgbClr val="098658"/>
                </a:solidFill>
                <a:latin typeface="Menlo" panose="020B0609030804020204" pitchFamily="49" charset="0"/>
              </a:rPr>
              <a:t>2</a:t>
            </a:r>
            <a:r>
              <a:rPr lang="en-US" sz="2000" b="0">
                <a:solidFill>
                  <a:srgbClr val="3B3B3B"/>
                </a:solidFill>
                <a:effectLst/>
                <a:latin typeface="Menlo" panose="020B0609030804020204" pitchFamily="49" charset="0"/>
              </a:rPr>
              <a:t>;</a:t>
            </a:r>
          </a:p>
          <a:p>
            <a:pPr>
              <a:lnSpc>
                <a:spcPct val="110000"/>
              </a:lnSpc>
            </a:pPr>
            <a:r>
              <a:rPr lang="en-US" sz="2000">
                <a:solidFill>
                  <a:schemeClr val="bg2">
                    <a:lumMod val="90000"/>
                  </a:schemeClr>
                </a:solidFill>
                <a:latin typeface="Menlo" panose="020B0609030804020204" pitchFamily="49" charset="0"/>
              </a:rPr>
              <a:t>6</a:t>
            </a:r>
            <a:r>
              <a:rPr lang="en-US" sz="2000" b="0">
                <a:solidFill>
                  <a:schemeClr val="bg2">
                    <a:lumMod val="90000"/>
                  </a:schemeClr>
                </a:solidFill>
                <a:effectLst/>
                <a:latin typeface="Menlo" panose="020B0609030804020204" pitchFamily="49" charset="0"/>
              </a:rPr>
              <a:t>| </a:t>
            </a:r>
            <a:r>
              <a:rPr lang="en-US" sz="2000" b="0">
                <a:solidFill>
                  <a:srgbClr val="AF00DB"/>
                </a:solidFill>
                <a:effectLst/>
                <a:latin typeface="Menlo" panose="020B0609030804020204" pitchFamily="49" charset="0"/>
              </a:rPr>
              <a:t>return</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y</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z</a:t>
            </a:r>
            <a:r>
              <a:rPr lang="en-US" sz="2000" b="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21027403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43082-0237-AF6C-0C39-D301AAC5DD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CF0A0-1E15-7377-BE92-C71EC0B5D4D5}"/>
              </a:ext>
            </a:extLst>
          </p:cNvPr>
          <p:cNvSpPr>
            <a:spLocks noGrp="1"/>
          </p:cNvSpPr>
          <p:nvPr>
            <p:ph type="title"/>
          </p:nvPr>
        </p:nvSpPr>
        <p:spPr>
          <a:xfrm>
            <a:off x="838200" y="18255"/>
            <a:ext cx="10515600" cy="1325563"/>
          </a:xfrm>
        </p:spPr>
        <p:txBody>
          <a:bodyPr/>
          <a:lstStyle/>
          <a:p>
            <a:r>
              <a:rPr lang="en-US"/>
              <a:t>Code Coverage</a:t>
            </a:r>
          </a:p>
        </p:txBody>
      </p:sp>
      <p:sp>
        <p:nvSpPr>
          <p:cNvPr id="4" name="Slide Number Placeholder 3">
            <a:extLst>
              <a:ext uri="{FF2B5EF4-FFF2-40B4-BE49-F238E27FC236}">
                <a16:creationId xmlns:a16="http://schemas.microsoft.com/office/drawing/2014/main" id="{FD338EFE-8C62-6AFD-AB4C-10CE33A541B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25</a:t>
            </a:fld>
            <a:endParaRPr lang="en-US"/>
          </a:p>
        </p:txBody>
      </p:sp>
      <p:sp>
        <p:nvSpPr>
          <p:cNvPr id="10" name="Content Placeholder 9">
            <a:extLst>
              <a:ext uri="{FF2B5EF4-FFF2-40B4-BE49-F238E27FC236}">
                <a16:creationId xmlns:a16="http://schemas.microsoft.com/office/drawing/2014/main" id="{8DE2AB38-C589-483D-0F74-5B3ADB637D4D}"/>
              </a:ext>
            </a:extLst>
          </p:cNvPr>
          <p:cNvSpPr>
            <a:spLocks noGrp="1"/>
          </p:cNvSpPr>
          <p:nvPr>
            <p:ph idx="1"/>
          </p:nvPr>
        </p:nvSpPr>
        <p:spPr>
          <a:xfrm>
            <a:off x="838200" y="1500159"/>
            <a:ext cx="4882662" cy="5221316"/>
          </a:xfrm>
        </p:spPr>
        <p:txBody>
          <a:bodyPr>
            <a:normAutofit/>
          </a:bodyPr>
          <a:lstStyle/>
          <a:p>
            <a:r>
              <a:rPr lang="en-US" dirty="0"/>
              <a:t>The values -2, 0, 1, and 10 get full branch coverage…</a:t>
            </a:r>
          </a:p>
          <a:p>
            <a:r>
              <a:rPr lang="en-US" dirty="0"/>
              <a:t>…but 5 causes line 6 to divide by zero! </a:t>
            </a:r>
          </a:p>
          <a:p>
            <a:pPr lvl="1"/>
            <a:r>
              <a:rPr lang="en-US" dirty="0"/>
              <a:t>In JavaScript/TypeScript, this doesn’t cause an exception, there’s a number called “</a:t>
            </a:r>
            <a:r>
              <a:rPr lang="en-US" dirty="0" err="1"/>
              <a:t>NaN</a:t>
            </a:r>
            <a:r>
              <a:rPr lang="en-US" dirty="0"/>
              <a:t>” for “not a number”</a:t>
            </a:r>
          </a:p>
          <a:p>
            <a:r>
              <a:rPr lang="en-US" i="1" dirty="0"/>
              <a:t>Path </a:t>
            </a:r>
            <a:r>
              <a:rPr lang="en-US" dirty="0"/>
              <a:t>coverage covers all combinations of branches; it is infeasible in practice.</a:t>
            </a:r>
            <a:endParaRPr lang="en-US" i="1" dirty="0"/>
          </a:p>
        </p:txBody>
      </p:sp>
      <p:sp>
        <p:nvSpPr>
          <p:cNvPr id="3" name="TextBox 2">
            <a:extLst>
              <a:ext uri="{FF2B5EF4-FFF2-40B4-BE49-F238E27FC236}">
                <a16:creationId xmlns:a16="http://schemas.microsoft.com/office/drawing/2014/main" id="{16C9FED7-7D0F-8FF7-0CFA-F9D2A40D9634}"/>
              </a:ext>
            </a:extLst>
          </p:cNvPr>
          <p:cNvSpPr txBox="1"/>
          <p:nvPr/>
        </p:nvSpPr>
        <p:spPr>
          <a:xfrm>
            <a:off x="6283569" y="2501474"/>
            <a:ext cx="5814645" cy="21013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b="0">
                <a:solidFill>
                  <a:schemeClr val="bg2">
                    <a:lumMod val="90000"/>
                  </a:schemeClr>
                </a:solidFill>
                <a:effectLst/>
                <a:latin typeface="Menlo" panose="020B0609030804020204" pitchFamily="49" charset="0"/>
              </a:rPr>
              <a:t>1| </a:t>
            </a:r>
            <a:r>
              <a:rPr lang="en-US" sz="2000" b="0">
                <a:solidFill>
                  <a:srgbClr val="AF00DB"/>
                </a:solidFill>
                <a:effectLst/>
                <a:latin typeface="Menlo" panose="020B0609030804020204" pitchFamily="49" charset="0"/>
              </a:rPr>
              <a:t>if</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0</a:t>
            </a:r>
            <a:r>
              <a:rPr lang="en-US" sz="2000" b="0">
                <a:solidFill>
                  <a:srgbClr val="3B3B3B"/>
                </a:solidFill>
                <a:effectLst/>
                <a:latin typeface="Menlo" panose="020B0609030804020204" pitchFamily="49" charset="0"/>
              </a:rPr>
              <a:t>) {</a:t>
            </a:r>
          </a:p>
          <a:p>
            <a:pPr>
              <a:lnSpc>
                <a:spcPct val="110000"/>
              </a:lnSpc>
              <a:buNone/>
            </a:pPr>
            <a:r>
              <a:rPr lang="en-US" sz="2000">
                <a:solidFill>
                  <a:schemeClr val="bg2">
                    <a:lumMod val="90000"/>
                  </a:schemeClr>
                </a:solidFill>
                <a:latin typeface="Menlo" panose="020B0609030804020204" pitchFamily="49" charset="0"/>
              </a:rPr>
              <a:t>2</a:t>
            </a:r>
            <a:r>
              <a:rPr lang="en-US" sz="2000" b="0">
                <a:solidFill>
                  <a:schemeClr val="bg2">
                    <a:lumMod val="90000"/>
                  </a:schemeClr>
                </a:solidFill>
                <a:effectLst/>
                <a:latin typeface="Menlo" panose="020B0609030804020204" pitchFamily="49" charset="0"/>
              </a:rPr>
              <a:t>|</a:t>
            </a:r>
            <a:r>
              <a:rPr lang="en-US" sz="2000" b="0">
                <a:solidFill>
                  <a:srgbClr val="AF00DB"/>
                </a:solidFill>
                <a:effectLst/>
                <a:latin typeface="Menlo" panose="020B0609030804020204" pitchFamily="49" charset="0"/>
              </a:rPr>
              <a:t>  return</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3</a:t>
            </a:r>
            <a:r>
              <a:rPr lang="en-US" sz="2000" b="0">
                <a:solidFill>
                  <a:srgbClr val="3B3B3B"/>
                </a:solidFill>
                <a:effectLst/>
                <a:latin typeface="Menlo" panose="020B0609030804020204" pitchFamily="49" charset="0"/>
              </a:rPr>
              <a:t>;</a:t>
            </a:r>
          </a:p>
          <a:p>
            <a:pPr>
              <a:lnSpc>
                <a:spcPct val="110000"/>
              </a:lnSpc>
              <a:buNone/>
            </a:pPr>
            <a:r>
              <a:rPr lang="en-US" sz="2000">
                <a:solidFill>
                  <a:schemeClr val="bg2">
                    <a:lumMod val="90000"/>
                  </a:schemeClr>
                </a:solidFill>
                <a:latin typeface="Menlo" panose="020B0609030804020204" pitchFamily="49" charset="0"/>
              </a:rPr>
              <a:t>3</a:t>
            </a:r>
            <a:r>
              <a:rPr lang="en-US" sz="2000" b="0">
                <a:solidFill>
                  <a:schemeClr val="bg2">
                    <a:lumMod val="90000"/>
                  </a:schemeClr>
                </a:solidFill>
                <a:effectLst/>
                <a:latin typeface="Menlo" panose="020B0609030804020204" pitchFamily="49" charset="0"/>
              </a:rPr>
              <a:t>| </a:t>
            </a:r>
            <a:r>
              <a:rPr lang="en-US" sz="2000" b="0">
                <a:solidFill>
                  <a:srgbClr val="3B3B3B"/>
                </a:solidFill>
                <a:effectLst/>
                <a:latin typeface="Menlo" panose="020B0609030804020204" pitchFamily="49" charset="0"/>
              </a:rPr>
              <a:t>}</a:t>
            </a:r>
          </a:p>
          <a:p>
            <a:pPr>
              <a:lnSpc>
                <a:spcPct val="110000"/>
              </a:lnSpc>
              <a:buNone/>
            </a:pPr>
            <a:r>
              <a:rPr lang="en-US" sz="2000">
                <a:solidFill>
                  <a:schemeClr val="bg2">
                    <a:lumMod val="90000"/>
                  </a:schemeClr>
                </a:solidFill>
                <a:latin typeface="Menlo" panose="020B0609030804020204" pitchFamily="49" charset="0"/>
              </a:rPr>
              <a:t>4</a:t>
            </a:r>
            <a:r>
              <a:rPr lang="en-US" sz="2000" b="0">
                <a:solidFill>
                  <a:schemeClr val="bg2">
                    <a:lumMod val="90000"/>
                  </a:schemeClr>
                </a:solidFill>
                <a:effectLst/>
                <a:latin typeface="Menlo" panose="020B0609030804020204" pitchFamily="49" charset="0"/>
              </a:rPr>
              <a:t>| </a:t>
            </a:r>
            <a:r>
              <a:rPr lang="en-US" sz="2000" b="0">
                <a:solidFill>
                  <a:srgbClr val="0000FF"/>
                </a:solidFill>
                <a:effectLst/>
                <a:latin typeface="Menlo" panose="020B0609030804020204" pitchFamily="49" charset="0"/>
              </a:rPr>
              <a:t>const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y</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&gt;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4</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2</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3</a:t>
            </a:r>
            <a:r>
              <a:rPr lang="en-US" sz="2000" b="0">
                <a:solidFill>
                  <a:srgbClr val="3B3B3B"/>
                </a:solidFill>
                <a:effectLst/>
                <a:latin typeface="Menlo" panose="020B0609030804020204" pitchFamily="49" charset="0"/>
              </a:rPr>
              <a:t>;</a:t>
            </a:r>
          </a:p>
          <a:p>
            <a:pPr>
              <a:lnSpc>
                <a:spcPct val="110000"/>
              </a:lnSpc>
              <a:buNone/>
            </a:pPr>
            <a:r>
              <a:rPr lang="en-US" sz="2000">
                <a:solidFill>
                  <a:schemeClr val="bg2">
                    <a:lumMod val="90000"/>
                  </a:schemeClr>
                </a:solidFill>
                <a:latin typeface="Menlo" panose="020B0609030804020204" pitchFamily="49" charset="0"/>
              </a:rPr>
              <a:t>5</a:t>
            </a:r>
            <a:r>
              <a:rPr lang="en-US" sz="2000" b="0">
                <a:solidFill>
                  <a:schemeClr val="bg2">
                    <a:lumMod val="90000"/>
                  </a:schemeClr>
                </a:solidFill>
                <a:effectLst/>
                <a:latin typeface="Menlo" panose="020B0609030804020204" pitchFamily="49" charset="0"/>
              </a:rPr>
              <a:t>| </a:t>
            </a:r>
            <a:r>
              <a:rPr lang="en-US" sz="2000" b="0">
                <a:solidFill>
                  <a:srgbClr val="0000FF"/>
                </a:solidFill>
                <a:effectLst/>
                <a:latin typeface="Menlo" panose="020B0609030804020204" pitchFamily="49" charset="0"/>
              </a:rPr>
              <a:t>const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z</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2</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0</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a:solidFill>
                  <a:srgbClr val="098658"/>
                </a:solidFill>
                <a:latin typeface="Menlo" panose="020B0609030804020204" pitchFamily="49" charset="0"/>
              </a:rPr>
              <a:t>1</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a:solidFill>
                  <a:srgbClr val="098658"/>
                </a:solidFill>
                <a:latin typeface="Menlo" panose="020B0609030804020204" pitchFamily="49" charset="0"/>
              </a:rPr>
              <a:t>2</a:t>
            </a:r>
            <a:r>
              <a:rPr lang="en-US" sz="2000" b="0">
                <a:solidFill>
                  <a:srgbClr val="3B3B3B"/>
                </a:solidFill>
                <a:effectLst/>
                <a:latin typeface="Menlo" panose="020B0609030804020204" pitchFamily="49" charset="0"/>
              </a:rPr>
              <a:t>;</a:t>
            </a:r>
          </a:p>
          <a:p>
            <a:pPr>
              <a:lnSpc>
                <a:spcPct val="110000"/>
              </a:lnSpc>
            </a:pPr>
            <a:r>
              <a:rPr lang="en-US" sz="2000">
                <a:solidFill>
                  <a:schemeClr val="bg2">
                    <a:lumMod val="90000"/>
                  </a:schemeClr>
                </a:solidFill>
                <a:latin typeface="Menlo" panose="020B0609030804020204" pitchFamily="49" charset="0"/>
              </a:rPr>
              <a:t>6</a:t>
            </a:r>
            <a:r>
              <a:rPr lang="en-US" sz="2000" b="0">
                <a:solidFill>
                  <a:schemeClr val="bg2">
                    <a:lumMod val="90000"/>
                  </a:schemeClr>
                </a:solidFill>
                <a:effectLst/>
                <a:latin typeface="Menlo" panose="020B0609030804020204" pitchFamily="49" charset="0"/>
              </a:rPr>
              <a:t>| </a:t>
            </a:r>
            <a:r>
              <a:rPr lang="en-US" sz="2000" b="0">
                <a:solidFill>
                  <a:srgbClr val="AF00DB"/>
                </a:solidFill>
                <a:effectLst/>
                <a:latin typeface="Menlo" panose="020B0609030804020204" pitchFamily="49" charset="0"/>
              </a:rPr>
              <a:t>return</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y</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z</a:t>
            </a:r>
            <a:r>
              <a:rPr lang="en-US" sz="2000" b="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12448967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48484-5B0A-1F40-24B6-FB972E693B90}"/>
              </a:ext>
            </a:extLst>
          </p:cNvPr>
          <p:cNvSpPr>
            <a:spLocks noGrp="1"/>
          </p:cNvSpPr>
          <p:nvPr>
            <p:ph type="title"/>
          </p:nvPr>
        </p:nvSpPr>
        <p:spPr/>
        <p:txBody>
          <a:bodyPr/>
          <a:lstStyle/>
          <a:p>
            <a:r>
              <a:rPr lang="en-US"/>
              <a:t>Code Coverage</a:t>
            </a:r>
          </a:p>
        </p:txBody>
      </p:sp>
      <p:sp>
        <p:nvSpPr>
          <p:cNvPr id="3" name="Content Placeholder 2">
            <a:extLst>
              <a:ext uri="{FF2B5EF4-FFF2-40B4-BE49-F238E27FC236}">
                <a16:creationId xmlns:a16="http://schemas.microsoft.com/office/drawing/2014/main" id="{F4C18F65-A0D1-5B6E-005B-4E64E3D6AC8D}"/>
              </a:ext>
            </a:extLst>
          </p:cNvPr>
          <p:cNvSpPr>
            <a:spLocks noGrp="1"/>
          </p:cNvSpPr>
          <p:nvPr>
            <p:ph idx="1"/>
          </p:nvPr>
        </p:nvSpPr>
        <p:spPr>
          <a:xfrm>
            <a:off x="838200" y="1500160"/>
            <a:ext cx="7887346" cy="4856190"/>
          </a:xfrm>
        </p:spPr>
        <p:txBody>
          <a:bodyPr>
            <a:normAutofit/>
          </a:bodyPr>
          <a:lstStyle/>
          <a:p>
            <a:r>
              <a:rPr lang="en-US" dirty="0"/>
              <a:t>Total code coverage — by any metric — does not mean no bugs</a:t>
            </a:r>
          </a:p>
          <a:p>
            <a:pPr lvl="1"/>
            <a:r>
              <a:rPr lang="en-US" dirty="0"/>
              <a:t>Running code doesn’t mean checking that it’s doing the right thing! (important to Assemble/Act/</a:t>
            </a:r>
            <a:r>
              <a:rPr lang="en-US" u="sng" dirty="0"/>
              <a:t>Assess</a:t>
            </a:r>
            <a:r>
              <a:rPr lang="en-US" dirty="0"/>
              <a:t>)</a:t>
            </a:r>
          </a:p>
          <a:p>
            <a:r>
              <a:rPr lang="en-US" dirty="0"/>
              <a:t>Coverage checking can be invaluable at identifying when you </a:t>
            </a:r>
            <a:r>
              <a:rPr lang="en-US" i="1" dirty="0"/>
              <a:t>think</a:t>
            </a:r>
            <a:r>
              <a:rPr lang="en-US" dirty="0"/>
              <a:t> you’re testing something but you’re not, which is a real problem in practice.</a:t>
            </a:r>
          </a:p>
          <a:p>
            <a:pPr lvl="1"/>
            <a:r>
              <a:rPr lang="en-US" dirty="0"/>
              <a:t>Test-Driven Development also valuable for this problem: it’s important that tests switch from failing to succeeding </a:t>
            </a:r>
            <a:r>
              <a:rPr lang="en-US" i="1" dirty="0"/>
              <a:t>when you expect them to</a:t>
            </a:r>
            <a:endParaRPr lang="en-US" dirty="0"/>
          </a:p>
        </p:txBody>
      </p:sp>
      <p:sp>
        <p:nvSpPr>
          <p:cNvPr id="4" name="Slide Number Placeholder 3">
            <a:extLst>
              <a:ext uri="{FF2B5EF4-FFF2-40B4-BE49-F238E27FC236}">
                <a16:creationId xmlns:a16="http://schemas.microsoft.com/office/drawing/2014/main" id="{C1201568-6786-E28A-30B8-99E8FBE3C531}"/>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2992209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EBACE-BAA4-E7F1-F9AE-846CD1616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4ECA53-BC41-F0CC-0F1C-A1EFC8042C73}"/>
              </a:ext>
            </a:extLst>
          </p:cNvPr>
          <p:cNvSpPr>
            <a:spLocks noGrp="1"/>
          </p:cNvSpPr>
          <p:nvPr>
            <p:ph type="title"/>
          </p:nvPr>
        </p:nvSpPr>
        <p:spPr/>
        <p:txBody>
          <a:bodyPr/>
          <a:lstStyle/>
          <a:p>
            <a:r>
              <a:rPr lang="en-US"/>
              <a:t>Code Coverage</a:t>
            </a:r>
          </a:p>
        </p:txBody>
      </p:sp>
      <p:sp>
        <p:nvSpPr>
          <p:cNvPr id="3" name="Content Placeholder 2">
            <a:extLst>
              <a:ext uri="{FF2B5EF4-FFF2-40B4-BE49-F238E27FC236}">
                <a16:creationId xmlns:a16="http://schemas.microsoft.com/office/drawing/2014/main" id="{40E625BA-2686-E742-4888-C31F7FCC3A59}"/>
              </a:ext>
            </a:extLst>
          </p:cNvPr>
          <p:cNvSpPr>
            <a:spLocks noGrp="1"/>
          </p:cNvSpPr>
          <p:nvPr>
            <p:ph idx="1"/>
          </p:nvPr>
        </p:nvSpPr>
        <p:spPr>
          <a:xfrm>
            <a:off x="838200" y="1500160"/>
            <a:ext cx="7887346" cy="4856190"/>
          </a:xfrm>
        </p:spPr>
        <p:txBody>
          <a:bodyPr>
            <a:normAutofit/>
          </a:bodyPr>
          <a:lstStyle/>
          <a:p>
            <a:r>
              <a:rPr lang="en-US" dirty="0" err="1"/>
              <a:t>Vitest</a:t>
            </a:r>
            <a:r>
              <a:rPr lang="en-US" dirty="0"/>
              <a:t> makes it easy to check code coverage</a:t>
            </a:r>
          </a:p>
        </p:txBody>
      </p:sp>
      <p:sp>
        <p:nvSpPr>
          <p:cNvPr id="4" name="Slide Number Placeholder 3">
            <a:extLst>
              <a:ext uri="{FF2B5EF4-FFF2-40B4-BE49-F238E27FC236}">
                <a16:creationId xmlns:a16="http://schemas.microsoft.com/office/drawing/2014/main" id="{FBE6E867-988D-2847-4EBA-999050B508C1}"/>
              </a:ext>
            </a:extLst>
          </p:cNvPr>
          <p:cNvSpPr>
            <a:spLocks noGrp="1"/>
          </p:cNvSpPr>
          <p:nvPr>
            <p:ph type="sldNum" sz="quarter" idx="12"/>
          </p:nvPr>
        </p:nvSpPr>
        <p:spPr/>
        <p:txBody>
          <a:bodyPr/>
          <a:lstStyle/>
          <a:p>
            <a:fld id="{20F37917-FD3A-4669-9018-DA04BCDD3D75}" type="slidenum">
              <a:rPr lang="en-US" smtClean="0"/>
              <a:t>27</a:t>
            </a:fld>
            <a:endParaRPr lang="en-US"/>
          </a:p>
        </p:txBody>
      </p:sp>
      <p:grpSp>
        <p:nvGrpSpPr>
          <p:cNvPr id="5" name="Image">
            <a:extLst>
              <a:ext uri="{FF2B5EF4-FFF2-40B4-BE49-F238E27FC236}">
                <a16:creationId xmlns:a16="http://schemas.microsoft.com/office/drawing/2014/main" id="{33483C12-E5A1-9CBA-873B-9641D1D87C8C}"/>
              </a:ext>
            </a:extLst>
          </p:cNvPr>
          <p:cNvGrpSpPr/>
          <p:nvPr/>
        </p:nvGrpSpPr>
        <p:grpSpPr>
          <a:xfrm>
            <a:off x="2138450" y="2429289"/>
            <a:ext cx="6807201" cy="3581546"/>
            <a:chOff x="0" y="0"/>
            <a:chExt cx="13614401" cy="7163091"/>
          </a:xfrm>
        </p:grpSpPr>
        <p:pic>
          <p:nvPicPr>
            <p:cNvPr id="6" name="Image" descr="Image">
              <a:extLst>
                <a:ext uri="{FF2B5EF4-FFF2-40B4-BE49-F238E27FC236}">
                  <a16:creationId xmlns:a16="http://schemas.microsoft.com/office/drawing/2014/main" id="{7C97E5B3-D9F4-3306-BD32-C97E61DD347C}"/>
                </a:ext>
              </a:extLst>
            </p:cNvPr>
            <p:cNvPicPr>
              <a:picLocks noChangeAspect="1"/>
            </p:cNvPicPr>
            <p:nvPr/>
          </p:nvPicPr>
          <p:blipFill>
            <a:blip r:embed="rId3"/>
            <a:stretch>
              <a:fillRect/>
            </a:stretch>
          </p:blipFill>
          <p:spPr>
            <a:xfrm>
              <a:off x="393173" y="263735"/>
              <a:ext cx="12828056" cy="6108151"/>
            </a:xfrm>
            <a:prstGeom prst="rect">
              <a:avLst/>
            </a:prstGeom>
            <a:ln w="12700" cap="flat">
              <a:noFill/>
              <a:miter lim="400000"/>
            </a:ln>
            <a:effectLst/>
          </p:spPr>
        </p:pic>
        <p:pic>
          <p:nvPicPr>
            <p:cNvPr id="7" name="Image" descr="Image">
              <a:extLst>
                <a:ext uri="{FF2B5EF4-FFF2-40B4-BE49-F238E27FC236}">
                  <a16:creationId xmlns:a16="http://schemas.microsoft.com/office/drawing/2014/main" id="{B5E47C89-3A33-ED05-CDC3-D4F5B98A9BCA}"/>
                </a:ext>
              </a:extLst>
            </p:cNvPr>
            <p:cNvPicPr>
              <a:picLocks noChangeAspect="1"/>
            </p:cNvPicPr>
            <p:nvPr/>
          </p:nvPicPr>
          <p:blipFill>
            <a:blip r:embed="rId4"/>
            <a:stretch>
              <a:fillRect/>
            </a:stretch>
          </p:blipFill>
          <p:spPr>
            <a:xfrm>
              <a:off x="0" y="0"/>
              <a:ext cx="13614402" cy="7163092"/>
            </a:xfrm>
            <a:prstGeom prst="rect">
              <a:avLst/>
            </a:prstGeom>
            <a:ln w="12700" cap="flat">
              <a:noFill/>
              <a:miter lim="400000"/>
            </a:ln>
            <a:effectLst/>
          </p:spPr>
        </p:pic>
      </p:grpSp>
    </p:spTree>
    <p:extLst>
      <p:ext uri="{BB962C8B-B14F-4D97-AF65-F5344CB8AC3E}">
        <p14:creationId xmlns:p14="http://schemas.microsoft.com/office/powerpoint/2010/main" val="10053484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E9652-9D0C-A4FB-126F-5AF99C58BB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38576E-8380-EBE1-85EE-FFDD210307B8}"/>
              </a:ext>
            </a:extLst>
          </p:cNvPr>
          <p:cNvSpPr>
            <a:spLocks noGrp="1"/>
          </p:cNvSpPr>
          <p:nvPr>
            <p:ph type="title"/>
          </p:nvPr>
        </p:nvSpPr>
        <p:spPr/>
        <p:txBody>
          <a:bodyPr/>
          <a:lstStyle/>
          <a:p>
            <a:r>
              <a:rPr lang="en-US" dirty="0"/>
              <a:t>Code Coverage: Review</a:t>
            </a:r>
          </a:p>
        </p:txBody>
      </p:sp>
      <p:sp>
        <p:nvSpPr>
          <p:cNvPr id="3" name="Content Placeholder 2">
            <a:extLst>
              <a:ext uri="{FF2B5EF4-FFF2-40B4-BE49-F238E27FC236}">
                <a16:creationId xmlns:a16="http://schemas.microsoft.com/office/drawing/2014/main" id="{56B0DD0C-F651-B5E0-B2C8-11FDEFE7AECB}"/>
              </a:ext>
            </a:extLst>
          </p:cNvPr>
          <p:cNvSpPr>
            <a:spLocks noGrp="1"/>
          </p:cNvSpPr>
          <p:nvPr>
            <p:ph idx="1"/>
          </p:nvPr>
        </p:nvSpPr>
        <p:spPr>
          <a:xfrm>
            <a:off x="838200" y="1500160"/>
            <a:ext cx="10107706" cy="4856190"/>
          </a:xfrm>
        </p:spPr>
        <p:txBody>
          <a:bodyPr>
            <a:normAutofit/>
          </a:bodyPr>
          <a:lstStyle/>
          <a:p>
            <a:r>
              <a:rPr lang="en-US" dirty="0"/>
              <a:t>A lot of what you’ve been taught about “edge cases” is can be understood in terms of trying to imagine inputs that will provide code coverage for an unknown function.</a:t>
            </a:r>
          </a:p>
          <a:p>
            <a:r>
              <a:rPr lang="en-US" dirty="0"/>
              <a:t>What inputs should we start with for code coverage if:</a:t>
            </a:r>
          </a:p>
          <a:p>
            <a:pPr lvl="1"/>
            <a:r>
              <a:rPr lang="en-US" dirty="0"/>
              <a:t>We’re taking numbers that are supposed to represent a 5-digit zip code?</a:t>
            </a:r>
          </a:p>
          <a:p>
            <a:pPr lvl="1"/>
            <a:r>
              <a:rPr lang="en-US" dirty="0"/>
              <a:t>We’re taking strings that are supposed to represent a 5-digit zip code?</a:t>
            </a:r>
          </a:p>
          <a:p>
            <a:pPr lvl="1"/>
            <a:r>
              <a:rPr lang="en-US" dirty="0"/>
              <a:t>We’re taking an array of strings that represent?</a:t>
            </a:r>
          </a:p>
        </p:txBody>
      </p:sp>
      <p:sp>
        <p:nvSpPr>
          <p:cNvPr id="4" name="Slide Number Placeholder 3">
            <a:extLst>
              <a:ext uri="{FF2B5EF4-FFF2-40B4-BE49-F238E27FC236}">
                <a16:creationId xmlns:a16="http://schemas.microsoft.com/office/drawing/2014/main" id="{28886366-F4A6-819D-3F9E-BD8A8F1E2C5B}"/>
              </a:ext>
            </a:extLst>
          </p:cNvPr>
          <p:cNvSpPr>
            <a:spLocks noGrp="1"/>
          </p:cNvSpPr>
          <p:nvPr>
            <p:ph type="sldNum" sz="quarter" idx="12"/>
          </p:nvPr>
        </p:nvSpPr>
        <p:spPr/>
        <p:txBody>
          <a:bodyPr/>
          <a:lstStyle/>
          <a:p>
            <a:fld id="{20F37917-FD3A-4669-9018-DA04BCDD3D75}" type="slidenum">
              <a:rPr lang="en-US" smtClean="0"/>
              <a:t>28</a:t>
            </a:fld>
            <a:endParaRPr lang="en-US"/>
          </a:p>
        </p:txBody>
      </p:sp>
    </p:spTree>
    <p:extLst>
      <p:ext uri="{BB962C8B-B14F-4D97-AF65-F5344CB8AC3E}">
        <p14:creationId xmlns:p14="http://schemas.microsoft.com/office/powerpoint/2010/main" val="42398377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9E383-9383-B60E-EC8E-748102A86710}"/>
              </a:ext>
            </a:extLst>
          </p:cNvPr>
          <p:cNvSpPr>
            <a:spLocks noGrp="1"/>
          </p:cNvSpPr>
          <p:nvPr>
            <p:ph type="title"/>
          </p:nvPr>
        </p:nvSpPr>
        <p:spPr/>
        <p:txBody>
          <a:bodyPr/>
          <a:lstStyle/>
          <a:p>
            <a:r>
              <a:rPr lang="en-US"/>
              <a:t>Adversarial Testing</a:t>
            </a:r>
          </a:p>
        </p:txBody>
      </p:sp>
      <p:sp>
        <p:nvSpPr>
          <p:cNvPr id="3" name="Content Placeholder 2">
            <a:extLst>
              <a:ext uri="{FF2B5EF4-FFF2-40B4-BE49-F238E27FC236}">
                <a16:creationId xmlns:a16="http://schemas.microsoft.com/office/drawing/2014/main" id="{64C78909-8E59-F5F1-30C4-1A414DFC26E8}"/>
              </a:ext>
            </a:extLst>
          </p:cNvPr>
          <p:cNvSpPr>
            <a:spLocks noGrp="1"/>
          </p:cNvSpPr>
          <p:nvPr>
            <p:ph idx="1"/>
          </p:nvPr>
        </p:nvSpPr>
        <p:spPr/>
        <p:txBody>
          <a:bodyPr>
            <a:normAutofit/>
          </a:bodyPr>
          <a:lstStyle/>
          <a:p>
            <a:r>
              <a:rPr lang="en-US" dirty="0"/>
              <a:t>It can be helpful to think of testing as a game in which you play against an adversary.</a:t>
            </a:r>
          </a:p>
          <a:p>
            <a:r>
              <a:rPr lang="en-US" dirty="0"/>
              <a:t>Your adversary plays by producing multiple versions of code that you agree is buggy, and multiple versions of code you agree is correct.</a:t>
            </a:r>
          </a:p>
          <a:p>
            <a:r>
              <a:rPr lang="en-US" dirty="0"/>
              <a:t>Your win if your tests catch all the buggy code, </a:t>
            </a:r>
            <a:br>
              <a:rPr lang="en-US" dirty="0"/>
            </a:br>
            <a:r>
              <a:rPr lang="en-US" dirty="0"/>
              <a:t>and pass all the correct code.</a:t>
            </a:r>
          </a:p>
        </p:txBody>
      </p:sp>
      <p:sp>
        <p:nvSpPr>
          <p:cNvPr id="4" name="Slide Number Placeholder 3">
            <a:extLst>
              <a:ext uri="{FF2B5EF4-FFF2-40B4-BE49-F238E27FC236}">
                <a16:creationId xmlns:a16="http://schemas.microsoft.com/office/drawing/2014/main" id="{E986F5D7-DA36-6458-3E9A-9767FCD20E53}"/>
              </a:ext>
            </a:extLst>
          </p:cNvPr>
          <p:cNvSpPr>
            <a:spLocks noGrp="1"/>
          </p:cNvSpPr>
          <p:nvPr>
            <p:ph type="sldNum" sz="quarter" idx="12"/>
          </p:nvPr>
        </p:nvSpPr>
        <p:spPr/>
        <p:txBody>
          <a:bodyPr/>
          <a:lstStyle/>
          <a:p>
            <a:fld id="{20F37917-FD3A-4669-9018-DA04BCDD3D75}" type="slidenum">
              <a:rPr lang="en-US" smtClean="0"/>
              <a:t>29</a:t>
            </a:fld>
            <a:endParaRPr lang="en-US"/>
          </a:p>
        </p:txBody>
      </p:sp>
    </p:spTree>
    <p:extLst>
      <p:ext uri="{BB962C8B-B14F-4D97-AF65-F5344CB8AC3E}">
        <p14:creationId xmlns:p14="http://schemas.microsoft.com/office/powerpoint/2010/main" val="5827377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 name="Mutation Analysis Tests the Tests"/>
          <p:cNvSpPr txBox="1">
            <a:spLocks noGrp="1"/>
          </p:cNvSpPr>
          <p:nvPr>
            <p:ph type="title"/>
          </p:nvPr>
        </p:nvSpPr>
        <p:spPr/>
        <p:txBody>
          <a:bodyPr>
            <a:normAutofit/>
          </a:bodyPr>
          <a:lstStyle/>
          <a:p>
            <a:r>
              <a:rPr lang="en-US" dirty="0"/>
              <a:t>Adversarial Testing</a:t>
            </a:r>
          </a:p>
        </p:txBody>
      </p:sp>
      <p:sp>
        <p:nvSpPr>
          <p:cNvPr id="828" name="Slide Number"/>
          <p:cNvSpPr txBox="1">
            <a:spLocks noGrp="1"/>
          </p:cNvSpPr>
          <p:nvPr>
            <p:ph type="sldNum" sz="quarter" idx="12"/>
          </p:nvPr>
        </p:nvSpPr>
        <p:spPr>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30</a:t>
            </a:fld>
            <a:endParaRPr/>
          </a:p>
        </p:txBody>
      </p:sp>
      <p:sp>
        <p:nvSpPr>
          <p:cNvPr id="829" name="public contains(location: PlayerLocation): boolean {…"/>
          <p:cNvSpPr txBox="1"/>
          <p:nvPr/>
        </p:nvSpPr>
        <p:spPr>
          <a:xfrm>
            <a:off x="1104030" y="1923578"/>
            <a:ext cx="8036174" cy="1477328"/>
          </a:xfrm>
          <a:prstGeom prst="rect">
            <a:avLst/>
          </a:prstGeom>
          <a:ln w="25400">
            <a:solidFill>
              <a:schemeClr val="accent1"/>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lang="en-US">
                <a:solidFill>
                  <a:srgbClr val="008000"/>
                </a:solidFill>
                <a:latin typeface="Consolas" panose="020B0609020204030204" pitchFamily="49" charset="0"/>
              </a:rPr>
              <a:t>// find the first item in the list that is </a:t>
            </a:r>
            <a:endParaRPr lang="en-US">
              <a:solidFill>
                <a:srgbClr val="3B3B3B"/>
              </a:solidFill>
              <a:latin typeface="Consolas" panose="020B0609020204030204" pitchFamily="49" charset="0"/>
            </a:endParaRPr>
          </a:p>
          <a:p>
            <a:r>
              <a:rPr lang="en-US">
                <a:solidFill>
                  <a:srgbClr val="008000"/>
                </a:solidFill>
                <a:latin typeface="Consolas" panose="020B0609020204030204" pitchFamily="49" charset="0"/>
              </a:rPr>
              <a:t>// greater than or equal to the target.</a:t>
            </a:r>
            <a:endParaRPr lang="en-US">
              <a:solidFill>
                <a:srgbClr val="3B3B3B"/>
              </a:solidFill>
              <a:latin typeface="Consolas" panose="020B0609020204030204" pitchFamily="49" charset="0"/>
            </a:endParaRPr>
          </a:p>
          <a:p>
            <a:r>
              <a:rPr lang="en-US">
                <a:solidFill>
                  <a:srgbClr val="AF00DB"/>
                </a:solidFill>
                <a:latin typeface="Consolas" panose="020B0609020204030204" pitchFamily="49" charset="0"/>
              </a:rPr>
              <a:t>export</a:t>
            </a:r>
            <a:r>
              <a:rPr lang="en-US">
                <a:solidFill>
                  <a:srgbClr val="3B3B3B"/>
                </a:solidFill>
                <a:latin typeface="Consolas" panose="020B0609020204030204" pitchFamily="49" charset="0"/>
              </a:rPr>
              <a:t> </a:t>
            </a:r>
            <a:r>
              <a:rPr lang="en-US">
                <a:solidFill>
                  <a:srgbClr val="AF00DB"/>
                </a:solidFill>
                <a:latin typeface="Consolas" panose="020B0609020204030204" pitchFamily="49" charset="0"/>
              </a:rPr>
              <a:t>default</a:t>
            </a:r>
            <a:r>
              <a:rPr lang="en-US">
                <a:solidFill>
                  <a:srgbClr val="3B3B3B"/>
                </a:solidFill>
                <a:latin typeface="Consolas" panose="020B0609020204030204" pitchFamily="49" charset="0"/>
              </a:rPr>
              <a:t> </a:t>
            </a:r>
            <a:r>
              <a:rPr lang="en-US">
                <a:solidFill>
                  <a:srgbClr val="0000FF"/>
                </a:solidFill>
                <a:latin typeface="Consolas" panose="020B0609020204030204" pitchFamily="49" charset="0"/>
              </a:rPr>
              <a:t>function</a:t>
            </a:r>
            <a:r>
              <a:rPr lang="en-US">
                <a:solidFill>
                  <a:srgbClr val="3B3B3B"/>
                </a:solidFill>
                <a:latin typeface="Consolas" panose="020B0609020204030204" pitchFamily="49" charset="0"/>
              </a:rPr>
              <a:t> </a:t>
            </a:r>
            <a:r>
              <a:rPr lang="en-US">
                <a:solidFill>
                  <a:srgbClr val="795E26"/>
                </a:solidFill>
                <a:latin typeface="Consolas" panose="020B0609020204030204" pitchFamily="49" charset="0"/>
              </a:rPr>
              <a:t>search</a:t>
            </a:r>
            <a:r>
              <a:rPr lang="en-US">
                <a:solidFill>
                  <a:srgbClr val="3B3B3B"/>
                </a:solidFill>
                <a:latin typeface="Consolas" panose="020B0609020204030204" pitchFamily="49" charset="0"/>
              </a:rPr>
              <a:t>(</a:t>
            </a:r>
            <a:r>
              <a:rPr lang="en-US" err="1">
                <a:solidFill>
                  <a:srgbClr val="001080"/>
                </a:solidFill>
                <a:latin typeface="Consolas" panose="020B0609020204030204" pitchFamily="49" charset="0"/>
              </a:rPr>
              <a:t>list</a:t>
            </a:r>
            <a:r>
              <a:rPr lang="en-US" err="1">
                <a:solidFill>
                  <a:srgbClr val="000000"/>
                </a:solidFill>
                <a:latin typeface="Consolas" panose="020B0609020204030204" pitchFamily="49" charset="0"/>
              </a:rPr>
              <a:t>:</a:t>
            </a:r>
            <a:r>
              <a:rPr lang="en-US" err="1">
                <a:solidFill>
                  <a:srgbClr val="267F99"/>
                </a:solidFill>
                <a:latin typeface="Consolas" panose="020B0609020204030204" pitchFamily="49" charset="0"/>
              </a:rPr>
              <a:t>number</a:t>
            </a:r>
            <a:r>
              <a:rPr lang="en-US">
                <a:solidFill>
                  <a:srgbClr val="3B3B3B"/>
                </a:solidFill>
                <a:latin typeface="Consolas" panose="020B0609020204030204" pitchFamily="49" charset="0"/>
              </a:rPr>
              <a:t>[], </a:t>
            </a:r>
            <a:r>
              <a:rPr lang="en-US" err="1">
                <a:solidFill>
                  <a:srgbClr val="001080"/>
                </a:solidFill>
                <a:latin typeface="Consolas" panose="020B0609020204030204" pitchFamily="49" charset="0"/>
              </a:rPr>
              <a:t>target</a:t>
            </a:r>
            <a:r>
              <a:rPr lang="en-US" err="1">
                <a:solidFill>
                  <a:srgbClr val="000000"/>
                </a:solidFill>
                <a:latin typeface="Consolas" panose="020B0609020204030204" pitchFamily="49" charset="0"/>
              </a:rPr>
              <a:t>:</a:t>
            </a:r>
            <a:r>
              <a:rPr lang="en-US" err="1">
                <a:solidFill>
                  <a:srgbClr val="267F99"/>
                </a:solidFill>
                <a:latin typeface="Consolas" panose="020B0609020204030204" pitchFamily="49" charset="0"/>
              </a:rPr>
              <a:t>number</a:t>
            </a:r>
            <a:r>
              <a:rPr lang="en-US">
                <a:solidFill>
                  <a:srgbClr val="3B3B3B"/>
                </a:solidFill>
                <a:latin typeface="Consolas" panose="020B0609020204030204" pitchFamily="49" charset="0"/>
              </a:rPr>
              <a:t>) {</a:t>
            </a:r>
          </a:p>
          <a:p>
            <a:r>
              <a:rPr lang="en-US">
                <a:solidFill>
                  <a:srgbClr val="3B3B3B"/>
                </a:solidFill>
                <a:latin typeface="Consolas" panose="020B0609020204030204" pitchFamily="49" charset="0"/>
              </a:rPr>
              <a:t>    </a:t>
            </a:r>
            <a:r>
              <a:rPr lang="en-US">
                <a:solidFill>
                  <a:srgbClr val="AF00DB"/>
                </a:solidFill>
                <a:latin typeface="Consolas" panose="020B0609020204030204" pitchFamily="49" charset="0"/>
              </a:rPr>
              <a:t>return</a:t>
            </a:r>
            <a:r>
              <a:rPr lang="en-US">
                <a:solidFill>
                  <a:srgbClr val="3B3B3B"/>
                </a:solidFill>
                <a:latin typeface="Consolas" panose="020B0609020204030204" pitchFamily="49" charset="0"/>
              </a:rPr>
              <a:t> </a:t>
            </a:r>
            <a:r>
              <a:rPr lang="en-US" err="1">
                <a:solidFill>
                  <a:srgbClr val="001080"/>
                </a:solidFill>
                <a:latin typeface="Consolas" panose="020B0609020204030204" pitchFamily="49" charset="0"/>
              </a:rPr>
              <a:t>list</a:t>
            </a:r>
            <a:r>
              <a:rPr lang="en-US" err="1">
                <a:solidFill>
                  <a:srgbClr val="3B3B3B"/>
                </a:solidFill>
                <a:latin typeface="Consolas" panose="020B0609020204030204" pitchFamily="49" charset="0"/>
              </a:rPr>
              <a:t>.</a:t>
            </a:r>
            <a:r>
              <a:rPr lang="en-US" err="1">
                <a:solidFill>
                  <a:srgbClr val="795E26"/>
                </a:solidFill>
                <a:latin typeface="Consolas" panose="020B0609020204030204" pitchFamily="49" charset="0"/>
              </a:rPr>
              <a:t>find</a:t>
            </a:r>
            <a:r>
              <a:rPr lang="en-US">
                <a:solidFill>
                  <a:srgbClr val="3B3B3B"/>
                </a:solidFill>
                <a:latin typeface="Consolas" panose="020B0609020204030204" pitchFamily="49" charset="0"/>
              </a:rPr>
              <a:t>((</a:t>
            </a:r>
            <a:r>
              <a:rPr lang="en-US">
                <a:solidFill>
                  <a:srgbClr val="001080"/>
                </a:solidFill>
                <a:latin typeface="Consolas" panose="020B0609020204030204" pitchFamily="49" charset="0"/>
              </a:rPr>
              <a:t>item</a:t>
            </a:r>
            <a:r>
              <a:rPr lang="en-US">
                <a:solidFill>
                  <a:srgbClr val="3B3B3B"/>
                </a:solidFill>
                <a:latin typeface="Consolas" panose="020B0609020204030204" pitchFamily="49" charset="0"/>
              </a:rPr>
              <a:t>) </a:t>
            </a:r>
            <a:r>
              <a:rPr lang="en-US">
                <a:solidFill>
                  <a:srgbClr val="0000FF"/>
                </a:solidFill>
                <a:latin typeface="Consolas" panose="020B0609020204030204" pitchFamily="49" charset="0"/>
              </a:rPr>
              <a:t>=&gt;</a:t>
            </a:r>
            <a:r>
              <a:rPr lang="en-US">
                <a:solidFill>
                  <a:srgbClr val="3B3B3B"/>
                </a:solidFill>
                <a:latin typeface="Consolas" panose="020B0609020204030204" pitchFamily="49" charset="0"/>
              </a:rPr>
              <a:t> </a:t>
            </a:r>
            <a:r>
              <a:rPr lang="en-US">
                <a:solidFill>
                  <a:srgbClr val="001080"/>
                </a:solidFill>
                <a:latin typeface="Consolas" panose="020B0609020204030204" pitchFamily="49" charset="0"/>
              </a:rPr>
              <a:t>item</a:t>
            </a:r>
            <a:r>
              <a:rPr lang="en-US">
                <a:solidFill>
                  <a:srgbClr val="3B3B3B"/>
                </a:solidFill>
                <a:latin typeface="Consolas" panose="020B0609020204030204" pitchFamily="49" charset="0"/>
              </a:rPr>
              <a:t> </a:t>
            </a:r>
            <a:r>
              <a:rPr lang="en-US">
                <a:solidFill>
                  <a:srgbClr val="000000"/>
                </a:solidFill>
                <a:latin typeface="Consolas" panose="020B0609020204030204" pitchFamily="49" charset="0"/>
              </a:rPr>
              <a:t>&gt;=</a:t>
            </a:r>
            <a:r>
              <a:rPr lang="en-US">
                <a:solidFill>
                  <a:srgbClr val="3B3B3B"/>
                </a:solidFill>
                <a:latin typeface="Consolas" panose="020B0609020204030204" pitchFamily="49" charset="0"/>
              </a:rPr>
              <a:t> </a:t>
            </a:r>
            <a:r>
              <a:rPr lang="en-US">
                <a:solidFill>
                  <a:srgbClr val="001080"/>
                </a:solidFill>
                <a:latin typeface="Consolas" panose="020B0609020204030204" pitchFamily="49" charset="0"/>
              </a:rPr>
              <a:t>target</a:t>
            </a:r>
            <a:r>
              <a:rPr lang="en-US">
                <a:solidFill>
                  <a:srgbClr val="3B3B3B"/>
                </a:solidFill>
                <a:latin typeface="Consolas" panose="020B0609020204030204" pitchFamily="49" charset="0"/>
              </a:rPr>
              <a:t>);</a:t>
            </a:r>
          </a:p>
          <a:p>
            <a:r>
              <a:rPr lang="en-US">
                <a:solidFill>
                  <a:srgbClr val="3B3B3B"/>
                </a:solidFill>
                <a:latin typeface="Consolas" panose="020B0609020204030204" pitchFamily="49" charset="0"/>
              </a:rPr>
              <a:t>}</a:t>
            </a:r>
            <a:r>
              <a:rPr lang="en-US"/>
              <a:t>               </a:t>
            </a:r>
            <a:endParaRPr/>
          </a:p>
        </p:txBody>
      </p:sp>
      <p:sp>
        <p:nvSpPr>
          <p:cNvPr id="830" name="Correct code for ‘Contains” in IP1"/>
          <p:cNvSpPr txBox="1"/>
          <p:nvPr/>
        </p:nvSpPr>
        <p:spPr>
          <a:xfrm>
            <a:off x="1104030" y="1500339"/>
            <a:ext cx="2284151" cy="36933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lang="en-US"/>
              <a:t>Original code (correct)</a:t>
            </a:r>
            <a:endParaRPr/>
          </a:p>
        </p:txBody>
      </p:sp>
      <p:sp>
        <p:nvSpPr>
          <p:cNvPr id="832" name="Mutated (and buggy) code for ‘Contains” in IP1"/>
          <p:cNvSpPr txBox="1"/>
          <p:nvPr/>
        </p:nvSpPr>
        <p:spPr>
          <a:xfrm>
            <a:off x="1104030" y="3833759"/>
            <a:ext cx="2267737" cy="36933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t>Mutated</a:t>
            </a:r>
            <a:r>
              <a:rPr lang="en-US"/>
              <a:t> code (buggy)</a:t>
            </a:r>
            <a:endParaRPr/>
          </a:p>
        </p:txBody>
      </p:sp>
      <p:grpSp>
        <p:nvGrpSpPr>
          <p:cNvPr id="2" name="Group 1">
            <a:extLst>
              <a:ext uri="{FF2B5EF4-FFF2-40B4-BE49-F238E27FC236}">
                <a16:creationId xmlns:a16="http://schemas.microsoft.com/office/drawing/2014/main" id="{5B3C33E2-6499-B6D2-F9CB-10F1AA8927AF}"/>
              </a:ext>
            </a:extLst>
          </p:cNvPr>
          <p:cNvGrpSpPr/>
          <p:nvPr/>
        </p:nvGrpSpPr>
        <p:grpSpPr>
          <a:xfrm>
            <a:off x="1104030" y="4276021"/>
            <a:ext cx="8036174" cy="1892826"/>
            <a:chOff x="2222476" y="8248054"/>
            <a:chExt cx="16072346" cy="3785652"/>
          </a:xfrm>
        </p:grpSpPr>
        <p:sp>
          <p:nvSpPr>
            <p:cNvPr id="831" name="public contains(location: PlayerLocation): boolean {…"/>
            <p:cNvSpPr txBox="1"/>
            <p:nvPr/>
          </p:nvSpPr>
          <p:spPr>
            <a:xfrm>
              <a:off x="2222476" y="8248054"/>
              <a:ext cx="16072346" cy="3785652"/>
            </a:xfrm>
            <a:prstGeom prst="rect">
              <a:avLst/>
            </a:prstGeom>
            <a:ln w="25400">
              <a:solidFill>
                <a:schemeClr val="accent1"/>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lang="en-US"/>
                <a:t> </a:t>
              </a:r>
              <a:r>
                <a:rPr lang="en-US">
                  <a:solidFill>
                    <a:srgbClr val="008000"/>
                  </a:solidFill>
                  <a:latin typeface="Consolas" panose="020B0609020204030204" pitchFamily="49" charset="0"/>
                </a:rPr>
                <a:t>// find the first item in the list that is </a:t>
              </a:r>
              <a:endParaRPr lang="en-US">
                <a:solidFill>
                  <a:srgbClr val="3B3B3B"/>
                </a:solidFill>
                <a:latin typeface="Consolas" panose="020B0609020204030204" pitchFamily="49" charset="0"/>
              </a:endParaRPr>
            </a:p>
            <a:p>
              <a:r>
                <a:rPr lang="en-US">
                  <a:solidFill>
                    <a:srgbClr val="008000"/>
                  </a:solidFill>
                  <a:latin typeface="Consolas" panose="020B0609020204030204" pitchFamily="49" charset="0"/>
                </a:rPr>
                <a:t>// greater than or equal to the target.</a:t>
              </a:r>
              <a:endParaRPr lang="en-US">
                <a:solidFill>
                  <a:srgbClr val="3B3B3B"/>
                </a:solidFill>
                <a:latin typeface="Consolas" panose="020B0609020204030204" pitchFamily="49" charset="0"/>
              </a:endParaRPr>
            </a:p>
            <a:p>
              <a:r>
                <a:rPr lang="en-US">
                  <a:solidFill>
                    <a:srgbClr val="AF00DB"/>
                  </a:solidFill>
                  <a:latin typeface="Consolas" panose="020B0609020204030204" pitchFamily="49" charset="0"/>
                </a:rPr>
                <a:t>export</a:t>
              </a:r>
              <a:r>
                <a:rPr lang="en-US">
                  <a:solidFill>
                    <a:srgbClr val="3B3B3B"/>
                  </a:solidFill>
                  <a:latin typeface="Consolas" panose="020B0609020204030204" pitchFamily="49" charset="0"/>
                </a:rPr>
                <a:t> </a:t>
              </a:r>
              <a:r>
                <a:rPr lang="en-US">
                  <a:solidFill>
                    <a:srgbClr val="AF00DB"/>
                  </a:solidFill>
                  <a:latin typeface="Consolas" panose="020B0609020204030204" pitchFamily="49" charset="0"/>
                </a:rPr>
                <a:t>default</a:t>
              </a:r>
              <a:r>
                <a:rPr lang="en-US">
                  <a:solidFill>
                    <a:srgbClr val="3B3B3B"/>
                  </a:solidFill>
                  <a:latin typeface="Consolas" panose="020B0609020204030204" pitchFamily="49" charset="0"/>
                </a:rPr>
                <a:t> </a:t>
              </a:r>
              <a:r>
                <a:rPr lang="en-US">
                  <a:solidFill>
                    <a:srgbClr val="0000FF"/>
                  </a:solidFill>
                  <a:latin typeface="Consolas" panose="020B0609020204030204" pitchFamily="49" charset="0"/>
                </a:rPr>
                <a:t>function</a:t>
              </a:r>
              <a:r>
                <a:rPr lang="en-US">
                  <a:solidFill>
                    <a:srgbClr val="3B3B3B"/>
                  </a:solidFill>
                  <a:latin typeface="Consolas" panose="020B0609020204030204" pitchFamily="49" charset="0"/>
                </a:rPr>
                <a:t> </a:t>
              </a:r>
              <a:r>
                <a:rPr lang="en-US">
                  <a:solidFill>
                    <a:srgbClr val="795E26"/>
                  </a:solidFill>
                  <a:latin typeface="Consolas" panose="020B0609020204030204" pitchFamily="49" charset="0"/>
                </a:rPr>
                <a:t>search</a:t>
              </a:r>
              <a:r>
                <a:rPr lang="en-US">
                  <a:solidFill>
                    <a:srgbClr val="3B3B3B"/>
                  </a:solidFill>
                  <a:latin typeface="Consolas" panose="020B0609020204030204" pitchFamily="49" charset="0"/>
                </a:rPr>
                <a:t>(</a:t>
              </a:r>
              <a:r>
                <a:rPr lang="en-US" err="1">
                  <a:solidFill>
                    <a:srgbClr val="001080"/>
                  </a:solidFill>
                  <a:latin typeface="Consolas" panose="020B0609020204030204" pitchFamily="49" charset="0"/>
                </a:rPr>
                <a:t>list</a:t>
              </a:r>
              <a:r>
                <a:rPr lang="en-US" err="1">
                  <a:solidFill>
                    <a:srgbClr val="000000"/>
                  </a:solidFill>
                  <a:latin typeface="Consolas" panose="020B0609020204030204" pitchFamily="49" charset="0"/>
                </a:rPr>
                <a:t>:</a:t>
              </a:r>
              <a:r>
                <a:rPr lang="en-US" err="1">
                  <a:solidFill>
                    <a:srgbClr val="267F99"/>
                  </a:solidFill>
                  <a:latin typeface="Consolas" panose="020B0609020204030204" pitchFamily="49" charset="0"/>
                </a:rPr>
                <a:t>number</a:t>
              </a:r>
              <a:r>
                <a:rPr lang="en-US">
                  <a:solidFill>
                    <a:srgbClr val="3B3B3B"/>
                  </a:solidFill>
                  <a:latin typeface="Consolas" panose="020B0609020204030204" pitchFamily="49" charset="0"/>
                </a:rPr>
                <a:t>[], </a:t>
              </a:r>
              <a:r>
                <a:rPr lang="en-US" err="1">
                  <a:solidFill>
                    <a:srgbClr val="001080"/>
                  </a:solidFill>
                  <a:latin typeface="Consolas" panose="020B0609020204030204" pitchFamily="49" charset="0"/>
                </a:rPr>
                <a:t>target</a:t>
              </a:r>
              <a:r>
                <a:rPr lang="en-US" err="1">
                  <a:solidFill>
                    <a:srgbClr val="000000"/>
                  </a:solidFill>
                  <a:latin typeface="Consolas" panose="020B0609020204030204" pitchFamily="49" charset="0"/>
                </a:rPr>
                <a:t>:</a:t>
              </a:r>
              <a:r>
                <a:rPr lang="en-US" err="1">
                  <a:solidFill>
                    <a:srgbClr val="267F99"/>
                  </a:solidFill>
                  <a:latin typeface="Consolas" panose="020B0609020204030204" pitchFamily="49" charset="0"/>
                </a:rPr>
                <a:t>number</a:t>
              </a:r>
              <a:r>
                <a:rPr lang="en-US">
                  <a:solidFill>
                    <a:srgbClr val="3B3B3B"/>
                  </a:solidFill>
                  <a:latin typeface="Consolas" panose="020B0609020204030204" pitchFamily="49" charset="0"/>
                </a:rPr>
                <a:t>) {</a:t>
              </a:r>
            </a:p>
            <a:p>
              <a:r>
                <a:rPr lang="en-US">
                  <a:solidFill>
                    <a:srgbClr val="3B3B3B"/>
                  </a:solidFill>
                  <a:latin typeface="Consolas" panose="020B0609020204030204" pitchFamily="49" charset="0"/>
                </a:rPr>
                <a:t>    </a:t>
              </a:r>
              <a:r>
                <a:rPr lang="en-US">
                  <a:solidFill>
                    <a:srgbClr val="AF00DB"/>
                  </a:solidFill>
                  <a:latin typeface="Consolas" panose="020B0609020204030204" pitchFamily="49" charset="0"/>
                </a:rPr>
                <a:t>return</a:t>
              </a:r>
              <a:r>
                <a:rPr lang="en-US">
                  <a:solidFill>
                    <a:srgbClr val="3B3B3B"/>
                  </a:solidFill>
                  <a:latin typeface="Consolas" panose="020B0609020204030204" pitchFamily="49" charset="0"/>
                </a:rPr>
                <a:t> </a:t>
              </a:r>
              <a:r>
                <a:rPr lang="en-US" err="1">
                  <a:solidFill>
                    <a:srgbClr val="001080"/>
                  </a:solidFill>
                  <a:latin typeface="Consolas" panose="020B0609020204030204" pitchFamily="49" charset="0"/>
                </a:rPr>
                <a:t>list</a:t>
              </a:r>
              <a:r>
                <a:rPr lang="en-US" err="1">
                  <a:solidFill>
                    <a:srgbClr val="3B3B3B"/>
                  </a:solidFill>
                  <a:latin typeface="Consolas" panose="020B0609020204030204" pitchFamily="49" charset="0"/>
                </a:rPr>
                <a:t>.</a:t>
              </a:r>
              <a:r>
                <a:rPr lang="en-US" err="1">
                  <a:solidFill>
                    <a:srgbClr val="795E26"/>
                  </a:solidFill>
                  <a:latin typeface="Consolas" panose="020B0609020204030204" pitchFamily="49" charset="0"/>
                </a:rPr>
                <a:t>find</a:t>
              </a:r>
              <a:r>
                <a:rPr lang="en-US">
                  <a:solidFill>
                    <a:srgbClr val="3B3B3B"/>
                  </a:solidFill>
                  <a:latin typeface="Consolas" panose="020B0609020204030204" pitchFamily="49" charset="0"/>
                </a:rPr>
                <a:t>((</a:t>
              </a:r>
              <a:r>
                <a:rPr lang="en-US">
                  <a:solidFill>
                    <a:srgbClr val="001080"/>
                  </a:solidFill>
                  <a:latin typeface="Consolas" panose="020B0609020204030204" pitchFamily="49" charset="0"/>
                </a:rPr>
                <a:t>item</a:t>
              </a:r>
              <a:r>
                <a:rPr lang="en-US">
                  <a:solidFill>
                    <a:srgbClr val="3B3B3B"/>
                  </a:solidFill>
                  <a:latin typeface="Consolas" panose="020B0609020204030204" pitchFamily="49" charset="0"/>
                </a:rPr>
                <a:t>) </a:t>
              </a:r>
              <a:r>
                <a:rPr lang="en-US">
                  <a:solidFill>
                    <a:srgbClr val="0000FF"/>
                  </a:solidFill>
                  <a:latin typeface="Consolas" panose="020B0609020204030204" pitchFamily="49" charset="0"/>
                </a:rPr>
                <a:t>=&gt;</a:t>
              </a:r>
              <a:r>
                <a:rPr lang="en-US">
                  <a:solidFill>
                    <a:srgbClr val="3B3B3B"/>
                  </a:solidFill>
                  <a:latin typeface="Consolas" panose="020B0609020204030204" pitchFamily="49" charset="0"/>
                </a:rPr>
                <a:t> </a:t>
              </a:r>
              <a:r>
                <a:rPr lang="en-US">
                  <a:solidFill>
                    <a:srgbClr val="001080"/>
                  </a:solidFill>
                  <a:latin typeface="Consolas" panose="020B0609020204030204" pitchFamily="49" charset="0"/>
                </a:rPr>
                <a:t>item</a:t>
              </a:r>
              <a:r>
                <a:rPr lang="en-US">
                  <a:solidFill>
                    <a:srgbClr val="3B3B3B"/>
                  </a:solidFill>
                  <a:latin typeface="Consolas" panose="020B0609020204030204" pitchFamily="49" charset="0"/>
                </a:rPr>
                <a:t> </a:t>
              </a:r>
              <a:r>
                <a:rPr lang="en-US">
                  <a:solidFill>
                    <a:srgbClr val="000000"/>
                  </a:solidFill>
                  <a:latin typeface="Consolas" panose="020B0609020204030204" pitchFamily="49" charset="0"/>
                </a:rPr>
                <a:t>&gt;</a:t>
              </a:r>
              <a:r>
                <a:rPr lang="en-US">
                  <a:solidFill>
                    <a:srgbClr val="3B3B3B"/>
                  </a:solidFill>
                  <a:latin typeface="Consolas" panose="020B0609020204030204" pitchFamily="49" charset="0"/>
                </a:rPr>
                <a:t> </a:t>
              </a:r>
              <a:r>
                <a:rPr lang="en-US">
                  <a:solidFill>
                    <a:srgbClr val="001080"/>
                  </a:solidFill>
                  <a:latin typeface="Consolas" panose="020B0609020204030204" pitchFamily="49" charset="0"/>
                </a:rPr>
                <a:t>target</a:t>
              </a:r>
              <a:r>
                <a:rPr lang="en-US">
                  <a:solidFill>
                    <a:srgbClr val="3B3B3B"/>
                  </a:solidFill>
                  <a:latin typeface="Consolas" panose="020B0609020204030204" pitchFamily="49" charset="0"/>
                </a:rPr>
                <a:t>);</a:t>
              </a:r>
            </a:p>
            <a:p>
              <a:r>
                <a:rPr lang="en-US">
                  <a:solidFill>
                    <a:srgbClr val="3B3B3B"/>
                  </a:solidFill>
                  <a:latin typeface="Consolas" panose="020B0609020204030204" pitchFamily="49" charset="0"/>
                </a:rPr>
                <a:t>}</a:t>
              </a:r>
            </a:p>
            <a:p>
              <a:pPr defTabSz="457200">
                <a:defRPr sz="2700">
                  <a:solidFill>
                    <a:srgbClr val="272727"/>
                  </a:solidFill>
                  <a:latin typeface="Courier"/>
                  <a:ea typeface="Courier"/>
                  <a:cs typeface="Courier"/>
                  <a:sym typeface="Courier"/>
                </a:defRPr>
              </a:pPr>
              <a:r>
                <a:rPr lang="en-US"/>
                <a:t>    </a:t>
              </a:r>
              <a:endParaRPr/>
            </a:p>
          </p:txBody>
        </p:sp>
        <p:sp>
          <p:nvSpPr>
            <p:cNvPr id="833" name="Rectangle"/>
            <p:cNvSpPr/>
            <p:nvPr/>
          </p:nvSpPr>
          <p:spPr>
            <a:xfrm>
              <a:off x="10037349" y="9836414"/>
              <a:ext cx="3786850" cy="902736"/>
            </a:xfrm>
            <a:prstGeom prst="rect">
              <a:avLst/>
            </a:prstGeom>
            <a:ln w="114300">
              <a:solidFill>
                <a:srgbClr val="F14C0E"/>
              </a:solidFill>
              <a:miter/>
            </a:ln>
          </p:spPr>
          <p:txBody>
            <a:bodyPr tIns="45720" bIns="45720" anchor="ctr"/>
            <a:lstStyle/>
            <a:p>
              <a:endParaRPr/>
            </a:p>
          </p:txBody>
        </p:sp>
      </p:grpSp>
      <p:pic>
        <p:nvPicPr>
          <p:cNvPr id="3" name="Picture 2">
            <a:extLst>
              <a:ext uri="{FF2B5EF4-FFF2-40B4-BE49-F238E27FC236}">
                <a16:creationId xmlns:a16="http://schemas.microsoft.com/office/drawing/2014/main" id="{D1079989-BE9D-E831-53D2-F4414CE47B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18716" y="2869299"/>
            <a:ext cx="1243099" cy="17159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77424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2">
            <a:extLst>
              <a:ext uri="{FF2B5EF4-FFF2-40B4-BE49-F238E27FC236}">
                <a16:creationId xmlns:a16="http://schemas.microsoft.com/office/drawing/2014/main" id="{0595816B-3B9E-0DD6-E8BE-1FA448A2CD3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90531" y="4504113"/>
            <a:ext cx="988471" cy="708715"/>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8FD725C7-6D2A-BE5D-7391-3B4F57B2265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45929" y="3202602"/>
            <a:ext cx="988471" cy="70871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4EE7052-82B2-BFE2-BE3C-7FE04E90D362}"/>
              </a:ext>
            </a:extLst>
          </p:cNvPr>
          <p:cNvSpPr>
            <a:spLocks noGrp="1"/>
          </p:cNvSpPr>
          <p:nvPr>
            <p:ph type="title"/>
          </p:nvPr>
        </p:nvSpPr>
        <p:spPr/>
        <p:txBody>
          <a:bodyPr/>
          <a:lstStyle/>
          <a:p>
            <a:r>
              <a:rPr lang="en-US" dirty="0"/>
              <a:t>Adversarial Testing: The Opening</a:t>
            </a:r>
          </a:p>
        </p:txBody>
      </p:sp>
      <p:sp>
        <p:nvSpPr>
          <p:cNvPr id="4" name="Slide Number Placeholder 3">
            <a:extLst>
              <a:ext uri="{FF2B5EF4-FFF2-40B4-BE49-F238E27FC236}">
                <a16:creationId xmlns:a16="http://schemas.microsoft.com/office/drawing/2014/main" id="{37AAF879-2BA6-4795-5D2A-ACA6A66F074D}"/>
              </a:ext>
            </a:extLst>
          </p:cNvPr>
          <p:cNvSpPr>
            <a:spLocks noGrp="1"/>
          </p:cNvSpPr>
          <p:nvPr>
            <p:ph type="sldNum" sz="quarter" idx="12"/>
          </p:nvPr>
        </p:nvSpPr>
        <p:spPr>
          <a:xfrm>
            <a:off x="4305300" y="3178175"/>
            <a:ext cx="1371600" cy="182563"/>
          </a:xfrm>
          <a:prstGeom prst="rect">
            <a:avLst/>
          </a:prstGeom>
        </p:spPr>
        <p:txBody>
          <a:bodyPr vert="horz" lIns="45720" tIns="22860" rIns="45720" bIns="22860" rtlCol="0" anchor="ctr"/>
          <a:lstStyle>
            <a:defPPr marL="0" marR="0" indent="0" algn="l" defTabSz="228600" rtl="0" fontAlgn="auto" latinLnBrk="1" hangingPunct="0">
              <a:lnSpc>
                <a:spcPct val="100000"/>
              </a:lnSpc>
              <a:spcBef>
                <a:spcPts val="0"/>
              </a:spcBef>
              <a:spcAft>
                <a:spcPts val="0"/>
              </a:spcAft>
              <a:buClrTx/>
              <a:buSzTx/>
              <a:buFontTx/>
              <a:buNone/>
              <a:tabLst/>
              <a:defRPr kumimoji="0" sz="450" b="0" i="0" u="none" strike="noStrike" cap="none" spc="0" normalizeH="0" baseline="0">
                <a:ln>
                  <a:noFill/>
                </a:ln>
                <a:solidFill>
                  <a:srgbClr val="000000"/>
                </a:solidFill>
                <a:effectLst/>
                <a:uFillTx/>
              </a:defRPr>
            </a:defPPr>
            <a:lvl1pPr marL="0" marR="0" indent="0" algn="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chemeClr val="tx1">
                    <a:tint val="75000"/>
                  </a:schemeClr>
                </a:solidFill>
                <a:effectLst/>
                <a:uFillTx/>
                <a:latin typeface="+mn-lt"/>
                <a:ea typeface="+mn-ea"/>
                <a:cs typeface="+mn-cs"/>
                <a:sym typeface="Helvetica Neue"/>
              </a:defRPr>
            </a:lvl1pPr>
            <a:lvl2pPr marL="0" marR="0" indent="1143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2pPr>
            <a:lvl3pPr marL="0" marR="0" indent="2286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3pPr>
            <a:lvl4pPr marL="0" marR="0" indent="3429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4pPr>
            <a:lvl5pPr marL="0" marR="0" indent="4572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5pPr>
            <a:lvl6pPr marL="0" marR="0" indent="5715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6pPr>
            <a:lvl7pPr marL="0" marR="0" indent="6858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7pPr>
            <a:lvl8pPr marL="0" marR="0" indent="8001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8pPr>
            <a:lvl9pPr marL="0" marR="0" indent="9144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9pPr>
          </a:lstStyle>
          <a:p>
            <a:pPr defTabSz="457200" hangingPunct="1">
              <a:defRPr/>
            </a:pPr>
            <a:fld id="{20F37917-FD3A-4669-9018-DA04BCDD3D75}" type="slidenum">
              <a:rPr lang="en-US" kern="1200" smtClean="0">
                <a:solidFill>
                  <a:prstClr val="black">
                    <a:tint val="75000"/>
                  </a:prstClr>
                </a:solidFill>
                <a:latin typeface="Calibri" panose="020F0502020204030204"/>
              </a:rPr>
              <a:pPr defTabSz="457200" hangingPunct="1">
                <a:defRPr/>
              </a:pPr>
              <a:t>31</a:t>
            </a:fld>
            <a:endParaRPr lang="en-US" sz="1200">
              <a:solidFill>
                <a:prstClr val="black">
                  <a:tint val="75000"/>
                </a:prstClr>
              </a:solidFill>
              <a:latin typeface="Calibri" panose="020F0502020204030204"/>
            </a:endParaRPr>
          </a:p>
        </p:txBody>
      </p:sp>
      <p:sp>
        <p:nvSpPr>
          <p:cNvPr id="8" name="Rectangle 7">
            <a:extLst>
              <a:ext uri="{FF2B5EF4-FFF2-40B4-BE49-F238E27FC236}">
                <a16:creationId xmlns:a16="http://schemas.microsoft.com/office/drawing/2014/main" id="{926B2026-3232-5195-5849-5027E1E47B7E}"/>
              </a:ext>
            </a:extLst>
          </p:cNvPr>
          <p:cNvSpPr/>
          <p:nvPr/>
        </p:nvSpPr>
        <p:spPr>
          <a:xfrm>
            <a:off x="2179527" y="244947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code</a:t>
            </a:r>
          </a:p>
        </p:txBody>
      </p:sp>
      <p:sp>
        <p:nvSpPr>
          <p:cNvPr id="10" name="Rectangle 9">
            <a:extLst>
              <a:ext uri="{FF2B5EF4-FFF2-40B4-BE49-F238E27FC236}">
                <a16:creationId xmlns:a16="http://schemas.microsoft.com/office/drawing/2014/main" id="{9F89201E-2738-414E-269A-376A465CDDA3}"/>
              </a:ext>
            </a:extLst>
          </p:cNvPr>
          <p:cNvSpPr/>
          <p:nvPr/>
        </p:nvSpPr>
        <p:spPr>
          <a:xfrm>
            <a:off x="2179528" y="4991571"/>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tests</a:t>
            </a:r>
          </a:p>
        </p:txBody>
      </p:sp>
      <p:sp>
        <p:nvSpPr>
          <p:cNvPr id="11" name="TextBox 10">
            <a:extLst>
              <a:ext uri="{FF2B5EF4-FFF2-40B4-BE49-F238E27FC236}">
                <a16:creationId xmlns:a16="http://schemas.microsoft.com/office/drawing/2014/main" id="{0F416FE4-CB69-886C-0B48-F8CA9ADCDB41}"/>
              </a:ext>
            </a:extLst>
          </p:cNvPr>
          <p:cNvSpPr txBox="1"/>
          <p:nvPr/>
        </p:nvSpPr>
        <p:spPr>
          <a:xfrm>
            <a:off x="246136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Player (You)</a:t>
            </a:r>
          </a:p>
        </p:txBody>
      </p:sp>
      <p:sp>
        <p:nvSpPr>
          <p:cNvPr id="12" name="TextBox 11">
            <a:extLst>
              <a:ext uri="{FF2B5EF4-FFF2-40B4-BE49-F238E27FC236}">
                <a16:creationId xmlns:a16="http://schemas.microsoft.com/office/drawing/2014/main" id="{33AC4057-B8C2-2DCD-C9E4-10A4D020C27E}"/>
              </a:ext>
            </a:extLst>
          </p:cNvPr>
          <p:cNvSpPr txBox="1"/>
          <p:nvPr/>
        </p:nvSpPr>
        <p:spPr>
          <a:xfrm>
            <a:off x="699787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Opponent (Them)</a:t>
            </a:r>
          </a:p>
        </p:txBody>
      </p:sp>
      <p:sp>
        <p:nvSpPr>
          <p:cNvPr id="16" name="Rectangle 15">
            <a:extLst>
              <a:ext uri="{FF2B5EF4-FFF2-40B4-BE49-F238E27FC236}">
                <a16:creationId xmlns:a16="http://schemas.microsoft.com/office/drawing/2014/main" id="{33E29B71-D522-B200-066D-36D129260235}"/>
              </a:ext>
            </a:extLst>
          </p:cNvPr>
          <p:cNvSpPr/>
          <p:nvPr/>
        </p:nvSpPr>
        <p:spPr>
          <a:xfrm>
            <a:off x="6258835" y="4805045"/>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2</a:t>
            </a:r>
          </a:p>
        </p:txBody>
      </p:sp>
      <p:sp>
        <p:nvSpPr>
          <p:cNvPr id="17" name="Rectangle 16">
            <a:extLst>
              <a:ext uri="{FF2B5EF4-FFF2-40B4-BE49-F238E27FC236}">
                <a16:creationId xmlns:a16="http://schemas.microsoft.com/office/drawing/2014/main" id="{38DBC254-38B3-3961-D394-D5719E3CE6DC}"/>
              </a:ext>
            </a:extLst>
          </p:cNvPr>
          <p:cNvSpPr/>
          <p:nvPr/>
        </p:nvSpPr>
        <p:spPr>
          <a:xfrm>
            <a:off x="6258836" y="5967076"/>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3</a:t>
            </a:r>
          </a:p>
        </p:txBody>
      </p:sp>
      <p:sp>
        <p:nvSpPr>
          <p:cNvPr id="15" name="Rectangle 14">
            <a:extLst>
              <a:ext uri="{FF2B5EF4-FFF2-40B4-BE49-F238E27FC236}">
                <a16:creationId xmlns:a16="http://schemas.microsoft.com/office/drawing/2014/main" id="{0257930C-BC52-BEC7-1AAD-086DD7C34E9E}"/>
              </a:ext>
            </a:extLst>
          </p:cNvPr>
          <p:cNvSpPr/>
          <p:nvPr/>
        </p:nvSpPr>
        <p:spPr>
          <a:xfrm>
            <a:off x="6258836" y="362515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1</a:t>
            </a:r>
          </a:p>
        </p:txBody>
      </p:sp>
      <p:sp>
        <p:nvSpPr>
          <p:cNvPr id="21" name="Arrow: Bent-Up 20">
            <a:extLst>
              <a:ext uri="{FF2B5EF4-FFF2-40B4-BE49-F238E27FC236}">
                <a16:creationId xmlns:a16="http://schemas.microsoft.com/office/drawing/2014/main" id="{EF06BE51-2A69-A4B9-27F9-528C08837D6E}"/>
              </a:ext>
            </a:extLst>
          </p:cNvPr>
          <p:cNvSpPr/>
          <p:nvPr/>
        </p:nvSpPr>
        <p:spPr>
          <a:xfrm rot="5400000" flipV="1">
            <a:off x="8255390" y="2830940"/>
            <a:ext cx="991500" cy="1958268"/>
          </a:xfrm>
          <a:prstGeom prst="bentUpArrow">
            <a:avLst>
              <a:gd name="adj1" fmla="val 16123"/>
              <a:gd name="adj2" fmla="val 23863"/>
              <a:gd name="adj3" fmla="val 2500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4" name="Arrow: Bent-Up 23">
            <a:extLst>
              <a:ext uri="{FF2B5EF4-FFF2-40B4-BE49-F238E27FC236}">
                <a16:creationId xmlns:a16="http://schemas.microsoft.com/office/drawing/2014/main" id="{B121B697-7A3A-DF1A-E6C0-4123DBA3B11D}"/>
              </a:ext>
            </a:extLst>
          </p:cNvPr>
          <p:cNvSpPr/>
          <p:nvPr/>
        </p:nvSpPr>
        <p:spPr>
          <a:xfrm rot="5400000" flipV="1">
            <a:off x="7101463" y="3967530"/>
            <a:ext cx="3299957" cy="1996890"/>
          </a:xfrm>
          <a:prstGeom prst="bentUpArrow">
            <a:avLst>
              <a:gd name="adj1" fmla="val 10829"/>
              <a:gd name="adj2" fmla="val 10090"/>
              <a:gd name="adj3" fmla="val 12705"/>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5" name="Arrow: Bent-Up 24">
            <a:extLst>
              <a:ext uri="{FF2B5EF4-FFF2-40B4-BE49-F238E27FC236}">
                <a16:creationId xmlns:a16="http://schemas.microsoft.com/office/drawing/2014/main" id="{7362EE26-27CC-D95A-9D5B-ECC434346566}"/>
              </a:ext>
            </a:extLst>
          </p:cNvPr>
          <p:cNvSpPr/>
          <p:nvPr/>
        </p:nvSpPr>
        <p:spPr>
          <a:xfrm rot="5400000" flipV="1">
            <a:off x="7701494" y="3351410"/>
            <a:ext cx="2067721" cy="1996891"/>
          </a:xfrm>
          <a:prstGeom prst="bentUpArrow">
            <a:avLst>
              <a:gd name="adj1" fmla="val 8360"/>
              <a:gd name="adj2" fmla="val 7366"/>
              <a:gd name="adj3" fmla="val 1295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0" name="Left Brace 19">
            <a:extLst>
              <a:ext uri="{FF2B5EF4-FFF2-40B4-BE49-F238E27FC236}">
                <a16:creationId xmlns:a16="http://schemas.microsoft.com/office/drawing/2014/main" id="{B19FFA5D-0DD8-B003-5C54-546090139A8D}"/>
              </a:ext>
            </a:extLst>
          </p:cNvPr>
          <p:cNvSpPr/>
          <p:nvPr/>
        </p:nvSpPr>
        <p:spPr>
          <a:xfrm>
            <a:off x="3706745" y="3759228"/>
            <a:ext cx="430144" cy="2856726"/>
          </a:xfrm>
          <a:prstGeom prst="leftBrace">
            <a:avLst>
              <a:gd name="adj1" fmla="val 61066"/>
              <a:gd name="adj2" fmla="val 50458"/>
            </a:avLst>
          </a:prstGeom>
          <a:ln w="12700">
            <a:solidFill>
              <a:schemeClr val="tx1"/>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3600"/>
          </a:p>
        </p:txBody>
      </p:sp>
      <p:pic>
        <p:nvPicPr>
          <p:cNvPr id="28" name="Picture 2">
            <a:extLst>
              <a:ext uri="{FF2B5EF4-FFF2-40B4-BE49-F238E27FC236}">
                <a16:creationId xmlns:a16="http://schemas.microsoft.com/office/drawing/2014/main" id="{BC017D78-4438-32C9-F49D-111FF4C9DBD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83690" y="2193512"/>
            <a:ext cx="828784" cy="1144005"/>
          </a:xfrm>
          <a:prstGeom prst="rect">
            <a:avLst/>
          </a:prstGeom>
          <a:noFill/>
          <a:extLst>
            <a:ext uri="{909E8E84-426E-40DD-AFC4-6F175D3DCCD1}">
              <a14:hiddenFill xmlns:a14="http://schemas.microsoft.com/office/drawing/2010/main">
                <a:solidFill>
                  <a:srgbClr val="FFFFFF"/>
                </a:solidFill>
              </a14:hiddenFill>
            </a:ext>
          </a:extLst>
        </p:spPr>
      </p:pic>
      <p:sp>
        <p:nvSpPr>
          <p:cNvPr id="33" name="Arrow: Right 32">
            <a:extLst>
              <a:ext uri="{FF2B5EF4-FFF2-40B4-BE49-F238E27FC236}">
                <a16:creationId xmlns:a16="http://schemas.microsoft.com/office/drawing/2014/main" id="{37DAD66B-37C5-1082-F704-979AC7F10D63}"/>
              </a:ext>
            </a:extLst>
          </p:cNvPr>
          <p:cNvSpPr/>
          <p:nvPr/>
        </p:nvSpPr>
        <p:spPr>
          <a:xfrm>
            <a:off x="3706745" y="2718486"/>
            <a:ext cx="5476945" cy="404334"/>
          </a:xfrm>
          <a:prstGeom prst="rightArrow">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3600" dirty="0">
              <a:solidFill>
                <a:schemeClr val="tx1"/>
              </a:solidFill>
            </a:endParaRPr>
          </a:p>
        </p:txBody>
      </p:sp>
      <p:sp>
        <p:nvSpPr>
          <p:cNvPr id="3" name="Arrow: Left-Right 2">
            <a:extLst>
              <a:ext uri="{FF2B5EF4-FFF2-40B4-BE49-F238E27FC236}">
                <a16:creationId xmlns:a16="http://schemas.microsoft.com/office/drawing/2014/main" id="{07CBCD99-0245-8739-4561-E0A544C22620}"/>
              </a:ext>
            </a:extLst>
          </p:cNvPr>
          <p:cNvSpPr/>
          <p:nvPr/>
        </p:nvSpPr>
        <p:spPr>
          <a:xfrm>
            <a:off x="3956500" y="3735181"/>
            <a:ext cx="2278247" cy="452388"/>
          </a:xfrm>
          <a:prstGeom prst="leftRightArrow">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5" name="Arrow: Left-Right 4">
            <a:extLst>
              <a:ext uri="{FF2B5EF4-FFF2-40B4-BE49-F238E27FC236}">
                <a16:creationId xmlns:a16="http://schemas.microsoft.com/office/drawing/2014/main" id="{9863E180-F4AB-1BBA-9BF6-E55BF0BAF4BC}"/>
              </a:ext>
            </a:extLst>
          </p:cNvPr>
          <p:cNvSpPr/>
          <p:nvPr/>
        </p:nvSpPr>
        <p:spPr>
          <a:xfrm>
            <a:off x="3974618" y="4926005"/>
            <a:ext cx="2278247" cy="452388"/>
          </a:xfrm>
          <a:prstGeom prst="leftRightArrow">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9" name="Arrow: Left-Right 8">
            <a:extLst>
              <a:ext uri="{FF2B5EF4-FFF2-40B4-BE49-F238E27FC236}">
                <a16:creationId xmlns:a16="http://schemas.microsoft.com/office/drawing/2014/main" id="{B444A2AE-EC65-7050-E2CE-656816C1658D}"/>
              </a:ext>
            </a:extLst>
          </p:cNvPr>
          <p:cNvSpPr/>
          <p:nvPr/>
        </p:nvSpPr>
        <p:spPr>
          <a:xfrm>
            <a:off x="3982664" y="6041167"/>
            <a:ext cx="2278247" cy="452388"/>
          </a:xfrm>
          <a:prstGeom prst="leftRightArrow">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7" name="Arrow: Left-Right 6">
            <a:extLst>
              <a:ext uri="{FF2B5EF4-FFF2-40B4-BE49-F238E27FC236}">
                <a16:creationId xmlns:a16="http://schemas.microsoft.com/office/drawing/2014/main" id="{BA08AF62-F01A-9988-BF09-8175AEC83E0C}"/>
              </a:ext>
            </a:extLst>
          </p:cNvPr>
          <p:cNvSpPr/>
          <p:nvPr/>
        </p:nvSpPr>
        <p:spPr>
          <a:xfrm rot="16200000">
            <a:off x="2016513" y="3938350"/>
            <a:ext cx="1654055" cy="452388"/>
          </a:xfrm>
          <a:prstGeom prst="leftRightArrow">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Tree>
    <p:extLst>
      <p:ext uri="{BB962C8B-B14F-4D97-AF65-F5344CB8AC3E}">
        <p14:creationId xmlns:p14="http://schemas.microsoft.com/office/powerpoint/2010/main" val="1306166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2">
            <a:extLst>
              <a:ext uri="{FF2B5EF4-FFF2-40B4-BE49-F238E27FC236}">
                <a16:creationId xmlns:a16="http://schemas.microsoft.com/office/drawing/2014/main" id="{0595816B-3B9E-0DD6-E8BE-1FA448A2CD3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90531" y="4504113"/>
            <a:ext cx="988471" cy="708715"/>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8FD725C7-6D2A-BE5D-7391-3B4F57B2265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45929" y="3202602"/>
            <a:ext cx="988471" cy="70871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4EE7052-82B2-BFE2-BE3C-7FE04E90D362}"/>
              </a:ext>
            </a:extLst>
          </p:cNvPr>
          <p:cNvSpPr>
            <a:spLocks noGrp="1"/>
          </p:cNvSpPr>
          <p:nvPr>
            <p:ph type="title"/>
          </p:nvPr>
        </p:nvSpPr>
        <p:spPr/>
        <p:txBody>
          <a:bodyPr/>
          <a:lstStyle/>
          <a:p>
            <a:r>
              <a:rPr lang="en-US" dirty="0"/>
              <a:t>Adversarial Testing: A round of play</a:t>
            </a:r>
          </a:p>
        </p:txBody>
      </p:sp>
      <p:sp>
        <p:nvSpPr>
          <p:cNvPr id="4" name="Slide Number Placeholder 3">
            <a:extLst>
              <a:ext uri="{FF2B5EF4-FFF2-40B4-BE49-F238E27FC236}">
                <a16:creationId xmlns:a16="http://schemas.microsoft.com/office/drawing/2014/main" id="{37AAF879-2BA6-4795-5D2A-ACA6A66F074D}"/>
              </a:ext>
            </a:extLst>
          </p:cNvPr>
          <p:cNvSpPr>
            <a:spLocks noGrp="1"/>
          </p:cNvSpPr>
          <p:nvPr>
            <p:ph type="sldNum" sz="quarter" idx="12"/>
          </p:nvPr>
        </p:nvSpPr>
        <p:spPr>
          <a:xfrm>
            <a:off x="4305300" y="3178175"/>
            <a:ext cx="1371600" cy="182563"/>
          </a:xfrm>
          <a:prstGeom prst="rect">
            <a:avLst/>
          </a:prstGeom>
        </p:spPr>
        <p:txBody>
          <a:bodyPr vert="horz" lIns="45720" tIns="22860" rIns="45720" bIns="22860" rtlCol="0" anchor="ctr"/>
          <a:lstStyle>
            <a:defPPr marL="0" marR="0" indent="0" algn="l" defTabSz="228600" rtl="0" fontAlgn="auto" latinLnBrk="1" hangingPunct="0">
              <a:lnSpc>
                <a:spcPct val="100000"/>
              </a:lnSpc>
              <a:spcBef>
                <a:spcPts val="0"/>
              </a:spcBef>
              <a:spcAft>
                <a:spcPts val="0"/>
              </a:spcAft>
              <a:buClrTx/>
              <a:buSzTx/>
              <a:buFontTx/>
              <a:buNone/>
              <a:tabLst/>
              <a:defRPr kumimoji="0" sz="450" b="0" i="0" u="none" strike="noStrike" cap="none" spc="0" normalizeH="0" baseline="0">
                <a:ln>
                  <a:noFill/>
                </a:ln>
                <a:solidFill>
                  <a:srgbClr val="000000"/>
                </a:solidFill>
                <a:effectLst/>
                <a:uFillTx/>
              </a:defRPr>
            </a:defPPr>
            <a:lvl1pPr marL="0" marR="0" indent="0" algn="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chemeClr val="tx1">
                    <a:tint val="75000"/>
                  </a:schemeClr>
                </a:solidFill>
                <a:effectLst/>
                <a:uFillTx/>
                <a:latin typeface="+mn-lt"/>
                <a:ea typeface="+mn-ea"/>
                <a:cs typeface="+mn-cs"/>
                <a:sym typeface="Helvetica Neue"/>
              </a:defRPr>
            </a:lvl1pPr>
            <a:lvl2pPr marL="0" marR="0" indent="1143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2pPr>
            <a:lvl3pPr marL="0" marR="0" indent="2286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3pPr>
            <a:lvl4pPr marL="0" marR="0" indent="3429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4pPr>
            <a:lvl5pPr marL="0" marR="0" indent="4572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5pPr>
            <a:lvl6pPr marL="0" marR="0" indent="5715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6pPr>
            <a:lvl7pPr marL="0" marR="0" indent="6858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7pPr>
            <a:lvl8pPr marL="0" marR="0" indent="8001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8pPr>
            <a:lvl9pPr marL="0" marR="0" indent="9144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9pPr>
          </a:lstStyle>
          <a:p>
            <a:pPr defTabSz="457200" hangingPunct="1">
              <a:defRPr/>
            </a:pPr>
            <a:fld id="{20F37917-FD3A-4669-9018-DA04BCDD3D75}" type="slidenum">
              <a:rPr lang="en-US" kern="1200" smtClean="0">
                <a:solidFill>
                  <a:prstClr val="black">
                    <a:tint val="75000"/>
                  </a:prstClr>
                </a:solidFill>
                <a:latin typeface="Calibri" panose="020F0502020204030204"/>
              </a:rPr>
              <a:pPr defTabSz="457200" hangingPunct="1">
                <a:defRPr/>
              </a:pPr>
              <a:t>32</a:t>
            </a:fld>
            <a:endParaRPr lang="en-US" sz="1200">
              <a:solidFill>
                <a:prstClr val="black">
                  <a:tint val="75000"/>
                </a:prstClr>
              </a:solidFill>
              <a:latin typeface="Calibri" panose="020F0502020204030204"/>
            </a:endParaRPr>
          </a:p>
        </p:txBody>
      </p:sp>
      <p:sp>
        <p:nvSpPr>
          <p:cNvPr id="8" name="Rectangle 7">
            <a:extLst>
              <a:ext uri="{FF2B5EF4-FFF2-40B4-BE49-F238E27FC236}">
                <a16:creationId xmlns:a16="http://schemas.microsoft.com/office/drawing/2014/main" id="{926B2026-3232-5195-5849-5027E1E47B7E}"/>
              </a:ext>
            </a:extLst>
          </p:cNvPr>
          <p:cNvSpPr/>
          <p:nvPr/>
        </p:nvSpPr>
        <p:spPr>
          <a:xfrm>
            <a:off x="2179527" y="244947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code</a:t>
            </a:r>
          </a:p>
        </p:txBody>
      </p:sp>
      <p:sp>
        <p:nvSpPr>
          <p:cNvPr id="10" name="Rectangle 9">
            <a:extLst>
              <a:ext uri="{FF2B5EF4-FFF2-40B4-BE49-F238E27FC236}">
                <a16:creationId xmlns:a16="http://schemas.microsoft.com/office/drawing/2014/main" id="{9F89201E-2738-414E-269A-376A465CDDA3}"/>
              </a:ext>
            </a:extLst>
          </p:cNvPr>
          <p:cNvSpPr/>
          <p:nvPr/>
        </p:nvSpPr>
        <p:spPr>
          <a:xfrm>
            <a:off x="2179528" y="4991571"/>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tests</a:t>
            </a:r>
          </a:p>
        </p:txBody>
      </p:sp>
      <p:sp>
        <p:nvSpPr>
          <p:cNvPr id="11" name="TextBox 10">
            <a:extLst>
              <a:ext uri="{FF2B5EF4-FFF2-40B4-BE49-F238E27FC236}">
                <a16:creationId xmlns:a16="http://schemas.microsoft.com/office/drawing/2014/main" id="{0F416FE4-CB69-886C-0B48-F8CA9ADCDB41}"/>
              </a:ext>
            </a:extLst>
          </p:cNvPr>
          <p:cNvSpPr txBox="1"/>
          <p:nvPr/>
        </p:nvSpPr>
        <p:spPr>
          <a:xfrm>
            <a:off x="246136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Player (You)</a:t>
            </a:r>
          </a:p>
        </p:txBody>
      </p:sp>
      <p:sp>
        <p:nvSpPr>
          <p:cNvPr id="12" name="TextBox 11">
            <a:extLst>
              <a:ext uri="{FF2B5EF4-FFF2-40B4-BE49-F238E27FC236}">
                <a16:creationId xmlns:a16="http://schemas.microsoft.com/office/drawing/2014/main" id="{33AC4057-B8C2-2DCD-C9E4-10A4D020C27E}"/>
              </a:ext>
            </a:extLst>
          </p:cNvPr>
          <p:cNvSpPr txBox="1"/>
          <p:nvPr/>
        </p:nvSpPr>
        <p:spPr>
          <a:xfrm>
            <a:off x="699787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Opponent (Them)</a:t>
            </a:r>
          </a:p>
        </p:txBody>
      </p:sp>
      <p:sp>
        <p:nvSpPr>
          <p:cNvPr id="16" name="Rectangle 15">
            <a:extLst>
              <a:ext uri="{FF2B5EF4-FFF2-40B4-BE49-F238E27FC236}">
                <a16:creationId xmlns:a16="http://schemas.microsoft.com/office/drawing/2014/main" id="{33E29B71-D522-B200-066D-36D129260235}"/>
              </a:ext>
            </a:extLst>
          </p:cNvPr>
          <p:cNvSpPr/>
          <p:nvPr/>
        </p:nvSpPr>
        <p:spPr>
          <a:xfrm>
            <a:off x="6258835" y="4805045"/>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2</a:t>
            </a:r>
          </a:p>
        </p:txBody>
      </p:sp>
      <p:sp>
        <p:nvSpPr>
          <p:cNvPr id="17" name="Rectangle 16">
            <a:extLst>
              <a:ext uri="{FF2B5EF4-FFF2-40B4-BE49-F238E27FC236}">
                <a16:creationId xmlns:a16="http://schemas.microsoft.com/office/drawing/2014/main" id="{38DBC254-38B3-3961-D394-D5719E3CE6DC}"/>
              </a:ext>
            </a:extLst>
          </p:cNvPr>
          <p:cNvSpPr/>
          <p:nvPr/>
        </p:nvSpPr>
        <p:spPr>
          <a:xfrm>
            <a:off x="6258836" y="5967076"/>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3</a:t>
            </a:r>
          </a:p>
        </p:txBody>
      </p:sp>
      <p:sp>
        <p:nvSpPr>
          <p:cNvPr id="15" name="Rectangle 14">
            <a:extLst>
              <a:ext uri="{FF2B5EF4-FFF2-40B4-BE49-F238E27FC236}">
                <a16:creationId xmlns:a16="http://schemas.microsoft.com/office/drawing/2014/main" id="{0257930C-BC52-BEC7-1AAD-086DD7C34E9E}"/>
              </a:ext>
            </a:extLst>
          </p:cNvPr>
          <p:cNvSpPr/>
          <p:nvPr/>
        </p:nvSpPr>
        <p:spPr>
          <a:xfrm>
            <a:off x="6258836" y="362515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1</a:t>
            </a:r>
          </a:p>
        </p:txBody>
      </p:sp>
      <p:sp>
        <p:nvSpPr>
          <p:cNvPr id="21" name="Arrow: Bent-Up 20">
            <a:extLst>
              <a:ext uri="{FF2B5EF4-FFF2-40B4-BE49-F238E27FC236}">
                <a16:creationId xmlns:a16="http://schemas.microsoft.com/office/drawing/2014/main" id="{EF06BE51-2A69-A4B9-27F9-528C08837D6E}"/>
              </a:ext>
            </a:extLst>
          </p:cNvPr>
          <p:cNvSpPr/>
          <p:nvPr/>
        </p:nvSpPr>
        <p:spPr>
          <a:xfrm rot="5400000" flipV="1">
            <a:off x="8255390" y="2830940"/>
            <a:ext cx="991500" cy="1958268"/>
          </a:xfrm>
          <a:prstGeom prst="bentUpArrow">
            <a:avLst>
              <a:gd name="adj1" fmla="val 16123"/>
              <a:gd name="adj2" fmla="val 23863"/>
              <a:gd name="adj3" fmla="val 2500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4" name="Arrow: Bent-Up 23">
            <a:extLst>
              <a:ext uri="{FF2B5EF4-FFF2-40B4-BE49-F238E27FC236}">
                <a16:creationId xmlns:a16="http://schemas.microsoft.com/office/drawing/2014/main" id="{B121B697-7A3A-DF1A-E6C0-4123DBA3B11D}"/>
              </a:ext>
            </a:extLst>
          </p:cNvPr>
          <p:cNvSpPr/>
          <p:nvPr/>
        </p:nvSpPr>
        <p:spPr>
          <a:xfrm rot="5400000" flipV="1">
            <a:off x="7101463" y="3967530"/>
            <a:ext cx="3299957" cy="1996890"/>
          </a:xfrm>
          <a:prstGeom prst="bentUpArrow">
            <a:avLst>
              <a:gd name="adj1" fmla="val 10829"/>
              <a:gd name="adj2" fmla="val 10090"/>
              <a:gd name="adj3" fmla="val 12705"/>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5" name="Arrow: Bent-Up 24">
            <a:extLst>
              <a:ext uri="{FF2B5EF4-FFF2-40B4-BE49-F238E27FC236}">
                <a16:creationId xmlns:a16="http://schemas.microsoft.com/office/drawing/2014/main" id="{7362EE26-27CC-D95A-9D5B-ECC434346566}"/>
              </a:ext>
            </a:extLst>
          </p:cNvPr>
          <p:cNvSpPr/>
          <p:nvPr/>
        </p:nvSpPr>
        <p:spPr>
          <a:xfrm rot="5400000" flipV="1">
            <a:off x="7701494" y="3351410"/>
            <a:ext cx="2067721" cy="1996891"/>
          </a:xfrm>
          <a:prstGeom prst="bentUpArrow">
            <a:avLst>
              <a:gd name="adj1" fmla="val 8360"/>
              <a:gd name="adj2" fmla="val 7366"/>
              <a:gd name="adj3" fmla="val 1295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0" name="Left Brace 19">
            <a:extLst>
              <a:ext uri="{FF2B5EF4-FFF2-40B4-BE49-F238E27FC236}">
                <a16:creationId xmlns:a16="http://schemas.microsoft.com/office/drawing/2014/main" id="{B19FFA5D-0DD8-B003-5C54-546090139A8D}"/>
              </a:ext>
            </a:extLst>
          </p:cNvPr>
          <p:cNvSpPr/>
          <p:nvPr/>
        </p:nvSpPr>
        <p:spPr>
          <a:xfrm>
            <a:off x="3706745" y="3759228"/>
            <a:ext cx="430144" cy="2856726"/>
          </a:xfrm>
          <a:prstGeom prst="leftBrace">
            <a:avLst>
              <a:gd name="adj1" fmla="val 61066"/>
              <a:gd name="adj2" fmla="val 50458"/>
            </a:avLst>
          </a:prstGeom>
          <a:ln w="12700">
            <a:solidFill>
              <a:schemeClr val="tx1"/>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3600"/>
          </a:p>
        </p:txBody>
      </p:sp>
      <p:sp>
        <p:nvSpPr>
          <p:cNvPr id="22" name="Arrow: Left-Right 21">
            <a:extLst>
              <a:ext uri="{FF2B5EF4-FFF2-40B4-BE49-F238E27FC236}">
                <a16:creationId xmlns:a16="http://schemas.microsoft.com/office/drawing/2014/main" id="{8D7309BB-4B06-DA1B-B5FA-D07F230E9500}"/>
              </a:ext>
            </a:extLst>
          </p:cNvPr>
          <p:cNvSpPr/>
          <p:nvPr/>
        </p:nvSpPr>
        <p:spPr>
          <a:xfrm>
            <a:off x="4186037" y="6032999"/>
            <a:ext cx="2062363" cy="452388"/>
          </a:xfrm>
          <a:prstGeom prst="leftRightArrow">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3600" dirty="0">
              <a:solidFill>
                <a:schemeClr val="tx1"/>
              </a:solidFill>
            </a:endParaRPr>
          </a:p>
        </p:txBody>
      </p:sp>
      <p:sp>
        <p:nvSpPr>
          <p:cNvPr id="23" name="Arrow: Left-Right 22">
            <a:extLst>
              <a:ext uri="{FF2B5EF4-FFF2-40B4-BE49-F238E27FC236}">
                <a16:creationId xmlns:a16="http://schemas.microsoft.com/office/drawing/2014/main" id="{C03F6A3D-B8D6-662C-E86F-4153E8D15090}"/>
              </a:ext>
            </a:extLst>
          </p:cNvPr>
          <p:cNvSpPr/>
          <p:nvPr/>
        </p:nvSpPr>
        <p:spPr>
          <a:xfrm>
            <a:off x="4136889" y="3872436"/>
            <a:ext cx="2105410" cy="452388"/>
          </a:xfrm>
          <a:prstGeom prst="leftRightArrow">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6" name="Arrow: Left-Right 25">
            <a:extLst>
              <a:ext uri="{FF2B5EF4-FFF2-40B4-BE49-F238E27FC236}">
                <a16:creationId xmlns:a16="http://schemas.microsoft.com/office/drawing/2014/main" id="{232CBE74-8364-05F1-DA7C-E259CC033FA1}"/>
              </a:ext>
            </a:extLst>
          </p:cNvPr>
          <p:cNvSpPr/>
          <p:nvPr/>
        </p:nvSpPr>
        <p:spPr>
          <a:xfrm>
            <a:off x="4152976" y="4980266"/>
            <a:ext cx="2089322" cy="452388"/>
          </a:xfrm>
          <a:prstGeom prst="leftRightArrow">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pic>
        <p:nvPicPr>
          <p:cNvPr id="29" name="Picture 28" descr="A red x on a black background&#10;&#10;Description automatically generated">
            <a:extLst>
              <a:ext uri="{FF2B5EF4-FFF2-40B4-BE49-F238E27FC236}">
                <a16:creationId xmlns:a16="http://schemas.microsoft.com/office/drawing/2014/main" id="{012C0C91-084A-2613-2281-C720F8C8412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77756" y="3300930"/>
            <a:ext cx="439762" cy="550166"/>
          </a:xfrm>
          <a:prstGeom prst="rect">
            <a:avLst/>
          </a:prstGeom>
        </p:spPr>
      </p:pic>
      <p:pic>
        <p:nvPicPr>
          <p:cNvPr id="31" name="Picture 30" descr="A red x on a black background&#10;&#10;Description automatically generated">
            <a:extLst>
              <a:ext uri="{FF2B5EF4-FFF2-40B4-BE49-F238E27FC236}">
                <a16:creationId xmlns:a16="http://schemas.microsoft.com/office/drawing/2014/main" id="{EE25F185-2EA6-88B2-FBA4-D5B9AE9C8B8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95955" y="4441405"/>
            <a:ext cx="439762" cy="550166"/>
          </a:xfrm>
          <a:prstGeom prst="rect">
            <a:avLst/>
          </a:prstGeom>
        </p:spPr>
      </p:pic>
      <p:pic>
        <p:nvPicPr>
          <p:cNvPr id="28" name="Picture 2">
            <a:extLst>
              <a:ext uri="{FF2B5EF4-FFF2-40B4-BE49-F238E27FC236}">
                <a16:creationId xmlns:a16="http://schemas.microsoft.com/office/drawing/2014/main" id="{BC017D78-4438-32C9-F49D-111FF4C9DBD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83690" y="2193512"/>
            <a:ext cx="828784" cy="1144005"/>
          </a:xfrm>
          <a:prstGeom prst="rect">
            <a:avLst/>
          </a:prstGeom>
          <a:noFill/>
          <a:extLst>
            <a:ext uri="{909E8E84-426E-40DD-AFC4-6F175D3DCCD1}">
              <a14:hiddenFill xmlns:a14="http://schemas.microsoft.com/office/drawing/2010/main">
                <a:solidFill>
                  <a:srgbClr val="FFFFFF"/>
                </a:solidFill>
              </a14:hiddenFill>
            </a:ext>
          </a:extLst>
        </p:spPr>
      </p:pic>
      <p:sp>
        <p:nvSpPr>
          <p:cNvPr id="33" name="Arrow: Right 32">
            <a:extLst>
              <a:ext uri="{FF2B5EF4-FFF2-40B4-BE49-F238E27FC236}">
                <a16:creationId xmlns:a16="http://schemas.microsoft.com/office/drawing/2014/main" id="{37DAD66B-37C5-1082-F704-979AC7F10D63}"/>
              </a:ext>
            </a:extLst>
          </p:cNvPr>
          <p:cNvSpPr/>
          <p:nvPr/>
        </p:nvSpPr>
        <p:spPr>
          <a:xfrm>
            <a:off x="3706745" y="2718486"/>
            <a:ext cx="5476945" cy="404334"/>
          </a:xfrm>
          <a:prstGeom prst="rightArrow">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3600" dirty="0">
              <a:solidFill>
                <a:schemeClr val="tx1"/>
              </a:solidFill>
            </a:endParaRPr>
          </a:p>
        </p:txBody>
      </p:sp>
      <p:pic>
        <p:nvPicPr>
          <p:cNvPr id="34" name="Picture 33">
            <a:extLst>
              <a:ext uri="{FF2B5EF4-FFF2-40B4-BE49-F238E27FC236}">
                <a16:creationId xmlns:a16="http://schemas.microsoft.com/office/drawing/2014/main" id="{00C08090-2F54-D19F-CA7E-B237FEC9045A}"/>
              </a:ext>
            </a:extLst>
          </p:cNvPr>
          <p:cNvPicPr>
            <a:picLocks noChangeAspect="1"/>
          </p:cNvPicPr>
          <p:nvPr/>
        </p:nvPicPr>
        <p:blipFill>
          <a:blip r:embed="rId6"/>
          <a:stretch>
            <a:fillRect/>
          </a:stretch>
        </p:blipFill>
        <p:spPr>
          <a:xfrm>
            <a:off x="4880283" y="5483794"/>
            <a:ext cx="678383" cy="620323"/>
          </a:xfrm>
          <a:prstGeom prst="rect">
            <a:avLst/>
          </a:prstGeom>
        </p:spPr>
      </p:pic>
      <p:pic>
        <p:nvPicPr>
          <p:cNvPr id="5" name="Picture 2" descr="Rip Headstone Stock Photo - Download Image Now - Tombstone, Rest In Peace,  Torn - iStock">
            <a:extLst>
              <a:ext uri="{FF2B5EF4-FFF2-40B4-BE49-F238E27FC236}">
                <a16:creationId xmlns:a16="http://schemas.microsoft.com/office/drawing/2014/main" id="{4B2D6627-D92D-3CDA-BF2A-47A512E190AF}"/>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477286" y="3655095"/>
            <a:ext cx="692764" cy="79544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Rip Headstone Stock Photo - Download Image Now - Tombstone, Rest In Peace,  Torn - iStock">
            <a:extLst>
              <a:ext uri="{FF2B5EF4-FFF2-40B4-BE49-F238E27FC236}">
                <a16:creationId xmlns:a16="http://schemas.microsoft.com/office/drawing/2014/main" id="{9DA830FF-4615-6347-25DF-5375260A2015}"/>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477286" y="4827886"/>
            <a:ext cx="692764" cy="7954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7862530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2">
            <a:extLst>
              <a:ext uri="{FF2B5EF4-FFF2-40B4-BE49-F238E27FC236}">
                <a16:creationId xmlns:a16="http://schemas.microsoft.com/office/drawing/2014/main" id="{0595816B-3B9E-0DD6-E8BE-1FA448A2CD3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90531" y="4504113"/>
            <a:ext cx="988471" cy="708715"/>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8FD725C7-6D2A-BE5D-7391-3B4F57B2265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45929" y="3202602"/>
            <a:ext cx="988471" cy="70871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4EE7052-82B2-BFE2-BE3C-7FE04E90D362}"/>
              </a:ext>
            </a:extLst>
          </p:cNvPr>
          <p:cNvSpPr>
            <a:spLocks noGrp="1"/>
          </p:cNvSpPr>
          <p:nvPr>
            <p:ph type="title"/>
          </p:nvPr>
        </p:nvSpPr>
        <p:spPr/>
        <p:txBody>
          <a:bodyPr/>
          <a:lstStyle/>
          <a:p>
            <a:r>
              <a:rPr lang="en-US" dirty="0"/>
              <a:t>Adversarial Testing: A round of play</a:t>
            </a:r>
          </a:p>
        </p:txBody>
      </p:sp>
      <p:sp>
        <p:nvSpPr>
          <p:cNvPr id="4" name="Slide Number Placeholder 3">
            <a:extLst>
              <a:ext uri="{FF2B5EF4-FFF2-40B4-BE49-F238E27FC236}">
                <a16:creationId xmlns:a16="http://schemas.microsoft.com/office/drawing/2014/main" id="{37AAF879-2BA6-4795-5D2A-ACA6A66F074D}"/>
              </a:ext>
            </a:extLst>
          </p:cNvPr>
          <p:cNvSpPr>
            <a:spLocks noGrp="1"/>
          </p:cNvSpPr>
          <p:nvPr>
            <p:ph type="sldNum" sz="quarter" idx="12"/>
          </p:nvPr>
        </p:nvSpPr>
        <p:spPr>
          <a:xfrm>
            <a:off x="4305300" y="3178175"/>
            <a:ext cx="1371600" cy="182563"/>
          </a:xfrm>
          <a:prstGeom prst="rect">
            <a:avLst/>
          </a:prstGeom>
        </p:spPr>
        <p:txBody>
          <a:bodyPr vert="horz" lIns="45720" tIns="22860" rIns="45720" bIns="22860" rtlCol="0" anchor="ctr"/>
          <a:lstStyle>
            <a:defPPr marL="0" marR="0" indent="0" algn="l" defTabSz="228600" rtl="0" fontAlgn="auto" latinLnBrk="1" hangingPunct="0">
              <a:lnSpc>
                <a:spcPct val="100000"/>
              </a:lnSpc>
              <a:spcBef>
                <a:spcPts val="0"/>
              </a:spcBef>
              <a:spcAft>
                <a:spcPts val="0"/>
              </a:spcAft>
              <a:buClrTx/>
              <a:buSzTx/>
              <a:buFontTx/>
              <a:buNone/>
              <a:tabLst/>
              <a:defRPr kumimoji="0" sz="450" b="0" i="0" u="none" strike="noStrike" cap="none" spc="0" normalizeH="0" baseline="0">
                <a:ln>
                  <a:noFill/>
                </a:ln>
                <a:solidFill>
                  <a:srgbClr val="000000"/>
                </a:solidFill>
                <a:effectLst/>
                <a:uFillTx/>
              </a:defRPr>
            </a:defPPr>
            <a:lvl1pPr marL="0" marR="0" indent="0" algn="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chemeClr val="tx1">
                    <a:tint val="75000"/>
                  </a:schemeClr>
                </a:solidFill>
                <a:effectLst/>
                <a:uFillTx/>
                <a:latin typeface="+mn-lt"/>
                <a:ea typeface="+mn-ea"/>
                <a:cs typeface="+mn-cs"/>
                <a:sym typeface="Helvetica Neue"/>
              </a:defRPr>
            </a:lvl1pPr>
            <a:lvl2pPr marL="0" marR="0" indent="1143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2pPr>
            <a:lvl3pPr marL="0" marR="0" indent="2286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3pPr>
            <a:lvl4pPr marL="0" marR="0" indent="3429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4pPr>
            <a:lvl5pPr marL="0" marR="0" indent="4572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5pPr>
            <a:lvl6pPr marL="0" marR="0" indent="5715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6pPr>
            <a:lvl7pPr marL="0" marR="0" indent="6858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7pPr>
            <a:lvl8pPr marL="0" marR="0" indent="8001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8pPr>
            <a:lvl9pPr marL="0" marR="0" indent="9144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9pPr>
          </a:lstStyle>
          <a:p>
            <a:pPr defTabSz="457200" hangingPunct="1">
              <a:defRPr/>
            </a:pPr>
            <a:fld id="{20F37917-FD3A-4669-9018-DA04BCDD3D75}" type="slidenum">
              <a:rPr lang="en-US" kern="1200" smtClean="0">
                <a:solidFill>
                  <a:prstClr val="black">
                    <a:tint val="75000"/>
                  </a:prstClr>
                </a:solidFill>
                <a:latin typeface="Calibri" panose="020F0502020204030204"/>
              </a:rPr>
              <a:pPr defTabSz="457200" hangingPunct="1">
                <a:defRPr/>
              </a:pPr>
              <a:t>33</a:t>
            </a:fld>
            <a:endParaRPr lang="en-US" sz="1200">
              <a:solidFill>
                <a:prstClr val="black">
                  <a:tint val="75000"/>
                </a:prstClr>
              </a:solidFill>
              <a:latin typeface="Calibri" panose="020F0502020204030204"/>
            </a:endParaRPr>
          </a:p>
        </p:txBody>
      </p:sp>
      <p:sp>
        <p:nvSpPr>
          <p:cNvPr id="8" name="Rectangle 7">
            <a:extLst>
              <a:ext uri="{FF2B5EF4-FFF2-40B4-BE49-F238E27FC236}">
                <a16:creationId xmlns:a16="http://schemas.microsoft.com/office/drawing/2014/main" id="{926B2026-3232-5195-5849-5027E1E47B7E}"/>
              </a:ext>
            </a:extLst>
          </p:cNvPr>
          <p:cNvSpPr/>
          <p:nvPr/>
        </p:nvSpPr>
        <p:spPr>
          <a:xfrm>
            <a:off x="2179527" y="244947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code</a:t>
            </a:r>
          </a:p>
        </p:txBody>
      </p:sp>
      <p:sp>
        <p:nvSpPr>
          <p:cNvPr id="10" name="Rectangle 9">
            <a:extLst>
              <a:ext uri="{FF2B5EF4-FFF2-40B4-BE49-F238E27FC236}">
                <a16:creationId xmlns:a16="http://schemas.microsoft.com/office/drawing/2014/main" id="{9F89201E-2738-414E-269A-376A465CDDA3}"/>
              </a:ext>
            </a:extLst>
          </p:cNvPr>
          <p:cNvSpPr/>
          <p:nvPr/>
        </p:nvSpPr>
        <p:spPr>
          <a:xfrm>
            <a:off x="2179528" y="4991571"/>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tests</a:t>
            </a:r>
          </a:p>
        </p:txBody>
      </p:sp>
      <p:sp>
        <p:nvSpPr>
          <p:cNvPr id="11" name="TextBox 10">
            <a:extLst>
              <a:ext uri="{FF2B5EF4-FFF2-40B4-BE49-F238E27FC236}">
                <a16:creationId xmlns:a16="http://schemas.microsoft.com/office/drawing/2014/main" id="{0F416FE4-CB69-886C-0B48-F8CA9ADCDB41}"/>
              </a:ext>
            </a:extLst>
          </p:cNvPr>
          <p:cNvSpPr txBox="1"/>
          <p:nvPr/>
        </p:nvSpPr>
        <p:spPr>
          <a:xfrm>
            <a:off x="246136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Player (You)</a:t>
            </a:r>
          </a:p>
        </p:txBody>
      </p:sp>
      <p:sp>
        <p:nvSpPr>
          <p:cNvPr id="12" name="TextBox 11">
            <a:extLst>
              <a:ext uri="{FF2B5EF4-FFF2-40B4-BE49-F238E27FC236}">
                <a16:creationId xmlns:a16="http://schemas.microsoft.com/office/drawing/2014/main" id="{33AC4057-B8C2-2DCD-C9E4-10A4D020C27E}"/>
              </a:ext>
            </a:extLst>
          </p:cNvPr>
          <p:cNvSpPr txBox="1"/>
          <p:nvPr/>
        </p:nvSpPr>
        <p:spPr>
          <a:xfrm>
            <a:off x="699787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Opponent (Them)</a:t>
            </a:r>
          </a:p>
        </p:txBody>
      </p:sp>
      <p:sp>
        <p:nvSpPr>
          <p:cNvPr id="16" name="Rectangle 15">
            <a:extLst>
              <a:ext uri="{FF2B5EF4-FFF2-40B4-BE49-F238E27FC236}">
                <a16:creationId xmlns:a16="http://schemas.microsoft.com/office/drawing/2014/main" id="{33E29B71-D522-B200-066D-36D129260235}"/>
              </a:ext>
            </a:extLst>
          </p:cNvPr>
          <p:cNvSpPr/>
          <p:nvPr/>
        </p:nvSpPr>
        <p:spPr>
          <a:xfrm>
            <a:off x="6258835" y="4805045"/>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2</a:t>
            </a:r>
          </a:p>
        </p:txBody>
      </p:sp>
      <p:sp>
        <p:nvSpPr>
          <p:cNvPr id="17" name="Rectangle 16">
            <a:extLst>
              <a:ext uri="{FF2B5EF4-FFF2-40B4-BE49-F238E27FC236}">
                <a16:creationId xmlns:a16="http://schemas.microsoft.com/office/drawing/2014/main" id="{38DBC254-38B3-3961-D394-D5719E3CE6DC}"/>
              </a:ext>
            </a:extLst>
          </p:cNvPr>
          <p:cNvSpPr/>
          <p:nvPr/>
        </p:nvSpPr>
        <p:spPr>
          <a:xfrm>
            <a:off x="6258836" y="5967076"/>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3</a:t>
            </a:r>
          </a:p>
        </p:txBody>
      </p:sp>
      <p:sp>
        <p:nvSpPr>
          <p:cNvPr id="15" name="Rectangle 14">
            <a:extLst>
              <a:ext uri="{FF2B5EF4-FFF2-40B4-BE49-F238E27FC236}">
                <a16:creationId xmlns:a16="http://schemas.microsoft.com/office/drawing/2014/main" id="{0257930C-BC52-BEC7-1AAD-086DD7C34E9E}"/>
              </a:ext>
            </a:extLst>
          </p:cNvPr>
          <p:cNvSpPr/>
          <p:nvPr/>
        </p:nvSpPr>
        <p:spPr>
          <a:xfrm>
            <a:off x="6258836" y="362515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1</a:t>
            </a:r>
          </a:p>
        </p:txBody>
      </p:sp>
      <p:sp>
        <p:nvSpPr>
          <p:cNvPr id="21" name="Arrow: Bent-Up 20">
            <a:extLst>
              <a:ext uri="{FF2B5EF4-FFF2-40B4-BE49-F238E27FC236}">
                <a16:creationId xmlns:a16="http://schemas.microsoft.com/office/drawing/2014/main" id="{EF06BE51-2A69-A4B9-27F9-528C08837D6E}"/>
              </a:ext>
            </a:extLst>
          </p:cNvPr>
          <p:cNvSpPr/>
          <p:nvPr/>
        </p:nvSpPr>
        <p:spPr>
          <a:xfrm rot="5400000" flipV="1">
            <a:off x="8255390" y="2830940"/>
            <a:ext cx="991500" cy="1958268"/>
          </a:xfrm>
          <a:prstGeom prst="bentUpArrow">
            <a:avLst>
              <a:gd name="adj1" fmla="val 16123"/>
              <a:gd name="adj2" fmla="val 23863"/>
              <a:gd name="adj3" fmla="val 2500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4" name="Arrow: Bent-Up 23">
            <a:extLst>
              <a:ext uri="{FF2B5EF4-FFF2-40B4-BE49-F238E27FC236}">
                <a16:creationId xmlns:a16="http://schemas.microsoft.com/office/drawing/2014/main" id="{B121B697-7A3A-DF1A-E6C0-4123DBA3B11D}"/>
              </a:ext>
            </a:extLst>
          </p:cNvPr>
          <p:cNvSpPr/>
          <p:nvPr/>
        </p:nvSpPr>
        <p:spPr>
          <a:xfrm rot="5400000" flipV="1">
            <a:off x="7101463" y="3967530"/>
            <a:ext cx="3299957" cy="1996890"/>
          </a:xfrm>
          <a:prstGeom prst="bentUpArrow">
            <a:avLst>
              <a:gd name="adj1" fmla="val 10829"/>
              <a:gd name="adj2" fmla="val 10090"/>
              <a:gd name="adj3" fmla="val 12705"/>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5" name="Arrow: Bent-Up 24">
            <a:extLst>
              <a:ext uri="{FF2B5EF4-FFF2-40B4-BE49-F238E27FC236}">
                <a16:creationId xmlns:a16="http://schemas.microsoft.com/office/drawing/2014/main" id="{7362EE26-27CC-D95A-9D5B-ECC434346566}"/>
              </a:ext>
            </a:extLst>
          </p:cNvPr>
          <p:cNvSpPr/>
          <p:nvPr/>
        </p:nvSpPr>
        <p:spPr>
          <a:xfrm rot="5400000" flipV="1">
            <a:off x="7701494" y="3351410"/>
            <a:ext cx="2067721" cy="1996891"/>
          </a:xfrm>
          <a:prstGeom prst="bentUpArrow">
            <a:avLst>
              <a:gd name="adj1" fmla="val 8360"/>
              <a:gd name="adj2" fmla="val 7366"/>
              <a:gd name="adj3" fmla="val 1295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0" name="Left Brace 19">
            <a:extLst>
              <a:ext uri="{FF2B5EF4-FFF2-40B4-BE49-F238E27FC236}">
                <a16:creationId xmlns:a16="http://schemas.microsoft.com/office/drawing/2014/main" id="{B19FFA5D-0DD8-B003-5C54-546090139A8D}"/>
              </a:ext>
            </a:extLst>
          </p:cNvPr>
          <p:cNvSpPr/>
          <p:nvPr/>
        </p:nvSpPr>
        <p:spPr>
          <a:xfrm>
            <a:off x="3706745" y="3759228"/>
            <a:ext cx="430144" cy="2856726"/>
          </a:xfrm>
          <a:prstGeom prst="leftBrace">
            <a:avLst>
              <a:gd name="adj1" fmla="val 61066"/>
              <a:gd name="adj2" fmla="val 50458"/>
            </a:avLst>
          </a:prstGeom>
          <a:ln w="12700">
            <a:solidFill>
              <a:schemeClr val="tx1"/>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3600"/>
          </a:p>
        </p:txBody>
      </p:sp>
      <p:sp>
        <p:nvSpPr>
          <p:cNvPr id="22" name="Arrow: Left-Right 21">
            <a:extLst>
              <a:ext uri="{FF2B5EF4-FFF2-40B4-BE49-F238E27FC236}">
                <a16:creationId xmlns:a16="http://schemas.microsoft.com/office/drawing/2014/main" id="{8D7309BB-4B06-DA1B-B5FA-D07F230E9500}"/>
              </a:ext>
            </a:extLst>
          </p:cNvPr>
          <p:cNvSpPr/>
          <p:nvPr/>
        </p:nvSpPr>
        <p:spPr>
          <a:xfrm>
            <a:off x="4186037" y="6032999"/>
            <a:ext cx="2062363" cy="452388"/>
          </a:xfrm>
          <a:prstGeom prst="leftRightArrow">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3600" dirty="0">
              <a:solidFill>
                <a:schemeClr val="tx1"/>
              </a:solidFill>
            </a:endParaRPr>
          </a:p>
        </p:txBody>
      </p:sp>
      <p:sp>
        <p:nvSpPr>
          <p:cNvPr id="23" name="Arrow: Left-Right 22">
            <a:extLst>
              <a:ext uri="{FF2B5EF4-FFF2-40B4-BE49-F238E27FC236}">
                <a16:creationId xmlns:a16="http://schemas.microsoft.com/office/drawing/2014/main" id="{C03F6A3D-B8D6-662C-E86F-4153E8D15090}"/>
              </a:ext>
            </a:extLst>
          </p:cNvPr>
          <p:cNvSpPr/>
          <p:nvPr/>
        </p:nvSpPr>
        <p:spPr>
          <a:xfrm>
            <a:off x="4136889" y="3872436"/>
            <a:ext cx="2105410" cy="452388"/>
          </a:xfrm>
          <a:prstGeom prst="leftRightArrow">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6" name="Arrow: Left-Right 25">
            <a:extLst>
              <a:ext uri="{FF2B5EF4-FFF2-40B4-BE49-F238E27FC236}">
                <a16:creationId xmlns:a16="http://schemas.microsoft.com/office/drawing/2014/main" id="{232CBE74-8364-05F1-DA7C-E259CC033FA1}"/>
              </a:ext>
            </a:extLst>
          </p:cNvPr>
          <p:cNvSpPr/>
          <p:nvPr/>
        </p:nvSpPr>
        <p:spPr>
          <a:xfrm>
            <a:off x="4152976" y="4980266"/>
            <a:ext cx="2089322" cy="452388"/>
          </a:xfrm>
          <a:prstGeom prst="leftRightArrow">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pic>
        <p:nvPicPr>
          <p:cNvPr id="29" name="Picture 28" descr="A red x on a black background&#10;&#10;Description automatically generated">
            <a:extLst>
              <a:ext uri="{FF2B5EF4-FFF2-40B4-BE49-F238E27FC236}">
                <a16:creationId xmlns:a16="http://schemas.microsoft.com/office/drawing/2014/main" id="{012C0C91-084A-2613-2281-C720F8C8412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77756" y="3300930"/>
            <a:ext cx="439762" cy="550166"/>
          </a:xfrm>
          <a:prstGeom prst="rect">
            <a:avLst/>
          </a:prstGeom>
        </p:spPr>
      </p:pic>
      <p:pic>
        <p:nvPicPr>
          <p:cNvPr id="31" name="Picture 30" descr="A red x on a black background&#10;&#10;Description automatically generated">
            <a:extLst>
              <a:ext uri="{FF2B5EF4-FFF2-40B4-BE49-F238E27FC236}">
                <a16:creationId xmlns:a16="http://schemas.microsoft.com/office/drawing/2014/main" id="{EE25F185-2EA6-88B2-FBA4-D5B9AE9C8B8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95955" y="4441405"/>
            <a:ext cx="439762" cy="550166"/>
          </a:xfrm>
          <a:prstGeom prst="rect">
            <a:avLst/>
          </a:prstGeom>
        </p:spPr>
      </p:pic>
      <p:pic>
        <p:nvPicPr>
          <p:cNvPr id="28" name="Picture 2">
            <a:extLst>
              <a:ext uri="{FF2B5EF4-FFF2-40B4-BE49-F238E27FC236}">
                <a16:creationId xmlns:a16="http://schemas.microsoft.com/office/drawing/2014/main" id="{BC017D78-4438-32C9-F49D-111FF4C9DBD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83690" y="2193512"/>
            <a:ext cx="828784" cy="1144005"/>
          </a:xfrm>
          <a:prstGeom prst="rect">
            <a:avLst/>
          </a:prstGeom>
          <a:noFill/>
          <a:extLst>
            <a:ext uri="{909E8E84-426E-40DD-AFC4-6F175D3DCCD1}">
              <a14:hiddenFill xmlns:a14="http://schemas.microsoft.com/office/drawing/2010/main">
                <a:solidFill>
                  <a:srgbClr val="FFFFFF"/>
                </a:solidFill>
              </a14:hiddenFill>
            </a:ext>
          </a:extLst>
        </p:spPr>
      </p:pic>
      <p:sp>
        <p:nvSpPr>
          <p:cNvPr id="33" name="Arrow: Right 32">
            <a:extLst>
              <a:ext uri="{FF2B5EF4-FFF2-40B4-BE49-F238E27FC236}">
                <a16:creationId xmlns:a16="http://schemas.microsoft.com/office/drawing/2014/main" id="{37DAD66B-37C5-1082-F704-979AC7F10D63}"/>
              </a:ext>
            </a:extLst>
          </p:cNvPr>
          <p:cNvSpPr/>
          <p:nvPr/>
        </p:nvSpPr>
        <p:spPr>
          <a:xfrm>
            <a:off x="3706745" y="2718486"/>
            <a:ext cx="5476945" cy="404334"/>
          </a:xfrm>
          <a:prstGeom prst="rightArrow">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3600" dirty="0">
              <a:solidFill>
                <a:schemeClr val="tx1"/>
              </a:solidFill>
            </a:endParaRPr>
          </a:p>
        </p:txBody>
      </p:sp>
      <p:pic>
        <p:nvPicPr>
          <p:cNvPr id="34" name="Picture 33">
            <a:extLst>
              <a:ext uri="{FF2B5EF4-FFF2-40B4-BE49-F238E27FC236}">
                <a16:creationId xmlns:a16="http://schemas.microsoft.com/office/drawing/2014/main" id="{00C08090-2F54-D19F-CA7E-B237FEC9045A}"/>
              </a:ext>
            </a:extLst>
          </p:cNvPr>
          <p:cNvPicPr>
            <a:picLocks noChangeAspect="1"/>
          </p:cNvPicPr>
          <p:nvPr/>
        </p:nvPicPr>
        <p:blipFill>
          <a:blip r:embed="rId6"/>
          <a:stretch>
            <a:fillRect/>
          </a:stretch>
        </p:blipFill>
        <p:spPr>
          <a:xfrm>
            <a:off x="4880283" y="5483794"/>
            <a:ext cx="678383" cy="620323"/>
          </a:xfrm>
          <a:prstGeom prst="rect">
            <a:avLst/>
          </a:prstGeom>
        </p:spPr>
      </p:pic>
      <p:pic>
        <p:nvPicPr>
          <p:cNvPr id="5" name="Picture 2" descr="Rip Headstone Stock Photo - Download Image Now - Tombstone, Rest In Peace,  Torn - iStock">
            <a:extLst>
              <a:ext uri="{FF2B5EF4-FFF2-40B4-BE49-F238E27FC236}">
                <a16:creationId xmlns:a16="http://schemas.microsoft.com/office/drawing/2014/main" id="{4B2D6627-D92D-3CDA-BF2A-47A512E190AF}"/>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477286" y="3655095"/>
            <a:ext cx="692764" cy="79544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Rip Headstone Stock Photo - Download Image Now - Tombstone, Rest In Peace,  Torn - iStock">
            <a:extLst>
              <a:ext uri="{FF2B5EF4-FFF2-40B4-BE49-F238E27FC236}">
                <a16:creationId xmlns:a16="http://schemas.microsoft.com/office/drawing/2014/main" id="{9DA830FF-4615-6347-25DF-5375260A2015}"/>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477286" y="4827886"/>
            <a:ext cx="692764" cy="7954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376387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2">
            <a:extLst>
              <a:ext uri="{FF2B5EF4-FFF2-40B4-BE49-F238E27FC236}">
                <a16:creationId xmlns:a16="http://schemas.microsoft.com/office/drawing/2014/main" id="{0595816B-3B9E-0DD6-E8BE-1FA448A2CD3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90531" y="4504113"/>
            <a:ext cx="988471" cy="708715"/>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8FD725C7-6D2A-BE5D-7391-3B4F57B2265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45929" y="3202602"/>
            <a:ext cx="988471" cy="70871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4EE7052-82B2-BFE2-BE3C-7FE04E90D362}"/>
              </a:ext>
            </a:extLst>
          </p:cNvPr>
          <p:cNvSpPr>
            <a:spLocks noGrp="1"/>
          </p:cNvSpPr>
          <p:nvPr>
            <p:ph type="title"/>
          </p:nvPr>
        </p:nvSpPr>
        <p:spPr/>
        <p:txBody>
          <a:bodyPr/>
          <a:lstStyle/>
          <a:p>
            <a:r>
              <a:rPr lang="en-US" dirty="0"/>
              <a:t>Adversarial Testing: a winning position</a:t>
            </a:r>
          </a:p>
        </p:txBody>
      </p:sp>
      <p:sp>
        <p:nvSpPr>
          <p:cNvPr id="4" name="Slide Number Placeholder 3">
            <a:extLst>
              <a:ext uri="{FF2B5EF4-FFF2-40B4-BE49-F238E27FC236}">
                <a16:creationId xmlns:a16="http://schemas.microsoft.com/office/drawing/2014/main" id="{37AAF879-2BA6-4795-5D2A-ACA6A66F074D}"/>
              </a:ext>
            </a:extLst>
          </p:cNvPr>
          <p:cNvSpPr>
            <a:spLocks noGrp="1"/>
          </p:cNvSpPr>
          <p:nvPr>
            <p:ph type="sldNum" sz="quarter" idx="12"/>
          </p:nvPr>
        </p:nvSpPr>
        <p:spPr>
          <a:xfrm>
            <a:off x="4305300" y="3178175"/>
            <a:ext cx="1371600" cy="182563"/>
          </a:xfrm>
          <a:prstGeom prst="rect">
            <a:avLst/>
          </a:prstGeom>
        </p:spPr>
        <p:txBody>
          <a:bodyPr vert="horz" lIns="45720" tIns="22860" rIns="45720" bIns="22860" rtlCol="0" anchor="ctr"/>
          <a:lstStyle>
            <a:defPPr marL="0" marR="0" indent="0" algn="l" defTabSz="228600" rtl="0" fontAlgn="auto" latinLnBrk="1" hangingPunct="0">
              <a:lnSpc>
                <a:spcPct val="100000"/>
              </a:lnSpc>
              <a:spcBef>
                <a:spcPts val="0"/>
              </a:spcBef>
              <a:spcAft>
                <a:spcPts val="0"/>
              </a:spcAft>
              <a:buClrTx/>
              <a:buSzTx/>
              <a:buFontTx/>
              <a:buNone/>
              <a:tabLst/>
              <a:defRPr kumimoji="0" sz="450" b="0" i="0" u="none" strike="noStrike" cap="none" spc="0" normalizeH="0" baseline="0">
                <a:ln>
                  <a:noFill/>
                </a:ln>
                <a:solidFill>
                  <a:srgbClr val="000000"/>
                </a:solidFill>
                <a:effectLst/>
                <a:uFillTx/>
              </a:defRPr>
            </a:defPPr>
            <a:lvl1pPr marL="0" marR="0" indent="0" algn="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chemeClr val="tx1">
                    <a:tint val="75000"/>
                  </a:schemeClr>
                </a:solidFill>
                <a:effectLst/>
                <a:uFillTx/>
                <a:latin typeface="+mn-lt"/>
                <a:ea typeface="+mn-ea"/>
                <a:cs typeface="+mn-cs"/>
                <a:sym typeface="Helvetica Neue"/>
              </a:defRPr>
            </a:lvl1pPr>
            <a:lvl2pPr marL="0" marR="0" indent="1143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2pPr>
            <a:lvl3pPr marL="0" marR="0" indent="2286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3pPr>
            <a:lvl4pPr marL="0" marR="0" indent="3429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4pPr>
            <a:lvl5pPr marL="0" marR="0" indent="4572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5pPr>
            <a:lvl6pPr marL="0" marR="0" indent="5715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6pPr>
            <a:lvl7pPr marL="0" marR="0" indent="6858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7pPr>
            <a:lvl8pPr marL="0" marR="0" indent="8001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8pPr>
            <a:lvl9pPr marL="0" marR="0" indent="9144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9pPr>
          </a:lstStyle>
          <a:p>
            <a:pPr defTabSz="457200" hangingPunct="1">
              <a:defRPr/>
            </a:pPr>
            <a:fld id="{20F37917-FD3A-4669-9018-DA04BCDD3D75}" type="slidenum">
              <a:rPr lang="en-US" kern="1200" smtClean="0">
                <a:solidFill>
                  <a:prstClr val="black">
                    <a:tint val="75000"/>
                  </a:prstClr>
                </a:solidFill>
                <a:latin typeface="Calibri" panose="020F0502020204030204"/>
              </a:rPr>
              <a:pPr defTabSz="457200" hangingPunct="1">
                <a:defRPr/>
              </a:pPr>
              <a:t>34</a:t>
            </a:fld>
            <a:endParaRPr lang="en-US" sz="1200">
              <a:solidFill>
                <a:prstClr val="black">
                  <a:tint val="75000"/>
                </a:prstClr>
              </a:solidFill>
              <a:latin typeface="Calibri" panose="020F0502020204030204"/>
            </a:endParaRPr>
          </a:p>
        </p:txBody>
      </p:sp>
      <p:sp>
        <p:nvSpPr>
          <p:cNvPr id="8" name="Rectangle 7">
            <a:extLst>
              <a:ext uri="{FF2B5EF4-FFF2-40B4-BE49-F238E27FC236}">
                <a16:creationId xmlns:a16="http://schemas.microsoft.com/office/drawing/2014/main" id="{926B2026-3232-5195-5849-5027E1E47B7E}"/>
              </a:ext>
            </a:extLst>
          </p:cNvPr>
          <p:cNvSpPr/>
          <p:nvPr/>
        </p:nvSpPr>
        <p:spPr>
          <a:xfrm>
            <a:off x="2179527" y="244947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code</a:t>
            </a:r>
          </a:p>
        </p:txBody>
      </p:sp>
      <p:sp>
        <p:nvSpPr>
          <p:cNvPr id="10" name="Rectangle 9">
            <a:extLst>
              <a:ext uri="{FF2B5EF4-FFF2-40B4-BE49-F238E27FC236}">
                <a16:creationId xmlns:a16="http://schemas.microsoft.com/office/drawing/2014/main" id="{9F89201E-2738-414E-269A-376A465CDDA3}"/>
              </a:ext>
            </a:extLst>
          </p:cNvPr>
          <p:cNvSpPr/>
          <p:nvPr/>
        </p:nvSpPr>
        <p:spPr>
          <a:xfrm>
            <a:off x="2179528" y="4991571"/>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tests</a:t>
            </a:r>
          </a:p>
        </p:txBody>
      </p:sp>
      <p:sp>
        <p:nvSpPr>
          <p:cNvPr id="11" name="TextBox 10">
            <a:extLst>
              <a:ext uri="{FF2B5EF4-FFF2-40B4-BE49-F238E27FC236}">
                <a16:creationId xmlns:a16="http://schemas.microsoft.com/office/drawing/2014/main" id="{0F416FE4-CB69-886C-0B48-F8CA9ADCDB41}"/>
              </a:ext>
            </a:extLst>
          </p:cNvPr>
          <p:cNvSpPr txBox="1"/>
          <p:nvPr/>
        </p:nvSpPr>
        <p:spPr>
          <a:xfrm>
            <a:off x="246136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Player (You)</a:t>
            </a:r>
          </a:p>
        </p:txBody>
      </p:sp>
      <p:sp>
        <p:nvSpPr>
          <p:cNvPr id="12" name="TextBox 11">
            <a:extLst>
              <a:ext uri="{FF2B5EF4-FFF2-40B4-BE49-F238E27FC236}">
                <a16:creationId xmlns:a16="http://schemas.microsoft.com/office/drawing/2014/main" id="{33AC4057-B8C2-2DCD-C9E4-10A4D020C27E}"/>
              </a:ext>
            </a:extLst>
          </p:cNvPr>
          <p:cNvSpPr txBox="1"/>
          <p:nvPr/>
        </p:nvSpPr>
        <p:spPr>
          <a:xfrm>
            <a:off x="699787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Opponent (Them)</a:t>
            </a:r>
          </a:p>
        </p:txBody>
      </p:sp>
      <p:sp>
        <p:nvSpPr>
          <p:cNvPr id="16" name="Rectangle 15">
            <a:extLst>
              <a:ext uri="{FF2B5EF4-FFF2-40B4-BE49-F238E27FC236}">
                <a16:creationId xmlns:a16="http://schemas.microsoft.com/office/drawing/2014/main" id="{33E29B71-D522-B200-066D-36D129260235}"/>
              </a:ext>
            </a:extLst>
          </p:cNvPr>
          <p:cNvSpPr/>
          <p:nvPr/>
        </p:nvSpPr>
        <p:spPr>
          <a:xfrm>
            <a:off x="6258835" y="4805045"/>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2</a:t>
            </a:r>
          </a:p>
        </p:txBody>
      </p:sp>
      <p:sp>
        <p:nvSpPr>
          <p:cNvPr id="17" name="Rectangle 16">
            <a:extLst>
              <a:ext uri="{FF2B5EF4-FFF2-40B4-BE49-F238E27FC236}">
                <a16:creationId xmlns:a16="http://schemas.microsoft.com/office/drawing/2014/main" id="{38DBC254-38B3-3961-D394-D5719E3CE6DC}"/>
              </a:ext>
            </a:extLst>
          </p:cNvPr>
          <p:cNvSpPr/>
          <p:nvPr/>
        </p:nvSpPr>
        <p:spPr>
          <a:xfrm>
            <a:off x="6258836" y="5967076"/>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3</a:t>
            </a:r>
          </a:p>
        </p:txBody>
      </p:sp>
      <p:sp>
        <p:nvSpPr>
          <p:cNvPr id="15" name="Rectangle 14">
            <a:extLst>
              <a:ext uri="{FF2B5EF4-FFF2-40B4-BE49-F238E27FC236}">
                <a16:creationId xmlns:a16="http://schemas.microsoft.com/office/drawing/2014/main" id="{0257930C-BC52-BEC7-1AAD-086DD7C34E9E}"/>
              </a:ext>
            </a:extLst>
          </p:cNvPr>
          <p:cNvSpPr/>
          <p:nvPr/>
        </p:nvSpPr>
        <p:spPr>
          <a:xfrm>
            <a:off x="6258836" y="362515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1</a:t>
            </a:r>
          </a:p>
        </p:txBody>
      </p:sp>
      <p:sp>
        <p:nvSpPr>
          <p:cNvPr id="21" name="Arrow: Bent-Up 20">
            <a:extLst>
              <a:ext uri="{FF2B5EF4-FFF2-40B4-BE49-F238E27FC236}">
                <a16:creationId xmlns:a16="http://schemas.microsoft.com/office/drawing/2014/main" id="{EF06BE51-2A69-A4B9-27F9-528C08837D6E}"/>
              </a:ext>
            </a:extLst>
          </p:cNvPr>
          <p:cNvSpPr/>
          <p:nvPr/>
        </p:nvSpPr>
        <p:spPr>
          <a:xfrm rot="5400000" flipV="1">
            <a:off x="8255390" y="2830940"/>
            <a:ext cx="991500" cy="1958268"/>
          </a:xfrm>
          <a:prstGeom prst="bentUpArrow">
            <a:avLst>
              <a:gd name="adj1" fmla="val 16123"/>
              <a:gd name="adj2" fmla="val 23863"/>
              <a:gd name="adj3" fmla="val 2500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4" name="Arrow: Bent-Up 23">
            <a:extLst>
              <a:ext uri="{FF2B5EF4-FFF2-40B4-BE49-F238E27FC236}">
                <a16:creationId xmlns:a16="http://schemas.microsoft.com/office/drawing/2014/main" id="{B121B697-7A3A-DF1A-E6C0-4123DBA3B11D}"/>
              </a:ext>
            </a:extLst>
          </p:cNvPr>
          <p:cNvSpPr/>
          <p:nvPr/>
        </p:nvSpPr>
        <p:spPr>
          <a:xfrm rot="5400000" flipV="1">
            <a:off x="7101463" y="3967530"/>
            <a:ext cx="3299957" cy="1996890"/>
          </a:xfrm>
          <a:prstGeom prst="bentUpArrow">
            <a:avLst>
              <a:gd name="adj1" fmla="val 10829"/>
              <a:gd name="adj2" fmla="val 10090"/>
              <a:gd name="adj3" fmla="val 12705"/>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5" name="Arrow: Bent-Up 24">
            <a:extLst>
              <a:ext uri="{FF2B5EF4-FFF2-40B4-BE49-F238E27FC236}">
                <a16:creationId xmlns:a16="http://schemas.microsoft.com/office/drawing/2014/main" id="{7362EE26-27CC-D95A-9D5B-ECC434346566}"/>
              </a:ext>
            </a:extLst>
          </p:cNvPr>
          <p:cNvSpPr/>
          <p:nvPr/>
        </p:nvSpPr>
        <p:spPr>
          <a:xfrm rot="5400000" flipV="1">
            <a:off x="7701494" y="3351410"/>
            <a:ext cx="2067721" cy="1996891"/>
          </a:xfrm>
          <a:prstGeom prst="bentUpArrow">
            <a:avLst>
              <a:gd name="adj1" fmla="val 8360"/>
              <a:gd name="adj2" fmla="val 7366"/>
              <a:gd name="adj3" fmla="val 1295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0" name="Left Brace 19">
            <a:extLst>
              <a:ext uri="{FF2B5EF4-FFF2-40B4-BE49-F238E27FC236}">
                <a16:creationId xmlns:a16="http://schemas.microsoft.com/office/drawing/2014/main" id="{B19FFA5D-0DD8-B003-5C54-546090139A8D}"/>
              </a:ext>
            </a:extLst>
          </p:cNvPr>
          <p:cNvSpPr/>
          <p:nvPr/>
        </p:nvSpPr>
        <p:spPr>
          <a:xfrm>
            <a:off x="3706745" y="3759228"/>
            <a:ext cx="430144" cy="2856726"/>
          </a:xfrm>
          <a:prstGeom prst="leftBrace">
            <a:avLst>
              <a:gd name="adj1" fmla="val 61066"/>
              <a:gd name="adj2" fmla="val 50458"/>
            </a:avLst>
          </a:prstGeom>
          <a:ln w="12700">
            <a:solidFill>
              <a:schemeClr val="tx1"/>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3600"/>
          </a:p>
        </p:txBody>
      </p:sp>
      <p:sp>
        <p:nvSpPr>
          <p:cNvPr id="22" name="Arrow: Left-Right 21">
            <a:extLst>
              <a:ext uri="{FF2B5EF4-FFF2-40B4-BE49-F238E27FC236}">
                <a16:creationId xmlns:a16="http://schemas.microsoft.com/office/drawing/2014/main" id="{8D7309BB-4B06-DA1B-B5FA-D07F230E9500}"/>
              </a:ext>
            </a:extLst>
          </p:cNvPr>
          <p:cNvSpPr/>
          <p:nvPr/>
        </p:nvSpPr>
        <p:spPr>
          <a:xfrm>
            <a:off x="4186037" y="6032999"/>
            <a:ext cx="2062363" cy="452388"/>
          </a:xfrm>
          <a:prstGeom prst="leftRightArrow">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3600" dirty="0">
              <a:solidFill>
                <a:schemeClr val="tx1"/>
              </a:solidFill>
            </a:endParaRPr>
          </a:p>
        </p:txBody>
      </p:sp>
      <p:sp>
        <p:nvSpPr>
          <p:cNvPr id="23" name="Arrow: Left-Right 22">
            <a:extLst>
              <a:ext uri="{FF2B5EF4-FFF2-40B4-BE49-F238E27FC236}">
                <a16:creationId xmlns:a16="http://schemas.microsoft.com/office/drawing/2014/main" id="{C03F6A3D-B8D6-662C-E86F-4153E8D15090}"/>
              </a:ext>
            </a:extLst>
          </p:cNvPr>
          <p:cNvSpPr/>
          <p:nvPr/>
        </p:nvSpPr>
        <p:spPr>
          <a:xfrm>
            <a:off x="4136889" y="3872436"/>
            <a:ext cx="2105410" cy="452388"/>
          </a:xfrm>
          <a:prstGeom prst="leftRightArrow">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6" name="Arrow: Left-Right 25">
            <a:extLst>
              <a:ext uri="{FF2B5EF4-FFF2-40B4-BE49-F238E27FC236}">
                <a16:creationId xmlns:a16="http://schemas.microsoft.com/office/drawing/2014/main" id="{232CBE74-8364-05F1-DA7C-E259CC033FA1}"/>
              </a:ext>
            </a:extLst>
          </p:cNvPr>
          <p:cNvSpPr/>
          <p:nvPr/>
        </p:nvSpPr>
        <p:spPr>
          <a:xfrm>
            <a:off x="4152976" y="4980266"/>
            <a:ext cx="2089322" cy="452388"/>
          </a:xfrm>
          <a:prstGeom prst="leftRightArrow">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pic>
        <p:nvPicPr>
          <p:cNvPr id="29" name="Picture 28" descr="A red x on a black background&#10;&#10;Description automatically generated">
            <a:extLst>
              <a:ext uri="{FF2B5EF4-FFF2-40B4-BE49-F238E27FC236}">
                <a16:creationId xmlns:a16="http://schemas.microsoft.com/office/drawing/2014/main" id="{012C0C91-084A-2613-2281-C720F8C8412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77756" y="3300930"/>
            <a:ext cx="439762" cy="550166"/>
          </a:xfrm>
          <a:prstGeom prst="rect">
            <a:avLst/>
          </a:prstGeom>
        </p:spPr>
      </p:pic>
      <p:pic>
        <p:nvPicPr>
          <p:cNvPr id="31" name="Picture 30" descr="A red x on a black background&#10;&#10;Description automatically generated">
            <a:extLst>
              <a:ext uri="{FF2B5EF4-FFF2-40B4-BE49-F238E27FC236}">
                <a16:creationId xmlns:a16="http://schemas.microsoft.com/office/drawing/2014/main" id="{EE25F185-2EA6-88B2-FBA4-D5B9AE9C8B8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95955" y="4441405"/>
            <a:ext cx="439762" cy="550166"/>
          </a:xfrm>
          <a:prstGeom prst="rect">
            <a:avLst/>
          </a:prstGeom>
        </p:spPr>
      </p:pic>
      <p:pic>
        <p:nvPicPr>
          <p:cNvPr id="28" name="Picture 2">
            <a:extLst>
              <a:ext uri="{FF2B5EF4-FFF2-40B4-BE49-F238E27FC236}">
                <a16:creationId xmlns:a16="http://schemas.microsoft.com/office/drawing/2014/main" id="{BC017D78-4438-32C9-F49D-111FF4C9DBD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83690" y="2193512"/>
            <a:ext cx="828784" cy="1144005"/>
          </a:xfrm>
          <a:prstGeom prst="rect">
            <a:avLst/>
          </a:prstGeom>
          <a:noFill/>
          <a:extLst>
            <a:ext uri="{909E8E84-426E-40DD-AFC4-6F175D3DCCD1}">
              <a14:hiddenFill xmlns:a14="http://schemas.microsoft.com/office/drawing/2010/main">
                <a:solidFill>
                  <a:srgbClr val="FFFFFF"/>
                </a:solidFill>
              </a14:hiddenFill>
            </a:ext>
          </a:extLst>
        </p:spPr>
      </p:pic>
      <p:sp>
        <p:nvSpPr>
          <p:cNvPr id="33" name="Arrow: Right 32">
            <a:extLst>
              <a:ext uri="{FF2B5EF4-FFF2-40B4-BE49-F238E27FC236}">
                <a16:creationId xmlns:a16="http://schemas.microsoft.com/office/drawing/2014/main" id="{37DAD66B-37C5-1082-F704-979AC7F10D63}"/>
              </a:ext>
            </a:extLst>
          </p:cNvPr>
          <p:cNvSpPr/>
          <p:nvPr/>
        </p:nvSpPr>
        <p:spPr>
          <a:xfrm>
            <a:off x="3706745" y="2718486"/>
            <a:ext cx="5476945" cy="404334"/>
          </a:xfrm>
          <a:prstGeom prst="rightArrow">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3600" dirty="0">
              <a:solidFill>
                <a:schemeClr val="tx1"/>
              </a:solidFill>
            </a:endParaRPr>
          </a:p>
        </p:txBody>
      </p:sp>
      <p:pic>
        <p:nvPicPr>
          <p:cNvPr id="34" name="Picture 33">
            <a:extLst>
              <a:ext uri="{FF2B5EF4-FFF2-40B4-BE49-F238E27FC236}">
                <a16:creationId xmlns:a16="http://schemas.microsoft.com/office/drawing/2014/main" id="{00C08090-2F54-D19F-CA7E-B237FEC9045A}"/>
              </a:ext>
            </a:extLst>
          </p:cNvPr>
          <p:cNvPicPr>
            <a:picLocks noChangeAspect="1"/>
          </p:cNvPicPr>
          <p:nvPr/>
        </p:nvPicPr>
        <p:blipFill>
          <a:blip r:embed="rId6"/>
          <a:stretch>
            <a:fillRect/>
          </a:stretch>
        </p:blipFill>
        <p:spPr>
          <a:xfrm>
            <a:off x="4880283" y="5483794"/>
            <a:ext cx="678383" cy="620323"/>
          </a:xfrm>
          <a:prstGeom prst="rect">
            <a:avLst/>
          </a:prstGeom>
        </p:spPr>
      </p:pic>
      <p:pic>
        <p:nvPicPr>
          <p:cNvPr id="5" name="Picture 2" descr="Rip Headstone Stock Photo - Download Image Now - Tombstone, Rest In Peace,  Torn - iStock">
            <a:extLst>
              <a:ext uri="{FF2B5EF4-FFF2-40B4-BE49-F238E27FC236}">
                <a16:creationId xmlns:a16="http://schemas.microsoft.com/office/drawing/2014/main" id="{4B2D6627-D92D-3CDA-BF2A-47A512E190AF}"/>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477286" y="3655095"/>
            <a:ext cx="692764" cy="79544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Rip Headstone Stock Photo - Download Image Now - Tombstone, Rest In Peace,  Torn - iStock">
            <a:extLst>
              <a:ext uri="{FF2B5EF4-FFF2-40B4-BE49-F238E27FC236}">
                <a16:creationId xmlns:a16="http://schemas.microsoft.com/office/drawing/2014/main" id="{9DA830FF-4615-6347-25DF-5375260A2015}"/>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477286" y="4827886"/>
            <a:ext cx="692764" cy="795444"/>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B4235E97-9132-CA37-E077-22452277CDDE}"/>
              </a:ext>
            </a:extLst>
          </p:cNvPr>
          <p:cNvSpPr txBox="1"/>
          <p:nvPr/>
        </p:nvSpPr>
        <p:spPr>
          <a:xfrm>
            <a:off x="8347434" y="5448782"/>
            <a:ext cx="3330077" cy="1255346"/>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Comic Sans MS" panose="030F0702030302020204" pitchFamily="66" charset="0"/>
              </a:rPr>
              <a:t>Hmm, now that you look closer, you see that mutant 3 isn't actually a bug.</a:t>
            </a:r>
          </a:p>
        </p:txBody>
      </p:sp>
    </p:spTree>
    <p:extLst>
      <p:ext uri="{BB962C8B-B14F-4D97-AF65-F5344CB8AC3E}">
        <p14:creationId xmlns:p14="http://schemas.microsoft.com/office/powerpoint/2010/main" val="6633035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2">
            <a:extLst>
              <a:ext uri="{FF2B5EF4-FFF2-40B4-BE49-F238E27FC236}">
                <a16:creationId xmlns:a16="http://schemas.microsoft.com/office/drawing/2014/main" id="{0595816B-3B9E-0DD6-E8BE-1FA448A2CD3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90531" y="4504113"/>
            <a:ext cx="988471" cy="708715"/>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8FD725C7-6D2A-BE5D-7391-3B4F57B2265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45929" y="3202602"/>
            <a:ext cx="988471" cy="70871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4EE7052-82B2-BFE2-BE3C-7FE04E90D362}"/>
              </a:ext>
            </a:extLst>
          </p:cNvPr>
          <p:cNvSpPr>
            <a:spLocks noGrp="1"/>
          </p:cNvSpPr>
          <p:nvPr>
            <p:ph type="title"/>
          </p:nvPr>
        </p:nvSpPr>
        <p:spPr/>
        <p:txBody>
          <a:bodyPr/>
          <a:lstStyle/>
          <a:p>
            <a:r>
              <a:rPr lang="en-US" dirty="0"/>
              <a:t>Adversarial Testing: you lose</a:t>
            </a:r>
          </a:p>
        </p:txBody>
      </p:sp>
      <p:sp>
        <p:nvSpPr>
          <p:cNvPr id="4" name="Slide Number Placeholder 3">
            <a:extLst>
              <a:ext uri="{FF2B5EF4-FFF2-40B4-BE49-F238E27FC236}">
                <a16:creationId xmlns:a16="http://schemas.microsoft.com/office/drawing/2014/main" id="{37AAF879-2BA6-4795-5D2A-ACA6A66F074D}"/>
              </a:ext>
            </a:extLst>
          </p:cNvPr>
          <p:cNvSpPr>
            <a:spLocks noGrp="1"/>
          </p:cNvSpPr>
          <p:nvPr>
            <p:ph type="sldNum" sz="quarter" idx="12"/>
          </p:nvPr>
        </p:nvSpPr>
        <p:spPr>
          <a:xfrm>
            <a:off x="4305300" y="3178175"/>
            <a:ext cx="1371600" cy="182563"/>
          </a:xfrm>
          <a:prstGeom prst="rect">
            <a:avLst/>
          </a:prstGeom>
        </p:spPr>
        <p:txBody>
          <a:bodyPr vert="horz" lIns="45720" tIns="22860" rIns="45720" bIns="22860" rtlCol="0" anchor="ctr"/>
          <a:lstStyle>
            <a:defPPr marL="0" marR="0" indent="0" algn="l" defTabSz="228600" rtl="0" fontAlgn="auto" latinLnBrk="1" hangingPunct="0">
              <a:lnSpc>
                <a:spcPct val="100000"/>
              </a:lnSpc>
              <a:spcBef>
                <a:spcPts val="0"/>
              </a:spcBef>
              <a:spcAft>
                <a:spcPts val="0"/>
              </a:spcAft>
              <a:buClrTx/>
              <a:buSzTx/>
              <a:buFontTx/>
              <a:buNone/>
              <a:tabLst/>
              <a:defRPr kumimoji="0" sz="450" b="0" i="0" u="none" strike="noStrike" cap="none" spc="0" normalizeH="0" baseline="0">
                <a:ln>
                  <a:noFill/>
                </a:ln>
                <a:solidFill>
                  <a:srgbClr val="000000"/>
                </a:solidFill>
                <a:effectLst/>
                <a:uFillTx/>
              </a:defRPr>
            </a:defPPr>
            <a:lvl1pPr marL="0" marR="0" indent="0" algn="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chemeClr val="tx1">
                    <a:tint val="75000"/>
                  </a:schemeClr>
                </a:solidFill>
                <a:effectLst/>
                <a:uFillTx/>
                <a:latin typeface="+mn-lt"/>
                <a:ea typeface="+mn-ea"/>
                <a:cs typeface="+mn-cs"/>
                <a:sym typeface="Helvetica Neue"/>
              </a:defRPr>
            </a:lvl1pPr>
            <a:lvl2pPr marL="0" marR="0" indent="1143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2pPr>
            <a:lvl3pPr marL="0" marR="0" indent="2286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3pPr>
            <a:lvl4pPr marL="0" marR="0" indent="3429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4pPr>
            <a:lvl5pPr marL="0" marR="0" indent="4572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5pPr>
            <a:lvl6pPr marL="0" marR="0" indent="5715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6pPr>
            <a:lvl7pPr marL="0" marR="0" indent="6858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7pPr>
            <a:lvl8pPr marL="0" marR="0" indent="8001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8pPr>
            <a:lvl9pPr marL="0" marR="0" indent="9144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9pPr>
          </a:lstStyle>
          <a:p>
            <a:pPr defTabSz="457200" hangingPunct="1">
              <a:defRPr/>
            </a:pPr>
            <a:fld id="{20F37917-FD3A-4669-9018-DA04BCDD3D75}" type="slidenum">
              <a:rPr lang="en-US" kern="1200" smtClean="0">
                <a:solidFill>
                  <a:prstClr val="black">
                    <a:tint val="75000"/>
                  </a:prstClr>
                </a:solidFill>
                <a:latin typeface="Calibri" panose="020F0502020204030204"/>
              </a:rPr>
              <a:pPr defTabSz="457200" hangingPunct="1">
                <a:defRPr/>
              </a:pPr>
              <a:t>35</a:t>
            </a:fld>
            <a:endParaRPr lang="en-US" sz="1200">
              <a:solidFill>
                <a:prstClr val="black">
                  <a:tint val="75000"/>
                </a:prstClr>
              </a:solidFill>
              <a:latin typeface="Calibri" panose="020F0502020204030204"/>
            </a:endParaRPr>
          </a:p>
        </p:txBody>
      </p:sp>
      <p:sp>
        <p:nvSpPr>
          <p:cNvPr id="8" name="Rectangle 7">
            <a:extLst>
              <a:ext uri="{FF2B5EF4-FFF2-40B4-BE49-F238E27FC236}">
                <a16:creationId xmlns:a16="http://schemas.microsoft.com/office/drawing/2014/main" id="{926B2026-3232-5195-5849-5027E1E47B7E}"/>
              </a:ext>
            </a:extLst>
          </p:cNvPr>
          <p:cNvSpPr/>
          <p:nvPr/>
        </p:nvSpPr>
        <p:spPr>
          <a:xfrm>
            <a:off x="2179527" y="244947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code</a:t>
            </a:r>
          </a:p>
        </p:txBody>
      </p:sp>
      <p:sp>
        <p:nvSpPr>
          <p:cNvPr id="10" name="Rectangle 9">
            <a:extLst>
              <a:ext uri="{FF2B5EF4-FFF2-40B4-BE49-F238E27FC236}">
                <a16:creationId xmlns:a16="http://schemas.microsoft.com/office/drawing/2014/main" id="{9F89201E-2738-414E-269A-376A465CDDA3}"/>
              </a:ext>
            </a:extLst>
          </p:cNvPr>
          <p:cNvSpPr/>
          <p:nvPr/>
        </p:nvSpPr>
        <p:spPr>
          <a:xfrm>
            <a:off x="2179528" y="4991571"/>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tests</a:t>
            </a:r>
          </a:p>
        </p:txBody>
      </p:sp>
      <p:sp>
        <p:nvSpPr>
          <p:cNvPr id="11" name="TextBox 10">
            <a:extLst>
              <a:ext uri="{FF2B5EF4-FFF2-40B4-BE49-F238E27FC236}">
                <a16:creationId xmlns:a16="http://schemas.microsoft.com/office/drawing/2014/main" id="{0F416FE4-CB69-886C-0B48-F8CA9ADCDB41}"/>
              </a:ext>
            </a:extLst>
          </p:cNvPr>
          <p:cNvSpPr txBox="1"/>
          <p:nvPr/>
        </p:nvSpPr>
        <p:spPr>
          <a:xfrm>
            <a:off x="246136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Player (You)</a:t>
            </a:r>
          </a:p>
        </p:txBody>
      </p:sp>
      <p:sp>
        <p:nvSpPr>
          <p:cNvPr id="12" name="TextBox 11">
            <a:extLst>
              <a:ext uri="{FF2B5EF4-FFF2-40B4-BE49-F238E27FC236}">
                <a16:creationId xmlns:a16="http://schemas.microsoft.com/office/drawing/2014/main" id="{33AC4057-B8C2-2DCD-C9E4-10A4D020C27E}"/>
              </a:ext>
            </a:extLst>
          </p:cNvPr>
          <p:cNvSpPr txBox="1"/>
          <p:nvPr/>
        </p:nvSpPr>
        <p:spPr>
          <a:xfrm>
            <a:off x="699787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Opponent (Them)</a:t>
            </a:r>
          </a:p>
        </p:txBody>
      </p:sp>
      <p:sp>
        <p:nvSpPr>
          <p:cNvPr id="16" name="Rectangle 15">
            <a:extLst>
              <a:ext uri="{FF2B5EF4-FFF2-40B4-BE49-F238E27FC236}">
                <a16:creationId xmlns:a16="http://schemas.microsoft.com/office/drawing/2014/main" id="{33E29B71-D522-B200-066D-36D129260235}"/>
              </a:ext>
            </a:extLst>
          </p:cNvPr>
          <p:cNvSpPr/>
          <p:nvPr/>
        </p:nvSpPr>
        <p:spPr>
          <a:xfrm>
            <a:off x="6258835" y="4805045"/>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2</a:t>
            </a:r>
          </a:p>
        </p:txBody>
      </p:sp>
      <p:sp>
        <p:nvSpPr>
          <p:cNvPr id="17" name="Rectangle 16">
            <a:extLst>
              <a:ext uri="{FF2B5EF4-FFF2-40B4-BE49-F238E27FC236}">
                <a16:creationId xmlns:a16="http://schemas.microsoft.com/office/drawing/2014/main" id="{38DBC254-38B3-3961-D394-D5719E3CE6DC}"/>
              </a:ext>
            </a:extLst>
          </p:cNvPr>
          <p:cNvSpPr/>
          <p:nvPr/>
        </p:nvSpPr>
        <p:spPr>
          <a:xfrm>
            <a:off x="6258836" y="5967076"/>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3</a:t>
            </a:r>
          </a:p>
        </p:txBody>
      </p:sp>
      <p:sp>
        <p:nvSpPr>
          <p:cNvPr id="15" name="Rectangle 14">
            <a:extLst>
              <a:ext uri="{FF2B5EF4-FFF2-40B4-BE49-F238E27FC236}">
                <a16:creationId xmlns:a16="http://schemas.microsoft.com/office/drawing/2014/main" id="{0257930C-BC52-BEC7-1AAD-086DD7C34E9E}"/>
              </a:ext>
            </a:extLst>
          </p:cNvPr>
          <p:cNvSpPr/>
          <p:nvPr/>
        </p:nvSpPr>
        <p:spPr>
          <a:xfrm>
            <a:off x="6258836" y="362515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1</a:t>
            </a:r>
          </a:p>
        </p:txBody>
      </p:sp>
      <p:sp>
        <p:nvSpPr>
          <p:cNvPr id="21" name="Arrow: Bent-Up 20">
            <a:extLst>
              <a:ext uri="{FF2B5EF4-FFF2-40B4-BE49-F238E27FC236}">
                <a16:creationId xmlns:a16="http://schemas.microsoft.com/office/drawing/2014/main" id="{EF06BE51-2A69-A4B9-27F9-528C08837D6E}"/>
              </a:ext>
            </a:extLst>
          </p:cNvPr>
          <p:cNvSpPr/>
          <p:nvPr/>
        </p:nvSpPr>
        <p:spPr>
          <a:xfrm rot="5400000" flipV="1">
            <a:off x="8255390" y="2830940"/>
            <a:ext cx="991500" cy="1958268"/>
          </a:xfrm>
          <a:prstGeom prst="bentUpArrow">
            <a:avLst>
              <a:gd name="adj1" fmla="val 16123"/>
              <a:gd name="adj2" fmla="val 23863"/>
              <a:gd name="adj3" fmla="val 2500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4" name="Arrow: Bent-Up 23">
            <a:extLst>
              <a:ext uri="{FF2B5EF4-FFF2-40B4-BE49-F238E27FC236}">
                <a16:creationId xmlns:a16="http://schemas.microsoft.com/office/drawing/2014/main" id="{B121B697-7A3A-DF1A-E6C0-4123DBA3B11D}"/>
              </a:ext>
            </a:extLst>
          </p:cNvPr>
          <p:cNvSpPr/>
          <p:nvPr/>
        </p:nvSpPr>
        <p:spPr>
          <a:xfrm rot="5400000" flipV="1">
            <a:off x="7101463" y="3967530"/>
            <a:ext cx="3299957" cy="1996890"/>
          </a:xfrm>
          <a:prstGeom prst="bentUpArrow">
            <a:avLst>
              <a:gd name="adj1" fmla="val 10829"/>
              <a:gd name="adj2" fmla="val 10090"/>
              <a:gd name="adj3" fmla="val 12705"/>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5" name="Arrow: Bent-Up 24">
            <a:extLst>
              <a:ext uri="{FF2B5EF4-FFF2-40B4-BE49-F238E27FC236}">
                <a16:creationId xmlns:a16="http://schemas.microsoft.com/office/drawing/2014/main" id="{7362EE26-27CC-D95A-9D5B-ECC434346566}"/>
              </a:ext>
            </a:extLst>
          </p:cNvPr>
          <p:cNvSpPr/>
          <p:nvPr/>
        </p:nvSpPr>
        <p:spPr>
          <a:xfrm rot="5400000" flipV="1">
            <a:off x="7701494" y="3351410"/>
            <a:ext cx="2067721" cy="1996891"/>
          </a:xfrm>
          <a:prstGeom prst="bentUpArrow">
            <a:avLst>
              <a:gd name="adj1" fmla="val 8360"/>
              <a:gd name="adj2" fmla="val 7366"/>
              <a:gd name="adj3" fmla="val 1295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0" name="Left Brace 19">
            <a:extLst>
              <a:ext uri="{FF2B5EF4-FFF2-40B4-BE49-F238E27FC236}">
                <a16:creationId xmlns:a16="http://schemas.microsoft.com/office/drawing/2014/main" id="{B19FFA5D-0DD8-B003-5C54-546090139A8D}"/>
              </a:ext>
            </a:extLst>
          </p:cNvPr>
          <p:cNvSpPr/>
          <p:nvPr/>
        </p:nvSpPr>
        <p:spPr>
          <a:xfrm>
            <a:off x="3706745" y="3759228"/>
            <a:ext cx="430144" cy="2856726"/>
          </a:xfrm>
          <a:prstGeom prst="leftBrace">
            <a:avLst>
              <a:gd name="adj1" fmla="val 61066"/>
              <a:gd name="adj2" fmla="val 50458"/>
            </a:avLst>
          </a:prstGeom>
          <a:ln w="12700">
            <a:solidFill>
              <a:schemeClr val="tx1"/>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3600"/>
          </a:p>
        </p:txBody>
      </p:sp>
      <p:sp>
        <p:nvSpPr>
          <p:cNvPr id="22" name="Arrow: Left-Right 21">
            <a:extLst>
              <a:ext uri="{FF2B5EF4-FFF2-40B4-BE49-F238E27FC236}">
                <a16:creationId xmlns:a16="http://schemas.microsoft.com/office/drawing/2014/main" id="{8D7309BB-4B06-DA1B-B5FA-D07F230E9500}"/>
              </a:ext>
            </a:extLst>
          </p:cNvPr>
          <p:cNvSpPr/>
          <p:nvPr/>
        </p:nvSpPr>
        <p:spPr>
          <a:xfrm>
            <a:off x="4186037" y="6032999"/>
            <a:ext cx="2062363" cy="452388"/>
          </a:xfrm>
          <a:prstGeom prst="leftRightArrow">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3600" dirty="0">
              <a:solidFill>
                <a:schemeClr val="tx1"/>
              </a:solidFill>
            </a:endParaRPr>
          </a:p>
        </p:txBody>
      </p:sp>
      <p:sp>
        <p:nvSpPr>
          <p:cNvPr id="23" name="Arrow: Left-Right 22">
            <a:extLst>
              <a:ext uri="{FF2B5EF4-FFF2-40B4-BE49-F238E27FC236}">
                <a16:creationId xmlns:a16="http://schemas.microsoft.com/office/drawing/2014/main" id="{C03F6A3D-B8D6-662C-E86F-4153E8D15090}"/>
              </a:ext>
            </a:extLst>
          </p:cNvPr>
          <p:cNvSpPr/>
          <p:nvPr/>
        </p:nvSpPr>
        <p:spPr>
          <a:xfrm>
            <a:off x="4136889" y="3872436"/>
            <a:ext cx="2105410" cy="452388"/>
          </a:xfrm>
          <a:prstGeom prst="leftRightArrow">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6" name="Arrow: Left-Right 25">
            <a:extLst>
              <a:ext uri="{FF2B5EF4-FFF2-40B4-BE49-F238E27FC236}">
                <a16:creationId xmlns:a16="http://schemas.microsoft.com/office/drawing/2014/main" id="{232CBE74-8364-05F1-DA7C-E259CC033FA1}"/>
              </a:ext>
            </a:extLst>
          </p:cNvPr>
          <p:cNvSpPr/>
          <p:nvPr/>
        </p:nvSpPr>
        <p:spPr>
          <a:xfrm>
            <a:off x="4152976" y="4980266"/>
            <a:ext cx="2089322" cy="452388"/>
          </a:xfrm>
          <a:prstGeom prst="leftRightArrow">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pic>
        <p:nvPicPr>
          <p:cNvPr id="29" name="Picture 28" descr="A red x on a black background&#10;&#10;Description automatically generated">
            <a:extLst>
              <a:ext uri="{FF2B5EF4-FFF2-40B4-BE49-F238E27FC236}">
                <a16:creationId xmlns:a16="http://schemas.microsoft.com/office/drawing/2014/main" id="{012C0C91-084A-2613-2281-C720F8C8412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77756" y="3300930"/>
            <a:ext cx="439762" cy="550166"/>
          </a:xfrm>
          <a:prstGeom prst="rect">
            <a:avLst/>
          </a:prstGeom>
        </p:spPr>
      </p:pic>
      <p:pic>
        <p:nvPicPr>
          <p:cNvPr id="31" name="Picture 30" descr="A red x on a black background&#10;&#10;Description automatically generated">
            <a:extLst>
              <a:ext uri="{FF2B5EF4-FFF2-40B4-BE49-F238E27FC236}">
                <a16:creationId xmlns:a16="http://schemas.microsoft.com/office/drawing/2014/main" id="{EE25F185-2EA6-88B2-FBA4-D5B9AE9C8B8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95955" y="4441405"/>
            <a:ext cx="439762" cy="550166"/>
          </a:xfrm>
          <a:prstGeom prst="rect">
            <a:avLst/>
          </a:prstGeom>
        </p:spPr>
      </p:pic>
      <p:pic>
        <p:nvPicPr>
          <p:cNvPr id="28" name="Picture 2">
            <a:extLst>
              <a:ext uri="{FF2B5EF4-FFF2-40B4-BE49-F238E27FC236}">
                <a16:creationId xmlns:a16="http://schemas.microsoft.com/office/drawing/2014/main" id="{BC017D78-4438-32C9-F49D-111FF4C9DBD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83690" y="2193512"/>
            <a:ext cx="828784" cy="1144005"/>
          </a:xfrm>
          <a:prstGeom prst="rect">
            <a:avLst/>
          </a:prstGeom>
          <a:noFill/>
          <a:extLst>
            <a:ext uri="{909E8E84-426E-40DD-AFC4-6F175D3DCCD1}">
              <a14:hiddenFill xmlns:a14="http://schemas.microsoft.com/office/drawing/2010/main">
                <a:solidFill>
                  <a:srgbClr val="FFFFFF"/>
                </a:solidFill>
              </a14:hiddenFill>
            </a:ext>
          </a:extLst>
        </p:spPr>
      </p:pic>
      <p:sp>
        <p:nvSpPr>
          <p:cNvPr id="33" name="Arrow: Right 32">
            <a:extLst>
              <a:ext uri="{FF2B5EF4-FFF2-40B4-BE49-F238E27FC236}">
                <a16:creationId xmlns:a16="http://schemas.microsoft.com/office/drawing/2014/main" id="{37DAD66B-37C5-1082-F704-979AC7F10D63}"/>
              </a:ext>
            </a:extLst>
          </p:cNvPr>
          <p:cNvSpPr/>
          <p:nvPr/>
        </p:nvSpPr>
        <p:spPr>
          <a:xfrm>
            <a:off x="3706745" y="2718486"/>
            <a:ext cx="5476945" cy="404334"/>
          </a:xfrm>
          <a:prstGeom prst="rightArrow">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3600" dirty="0">
              <a:solidFill>
                <a:schemeClr val="tx1"/>
              </a:solidFill>
            </a:endParaRPr>
          </a:p>
        </p:txBody>
      </p:sp>
      <p:pic>
        <p:nvPicPr>
          <p:cNvPr id="34" name="Picture 33">
            <a:extLst>
              <a:ext uri="{FF2B5EF4-FFF2-40B4-BE49-F238E27FC236}">
                <a16:creationId xmlns:a16="http://schemas.microsoft.com/office/drawing/2014/main" id="{00C08090-2F54-D19F-CA7E-B237FEC9045A}"/>
              </a:ext>
            </a:extLst>
          </p:cNvPr>
          <p:cNvPicPr>
            <a:picLocks noChangeAspect="1"/>
          </p:cNvPicPr>
          <p:nvPr/>
        </p:nvPicPr>
        <p:blipFill>
          <a:blip r:embed="rId6"/>
          <a:stretch>
            <a:fillRect/>
          </a:stretch>
        </p:blipFill>
        <p:spPr>
          <a:xfrm>
            <a:off x="4880283" y="5483794"/>
            <a:ext cx="678383" cy="620323"/>
          </a:xfrm>
          <a:prstGeom prst="rect">
            <a:avLst/>
          </a:prstGeom>
        </p:spPr>
      </p:pic>
      <p:pic>
        <p:nvPicPr>
          <p:cNvPr id="5" name="Picture 2" descr="Rip Headstone Stock Photo - Download Image Now - Tombstone, Rest In Peace,  Torn - iStock">
            <a:extLst>
              <a:ext uri="{FF2B5EF4-FFF2-40B4-BE49-F238E27FC236}">
                <a16:creationId xmlns:a16="http://schemas.microsoft.com/office/drawing/2014/main" id="{4B2D6627-D92D-3CDA-BF2A-47A512E190AF}"/>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477286" y="3655095"/>
            <a:ext cx="692764" cy="79544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Rip Headstone Stock Photo - Download Image Now - Tombstone, Rest In Peace,  Torn - iStock">
            <a:extLst>
              <a:ext uri="{FF2B5EF4-FFF2-40B4-BE49-F238E27FC236}">
                <a16:creationId xmlns:a16="http://schemas.microsoft.com/office/drawing/2014/main" id="{9DA830FF-4615-6347-25DF-5375260A2015}"/>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477286" y="4827886"/>
            <a:ext cx="692764" cy="795444"/>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B4235E97-9132-CA37-E077-22452277CDDE}"/>
              </a:ext>
            </a:extLst>
          </p:cNvPr>
          <p:cNvSpPr txBox="1"/>
          <p:nvPr/>
        </p:nvSpPr>
        <p:spPr>
          <a:xfrm>
            <a:off x="8347434" y="5448782"/>
            <a:ext cx="3330077" cy="1255346"/>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Comic Sans MS" panose="030F0702030302020204" pitchFamily="66" charset="0"/>
              </a:rPr>
              <a:t>Hmm, mutant #3 really demonstrates a bug.  Time to strengthen your tests</a:t>
            </a:r>
          </a:p>
        </p:txBody>
      </p:sp>
    </p:spTree>
    <p:extLst>
      <p:ext uri="{BB962C8B-B14F-4D97-AF65-F5344CB8AC3E}">
        <p14:creationId xmlns:p14="http://schemas.microsoft.com/office/powerpoint/2010/main" val="4180793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B964C-B9F1-B09A-02B9-F3DBDD834230}"/>
            </a:ext>
          </a:extLst>
        </p:cNvPr>
        <p:cNvGrpSpPr/>
        <p:nvPr/>
      </p:nvGrpSpPr>
      <p:grpSpPr>
        <a:xfrm>
          <a:off x="0" y="0"/>
          <a:ext cx="0" cy="0"/>
          <a:chOff x="0" y="0"/>
          <a:chExt cx="0" cy="0"/>
        </a:xfrm>
      </p:grpSpPr>
      <p:sp>
        <p:nvSpPr>
          <p:cNvPr id="826" name="Mutation Analysis Tests the Tests">
            <a:extLst>
              <a:ext uri="{FF2B5EF4-FFF2-40B4-BE49-F238E27FC236}">
                <a16:creationId xmlns:a16="http://schemas.microsoft.com/office/drawing/2014/main" id="{3505756F-0E16-DD45-F6F8-5EF6A9FC0F4B}"/>
              </a:ext>
            </a:extLst>
          </p:cNvPr>
          <p:cNvSpPr txBox="1">
            <a:spLocks noGrp="1"/>
          </p:cNvSpPr>
          <p:nvPr>
            <p:ph type="title"/>
          </p:nvPr>
        </p:nvSpPr>
        <p:spPr/>
        <p:txBody>
          <a:bodyPr>
            <a:normAutofit/>
          </a:bodyPr>
          <a:lstStyle/>
          <a:p>
            <a:r>
              <a:rPr lang="en-US"/>
              <a:t>Adversarial Testing</a:t>
            </a:r>
          </a:p>
        </p:txBody>
      </p:sp>
      <p:sp>
        <p:nvSpPr>
          <p:cNvPr id="5" name="Content Placeholder 4">
            <a:extLst>
              <a:ext uri="{FF2B5EF4-FFF2-40B4-BE49-F238E27FC236}">
                <a16:creationId xmlns:a16="http://schemas.microsoft.com/office/drawing/2014/main" id="{95BB1608-BF12-06F4-3A8E-8E22548F46EC}"/>
              </a:ext>
            </a:extLst>
          </p:cNvPr>
          <p:cNvSpPr>
            <a:spLocks noGrp="1"/>
          </p:cNvSpPr>
          <p:nvPr>
            <p:ph idx="1"/>
          </p:nvPr>
        </p:nvSpPr>
        <p:spPr>
          <a:xfrm>
            <a:off x="838200" y="1500160"/>
            <a:ext cx="9220200" cy="4351338"/>
          </a:xfrm>
        </p:spPr>
        <p:txBody>
          <a:bodyPr/>
          <a:lstStyle/>
          <a:p>
            <a:pPr marL="0" indent="0">
              <a:buNone/>
            </a:pPr>
            <a:r>
              <a:rPr lang="en-US"/>
              <a:t>Stryker is a </a:t>
            </a:r>
            <a:r>
              <a:rPr lang="en-US" i="1"/>
              <a:t>mutation tester </a:t>
            </a:r>
            <a:r>
              <a:rPr lang="en-US"/>
              <a:t>for JavaScript — an automated adversary!</a:t>
            </a:r>
          </a:p>
        </p:txBody>
      </p:sp>
      <p:sp>
        <p:nvSpPr>
          <p:cNvPr id="828" name="Slide Number">
            <a:extLst>
              <a:ext uri="{FF2B5EF4-FFF2-40B4-BE49-F238E27FC236}">
                <a16:creationId xmlns:a16="http://schemas.microsoft.com/office/drawing/2014/main" id="{02E8DAD1-E08C-F87D-BFC9-1B8899A1AC29}"/>
              </a:ext>
            </a:extLst>
          </p:cNvPr>
          <p:cNvSpPr txBox="1">
            <a:spLocks noGrp="1"/>
          </p:cNvSpPr>
          <p:nvPr>
            <p:ph type="sldNum" sz="quarter" idx="12"/>
          </p:nvPr>
        </p:nvSpPr>
        <p:spPr>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36</a:t>
            </a:fld>
            <a:endParaRPr/>
          </a:p>
        </p:txBody>
      </p:sp>
      <p:pic>
        <p:nvPicPr>
          <p:cNvPr id="4" name="Image" descr="Image">
            <a:extLst>
              <a:ext uri="{FF2B5EF4-FFF2-40B4-BE49-F238E27FC236}">
                <a16:creationId xmlns:a16="http://schemas.microsoft.com/office/drawing/2014/main" id="{4DE925F5-88D1-1054-240C-326948CD9F6D}"/>
              </a:ext>
            </a:extLst>
          </p:cNvPr>
          <p:cNvPicPr>
            <a:picLocks noChangeAspect="1"/>
          </p:cNvPicPr>
          <p:nvPr/>
        </p:nvPicPr>
        <p:blipFill>
          <a:blip r:embed="rId3"/>
          <a:stretch>
            <a:fillRect/>
          </a:stretch>
        </p:blipFill>
        <p:spPr>
          <a:xfrm>
            <a:off x="838200" y="2554975"/>
            <a:ext cx="10637069" cy="3548949"/>
          </a:xfrm>
          <a:prstGeom prst="rect">
            <a:avLst/>
          </a:prstGeom>
          <a:ln w="25400">
            <a:solidFill>
              <a:schemeClr val="accent1"/>
            </a:solidFill>
            <a:miter/>
          </a:ln>
        </p:spPr>
      </p:pic>
    </p:spTree>
    <p:extLst>
      <p:ext uri="{BB962C8B-B14F-4D97-AF65-F5344CB8AC3E}">
        <p14:creationId xmlns:p14="http://schemas.microsoft.com/office/powerpoint/2010/main" val="19954053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99E53-0833-01EC-2894-06677687ED1F}"/>
            </a:ext>
          </a:extLst>
        </p:cNvPr>
        <p:cNvGrpSpPr/>
        <p:nvPr/>
      </p:nvGrpSpPr>
      <p:grpSpPr>
        <a:xfrm>
          <a:off x="0" y="0"/>
          <a:ext cx="0" cy="0"/>
          <a:chOff x="0" y="0"/>
          <a:chExt cx="0" cy="0"/>
        </a:xfrm>
      </p:grpSpPr>
      <p:sp>
        <p:nvSpPr>
          <p:cNvPr id="826" name="Mutation Analysis Tests the Tests">
            <a:extLst>
              <a:ext uri="{FF2B5EF4-FFF2-40B4-BE49-F238E27FC236}">
                <a16:creationId xmlns:a16="http://schemas.microsoft.com/office/drawing/2014/main" id="{53661DD6-797A-BE6B-8140-688C33F9A8FB}"/>
              </a:ext>
            </a:extLst>
          </p:cNvPr>
          <p:cNvSpPr txBox="1">
            <a:spLocks noGrp="1"/>
          </p:cNvSpPr>
          <p:nvPr>
            <p:ph type="title"/>
          </p:nvPr>
        </p:nvSpPr>
        <p:spPr>
          <a:xfrm>
            <a:off x="838200" y="18255"/>
            <a:ext cx="10515600" cy="1325563"/>
          </a:xfrm>
        </p:spPr>
        <p:txBody>
          <a:bodyPr>
            <a:normAutofit/>
          </a:bodyPr>
          <a:lstStyle/>
          <a:p>
            <a:r>
              <a:rPr lang="en-US"/>
              <a:t>Adversarial Testing</a:t>
            </a:r>
          </a:p>
        </p:txBody>
      </p:sp>
      <p:sp>
        <p:nvSpPr>
          <p:cNvPr id="5" name="Content Placeholder 4">
            <a:extLst>
              <a:ext uri="{FF2B5EF4-FFF2-40B4-BE49-F238E27FC236}">
                <a16:creationId xmlns:a16="http://schemas.microsoft.com/office/drawing/2014/main" id="{AD2A0090-2A9A-67BE-72E1-E2FFC057A43C}"/>
              </a:ext>
            </a:extLst>
          </p:cNvPr>
          <p:cNvSpPr>
            <a:spLocks noGrp="1"/>
          </p:cNvSpPr>
          <p:nvPr>
            <p:ph idx="1"/>
          </p:nvPr>
        </p:nvSpPr>
        <p:spPr>
          <a:xfrm>
            <a:off x="838200" y="1500188"/>
            <a:ext cx="9602972" cy="4351337"/>
          </a:xfrm>
        </p:spPr>
        <p:txBody>
          <a:bodyPr/>
          <a:lstStyle/>
          <a:p>
            <a:pPr marL="0" indent="0">
              <a:buNone/>
            </a:pPr>
            <a:r>
              <a:rPr lang="en-US"/>
              <a:t>Stryker is a mutation tester for JavaScript — an automated adversary!</a:t>
            </a:r>
            <a:endParaRPr lang="en-US" sz="1000"/>
          </a:p>
          <a:p>
            <a:pPr marL="0" indent="0">
              <a:buNone/>
            </a:pPr>
            <a:endParaRPr lang="en-US" sz="1000"/>
          </a:p>
          <a:p>
            <a:pPr marL="0" indent="0">
              <a:buNone/>
            </a:pPr>
            <a:r>
              <a:rPr lang="en-US"/>
              <a:t>Sometimes it loses the game because mutants aren’t bugs.</a:t>
            </a:r>
          </a:p>
        </p:txBody>
      </p:sp>
      <p:sp>
        <p:nvSpPr>
          <p:cNvPr id="828" name="Slide Number">
            <a:extLst>
              <a:ext uri="{FF2B5EF4-FFF2-40B4-BE49-F238E27FC236}">
                <a16:creationId xmlns:a16="http://schemas.microsoft.com/office/drawing/2014/main" id="{157B8D3E-A23D-59A9-FC7F-D4B81474C579}"/>
              </a:ext>
            </a:extLst>
          </p:cNvPr>
          <p:cNvSpPr txBox="1">
            <a:spLocks noGrp="1"/>
          </p:cNvSpPr>
          <p:nvPr>
            <p:ph type="sldNum" sz="quarter" idx="12"/>
          </p:nvPr>
        </p:nvSpPr>
        <p:spPr>
          <a:xfrm>
            <a:off x="8610600" y="6356350"/>
            <a:ext cx="2743200" cy="365125"/>
          </a:xfr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37</a:t>
            </a:fld>
            <a:endParaRPr lang="en-US"/>
          </a:p>
        </p:txBody>
      </p:sp>
      <p:pic>
        <p:nvPicPr>
          <p:cNvPr id="7" name="Image" descr="Image">
            <a:extLst>
              <a:ext uri="{FF2B5EF4-FFF2-40B4-BE49-F238E27FC236}">
                <a16:creationId xmlns:a16="http://schemas.microsoft.com/office/drawing/2014/main" id="{D0E66170-3B33-57B9-E3BA-03645AFB9B32}"/>
              </a:ext>
            </a:extLst>
          </p:cNvPr>
          <p:cNvPicPr>
            <a:picLocks noChangeAspect="1"/>
          </p:cNvPicPr>
          <p:nvPr/>
        </p:nvPicPr>
        <p:blipFill>
          <a:blip r:embed="rId3"/>
          <a:stretch>
            <a:fillRect/>
          </a:stretch>
        </p:blipFill>
        <p:spPr>
          <a:xfrm>
            <a:off x="838200" y="3326899"/>
            <a:ext cx="8956158" cy="3029451"/>
          </a:xfrm>
          <a:prstGeom prst="rect">
            <a:avLst/>
          </a:prstGeom>
          <a:ln w="25400">
            <a:solidFill>
              <a:schemeClr val="accent1"/>
            </a:solidFill>
            <a:miter/>
          </a:ln>
        </p:spPr>
      </p:pic>
    </p:spTree>
    <p:extLst>
      <p:ext uri="{BB962C8B-B14F-4D97-AF65-F5344CB8AC3E}">
        <p14:creationId xmlns:p14="http://schemas.microsoft.com/office/powerpoint/2010/main" val="37109138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1" name="Mutants are a Valid Substitute for Real Faults"/>
          <p:cNvSpPr txBox="1">
            <a:spLocks noGrp="1"/>
          </p:cNvSpPr>
          <p:nvPr>
            <p:ph type="title"/>
          </p:nvPr>
        </p:nvSpPr>
        <p:spPr>
          <a:prstGeom prst="rect">
            <a:avLst/>
          </a:prstGeom>
        </p:spPr>
        <p:txBody>
          <a:bodyPr/>
          <a:lstStyle/>
          <a:p>
            <a:r>
              <a:rPr lang="en-US" dirty="0"/>
              <a:t>Are mutants </a:t>
            </a:r>
            <a:r>
              <a:rPr dirty="0"/>
              <a:t>a Valid Substitute for Real Faults</a:t>
            </a:r>
            <a:r>
              <a:rPr lang="en-US" dirty="0"/>
              <a:t>?  </a:t>
            </a:r>
            <a:r>
              <a:rPr lang="en-US"/>
              <a:t>Probably yes.</a:t>
            </a:r>
            <a:endParaRPr dirty="0"/>
          </a:p>
        </p:txBody>
      </p:sp>
      <p:sp>
        <p:nvSpPr>
          <p:cNvPr id="862" name="Researchers have studied the question of whether a test suite that finds more mutants also finds more real faults…"/>
          <p:cNvSpPr txBox="1">
            <a:spLocks noGrp="1"/>
          </p:cNvSpPr>
          <p:nvPr>
            <p:ph type="body" sz="half" idx="1"/>
          </p:nvPr>
        </p:nvSpPr>
        <p:spPr>
          <a:xfrm>
            <a:off x="838200" y="1512866"/>
            <a:ext cx="6741332" cy="4338633"/>
          </a:xfrm>
          <a:prstGeom prst="rect">
            <a:avLst/>
          </a:prstGeom>
        </p:spPr>
        <p:txBody>
          <a:bodyPr/>
          <a:lstStyle/>
          <a:p>
            <a:r>
              <a:rPr lang="en-US" dirty="0"/>
              <a:t>Do mutants really represent real bugs?</a:t>
            </a:r>
          </a:p>
          <a:p>
            <a:r>
              <a:rPr dirty="0"/>
              <a:t>Researchers have studied the question of whether a test suite that finds more mutants also finds more real faults</a:t>
            </a:r>
          </a:p>
          <a:p>
            <a:r>
              <a:rPr dirty="0"/>
              <a:t>Conclusion: For the 357 real faults studied, yes</a:t>
            </a:r>
          </a:p>
          <a:p>
            <a:r>
              <a:rPr dirty="0"/>
              <a:t>This work has been replicated in many other contexts, including with real faults from student code</a:t>
            </a:r>
          </a:p>
        </p:txBody>
      </p:sp>
      <p:sp>
        <p:nvSpPr>
          <p:cNvPr id="863" name="Slide Number"/>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38</a:t>
            </a:fld>
            <a:endParaRPr/>
          </a:p>
        </p:txBody>
      </p:sp>
      <p:grpSp>
        <p:nvGrpSpPr>
          <p:cNvPr id="866" name="Image"/>
          <p:cNvGrpSpPr/>
          <p:nvPr/>
        </p:nvGrpSpPr>
        <p:grpSpPr>
          <a:xfrm>
            <a:off x="7658018" y="1593499"/>
            <a:ext cx="3713516" cy="4923752"/>
            <a:chOff x="0" y="0"/>
            <a:chExt cx="7427031" cy="9847501"/>
          </a:xfrm>
        </p:grpSpPr>
        <p:pic>
          <p:nvPicPr>
            <p:cNvPr id="865" name="Image" descr="Image"/>
            <p:cNvPicPr>
              <a:picLocks noChangeAspect="1"/>
            </p:cNvPicPr>
            <p:nvPr/>
          </p:nvPicPr>
          <p:blipFill>
            <a:blip r:embed="rId3"/>
            <a:stretch>
              <a:fillRect/>
            </a:stretch>
          </p:blipFill>
          <p:spPr>
            <a:xfrm>
              <a:off x="139700" y="139700"/>
              <a:ext cx="7147632" cy="9568102"/>
            </a:xfrm>
            <a:prstGeom prst="rect">
              <a:avLst/>
            </a:prstGeom>
            <a:ln>
              <a:noFill/>
            </a:ln>
            <a:effectLst/>
          </p:spPr>
        </p:pic>
        <p:pic>
          <p:nvPicPr>
            <p:cNvPr id="864" name="Image" descr="Image"/>
            <p:cNvPicPr>
              <a:picLocks/>
            </p:cNvPicPr>
            <p:nvPr/>
          </p:nvPicPr>
          <p:blipFill>
            <a:blip r:embed="rId4"/>
            <a:stretch>
              <a:fillRect/>
            </a:stretch>
          </p:blipFill>
          <p:spPr>
            <a:xfrm>
              <a:off x="0" y="0"/>
              <a:ext cx="7427032" cy="9847502"/>
            </a:xfrm>
            <a:prstGeom prst="rect">
              <a:avLst/>
            </a:prstGeom>
            <a:effectLst/>
          </p:spPr>
        </p:pic>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6D42B-FD50-CACB-79EF-ADDEE1553ACF}"/>
            </a:ext>
          </a:extLst>
        </p:cNvPr>
        <p:cNvGrpSpPr/>
        <p:nvPr/>
      </p:nvGrpSpPr>
      <p:grpSpPr>
        <a:xfrm>
          <a:off x="0" y="0"/>
          <a:ext cx="0" cy="0"/>
          <a:chOff x="0" y="0"/>
          <a:chExt cx="0" cy="0"/>
        </a:xfrm>
      </p:grpSpPr>
      <p:sp>
        <p:nvSpPr>
          <p:cNvPr id="826" name="Mutation Analysis Tests the Tests">
            <a:extLst>
              <a:ext uri="{FF2B5EF4-FFF2-40B4-BE49-F238E27FC236}">
                <a16:creationId xmlns:a16="http://schemas.microsoft.com/office/drawing/2014/main" id="{ACA81DE3-AFF2-153C-408D-4D943FA4361C}"/>
              </a:ext>
            </a:extLst>
          </p:cNvPr>
          <p:cNvSpPr txBox="1">
            <a:spLocks noGrp="1"/>
          </p:cNvSpPr>
          <p:nvPr>
            <p:ph type="title"/>
          </p:nvPr>
        </p:nvSpPr>
        <p:spPr>
          <a:xfrm>
            <a:off x="838200" y="18255"/>
            <a:ext cx="10515600" cy="1325563"/>
          </a:xfrm>
        </p:spPr>
        <p:txBody>
          <a:bodyPr>
            <a:normAutofit/>
          </a:bodyPr>
          <a:lstStyle/>
          <a:p>
            <a:r>
              <a:rPr lang="en-US" dirty="0"/>
              <a:t>Adversarial Testing &amp; Overspecification</a:t>
            </a:r>
          </a:p>
        </p:txBody>
      </p:sp>
      <p:sp>
        <p:nvSpPr>
          <p:cNvPr id="5" name="Content Placeholder 4">
            <a:extLst>
              <a:ext uri="{FF2B5EF4-FFF2-40B4-BE49-F238E27FC236}">
                <a16:creationId xmlns:a16="http://schemas.microsoft.com/office/drawing/2014/main" id="{F7DF1B94-3598-C24F-56A7-AF16503313E3}"/>
              </a:ext>
            </a:extLst>
          </p:cNvPr>
          <p:cNvSpPr>
            <a:spLocks noGrp="1"/>
          </p:cNvSpPr>
          <p:nvPr>
            <p:ph idx="1"/>
          </p:nvPr>
        </p:nvSpPr>
        <p:spPr>
          <a:xfrm>
            <a:off x="838200" y="1500188"/>
            <a:ext cx="9602972" cy="4351337"/>
          </a:xfrm>
        </p:spPr>
        <p:txBody>
          <a:bodyPr/>
          <a:lstStyle/>
          <a:p>
            <a:pPr marL="0" indent="0">
              <a:buNone/>
            </a:pPr>
            <a:r>
              <a:rPr lang="en-US" dirty="0"/>
              <a:t>We don’t </a:t>
            </a:r>
            <a:r>
              <a:rPr lang="en-US" i="1" dirty="0"/>
              <a:t>want </a:t>
            </a:r>
            <a:r>
              <a:rPr lang="en-US" dirty="0"/>
              <a:t>our test to fail on non-bug mutants! </a:t>
            </a:r>
          </a:p>
          <a:p>
            <a:pPr marL="0" indent="0">
              <a:buNone/>
            </a:pPr>
            <a:endParaRPr lang="en-US" dirty="0"/>
          </a:p>
          <a:p>
            <a:pPr marL="0" indent="0">
              <a:buNone/>
            </a:pPr>
            <a:r>
              <a:rPr lang="en-US" dirty="0"/>
              <a:t>Example: is a mutant that changes the specific error message a valid change, or a bug, according to the English spec? </a:t>
            </a:r>
          </a:p>
        </p:txBody>
      </p:sp>
      <p:sp>
        <p:nvSpPr>
          <p:cNvPr id="828" name="Slide Number">
            <a:extLst>
              <a:ext uri="{FF2B5EF4-FFF2-40B4-BE49-F238E27FC236}">
                <a16:creationId xmlns:a16="http://schemas.microsoft.com/office/drawing/2014/main" id="{A1AC3BF8-7AFD-3BDF-4926-A0F8C34F70B0}"/>
              </a:ext>
            </a:extLst>
          </p:cNvPr>
          <p:cNvSpPr txBox="1">
            <a:spLocks noGrp="1"/>
          </p:cNvSpPr>
          <p:nvPr>
            <p:ph type="sldNum" sz="quarter" idx="12"/>
          </p:nvPr>
        </p:nvSpPr>
        <p:spPr>
          <a:xfrm>
            <a:off x="8610600" y="6356350"/>
            <a:ext cx="2743200" cy="365125"/>
          </a:xfr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39</a:t>
            </a:fld>
            <a:endParaRPr lang="en-US"/>
          </a:p>
        </p:txBody>
      </p:sp>
      <p:sp>
        <p:nvSpPr>
          <p:cNvPr id="2" name="TextBox 1">
            <a:extLst>
              <a:ext uri="{FF2B5EF4-FFF2-40B4-BE49-F238E27FC236}">
                <a16:creationId xmlns:a16="http://schemas.microsoft.com/office/drawing/2014/main" id="{F028F04B-3EEA-80E7-D887-2085F35A9AA8}"/>
              </a:ext>
            </a:extLst>
          </p:cNvPr>
          <p:cNvSpPr txBox="1"/>
          <p:nvPr/>
        </p:nvSpPr>
        <p:spPr>
          <a:xfrm>
            <a:off x="1108504" y="3971691"/>
            <a:ext cx="9974992" cy="1785104"/>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200" dirty="0">
                <a:solidFill>
                  <a:srgbClr val="795E26"/>
                </a:solidFill>
                <a:latin typeface="Consolas" panose="020B0609020204030204" pitchFamily="49" charset="0"/>
              </a:rPr>
              <a:t>test</a:t>
            </a:r>
            <a:r>
              <a:rPr lang="en-US" sz="2200" dirty="0">
                <a:solidFill>
                  <a:srgbClr val="3B3B3B"/>
                </a:solidFill>
                <a:latin typeface="Consolas" panose="020B0609020204030204" pitchFamily="49" charset="0"/>
              </a:rPr>
              <a:t>(</a:t>
            </a:r>
            <a:r>
              <a:rPr lang="en-US" sz="2200" dirty="0">
                <a:solidFill>
                  <a:srgbClr val="A31515"/>
                </a:solidFill>
                <a:latin typeface="Consolas" panose="020B0609020204030204" pitchFamily="49" charset="0"/>
              </a:rPr>
              <a:t>"should throw an error if no such item"</a:t>
            </a:r>
            <a:r>
              <a:rPr lang="en-US" sz="2200" dirty="0">
                <a:solidFill>
                  <a:srgbClr val="3B3B3B"/>
                </a:solidFill>
                <a:latin typeface="Consolas" panose="020B0609020204030204" pitchFamily="49" charset="0"/>
              </a:rPr>
              <a:t>, () </a:t>
            </a:r>
            <a:r>
              <a:rPr lang="en-US" sz="2200" dirty="0">
                <a:solidFill>
                  <a:srgbClr val="0000FF"/>
                </a:solidFill>
                <a:latin typeface="Consolas" panose="020B0609020204030204" pitchFamily="49" charset="0"/>
              </a:rPr>
              <a:t>=&gt;</a:t>
            </a:r>
            <a:r>
              <a:rPr lang="en-US" sz="2200" dirty="0">
                <a:solidFill>
                  <a:srgbClr val="3B3B3B"/>
                </a:solidFill>
                <a:latin typeface="Consolas" panose="020B0609020204030204" pitchFamily="49" charset="0"/>
              </a:rPr>
              <a:t> {</a:t>
            </a:r>
          </a:p>
          <a:p>
            <a:r>
              <a:rPr lang="en-US" sz="2200" dirty="0">
                <a:solidFill>
                  <a:srgbClr val="3B3B3B"/>
                </a:solidFill>
                <a:latin typeface="Consolas" panose="020B0609020204030204" pitchFamily="49" charset="0"/>
              </a:rPr>
              <a:t>    </a:t>
            </a:r>
            <a:r>
              <a:rPr lang="en-US" sz="2200" dirty="0">
                <a:solidFill>
                  <a:srgbClr val="0000FF"/>
                </a:solidFill>
                <a:latin typeface="Consolas" panose="020B0609020204030204" pitchFamily="49" charset="0"/>
              </a:rPr>
              <a:t>const</a:t>
            </a:r>
            <a:r>
              <a:rPr lang="en-US" sz="2200" dirty="0">
                <a:solidFill>
                  <a:srgbClr val="3B3B3B"/>
                </a:solidFill>
                <a:latin typeface="Consolas" panose="020B0609020204030204" pitchFamily="49" charset="0"/>
              </a:rPr>
              <a:t> </a:t>
            </a:r>
            <a:r>
              <a:rPr lang="en-US" sz="2200" dirty="0">
                <a:solidFill>
                  <a:srgbClr val="0070C1"/>
                </a:solidFill>
                <a:latin typeface="Consolas" panose="020B0609020204030204" pitchFamily="49" charset="0"/>
              </a:rPr>
              <a:t>list</a:t>
            </a:r>
            <a:r>
              <a:rPr lang="en-US" sz="2200" dirty="0">
                <a:solidFill>
                  <a:srgbClr val="3B3B3B"/>
                </a:solidFill>
                <a:latin typeface="Consolas" panose="020B0609020204030204" pitchFamily="49" charset="0"/>
              </a:rPr>
              <a:t> </a:t>
            </a:r>
            <a:r>
              <a:rPr lang="en-US" sz="2200" dirty="0">
                <a:solidFill>
                  <a:srgbClr val="000000"/>
                </a:solidFill>
                <a:latin typeface="Consolas" panose="020B0609020204030204" pitchFamily="49" charset="0"/>
              </a:rPr>
              <a:t>=</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1</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2</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3</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    </a:t>
            </a:r>
            <a:r>
              <a:rPr lang="en-US" sz="2200" dirty="0">
                <a:solidFill>
                  <a:srgbClr val="0000FF"/>
                </a:solidFill>
                <a:latin typeface="Consolas" panose="020B0609020204030204" pitchFamily="49" charset="0"/>
              </a:rPr>
              <a:t>const</a:t>
            </a:r>
            <a:r>
              <a:rPr lang="en-US" sz="2200" dirty="0">
                <a:solidFill>
                  <a:srgbClr val="3B3B3B"/>
                </a:solidFill>
                <a:latin typeface="Consolas" panose="020B0609020204030204" pitchFamily="49" charset="0"/>
              </a:rPr>
              <a:t> </a:t>
            </a:r>
            <a:r>
              <a:rPr lang="en-US" sz="2200" dirty="0">
                <a:solidFill>
                  <a:srgbClr val="0070C1"/>
                </a:solidFill>
                <a:latin typeface="Consolas" panose="020B0609020204030204" pitchFamily="49" charset="0"/>
              </a:rPr>
              <a:t>target</a:t>
            </a:r>
            <a:r>
              <a:rPr lang="en-US" sz="2200" dirty="0">
                <a:solidFill>
                  <a:srgbClr val="3B3B3B"/>
                </a:solidFill>
                <a:latin typeface="Consolas" panose="020B0609020204030204" pitchFamily="49" charset="0"/>
              </a:rPr>
              <a:t> </a:t>
            </a:r>
            <a:r>
              <a:rPr lang="en-US" sz="2200" dirty="0">
                <a:solidFill>
                  <a:srgbClr val="000000"/>
                </a:solidFill>
                <a:latin typeface="Consolas" panose="020B0609020204030204" pitchFamily="49" charset="0"/>
              </a:rPr>
              <a:t>=</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4</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expect</a:t>
            </a:r>
            <a:r>
              <a:rPr lang="en-US" sz="2200" dirty="0">
                <a:solidFill>
                  <a:srgbClr val="3B3B3B"/>
                </a:solidFill>
                <a:latin typeface="Consolas" panose="020B0609020204030204" pitchFamily="49" charset="0"/>
              </a:rPr>
              <a:t>(</a:t>
            </a:r>
            <a:r>
              <a:rPr lang="en-US" sz="2200" dirty="0">
                <a:solidFill>
                  <a:srgbClr val="795E26"/>
                </a:solidFill>
                <a:latin typeface="Consolas" panose="020B0609020204030204" pitchFamily="49" charset="0"/>
              </a:rPr>
              <a:t>search</a:t>
            </a:r>
            <a:r>
              <a:rPr lang="en-US" sz="2200" dirty="0">
                <a:solidFill>
                  <a:srgbClr val="3B3B3B"/>
                </a:solidFill>
                <a:latin typeface="Consolas" panose="020B0609020204030204" pitchFamily="49" charset="0"/>
              </a:rPr>
              <a:t>(</a:t>
            </a:r>
            <a:r>
              <a:rPr lang="en-US" sz="2200" dirty="0">
                <a:solidFill>
                  <a:srgbClr val="0070C1"/>
                </a:solidFill>
                <a:latin typeface="Consolas" panose="020B0609020204030204" pitchFamily="49" charset="0"/>
              </a:rPr>
              <a:t>list</a:t>
            </a:r>
            <a:r>
              <a:rPr lang="en-US" sz="2200" dirty="0">
                <a:solidFill>
                  <a:srgbClr val="3B3B3B"/>
                </a:solidFill>
                <a:latin typeface="Consolas" panose="020B0609020204030204" pitchFamily="49" charset="0"/>
              </a:rPr>
              <a:t>, </a:t>
            </a:r>
            <a:r>
              <a:rPr lang="en-US" sz="2200" dirty="0">
                <a:solidFill>
                  <a:srgbClr val="0070C1"/>
                </a:solidFill>
                <a:latin typeface="Consolas" panose="020B0609020204030204" pitchFamily="49" charset="0"/>
              </a:rPr>
              <a:t>target</a:t>
            </a:r>
            <a:r>
              <a:rPr lang="en-US" sz="2200" dirty="0">
                <a:solidFill>
                  <a:srgbClr val="3B3B3B"/>
                </a:solidFill>
                <a:latin typeface="Consolas" panose="020B0609020204030204" pitchFamily="49" charset="0"/>
              </a:rPr>
              <a:t>)).</a:t>
            </a:r>
            <a:r>
              <a:rPr lang="en-US" sz="2200" dirty="0" err="1">
                <a:solidFill>
                  <a:srgbClr val="795E26"/>
                </a:solidFill>
                <a:latin typeface="Consolas" panose="020B0609020204030204" pitchFamily="49" charset="0"/>
              </a:rPr>
              <a:t>toThrowError</a:t>
            </a:r>
            <a:r>
              <a:rPr lang="en-US" sz="2200" dirty="0">
                <a:solidFill>
                  <a:srgbClr val="3B3B3B"/>
                </a:solidFill>
                <a:latin typeface="Consolas" panose="020B0609020204030204" pitchFamily="49" charset="0"/>
              </a:rPr>
              <a:t>(</a:t>
            </a:r>
            <a:r>
              <a:rPr lang="en-US" sz="2200" dirty="0">
                <a:solidFill>
                  <a:srgbClr val="A31515"/>
                </a:solidFill>
                <a:latin typeface="Consolas" panose="020B0609020204030204" pitchFamily="49" charset="0"/>
              </a:rPr>
              <a:t>"No such item"</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a:t>
            </a:r>
          </a:p>
        </p:txBody>
      </p:sp>
      <p:sp>
        <p:nvSpPr>
          <p:cNvPr id="3" name="TextBox 2">
            <a:extLst>
              <a:ext uri="{FF2B5EF4-FFF2-40B4-BE49-F238E27FC236}">
                <a16:creationId xmlns:a16="http://schemas.microsoft.com/office/drawing/2014/main" id="{221BFE21-DD23-CD86-DB7A-774A98A6CD6B}"/>
              </a:ext>
            </a:extLst>
          </p:cNvPr>
          <p:cNvSpPr txBox="1"/>
          <p:nvPr/>
        </p:nvSpPr>
        <p:spPr>
          <a:xfrm>
            <a:off x="4648965" y="6213644"/>
            <a:ext cx="6093069" cy="50783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700" dirty="0"/>
              <a:t>Maybe better?    </a:t>
            </a:r>
            <a:r>
              <a:rPr lang="en-US" sz="2200" dirty="0" err="1">
                <a:solidFill>
                  <a:srgbClr val="795E26"/>
                </a:solidFill>
                <a:latin typeface="Consolas" panose="020B0609020204030204" pitchFamily="49" charset="0"/>
              </a:rPr>
              <a:t>toThrowError</a:t>
            </a:r>
            <a:r>
              <a:rPr lang="en-US" sz="2200" dirty="0">
                <a:solidFill>
                  <a:srgbClr val="3B3B3B"/>
                </a:solidFill>
                <a:latin typeface="Consolas" panose="020B0609020204030204" pitchFamily="49" charset="0"/>
              </a:rPr>
              <a:t>();</a:t>
            </a:r>
          </a:p>
        </p:txBody>
      </p:sp>
    </p:spTree>
    <p:extLst>
      <p:ext uri="{BB962C8B-B14F-4D97-AF65-F5344CB8AC3E}">
        <p14:creationId xmlns:p14="http://schemas.microsoft.com/office/powerpoint/2010/main" val="1274890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9C462-6B5D-5A10-1C1F-D115A668E6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84AC01-862E-D371-3BE1-C0B84DE421A1}"/>
              </a:ext>
            </a:extLst>
          </p:cNvPr>
          <p:cNvSpPr>
            <a:spLocks noGrp="1"/>
          </p:cNvSpPr>
          <p:nvPr>
            <p:ph type="title"/>
          </p:nvPr>
        </p:nvSpPr>
        <p:spPr>
          <a:xfrm>
            <a:off x="838200" y="18255"/>
            <a:ext cx="10515600" cy="1325563"/>
          </a:xfrm>
        </p:spPr>
        <p:txBody>
          <a:bodyPr/>
          <a:lstStyle/>
          <a:p>
            <a:r>
              <a:rPr lang="en-US" dirty="0"/>
              <a:t>Defensiveness has a cost</a:t>
            </a:r>
          </a:p>
        </p:txBody>
      </p:sp>
      <p:sp>
        <p:nvSpPr>
          <p:cNvPr id="4" name="Slide Number Placeholder 3">
            <a:extLst>
              <a:ext uri="{FF2B5EF4-FFF2-40B4-BE49-F238E27FC236}">
                <a16:creationId xmlns:a16="http://schemas.microsoft.com/office/drawing/2014/main" id="{C24E2333-7435-FB0F-23D2-FD9F61035BBC}"/>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40</a:t>
            </a:fld>
            <a:endParaRPr lang="en-US"/>
          </a:p>
        </p:txBody>
      </p:sp>
      <p:sp>
        <p:nvSpPr>
          <p:cNvPr id="5" name="Content Placeholder 4">
            <a:extLst>
              <a:ext uri="{FF2B5EF4-FFF2-40B4-BE49-F238E27FC236}">
                <a16:creationId xmlns:a16="http://schemas.microsoft.com/office/drawing/2014/main" id="{2E588B43-C3D7-05F8-40E8-CACC7F81469F}"/>
              </a:ext>
            </a:extLst>
          </p:cNvPr>
          <p:cNvSpPr>
            <a:spLocks noGrp="1"/>
          </p:cNvSpPr>
          <p:nvPr>
            <p:ph idx="1"/>
          </p:nvPr>
        </p:nvSpPr>
        <p:spPr>
          <a:xfrm>
            <a:off x="838200" y="1500160"/>
            <a:ext cx="7887346" cy="785840"/>
          </a:xfrm>
        </p:spPr>
        <p:txBody>
          <a:bodyPr/>
          <a:lstStyle/>
          <a:p>
            <a:pPr marL="0" indent="0">
              <a:buNone/>
            </a:pPr>
            <a:r>
              <a:rPr lang="en-US" dirty="0"/>
              <a:t>When you can’t control </a:t>
            </a:r>
          </a:p>
        </p:txBody>
      </p:sp>
      <p:sp>
        <p:nvSpPr>
          <p:cNvPr id="6" name="TextBox 5">
            <a:extLst>
              <a:ext uri="{FF2B5EF4-FFF2-40B4-BE49-F238E27FC236}">
                <a16:creationId xmlns:a16="http://schemas.microsoft.com/office/drawing/2014/main" id="{0FE4840B-5B9B-16C1-75A8-EE622D56E2B1}"/>
              </a:ext>
            </a:extLst>
          </p:cNvPr>
          <p:cNvSpPr txBox="1"/>
          <p:nvPr/>
        </p:nvSpPr>
        <p:spPr>
          <a:xfrm>
            <a:off x="744069" y="2501474"/>
            <a:ext cx="11354146" cy="411644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dirty="0">
                <a:solidFill>
                  <a:srgbClr val="002060"/>
                </a:solidFill>
                <a:latin typeface="Menlo" panose="020B0609030804020204" pitchFamily="49" charset="0"/>
              </a:rPr>
              <a:t>type</a:t>
            </a:r>
            <a:r>
              <a:rPr lang="en-US" dirty="0">
                <a:solidFill>
                  <a:srgbClr val="0000FF"/>
                </a:solidFill>
                <a:latin typeface="Menlo" panose="020B0609030804020204" pitchFamily="49" charset="0"/>
              </a:rPr>
              <a:t> </a:t>
            </a:r>
            <a:r>
              <a:rPr lang="en-US" dirty="0">
                <a:solidFill>
                  <a:srgbClr val="795E26"/>
                </a:solidFill>
                <a:latin typeface="Menlo" panose="020B0609030804020204" pitchFamily="49" charset="0"/>
              </a:rPr>
              <a:t>Auth </a:t>
            </a:r>
            <a:r>
              <a:rPr lang="en-US" dirty="0">
                <a:solidFill>
                  <a:schemeClr val="tx1"/>
                </a:solidFill>
                <a:latin typeface="Menlo" panose="020B0609030804020204" pitchFamily="49" charset="0"/>
              </a:rPr>
              <a:t>= { username: </a:t>
            </a:r>
            <a:r>
              <a:rPr lang="en-US" dirty="0">
                <a:solidFill>
                  <a:schemeClr val="accent5">
                    <a:lumMod val="50000"/>
                  </a:schemeClr>
                </a:solidFill>
                <a:latin typeface="Menlo" panose="020B0609030804020204" pitchFamily="49" charset="0"/>
              </a:rPr>
              <a:t>string</a:t>
            </a:r>
            <a:r>
              <a:rPr lang="en-US" dirty="0">
                <a:solidFill>
                  <a:schemeClr val="tx1"/>
                </a:solidFill>
                <a:latin typeface="Menlo" panose="020B0609030804020204" pitchFamily="49" charset="0"/>
              </a:rPr>
              <a:t>, password: </a:t>
            </a:r>
            <a:r>
              <a:rPr lang="en-US" dirty="0">
                <a:solidFill>
                  <a:schemeClr val="accent5">
                    <a:lumMod val="50000"/>
                  </a:schemeClr>
                </a:solidFill>
                <a:latin typeface="Menlo" panose="020B0609030804020204" pitchFamily="49" charset="0"/>
              </a:rPr>
              <a:t>string</a:t>
            </a:r>
            <a:r>
              <a:rPr lang="en-US" dirty="0">
                <a:solidFill>
                  <a:schemeClr val="tx1"/>
                </a:solidFill>
                <a:latin typeface="Menlo" panose="020B0609030804020204" pitchFamily="49" charset="0"/>
              </a:rPr>
              <a:t> }</a:t>
            </a:r>
            <a:endParaRPr lang="en-US" b="0" dirty="0">
              <a:solidFill>
                <a:schemeClr val="tx1"/>
              </a:solidFill>
              <a:effectLst/>
              <a:latin typeface="Menlo" panose="020B0609030804020204" pitchFamily="49" charset="0"/>
            </a:endParaRPr>
          </a:p>
          <a:p>
            <a:pPr>
              <a:lnSpc>
                <a:spcPct val="110000"/>
              </a:lnSpc>
              <a:buNone/>
            </a:pPr>
            <a:endParaRPr lang="en-US" b="0" dirty="0">
              <a:solidFill>
                <a:srgbClr val="008000"/>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 Checks whether an unknown value is an `Auth`</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a:t>
            </a:r>
            <a:endParaRPr lang="en-US" b="0" dirty="0">
              <a:solidFill>
                <a:srgbClr val="3B3B3B"/>
              </a:solidFill>
              <a:effectLst/>
              <a:latin typeface="Menlo" panose="020B0609030804020204" pitchFamily="49" charset="0"/>
            </a:endParaRPr>
          </a:p>
          <a:p>
            <a:r>
              <a:rPr lang="en-US" dirty="0">
                <a:solidFill>
                  <a:srgbClr val="002060"/>
                </a:solidFill>
                <a:latin typeface="Menlo" panose="020B0609030804020204" pitchFamily="49" charset="0"/>
                <a:ea typeface="Menlo" panose="020B0609030804020204" pitchFamily="49" charset="0"/>
                <a:cs typeface="Menlo" panose="020B0609030804020204" pitchFamily="49" charset="0"/>
              </a:rPr>
              <a:t>function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isAuth</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(x: </a:t>
            </a:r>
            <a:r>
              <a:rPr lang="en-US" dirty="0">
                <a:solidFill>
                  <a:schemeClr val="accent5">
                    <a:lumMod val="50000"/>
                  </a:schemeClr>
                </a:solidFill>
                <a:latin typeface="Menlo" panose="020B0609030804020204" pitchFamily="49" charset="0"/>
                <a:ea typeface="Menlo" panose="020B0609030804020204" pitchFamily="49" charset="0"/>
                <a:cs typeface="Menlo" panose="020B0609030804020204" pitchFamily="49" charset="0"/>
              </a:rPr>
              <a:t>unknown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AF00DB"/>
                </a:solidFill>
                <a:latin typeface="Menlo" panose="020B0609030804020204" pitchFamily="49" charset="0"/>
              </a:rPr>
              <a:t>return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002060"/>
                </a:solidFill>
                <a:latin typeface="Menlo" panose="020B0609030804020204" pitchFamily="49" charset="0"/>
              </a:rPr>
              <a:t>typeof</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x === </a:t>
            </a:r>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'object'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&amp;&amp;</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x !== </a:t>
            </a:r>
            <a:r>
              <a:rPr lang="en-US" dirty="0">
                <a:solidFill>
                  <a:srgbClr val="002060"/>
                </a:solidFill>
                <a:latin typeface="Menlo" panose="020B0609030804020204" pitchFamily="49" charset="0"/>
                <a:ea typeface="Menlo" panose="020B0609030804020204" pitchFamily="49" charset="0"/>
                <a:cs typeface="Menlo" panose="020B0609030804020204" pitchFamily="49" charset="0"/>
              </a:rPr>
              <a:t>null</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&amp;&amp;</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'username'</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2060"/>
                </a:solidFill>
                <a:latin typeface="Menlo" panose="020B0609030804020204" pitchFamily="49" charset="0"/>
                <a:ea typeface="Menlo" panose="020B0609030804020204" pitchFamily="49" charset="0"/>
                <a:cs typeface="Menlo" panose="020B0609030804020204" pitchFamily="49" charset="0"/>
              </a:rPr>
              <a:t>in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x &amp;&amp; </a:t>
            </a:r>
            <a:r>
              <a:rPr lang="en-US"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x.username</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&amp;&amp;</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'password'</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2060"/>
                </a:solidFill>
                <a:latin typeface="Menlo" panose="020B0609030804020204" pitchFamily="49" charset="0"/>
                <a:ea typeface="Menlo" panose="020B0609030804020204" pitchFamily="49" charset="0"/>
                <a:cs typeface="Menlo" panose="020B0609030804020204" pitchFamily="49" charset="0"/>
              </a:rPr>
              <a:t>in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x &amp;&amp; </a:t>
            </a:r>
            <a:r>
              <a:rPr lang="en-US"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x.password</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pPr>
              <a:lnSpc>
                <a:spcPct val="110000"/>
              </a:lnSpc>
            </a:pPr>
            <a:endParaRPr lang="en-US" b="0" dirty="0">
              <a:solidFill>
                <a:srgbClr val="3B3B3B"/>
              </a:solidFill>
              <a:effectLst/>
              <a:latin typeface="Menlo" panose="020B0609030804020204" pitchFamily="49" charset="0"/>
            </a:endParaRPr>
          </a:p>
        </p:txBody>
      </p:sp>
      <p:sp>
        <p:nvSpPr>
          <p:cNvPr id="7" name="AutoShape 9">
            <a:extLst>
              <a:ext uri="{FF2B5EF4-FFF2-40B4-BE49-F238E27FC236}">
                <a16:creationId xmlns:a16="http://schemas.microsoft.com/office/drawing/2014/main" id="{581B4BBA-2FAA-F6D3-2D35-D94537D46F6D}"/>
              </a:ext>
            </a:extLst>
          </p:cNvPr>
          <p:cNvSpPr>
            <a:spLocks/>
          </p:cNvSpPr>
          <p:nvPr/>
        </p:nvSpPr>
        <p:spPr bwMode="auto">
          <a:xfrm>
            <a:off x="7857739" y="3553807"/>
            <a:ext cx="4153029"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“unknown,” NOT “any,” is the type for unauthenticated inputs</a:t>
            </a:r>
          </a:p>
        </p:txBody>
      </p:sp>
      <p:cxnSp>
        <p:nvCxnSpPr>
          <p:cNvPr id="8" name="Straight Arrow Connector 7">
            <a:extLst>
              <a:ext uri="{FF2B5EF4-FFF2-40B4-BE49-F238E27FC236}">
                <a16:creationId xmlns:a16="http://schemas.microsoft.com/office/drawing/2014/main" id="{D5C55F2C-B99F-F6E4-FED5-D823A1104A98}"/>
              </a:ext>
            </a:extLst>
          </p:cNvPr>
          <p:cNvCxnSpPr>
            <a:cxnSpLocks/>
            <a:stCxn id="7" idx="1"/>
          </p:cNvCxnSpPr>
          <p:nvPr/>
        </p:nvCxnSpPr>
        <p:spPr>
          <a:xfrm flipH="1">
            <a:off x="4497859" y="4196318"/>
            <a:ext cx="3359880"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30864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C61AE9-F291-7C6E-D0DD-34BDD323C2F3}"/>
              </a:ext>
            </a:extLst>
          </p:cNvPr>
          <p:cNvSpPr>
            <a:spLocks noGrp="1"/>
          </p:cNvSpPr>
          <p:nvPr>
            <p:ph type="title"/>
          </p:nvPr>
        </p:nvSpPr>
        <p:spPr/>
        <p:txBody>
          <a:bodyPr/>
          <a:lstStyle/>
          <a:p>
            <a:r>
              <a:rPr lang="en-US" dirty="0"/>
              <a:t>Module Outline</a:t>
            </a:r>
          </a:p>
        </p:txBody>
      </p:sp>
      <p:sp>
        <p:nvSpPr>
          <p:cNvPr id="3" name="Text Placeholder 2">
            <a:extLst>
              <a:ext uri="{FF2B5EF4-FFF2-40B4-BE49-F238E27FC236}">
                <a16:creationId xmlns:a16="http://schemas.microsoft.com/office/drawing/2014/main" id="{10DE7BCC-BDAB-4166-6C35-42B14D67B00A}"/>
              </a:ext>
            </a:extLst>
          </p:cNvPr>
          <p:cNvSpPr>
            <a:spLocks noGrp="1"/>
          </p:cNvSpPr>
          <p:nvPr>
            <p:ph type="body" idx="1"/>
          </p:nvPr>
        </p:nvSpPr>
        <p:spPr/>
        <p:txBody>
          <a:bodyPr>
            <a:normAutofit/>
          </a:bodyPr>
          <a:lstStyle/>
          <a:p>
            <a:r>
              <a:rPr lang="en-US" dirty="0"/>
              <a:t>Lesson 3.1 Writing tests for TDD</a:t>
            </a:r>
          </a:p>
          <a:p>
            <a:r>
              <a:rPr lang="en-US" dirty="0"/>
              <a:t>Lesson 3.2 Assessing Test Coverage</a:t>
            </a:r>
          </a:p>
          <a:p>
            <a:r>
              <a:rPr lang="en-US" dirty="0"/>
              <a:t>Lesson 3.3 Adversarial Coverage Testing</a:t>
            </a:r>
          </a:p>
          <a:p>
            <a:pPr marL="228600" lvl="1" indent="0">
              <a:buNone/>
            </a:pPr>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p:txBody>
      </p:sp>
    </p:spTree>
    <p:extLst>
      <p:ext uri="{BB962C8B-B14F-4D97-AF65-F5344CB8AC3E}">
        <p14:creationId xmlns:p14="http://schemas.microsoft.com/office/powerpoint/2010/main" val="22161967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24170</TotalTime>
  <Words>5591</Words>
  <Application>Microsoft Macintosh PowerPoint</Application>
  <PresentationFormat>Widescreen</PresentationFormat>
  <Paragraphs>542</Paragraphs>
  <Slides>41</Slides>
  <Notes>35</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41</vt:i4>
      </vt:variant>
    </vt:vector>
  </HeadingPairs>
  <TitlesOfParts>
    <vt:vector size="49" baseType="lpstr">
      <vt:lpstr>Menlo</vt:lpstr>
      <vt:lpstr>Verdana</vt:lpstr>
      <vt:lpstr>Arial</vt:lpstr>
      <vt:lpstr>Consolas</vt:lpstr>
      <vt:lpstr>Calibri</vt:lpstr>
      <vt:lpstr>Helvetica Neue</vt:lpstr>
      <vt:lpstr>Comic Sans MS</vt:lpstr>
      <vt:lpstr>Office Theme</vt:lpstr>
      <vt:lpstr>CS 4530: Fundamentals of Software Engineering Module 3.1: Trusting TypeScript (or not!)</vt:lpstr>
      <vt:lpstr>Learning Goals for this Lesson</vt:lpstr>
      <vt:lpstr>What Inputs Should We Test?</vt:lpstr>
      <vt:lpstr>What Inputs Should We Test?</vt:lpstr>
      <vt:lpstr>TypeScript Types Cannot Be Trusted</vt:lpstr>
      <vt:lpstr>TypeScript Types… Can Be Trusted?</vt:lpstr>
      <vt:lpstr>What Trusting Contracts Looks Like</vt:lpstr>
      <vt:lpstr>Untrusted Inputs</vt:lpstr>
      <vt:lpstr>Untrusted Inputs should be unknown</vt:lpstr>
      <vt:lpstr>Untrusted Inputs Should be “unknown”</vt:lpstr>
      <vt:lpstr>Libraries Make Checking Types Easier</vt:lpstr>
      <vt:lpstr>Using “any”: Common, Not Great</vt:lpstr>
      <vt:lpstr>Using “any”: Common, Not Great</vt:lpstr>
      <vt:lpstr>Zod In A Tiny Web Server </vt:lpstr>
      <vt:lpstr>Review</vt:lpstr>
      <vt:lpstr>PowerPoint Presentation</vt:lpstr>
      <vt:lpstr>TypeScript Types… Can Be Trusted?</vt:lpstr>
      <vt:lpstr>TypeScript (can) Make Testing Trickier!</vt:lpstr>
      <vt:lpstr>(Un)authenticated Inputs</vt:lpstr>
      <vt:lpstr>Why do we test?</vt:lpstr>
      <vt:lpstr>What makes for a good test (suite)?</vt:lpstr>
      <vt:lpstr>Code Coverage</vt:lpstr>
      <vt:lpstr>Code Coverage</vt:lpstr>
      <vt:lpstr>Code Coverage</vt:lpstr>
      <vt:lpstr>Code Coverage</vt:lpstr>
      <vt:lpstr>Code Coverage</vt:lpstr>
      <vt:lpstr>Code Coverage</vt:lpstr>
      <vt:lpstr>Code Coverage: Review</vt:lpstr>
      <vt:lpstr>Adversarial Testing</vt:lpstr>
      <vt:lpstr>Adversarial Testing</vt:lpstr>
      <vt:lpstr>Adversarial Testing: The Opening</vt:lpstr>
      <vt:lpstr>Adversarial Testing: A round of play</vt:lpstr>
      <vt:lpstr>Adversarial Testing: A round of play</vt:lpstr>
      <vt:lpstr>Adversarial Testing: a winning position</vt:lpstr>
      <vt:lpstr>Adversarial Testing: you lose</vt:lpstr>
      <vt:lpstr>Adversarial Testing</vt:lpstr>
      <vt:lpstr>Adversarial Testing</vt:lpstr>
      <vt:lpstr>Are mutants a Valid Substitute for Real Faults?  Probably yes.</vt:lpstr>
      <vt:lpstr>Adversarial Testing &amp; Overspecification</vt:lpstr>
      <vt:lpstr>Defensiveness has a cost</vt:lpstr>
      <vt:lpstr>Module Outline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245</cp:revision>
  <dcterms:created xsi:type="dcterms:W3CDTF">2021-01-07T15:19:22Z</dcterms:created>
  <dcterms:modified xsi:type="dcterms:W3CDTF">2025-12-31T01:50:51Z</dcterms:modified>
</cp:coreProperties>
</file>