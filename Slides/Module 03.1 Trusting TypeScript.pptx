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485" r:id="rId2"/>
    <p:sldId id="579" r:id="rId3"/>
    <p:sldId id="652" r:id="rId4"/>
    <p:sldId id="653" r:id="rId5"/>
    <p:sldId id="677" r:id="rId6"/>
    <p:sldId id="678" r:id="rId7"/>
    <p:sldId id="583" r:id="rId8"/>
    <p:sldId id="679" r:id="rId9"/>
    <p:sldId id="666" r:id="rId10"/>
    <p:sldId id="668" r:id="rId11"/>
    <p:sldId id="669" r:id="rId12"/>
    <p:sldId id="670" r:id="rId13"/>
    <p:sldId id="665" r:id="rId14"/>
    <p:sldId id="672" r:id="rId15"/>
    <p:sldId id="674" r:id="rId16"/>
    <p:sldId id="675" r:id="rId17"/>
    <p:sldId id="676" r:id="rId18"/>
  </p:sldIdLst>
  <p:sldSz cx="12192000" cy="6858000"/>
  <p:notesSz cx="6858000" cy="9144000"/>
  <p:embeddedFontLst>
    <p:embeddedFont>
      <p:font typeface="Verdana" panose="020B060403050404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9"/>
            <p14:sldId id="652"/>
            <p14:sldId id="653"/>
            <p14:sldId id="677"/>
            <p14:sldId id="678"/>
            <p14:sldId id="583"/>
            <p14:sldId id="679"/>
            <p14:sldId id="666"/>
            <p14:sldId id="668"/>
            <p14:sldId id="669"/>
            <p14:sldId id="670"/>
            <p14:sldId id="665"/>
            <p14:sldId id="672"/>
            <p14:sldId id="674"/>
            <p14:sldId id="675"/>
            <p14:sldId id="676"/>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553" autoAdjust="0"/>
    <p:restoredTop sz="65652" autoAdjust="0"/>
  </p:normalViewPr>
  <p:slideViewPr>
    <p:cSldViewPr snapToGrid="0">
      <p:cViewPr varScale="1">
        <p:scale>
          <a:sx n="66" d="100"/>
          <a:sy n="66" d="100"/>
        </p:scale>
        <p:origin x="200" y="400"/>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Assemble/Act/Assess. Testing a function like this one is always going to involve:</a:t>
            </a:r>
          </a:p>
          <a:p>
            <a:endParaRPr lang="en-US" dirty="0"/>
          </a:p>
          <a:p>
            <a:r>
              <a:rPr lang="en-US" dirty="0"/>
              <a:t> - Assembling an input</a:t>
            </a:r>
          </a:p>
          <a:p>
            <a:r>
              <a:rPr lang="en-US" dirty="0"/>
              <a:t> - Acting by passing that input to the function</a:t>
            </a:r>
          </a:p>
          <a:p>
            <a:r>
              <a:rPr lang="en-US" dirty="0"/>
              <a:t> - Assessing something about what the function does</a:t>
            </a:r>
          </a:p>
          <a:p>
            <a:endParaRPr lang="en-US" dirty="0"/>
          </a:p>
          <a:p>
            <a:r>
              <a:rPr lang="en-US" dirty="0"/>
              <a:t>How should we test this function? What inputs should we pass it?</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411467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types of </a:t>
            </a:r>
            <a:r>
              <a:rPr lang="en-US" i="1" dirty="0"/>
              <a:t>contracts</a:t>
            </a:r>
            <a:r>
              <a:rPr lang="en-US" dirty="0"/>
              <a:t> in this function: the TypeScript one says that the input must be a number, and the one document in the precondition that says that it must be a nonnegative integer.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3638589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5021-3CA2-6D6D-0AF1-7FEE23771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E98A6-CC49-7C9B-6554-082FEC5FD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2B779-AA7F-56AE-126B-D02E9917C299}"/>
              </a:ext>
            </a:extLst>
          </p:cNvPr>
          <p:cNvSpPr>
            <a:spLocks noGrp="1"/>
          </p:cNvSpPr>
          <p:nvPr>
            <p:ph type="body" idx="1"/>
          </p:nvPr>
        </p:nvSpPr>
        <p:spPr/>
        <p:txBody>
          <a:bodyPr/>
          <a:lstStyle/>
          <a:p>
            <a:r>
              <a:rPr lang="en-US" dirty="0"/>
              <a:t>This is something we’ll return to later, but the answer to “which inputs should we test” is that we don’t need to test this function with -3 or null.</a:t>
            </a:r>
          </a:p>
          <a:p>
            <a:endParaRPr lang="en-US" dirty="0"/>
          </a:p>
          <a:p>
            <a:r>
              <a:rPr lang="en-US" dirty="0"/>
              <a:t>When we’re talking about testing a </a:t>
            </a:r>
            <a:r>
              <a:rPr lang="en-US" i="1" dirty="0"/>
              <a:t>specific</a:t>
            </a:r>
            <a:r>
              <a:rPr lang="en-US" dirty="0"/>
              <a:t> function, we’re really talking about writing a </a:t>
            </a:r>
            <a:r>
              <a:rPr lang="en-US" i="1" dirty="0"/>
              <a:t>unit test</a:t>
            </a:r>
            <a:r>
              <a:rPr lang="en-US" dirty="0"/>
              <a:t>, that tests an isolated part of a program. Other parts of the program are responsible for respecting the contracts on our function, but that’s a problem for integration testing, which we’ll talk about more in a future lecture.</a:t>
            </a:r>
          </a:p>
        </p:txBody>
      </p:sp>
      <p:sp>
        <p:nvSpPr>
          <p:cNvPr id="4" name="Slide Number Placeholder 3">
            <a:extLst>
              <a:ext uri="{FF2B5EF4-FFF2-40B4-BE49-F238E27FC236}">
                <a16:creationId xmlns:a16="http://schemas.microsoft.com/office/drawing/2014/main" id="{E5DB4872-4723-D3D0-0A11-CB70DA990E54}"/>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85188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6BEAC-F725-C4E1-E3F5-13E46DAC0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5F866-E661-8CEF-2F7F-8F5E5E0BD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818EFE-4BFB-AD50-5114-38EC9EA205EE}"/>
              </a:ext>
            </a:extLst>
          </p:cNvPr>
          <p:cNvSpPr>
            <a:spLocks noGrp="1"/>
          </p:cNvSpPr>
          <p:nvPr>
            <p:ph type="body" idx="1"/>
          </p:nvPr>
        </p:nvSpPr>
        <p:spPr/>
        <p:txBody>
          <a:bodyPr/>
          <a:lstStyle/>
          <a:p>
            <a:r>
              <a:rPr lang="en-US" dirty="0"/>
              <a:t>This is something we’ll return to later, but the answer to “which inputs should we test” is that we don’t need to test this function with -3 or null.</a:t>
            </a:r>
          </a:p>
          <a:p>
            <a:endParaRPr lang="en-US" dirty="0"/>
          </a:p>
          <a:p>
            <a:r>
              <a:rPr lang="en-US" dirty="0"/>
              <a:t>When we’re talking about testing a </a:t>
            </a:r>
            <a:r>
              <a:rPr lang="en-US" i="1" dirty="0"/>
              <a:t>specific</a:t>
            </a:r>
            <a:r>
              <a:rPr lang="en-US" dirty="0"/>
              <a:t> function, we’re really talking about writing a </a:t>
            </a:r>
            <a:r>
              <a:rPr lang="en-US" i="1" dirty="0"/>
              <a:t>unit test</a:t>
            </a:r>
            <a:r>
              <a:rPr lang="en-US" dirty="0"/>
              <a:t>, that tests an isolated part of a program. Other parts of the program are responsible for respecting the contracts on our function, but that’s a problem for integration testing, which we’ll talk about more in a future lecture.</a:t>
            </a:r>
          </a:p>
        </p:txBody>
      </p:sp>
      <p:sp>
        <p:nvSpPr>
          <p:cNvPr id="4" name="Slide Number Placeholder 3">
            <a:extLst>
              <a:ext uri="{FF2B5EF4-FFF2-40B4-BE49-F238E27FC236}">
                <a16:creationId xmlns:a16="http://schemas.microsoft.com/office/drawing/2014/main" id="{C4542B2E-F2E4-E00C-7ED1-0AFC8C501506}"/>
              </a:ext>
            </a:extLst>
          </p:cNvPr>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3735509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brings us to a critical point about TypeScript, and one that can be really surprising at first.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In Java, we’d need to be concerned that some malicious function would call an analogue of “</a:t>
            </a:r>
            <a:r>
              <a:rPr lang="en-US" i="0" dirty="0" err="1"/>
              <a:t>helloNTimes</a:t>
            </a:r>
            <a:r>
              <a:rPr lang="en-US" i="0" dirty="0"/>
              <a:t>” with a negative number, but there’d be no way to call it with a value of some completely unexpected type: Java would never allow such a thing to happen.</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171515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F92EF-EA7C-F0E3-7E16-E78A231E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C4B27-BF1C-B8D8-3117-99262E9C8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7DE24-FCE8-CA74-234B-0B8F88F116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Unlike some languages, the type contracts in TypeScript are </a:t>
            </a:r>
            <a:r>
              <a:rPr lang="en-US" i="1" dirty="0"/>
              <a:t>totally unchecked</a:t>
            </a:r>
            <a:r>
              <a:rPr lang="en-US" i="0" dirty="0"/>
              <a:t> — Node will happily run the function with an argument that is not a JavaScript number at all, just as it will happily run it on an input that violates the “nonnegative integer” contract in the precondition. This is fundamental to TypeScript but can be very confusing if you’re used to types in languages that aren’t Python and JavaScript.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So why are we using TypeScript at all? Well, a lot of people obviously find a lot of value in using TypeScript, and we’re using it in this course for a reason. </a:t>
            </a:r>
            <a:r>
              <a:rPr lang="en-US" dirty="0"/>
              <a:t>The reality is that different software projects use TypeScript in fundamentally different ways. It’s possible, in most cases, to make choices in a project that make mistakes less likely. In general, the more you TypeScript type to prevent violating a function’s contracts, the faster you’ll find bugs, and the less you’ll need to rely on your integration tests to find issues.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code sets up the </a:t>
            </a:r>
            <a:r>
              <a:rPr lang="en-US" dirty="0" err="1"/>
              <a:t>ESLint</a:t>
            </a:r>
            <a:r>
              <a:rPr lang="en-US" dirty="0"/>
              <a:t> linter with a lot of rules that enforce this strict use of TypeScript.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a:extLst>
              <a:ext uri="{FF2B5EF4-FFF2-40B4-BE49-F238E27FC236}">
                <a16:creationId xmlns:a16="http://schemas.microsoft.com/office/drawing/2014/main" id="{B114256B-7FE2-DC76-E3A4-8C13F828D829}"/>
              </a:ext>
            </a:extLst>
          </p:cNvPr>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2683380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FC98-E2A8-20CC-E47E-A3D62A540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58091-5571-2F6A-5AD5-117F8D440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46AD6-FB09-0D82-691F-86AD1BE0524A}"/>
              </a:ext>
            </a:extLst>
          </p:cNvPr>
          <p:cNvSpPr>
            <a:spLocks noGrp="1"/>
          </p:cNvSpPr>
          <p:nvPr>
            <p:ph type="body" idx="1"/>
          </p:nvPr>
        </p:nvSpPr>
        <p:spPr/>
        <p:txBody>
          <a:bodyPr/>
          <a:lstStyle/>
          <a:p>
            <a:r>
              <a:rPr lang="en-US" dirty="0"/>
              <a:t>Here’s a more real version of the initial example, a piece of code from the project codebase. Both the comments and the types are telling us about the function’s preconditions, which help set  the expectations for testing the code.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We’d definitely want to test this function with a valid chat ID and an invalid chat ID.</a:t>
            </a:r>
          </a:p>
          <a:p>
            <a:endParaRPr lang="en-US" dirty="0"/>
          </a:p>
          <a:p>
            <a:r>
              <a:rPr lang="en-US" dirty="0"/>
              <a:t>TypeScript won’t consistently enforce that we’ll only pass a message ID that’s a string, and not a number or an object or something else — and TypeScript definitely won’t enforce that you only call the function with valid message IDs that correspond to actual messages. But the contracts on this function — but if we’re trusting that this function will be called in ways that respect the function’s contracts, we don’t need to test it with a message ID 4, or with a random string message ID that doesn’t correspond to a message.</a:t>
            </a:r>
          </a:p>
          <a:p>
            <a:endParaRPr lang="en-US" dirty="0"/>
          </a:p>
          <a:p>
            <a:r>
              <a:rPr lang="en-US" dirty="0"/>
              <a:t>But maybe we don’t trust ourselves and the evolution of our code over time, so we want to write the test anyway! There’s not a single right answer. What are the tradeoffs for writing tests that violate the stated preconditions? (One answer: if you write tests that violate the preconditions, that may push you to check for the precondition violation in code. Which means your code is now more slower and more complicated than it had to be!)</a:t>
            </a:r>
          </a:p>
        </p:txBody>
      </p:sp>
      <p:sp>
        <p:nvSpPr>
          <p:cNvPr id="4" name="Slide Number Placeholder 3">
            <a:extLst>
              <a:ext uri="{FF2B5EF4-FFF2-40B4-BE49-F238E27FC236}">
                <a16:creationId xmlns:a16="http://schemas.microsoft.com/office/drawing/2014/main" id="{5783F7D6-E117-4578-6CD9-C7D9C9E9520B}"/>
              </a:ext>
            </a:extLst>
          </p:cNvPr>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3875022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D2D4-3B06-92DD-2ABB-088B1DBA7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101BA-48A2-D84E-4FC4-92812349A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17B64-C914-2D5D-3BBC-4469E3D1FD1F}"/>
              </a:ext>
            </a:extLst>
          </p:cNvPr>
          <p:cNvSpPr>
            <a:spLocks noGrp="1"/>
          </p:cNvSpPr>
          <p:nvPr>
            <p:ph type="body" idx="1"/>
          </p:nvPr>
        </p:nvSpPr>
        <p:spPr/>
        <p:txBody>
          <a:bodyPr/>
          <a:lstStyle/>
          <a:p>
            <a:r>
              <a:rPr lang="en-US" dirty="0"/>
              <a:t>Not all inputs to your programs can be trusted to have any particular shape or form!</a:t>
            </a:r>
          </a:p>
          <a:p>
            <a:endParaRPr lang="en-US" dirty="0"/>
          </a:p>
          <a:p>
            <a:r>
              <a:rPr lang="en-US" dirty="0"/>
              <a:t>When you give an input to a website through a web browser, the code on the web browser will make sure the request has a specific format. But the nature of web applications is that those submissions can </a:t>
            </a:r>
            <a:r>
              <a:rPr lang="en-US" i="1" dirty="0"/>
              <a:t>always </a:t>
            </a:r>
            <a:r>
              <a:rPr lang="en-US" i="0" dirty="0"/>
              <a:t>be done in different ways, without the same guardrails.</a:t>
            </a:r>
          </a:p>
          <a:p>
            <a:endParaRPr lang="en-US" i="0" dirty="0"/>
          </a:p>
          <a:p>
            <a:r>
              <a:rPr lang="en-US" i="0" dirty="0"/>
              <a:t>On the upper right we show the same action of creating a </a:t>
            </a:r>
            <a:r>
              <a:rPr lang="en-US" i="0" dirty="0" err="1"/>
              <a:t>GameNite</a:t>
            </a:r>
            <a:r>
              <a:rPr lang="en-US" i="0" dirty="0"/>
              <a:t> account being done through the “Postman” program (there’s a Postman tutorial on the website), and on the command line with a command-line “curl” command. (You can get “curl” commands out of Postman too.)</a:t>
            </a:r>
            <a:endParaRPr lang="en-US" dirty="0"/>
          </a:p>
        </p:txBody>
      </p:sp>
      <p:sp>
        <p:nvSpPr>
          <p:cNvPr id="4" name="Slide Number Placeholder 3">
            <a:extLst>
              <a:ext uri="{FF2B5EF4-FFF2-40B4-BE49-F238E27FC236}">
                <a16:creationId xmlns:a16="http://schemas.microsoft.com/office/drawing/2014/main" id="{2FF8C9A4-B2EE-6557-8062-EF8775204CD1}"/>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619626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F2F5-3486-F3D4-01BD-3A260D56A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A9310-4DD7-173D-212C-E57A29B49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C2DE8-FE51-C4EA-5FC3-AEBE167FCF82}"/>
              </a:ext>
            </a:extLst>
          </p:cNvPr>
          <p:cNvSpPr>
            <a:spLocks noGrp="1"/>
          </p:cNvSpPr>
          <p:nvPr>
            <p:ph type="body" idx="1"/>
          </p:nvPr>
        </p:nvSpPr>
        <p:spPr/>
        <p:txBody>
          <a:bodyPr/>
          <a:lstStyle/>
          <a:p>
            <a:r>
              <a:rPr lang="en-US" dirty="0"/>
              <a:t>TypeScript has a way of dealing with inputs when you can’t trust that the input is going to obey any sort of contract: the unknown type.</a:t>
            </a:r>
          </a:p>
          <a:p>
            <a:endParaRPr lang="en-US" dirty="0"/>
          </a:p>
          <a:p>
            <a:r>
              <a:rPr lang="en-US" dirty="0"/>
              <a:t>(click)</a:t>
            </a:r>
          </a:p>
          <a:p>
            <a:r>
              <a:rPr lang="en-US" dirty="0"/>
              <a:t>If you have an unknown value and you try to do pretty much anything to it (such as cast it to uppercase like it’s a string), TypeScript will yell at you. </a:t>
            </a:r>
          </a:p>
          <a:p>
            <a:endParaRPr lang="en-US" dirty="0"/>
          </a:p>
          <a:p>
            <a:r>
              <a:rPr lang="en-US" dirty="0"/>
              <a:t>(click)</a:t>
            </a:r>
          </a:p>
          <a:p>
            <a:r>
              <a:rPr lang="en-US" dirty="0"/>
              <a:t>But if you check that it’s a string first with JavaScript’s </a:t>
            </a:r>
            <a:r>
              <a:rPr lang="en-US" dirty="0" err="1"/>
              <a:t>typeof</a:t>
            </a:r>
            <a:r>
              <a:rPr lang="en-US" dirty="0"/>
              <a:t> function, TypeScript will then remember that you’ve checked that it’s a string.</a:t>
            </a:r>
          </a:p>
        </p:txBody>
      </p:sp>
      <p:sp>
        <p:nvSpPr>
          <p:cNvPr id="4" name="Slide Number Placeholder 3">
            <a:extLst>
              <a:ext uri="{FF2B5EF4-FFF2-40B4-BE49-F238E27FC236}">
                <a16:creationId xmlns:a16="http://schemas.microsoft.com/office/drawing/2014/main" id="{9BF8BCC5-B2AB-557F-2B03-6F1C9309125F}"/>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639117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5B551-2ACB-87DF-621E-8CF85F228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843C4-E597-FB7B-4107-41A7F5EE8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35BE9-25C8-D5D8-AEDF-FF73546206B2}"/>
              </a:ext>
            </a:extLst>
          </p:cNvPr>
          <p:cNvSpPr>
            <a:spLocks noGrp="1"/>
          </p:cNvSpPr>
          <p:nvPr>
            <p:ph type="body" idx="1"/>
          </p:nvPr>
        </p:nvSpPr>
        <p:spPr/>
        <p:txBody>
          <a:bodyPr/>
          <a:lstStyle/>
          <a:p>
            <a:r>
              <a:rPr lang="en-US" dirty="0"/>
              <a:t>This was just about shortest code I could come up with to use straightforward TypeScript to reliably take an unknown piece of data and get record with a string username and a string password. It’s not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TypeScript makes us do all the work ourselves if we want to check that a value actually matches the structure that its type suggests. This is difficult and error-prone in practice.</a:t>
            </a:r>
          </a:p>
          <a:p>
            <a:endParaRPr lang="en-US" dirty="0"/>
          </a:p>
        </p:txBody>
      </p:sp>
      <p:sp>
        <p:nvSpPr>
          <p:cNvPr id="4" name="Slide Number Placeholder 3">
            <a:extLst>
              <a:ext uri="{FF2B5EF4-FFF2-40B4-BE49-F238E27FC236}">
                <a16:creationId xmlns:a16="http://schemas.microsoft.com/office/drawing/2014/main" id="{2FEAF677-102E-2F95-DC9E-3BC9DE0972A6}"/>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960252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EF256-FC42-E509-0AE2-20ED6E83E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A4400-19B1-61D6-AC65-F55617D33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9C0F3-BA1B-3144-59CA-48D65C56BABC}"/>
              </a:ext>
            </a:extLst>
          </p:cNvPr>
          <p:cNvSpPr>
            <a:spLocks noGrp="1"/>
          </p:cNvSpPr>
          <p:nvPr>
            <p:ph type="body" idx="1"/>
          </p:nvPr>
        </p:nvSpPr>
        <p:spPr/>
        <p:txBody>
          <a:bodyPr/>
          <a:lstStyle/>
          <a:p>
            <a:r>
              <a:rPr lang="en-US" dirty="0"/>
              <a:t>Zod is a library that makes our job easier — we can create Zod representations of the TypeScript types, and then use a function like </a:t>
            </a:r>
            <a:r>
              <a:rPr lang="en-US" dirty="0" err="1"/>
              <a:t>safeParse</a:t>
            </a:r>
            <a:r>
              <a:rPr lang="en-US" dirty="0"/>
              <a:t> to ensure that the object really has the structure we expect it to have.</a:t>
            </a:r>
          </a:p>
          <a:p>
            <a:endParaRPr lang="en-US" dirty="0"/>
          </a:p>
          <a:p>
            <a:r>
              <a:rPr lang="en-US" dirty="0"/>
              <a:t>(click)</a:t>
            </a:r>
          </a:p>
          <a:p>
            <a:r>
              <a:rPr lang="en-US" dirty="0"/>
              <a:t>If you put this code in </a:t>
            </a:r>
            <a:r>
              <a:rPr lang="en-US" dirty="0" err="1"/>
              <a:t>VSCode</a:t>
            </a:r>
            <a:r>
              <a:rPr lang="en-US" dirty="0"/>
              <a:t> and hover over “Auth”, you’ll see it’s exactly the type that we want, so we don’t even have to write the same type twice.</a:t>
            </a:r>
          </a:p>
          <a:p>
            <a:endParaRPr lang="en-US" dirty="0"/>
          </a:p>
        </p:txBody>
      </p:sp>
      <p:sp>
        <p:nvSpPr>
          <p:cNvPr id="4" name="Slide Number Placeholder 3">
            <a:extLst>
              <a:ext uri="{FF2B5EF4-FFF2-40B4-BE49-F238E27FC236}">
                <a16:creationId xmlns:a16="http://schemas.microsoft.com/office/drawing/2014/main" id="{B5E2D8E2-9F92-7BAD-8C7B-7855949EF681}"/>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518456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E1702-4BAC-79EB-B53B-BC8CF5D42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DF9D-7C0E-C4F8-454B-3BEA9702C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794D1-4E79-1855-BC36-03022E538370}"/>
              </a:ext>
            </a:extLst>
          </p:cNvPr>
          <p:cNvSpPr>
            <a:spLocks noGrp="1"/>
          </p:cNvSpPr>
          <p:nvPr>
            <p:ph type="body" idx="1"/>
          </p:nvPr>
        </p:nvSpPr>
        <p:spPr/>
        <p:txBody>
          <a:bodyPr/>
          <a:lstStyle/>
          <a:p>
            <a:r>
              <a:rPr lang="en-US" dirty="0"/>
              <a:t>Here’s a small webserver that uses Express, the same library that the course project uses. </a:t>
            </a:r>
          </a:p>
          <a:p>
            <a:endParaRPr lang="en-US" dirty="0"/>
          </a:p>
          <a:p>
            <a:r>
              <a:rPr lang="en-US" dirty="0"/>
              <a:t>(click)</a:t>
            </a:r>
          </a:p>
          <a:p>
            <a:r>
              <a:rPr lang="en-US" dirty="0"/>
              <a:t>The third line (where the first arrow is pointing) covers an enormous amount of validation — it ensures that our web server will only respond to specific requests that send JSON data (we’ll be using JSON data a lot in the class, there’s an article about it in the </a:t>
            </a:r>
            <a:r>
              <a:rPr lang="en-US" dirty="0" err="1"/>
              <a:t>resoures</a:t>
            </a:r>
            <a:r>
              <a:rPr lang="en-US" dirty="0"/>
              <a:t> for this lecture)</a:t>
            </a:r>
          </a:p>
          <a:p>
            <a:endParaRPr lang="en-US" dirty="0"/>
          </a:p>
          <a:p>
            <a:r>
              <a:rPr lang="en-US" dirty="0"/>
              <a:t>(click)</a:t>
            </a:r>
          </a:p>
          <a:p>
            <a:r>
              <a:rPr lang="en-US" dirty="0"/>
              <a:t>However, the line that lets `</a:t>
            </a:r>
            <a:r>
              <a:rPr lang="en-US" dirty="0" err="1"/>
              <a:t>req.body</a:t>
            </a:r>
            <a:r>
              <a:rPr lang="en-US" dirty="0"/>
              <a:t>` be treated as an `Auth` (where the second arrow is pointing) has some really unfortunate typescript happening. If you read this line, it looks like you’re now able to trust that the request body matches the `Auth` type. But this is not true. This line only works in Typescript because the express library treats untrusted request bodies as “any”, not as “unknown.” This makes the express server a lot easier to use… and also makes it a lot easier to make errors.</a:t>
            </a:r>
          </a:p>
          <a:p>
            <a:endParaRPr lang="en-US" dirty="0"/>
          </a:p>
          <a:p>
            <a:r>
              <a:rPr lang="en-US" dirty="0"/>
              <a:t>Given how complicated we just saw it was to make sure that an unknown input had the correct format, this decision mostly makes sense.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(Optional Q: what input would cause an exception that typescript would seem to make impossible? See next hidden slide)</a:t>
            </a:r>
          </a:p>
          <a:p>
            <a:endParaRPr lang="en-US" dirty="0"/>
          </a:p>
        </p:txBody>
      </p:sp>
      <p:sp>
        <p:nvSpPr>
          <p:cNvPr id="4" name="Slide Number Placeholder 3">
            <a:extLst>
              <a:ext uri="{FF2B5EF4-FFF2-40B4-BE49-F238E27FC236}">
                <a16:creationId xmlns:a16="http://schemas.microsoft.com/office/drawing/2014/main" id="{D39EB4E5-C472-2AD0-15A2-BA687D7569A5}"/>
              </a:ext>
            </a:extLst>
          </p:cNvPr>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2822139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418DB-7251-A596-69C9-9AD34AC1A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2CD85-3EEA-141E-25BC-E1DC51954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D64E0-2374-DAF7-3837-0B2C34A60862}"/>
              </a:ext>
            </a:extLst>
          </p:cNvPr>
          <p:cNvSpPr>
            <a:spLocks noGrp="1"/>
          </p:cNvSpPr>
          <p:nvPr>
            <p:ph type="body" idx="1"/>
          </p:nvPr>
        </p:nvSpPr>
        <p:spPr/>
        <p:txBody>
          <a:bodyPr/>
          <a:lstStyle/>
          <a:p>
            <a:r>
              <a:rPr lang="en-US" dirty="0"/>
              <a:t>Plausible but incorrect answer: null or 3, anything that will cause an error if you try to project out the “password” field. This actually doesn’t work, because </a:t>
            </a:r>
            <a:r>
              <a:rPr lang="en-US" dirty="0" err="1"/>
              <a:t>express.json</a:t>
            </a:r>
            <a:r>
              <a:rPr lang="en-US" dirty="0"/>
              <a:t>() only accepts JSON that represents an </a:t>
            </a:r>
            <a:r>
              <a:rPr lang="en-US" i="1" dirty="0"/>
              <a:t>object </a:t>
            </a:r>
            <a:r>
              <a:rPr lang="en-US" i="0" dirty="0"/>
              <a:t>or an </a:t>
            </a:r>
            <a:r>
              <a:rPr lang="en-US" i="1" dirty="0"/>
              <a:t>array</a:t>
            </a:r>
            <a:r>
              <a:rPr lang="en-US" i="0" dirty="0"/>
              <a:t>. </a:t>
            </a:r>
          </a:p>
          <a:p>
            <a:endParaRPr lang="en-US" i="0" dirty="0"/>
          </a:p>
          <a:p>
            <a:r>
              <a:rPr lang="en-US" i="0" dirty="0"/>
              <a:t>You can allow any JSON by replacing </a:t>
            </a:r>
            <a:r>
              <a:rPr lang="en-US" i="0" dirty="0" err="1"/>
              <a:t>express.json</a:t>
            </a:r>
            <a:r>
              <a:rPr lang="en-US" i="0" dirty="0"/>
              <a:t>() with </a:t>
            </a:r>
            <a:r>
              <a:rPr lang="en-US" i="0" dirty="0" err="1"/>
              <a:t>express.json</a:t>
            </a:r>
            <a:r>
              <a:rPr lang="en-US" i="0" dirty="0"/>
              <a:t>({ strict: false })</a:t>
            </a:r>
          </a:p>
          <a:p>
            <a:endParaRPr lang="en-US" i="0" dirty="0"/>
          </a:p>
          <a:p>
            <a:r>
              <a:rPr lang="en-US" dirty="0"/>
              <a:t>True answer: something like { username: 4, password: “secret” } will try to invoke the </a:t>
            </a:r>
            <a:r>
              <a:rPr lang="en-US" dirty="0" err="1"/>
              <a:t>toUpperCase</a:t>
            </a:r>
            <a:r>
              <a:rPr lang="en-US" dirty="0"/>
              <a:t> method of the numeric value 4, but JavaScript numbers don’t have </a:t>
            </a:r>
            <a:r>
              <a:rPr lang="en-US" dirty="0" err="1"/>
              <a:t>toUpperCase</a:t>
            </a:r>
            <a:r>
              <a:rPr lang="en-US" dirty="0"/>
              <a:t> methods — only strings do!</a:t>
            </a:r>
          </a:p>
        </p:txBody>
      </p:sp>
      <p:sp>
        <p:nvSpPr>
          <p:cNvPr id="4" name="Slide Number Placeholder 3">
            <a:extLst>
              <a:ext uri="{FF2B5EF4-FFF2-40B4-BE49-F238E27FC236}">
                <a16:creationId xmlns:a16="http://schemas.microsoft.com/office/drawing/2014/main" id="{5F57C527-7D2C-1311-07F0-43B863181E44}"/>
              </a:ext>
            </a:extLst>
          </p:cNvPr>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3825079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43747-9C7C-B08C-A838-CF2D7CE84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C7350-0944-ADF6-0F6B-905B5FA76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1F15C-CD2B-B4DF-C52A-D7A02F1A7FA2}"/>
              </a:ext>
            </a:extLst>
          </p:cNvPr>
          <p:cNvSpPr>
            <a:spLocks noGrp="1"/>
          </p:cNvSpPr>
          <p:nvPr>
            <p:ph type="body" idx="1"/>
          </p:nvPr>
        </p:nvSpPr>
        <p:spPr/>
        <p:txBody>
          <a:bodyPr/>
          <a:lstStyle/>
          <a:p>
            <a:r>
              <a:rPr lang="en-US" dirty="0"/>
              <a:t>Express’s design was set in stone before tools like Zod existed that made it easier to build code that actually gets validation right.</a:t>
            </a:r>
          </a:p>
        </p:txBody>
      </p:sp>
      <p:sp>
        <p:nvSpPr>
          <p:cNvPr id="4" name="Slide Number Placeholder 3">
            <a:extLst>
              <a:ext uri="{FF2B5EF4-FFF2-40B4-BE49-F238E27FC236}">
                <a16:creationId xmlns:a16="http://schemas.microsoft.com/office/drawing/2014/main" id="{F43FEA7B-6C46-36E4-0B8C-291CE694E7AB}"/>
              </a:ext>
            </a:extLst>
          </p:cNvPr>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3166752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82AA-0745-BA15-74D3-06667398E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5C473-E215-555C-0B09-E0427B4F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BABB8-45F6-0015-2938-F3E70E175F23}"/>
              </a:ext>
            </a:extLst>
          </p:cNvPr>
          <p:cNvSpPr>
            <a:spLocks noGrp="1"/>
          </p:cNvSpPr>
          <p:nvPr>
            <p:ph type="body" idx="1"/>
          </p:nvPr>
        </p:nvSpPr>
        <p:spPr/>
        <p:txBody>
          <a:bodyPr/>
          <a:lstStyle/>
          <a:p>
            <a:r>
              <a:rPr lang="en-US" dirty="0"/>
              <a:t>There’s not a good answer to whether you need to test inputs that violate your contracts!</a:t>
            </a:r>
          </a:p>
          <a:p>
            <a:endParaRPr lang="en-US" dirty="0"/>
          </a:p>
          <a:p>
            <a:r>
              <a:rPr lang="en-US" dirty="0"/>
              <a:t>But you can’t trust anything that you’re receiving from the user over a network connection, even if the webpage prevents certain user actions. Many, many security vulnerabilities are just people getting this wrong.</a:t>
            </a:r>
          </a:p>
        </p:txBody>
      </p:sp>
      <p:sp>
        <p:nvSpPr>
          <p:cNvPr id="4" name="Slide Number Placeholder 3">
            <a:extLst>
              <a:ext uri="{FF2B5EF4-FFF2-40B4-BE49-F238E27FC236}">
                <a16:creationId xmlns:a16="http://schemas.microsoft.com/office/drawing/2014/main" id="{68A0AE77-A17A-0513-CD4C-9F4BA22F3571}"/>
              </a:ext>
            </a:extLst>
          </p:cNvPr>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359739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3.1: Trusting TypeScript (or not!)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how TypeScript types and documented preconditions influence what tests you need to write</a:t>
            </a:r>
          </a:p>
          <a:p>
            <a:pPr lvl="1"/>
            <a:r>
              <a:rPr lang="en-US" dirty="0"/>
              <a:t>Explain the difference between the </a:t>
            </a:r>
            <a:r>
              <a:rPr lang="en-US" dirty="0">
                <a:solidFill>
                  <a:srgbClr val="FF0000"/>
                </a:solidFill>
                <a:latin typeface="Menlo" panose="020B0609030804020204" pitchFamily="49" charset="0"/>
                <a:ea typeface="Menlo" panose="020B0609030804020204" pitchFamily="49" charset="0"/>
                <a:cs typeface="Menlo" panose="020B0609030804020204" pitchFamily="49" charset="0"/>
              </a:rPr>
              <a:t>any</a:t>
            </a:r>
            <a:r>
              <a:rPr lang="en-US" dirty="0"/>
              <a:t> vs </a:t>
            </a:r>
            <a:r>
              <a:rPr lang="en-US" dirty="0">
                <a:solidFill>
                  <a:srgbClr val="FF0000"/>
                </a:solidFill>
                <a:latin typeface="Menlo" panose="020B0609030804020204" pitchFamily="49" charset="0"/>
                <a:ea typeface="Menlo" panose="020B0609030804020204" pitchFamily="49" charset="0"/>
                <a:cs typeface="Menlo" panose="020B0609030804020204" pitchFamily="49" charset="0"/>
              </a:rPr>
              <a:t>unknown</a:t>
            </a:r>
            <a:r>
              <a:rPr lang="en-US" dirty="0"/>
              <a:t> types in TypeScript</a:t>
            </a:r>
          </a:p>
          <a:p>
            <a:pPr lvl="1"/>
            <a:endParaRPr lang="en-US" dirty="0"/>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083E-BC03-7143-3305-7D5C8856EC3B}"/>
              </a:ext>
            </a:extLst>
          </p:cNvPr>
          <p:cNvSpPr>
            <a:spLocks noGrp="1"/>
          </p:cNvSpPr>
          <p:nvPr>
            <p:ph type="title"/>
          </p:nvPr>
        </p:nvSpPr>
        <p:spPr/>
        <p:txBody>
          <a:bodyPr/>
          <a:lstStyle/>
          <a:p>
            <a:r>
              <a:rPr lang="en-US" dirty="0"/>
              <a:t>What Inputs Should We Test?</a:t>
            </a:r>
          </a:p>
        </p:txBody>
      </p:sp>
      <p:sp>
        <p:nvSpPr>
          <p:cNvPr id="3" name="Content Placeholder 2">
            <a:extLst>
              <a:ext uri="{FF2B5EF4-FFF2-40B4-BE49-F238E27FC236}">
                <a16:creationId xmlns:a16="http://schemas.microsoft.com/office/drawing/2014/main" id="{CEEB21CC-6ECC-AE79-F5AB-B8188A7BA5D6}"/>
              </a:ext>
            </a:extLst>
          </p:cNvPr>
          <p:cNvSpPr>
            <a:spLocks noGrp="1"/>
          </p:cNvSpPr>
          <p:nvPr>
            <p:ph idx="1"/>
          </p:nvPr>
        </p:nvSpPr>
        <p:spPr/>
        <p:txBody>
          <a:bodyPr/>
          <a:lstStyle/>
          <a:p>
            <a:pPr marL="0" indent="0">
              <a:buNone/>
            </a:pPr>
            <a:r>
              <a:rPr lang="en-US" dirty="0"/>
              <a:t>What input values do I need to test this function on?</a:t>
            </a:r>
          </a:p>
        </p:txBody>
      </p:sp>
      <p:sp>
        <p:nvSpPr>
          <p:cNvPr id="4" name="Slide Number Placeholder 3">
            <a:extLst>
              <a:ext uri="{FF2B5EF4-FFF2-40B4-BE49-F238E27FC236}">
                <a16:creationId xmlns:a16="http://schemas.microsoft.com/office/drawing/2014/main" id="{D90F8408-869B-696B-6166-4C6F4BDF59FB}"/>
              </a:ext>
            </a:extLst>
          </p:cNvPr>
          <p:cNvSpPr>
            <a:spLocks noGrp="1"/>
          </p:cNvSpPr>
          <p:nvPr>
            <p:ph type="sldNum" sz="quarter" idx="12"/>
          </p:nvPr>
        </p:nvSpPr>
        <p:spPr/>
        <p:txBody>
          <a:bodyPr/>
          <a:lstStyle/>
          <a:p>
            <a:fld id="{20F37917-FD3A-4669-9018-DA04BCDD3D75}" type="slidenum">
              <a:rPr lang="en-US" smtClean="0"/>
              <a:t>3</a:t>
            </a:fld>
            <a:endParaRPr lang="en-US"/>
          </a:p>
        </p:txBody>
      </p:sp>
      <p:sp>
        <p:nvSpPr>
          <p:cNvPr id="5" name="TextBox 4">
            <a:extLst>
              <a:ext uri="{FF2B5EF4-FFF2-40B4-BE49-F238E27FC236}">
                <a16:creationId xmlns:a16="http://schemas.microsoft.com/office/drawing/2014/main" id="{657D6DBF-0D3B-3245-8AFD-BA6693B645B6}"/>
              </a:ext>
            </a:extLst>
          </p:cNvPr>
          <p:cNvSpPr txBox="1"/>
          <p:nvPr/>
        </p:nvSpPr>
        <p:spPr>
          <a:xfrm>
            <a:off x="744069" y="2501474"/>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a:t>
            </a:r>
            <a:r>
              <a:rPr lang="en-US" b="0" dirty="0">
                <a:solidFill>
                  <a:srgbClr val="0000FF"/>
                </a:solidFill>
                <a:effectLst/>
                <a:latin typeface="Menlo" panose="020B0609030804020204" pitchFamily="49" charset="0"/>
              </a:rPr>
              <a:t>@param</a:t>
            </a:r>
            <a:r>
              <a:rPr lang="en-US" b="0" dirty="0">
                <a:solidFill>
                  <a:srgbClr val="008000"/>
                </a:solidFill>
                <a:effectLst/>
                <a:latin typeface="Menlo" panose="020B0609030804020204" pitchFamily="49" charset="0"/>
              </a:rPr>
              <a:t> </a:t>
            </a:r>
            <a:r>
              <a:rPr lang="en-US" b="0" dirty="0" err="1">
                <a:solidFill>
                  <a:srgbClr val="001080"/>
                </a:solidFill>
                <a:effectLst/>
                <a:latin typeface="Menlo" panose="020B0609030804020204" pitchFamily="49" charset="0"/>
              </a:rPr>
              <a:t>numHellos</a:t>
            </a:r>
            <a:r>
              <a:rPr lang="en-US" b="0" dirty="0">
                <a:solidFill>
                  <a:srgbClr val="008000"/>
                </a:solidFill>
                <a:effectLst/>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  for</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numHellos</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0</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console</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log</a:t>
            </a:r>
            <a:r>
              <a:rPr lang="en-US" b="0" dirty="0">
                <a:solidFill>
                  <a:srgbClr val="3B3B3B"/>
                </a:solidFill>
                <a:effectLst/>
                <a:latin typeface="Menlo" panose="020B0609030804020204" pitchFamily="49" charset="0"/>
              </a:rPr>
              <a:t>(</a:t>
            </a:r>
            <a:r>
              <a:rPr lang="en-US" dirty="0">
                <a:solidFill>
                  <a:srgbClr val="A31515"/>
                </a:solidFill>
                <a:latin typeface="Menlo" panose="020B0609030804020204" pitchFamily="49" charset="0"/>
              </a:rPr>
              <a:t>'hello'</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07622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547C-41A0-F32E-2BDC-4D8400658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1F7CE-2D51-2318-DF4A-346A1DA283B7}"/>
              </a:ext>
            </a:extLst>
          </p:cNvPr>
          <p:cNvSpPr>
            <a:spLocks noGrp="1"/>
          </p:cNvSpPr>
          <p:nvPr>
            <p:ph type="title"/>
          </p:nvPr>
        </p:nvSpPr>
        <p:spPr>
          <a:xfrm>
            <a:off x="838200" y="18255"/>
            <a:ext cx="10515600" cy="1325563"/>
          </a:xfrm>
        </p:spPr>
        <p:txBody>
          <a:bodyPr/>
          <a:lstStyle/>
          <a:p>
            <a:r>
              <a:rPr lang="en-US" dirty="0"/>
              <a:t>What Inputs Should We Test?</a:t>
            </a:r>
          </a:p>
        </p:txBody>
      </p:sp>
      <p:sp>
        <p:nvSpPr>
          <p:cNvPr id="3" name="Content Placeholder 2">
            <a:extLst>
              <a:ext uri="{FF2B5EF4-FFF2-40B4-BE49-F238E27FC236}">
                <a16:creationId xmlns:a16="http://schemas.microsoft.com/office/drawing/2014/main" id="{46CB4E3C-38C0-4649-19E8-4346BD0F5913}"/>
              </a:ext>
            </a:extLst>
          </p:cNvPr>
          <p:cNvSpPr>
            <a:spLocks noGrp="1"/>
          </p:cNvSpPr>
          <p:nvPr>
            <p:ph idx="1"/>
          </p:nvPr>
        </p:nvSpPr>
        <p:spPr>
          <a:xfrm>
            <a:off x="838199" y="1500188"/>
            <a:ext cx="10906126" cy="4351337"/>
          </a:xfrm>
        </p:spPr>
        <p:txBody>
          <a:bodyPr/>
          <a:lstStyle/>
          <a:p>
            <a:pPr marL="0" indent="0">
              <a:buNone/>
            </a:pPr>
            <a:r>
              <a:rPr lang="en-US" dirty="0"/>
              <a:t>What input values do I need to test this function on?</a:t>
            </a:r>
          </a:p>
          <a:p>
            <a:r>
              <a:rPr lang="en-US" dirty="0"/>
              <a:t>Edge cases (definitely 0)</a:t>
            </a:r>
          </a:p>
          <a:p>
            <a:r>
              <a:rPr lang="en-US" dirty="0"/>
              <a:t>Probably 1 and some larger number? </a:t>
            </a:r>
            <a:br>
              <a:rPr lang="en-US" dirty="0"/>
            </a:br>
            <a:r>
              <a:rPr lang="en-US" dirty="0"/>
              <a:t>But most numbers &gt; 1 are kind of interchangeable.</a:t>
            </a:r>
          </a:p>
          <a:p>
            <a:pPr lvl="1"/>
            <a:r>
              <a:rPr lang="en-US" dirty="0"/>
              <a:t>If we want to sound fancy, we can call these “equivalence classes of inputs.”</a:t>
            </a:r>
          </a:p>
          <a:p>
            <a:r>
              <a:rPr lang="en-US" dirty="0"/>
              <a:t>What about -3? 1.4? </a:t>
            </a:r>
            <a:r>
              <a:rPr lang="en-US" dirty="0" err="1"/>
              <a:t>NaN</a:t>
            </a:r>
            <a:r>
              <a:rPr lang="en-US" dirty="0"/>
              <a:t>? </a:t>
            </a:r>
            <a:r>
              <a:rPr lang="en-US" sz="1800" b="0" dirty="0">
                <a:solidFill>
                  <a:srgbClr val="0000FF"/>
                </a:solidFill>
                <a:effectLst/>
                <a:latin typeface="Menlo" panose="020B0609030804020204" pitchFamily="49" charset="0"/>
              </a:rPr>
              <a:t>null</a:t>
            </a:r>
            <a:r>
              <a:rPr lang="en-US" dirty="0"/>
              <a:t>? </a:t>
            </a:r>
            <a:r>
              <a:rPr lang="en-US" sz="1800" b="0" dirty="0">
                <a:solidFill>
                  <a:srgbClr val="3B3B3B"/>
                </a:solidFill>
                <a:effectLst/>
                <a:latin typeface="Menlo" panose="020B0609030804020204" pitchFamily="49" charset="0"/>
              </a:rPr>
              <a:t>{ </a:t>
            </a:r>
            <a:r>
              <a:rPr lang="en-US" sz="1800" b="0" dirty="0">
                <a:solidFill>
                  <a:srgbClr val="001080"/>
                </a:solidFill>
                <a:effectLst/>
                <a:latin typeface="Menlo" panose="020B0609030804020204" pitchFamily="49" charset="0"/>
              </a:rPr>
              <a:t>lol:</a:t>
            </a:r>
            <a:r>
              <a:rPr lang="en-US" sz="1800" b="0" dirty="0">
                <a:solidFill>
                  <a:srgbClr val="3B3B3B"/>
                </a:solidFill>
                <a:effectLst/>
                <a:latin typeface="Menlo" panose="020B0609030804020204" pitchFamily="49" charset="0"/>
              </a:rPr>
              <a:t> </a:t>
            </a:r>
            <a:r>
              <a:rPr lang="en-US" sz="1800" b="0" dirty="0">
                <a:solidFill>
                  <a:srgbClr val="A31515"/>
                </a:solidFill>
                <a:effectLst/>
                <a:latin typeface="Menlo" panose="020B0609030804020204" pitchFamily="49" charset="0"/>
              </a:rPr>
              <a:t>'owned'</a:t>
            </a:r>
            <a:r>
              <a:rPr lang="en-US" sz="1800" b="0" dirty="0">
                <a:solidFill>
                  <a:srgbClr val="3B3B3B"/>
                </a:solidFill>
                <a:effectLst/>
                <a:latin typeface="Menlo" panose="020B0609030804020204" pitchFamily="49" charset="0"/>
              </a:rPr>
              <a:t> }</a:t>
            </a:r>
            <a:r>
              <a:rPr lang="en-US" sz="1800" dirty="0"/>
              <a:t> </a:t>
            </a:r>
            <a:r>
              <a:rPr lang="en-US" dirty="0"/>
              <a:t>?</a:t>
            </a:r>
            <a:endParaRPr lang="en-US" b="0" dirty="0">
              <a:solidFill>
                <a:srgbClr val="3B3B3B"/>
              </a:solidFill>
              <a:effectLst/>
              <a:latin typeface="Menlo" panose="020B0609030804020204" pitchFamily="49" charset="0"/>
            </a:endParaRPr>
          </a:p>
          <a:p>
            <a:endParaRPr lang="en-US" dirty="0"/>
          </a:p>
        </p:txBody>
      </p:sp>
      <p:sp>
        <p:nvSpPr>
          <p:cNvPr id="4" name="Slide Number Placeholder 3">
            <a:extLst>
              <a:ext uri="{FF2B5EF4-FFF2-40B4-BE49-F238E27FC236}">
                <a16:creationId xmlns:a16="http://schemas.microsoft.com/office/drawing/2014/main" id="{528707C5-21D4-7449-8506-19BBA58B5C03}"/>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4</a:t>
            </a:fld>
            <a:endParaRPr lang="en-US"/>
          </a:p>
        </p:txBody>
      </p:sp>
      <p:sp>
        <p:nvSpPr>
          <p:cNvPr id="6" name="TextBox 5">
            <a:extLst>
              <a:ext uri="{FF2B5EF4-FFF2-40B4-BE49-F238E27FC236}">
                <a16:creationId xmlns:a16="http://schemas.microsoft.com/office/drawing/2014/main" id="{672F0922-83D5-1321-785B-9E49D3F3F01A}"/>
              </a:ext>
            </a:extLst>
          </p:cNvPr>
          <p:cNvSpPr txBox="1"/>
          <p:nvPr/>
        </p:nvSpPr>
        <p:spPr>
          <a:xfrm>
            <a:off x="744069" y="4635277"/>
            <a:ext cx="11354146"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dirty="0">
                <a:solidFill>
                  <a:srgbClr val="008000"/>
                </a:solidFill>
                <a:latin typeface="Menlo" panose="020B0609030804020204" pitchFamily="49" charset="0"/>
              </a:rPr>
              <a:t> * </a:t>
            </a:r>
            <a:r>
              <a:rPr lang="en-US" dirty="0">
                <a:solidFill>
                  <a:srgbClr val="0000FF"/>
                </a:solidFill>
                <a:latin typeface="Menlo" panose="020B0609030804020204" pitchFamily="49" charset="0"/>
              </a:rPr>
              <a:t>@param</a:t>
            </a:r>
            <a:r>
              <a:rPr lang="en-US" dirty="0">
                <a:solidFill>
                  <a:srgbClr val="008000"/>
                </a:solidFill>
                <a:latin typeface="Menlo" panose="020B0609030804020204" pitchFamily="49" charset="0"/>
              </a:rPr>
              <a:t> </a:t>
            </a:r>
            <a:r>
              <a:rPr lang="en-US" dirty="0" err="1">
                <a:solidFill>
                  <a:srgbClr val="001080"/>
                </a:solidFill>
                <a:latin typeface="Menlo" panose="020B0609030804020204" pitchFamily="49" charset="0"/>
              </a:rPr>
              <a:t>numHellos</a:t>
            </a:r>
            <a:r>
              <a:rPr lang="en-US" dirty="0">
                <a:solidFill>
                  <a:srgbClr val="008000"/>
                </a:solidFill>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dirty="0" err="1">
                <a:solidFill>
                  <a:srgbClr val="795E26"/>
                </a:solidFill>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14475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B0ED1-8A3F-5F48-0DE9-A50048F8D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F50B1-AD48-87E8-00D9-01D2F21FB0A3}"/>
              </a:ext>
            </a:extLst>
          </p:cNvPr>
          <p:cNvSpPr>
            <a:spLocks noGrp="1"/>
          </p:cNvSpPr>
          <p:nvPr>
            <p:ph type="title"/>
          </p:nvPr>
        </p:nvSpPr>
        <p:spPr>
          <a:xfrm>
            <a:off x="838200" y="18255"/>
            <a:ext cx="10515600" cy="1325563"/>
          </a:xfrm>
        </p:spPr>
        <p:txBody>
          <a:bodyPr>
            <a:normAutofit/>
          </a:bodyPr>
          <a:lstStyle/>
          <a:p>
            <a:r>
              <a:rPr lang="en-US" dirty="0"/>
              <a:t>For Unit Testing, Tests Inputs Should Respect a Function’s Contracts</a:t>
            </a:r>
          </a:p>
        </p:txBody>
      </p:sp>
      <p:sp>
        <p:nvSpPr>
          <p:cNvPr id="3" name="Content Placeholder 2">
            <a:extLst>
              <a:ext uri="{FF2B5EF4-FFF2-40B4-BE49-F238E27FC236}">
                <a16:creationId xmlns:a16="http://schemas.microsoft.com/office/drawing/2014/main" id="{E78D7B6A-C82F-32C2-BC2C-9AEC1DC4F893}"/>
              </a:ext>
            </a:extLst>
          </p:cNvPr>
          <p:cNvSpPr>
            <a:spLocks noGrp="1"/>
          </p:cNvSpPr>
          <p:nvPr>
            <p:ph idx="1"/>
          </p:nvPr>
        </p:nvSpPr>
        <p:spPr>
          <a:xfrm>
            <a:off x="838199" y="1500188"/>
            <a:ext cx="10906126" cy="4351337"/>
          </a:xfrm>
        </p:spPr>
        <p:txBody>
          <a:bodyPr/>
          <a:lstStyle/>
          <a:p>
            <a:r>
              <a:rPr lang="en-US" b="1" dirty="0"/>
              <a:t>Unit Tests: </a:t>
            </a:r>
            <a:r>
              <a:rPr lang="en-US" dirty="0"/>
              <a:t>testing a single function in isolation</a:t>
            </a:r>
          </a:p>
          <a:p>
            <a:pPr lvl="1"/>
            <a:r>
              <a:rPr lang="en-US" dirty="0"/>
              <a:t>Unit testing only needs to give a function tests that respect the functions preconditions: no need to test -3 or 1.4</a:t>
            </a:r>
          </a:p>
          <a:p>
            <a:r>
              <a:rPr lang="en-US" b="1" dirty="0"/>
              <a:t>Integration Tests</a:t>
            </a:r>
            <a:r>
              <a:rPr lang="en-US" dirty="0"/>
              <a:t> test how different parts of a program work together, and that’s where we’re concerned with ensuring that </a:t>
            </a:r>
            <a:r>
              <a:rPr lang="en-US" i="1" dirty="0"/>
              <a:t>other </a:t>
            </a:r>
            <a:r>
              <a:rPr lang="en-US" dirty="0"/>
              <a:t>parts of the program respect our function’s contracts.</a:t>
            </a:r>
          </a:p>
        </p:txBody>
      </p:sp>
      <p:sp>
        <p:nvSpPr>
          <p:cNvPr id="4" name="Slide Number Placeholder 3">
            <a:extLst>
              <a:ext uri="{FF2B5EF4-FFF2-40B4-BE49-F238E27FC236}">
                <a16:creationId xmlns:a16="http://schemas.microsoft.com/office/drawing/2014/main" id="{613728FD-54AD-0E30-7DA2-44DC837507E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5</a:t>
            </a:fld>
            <a:endParaRPr lang="en-US"/>
          </a:p>
        </p:txBody>
      </p:sp>
      <p:sp>
        <p:nvSpPr>
          <p:cNvPr id="9" name="TextBox 8">
            <a:extLst>
              <a:ext uri="{FF2B5EF4-FFF2-40B4-BE49-F238E27FC236}">
                <a16:creationId xmlns:a16="http://schemas.microsoft.com/office/drawing/2014/main" id="{E9475D76-54E4-1F74-3F07-B9E3578435A7}"/>
              </a:ext>
            </a:extLst>
          </p:cNvPr>
          <p:cNvSpPr txBox="1"/>
          <p:nvPr/>
        </p:nvSpPr>
        <p:spPr>
          <a:xfrm>
            <a:off x="744069" y="4635277"/>
            <a:ext cx="11354146"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dirty="0">
                <a:solidFill>
                  <a:srgbClr val="008000"/>
                </a:solidFill>
                <a:latin typeface="Menlo" panose="020B0609030804020204" pitchFamily="49" charset="0"/>
              </a:rPr>
              <a:t> * </a:t>
            </a:r>
            <a:r>
              <a:rPr lang="en-US" dirty="0">
                <a:solidFill>
                  <a:srgbClr val="0000FF"/>
                </a:solidFill>
                <a:latin typeface="Menlo" panose="020B0609030804020204" pitchFamily="49" charset="0"/>
              </a:rPr>
              <a:t>@param</a:t>
            </a:r>
            <a:r>
              <a:rPr lang="en-US" dirty="0">
                <a:solidFill>
                  <a:srgbClr val="008000"/>
                </a:solidFill>
                <a:latin typeface="Menlo" panose="020B0609030804020204" pitchFamily="49" charset="0"/>
              </a:rPr>
              <a:t> </a:t>
            </a:r>
            <a:r>
              <a:rPr lang="en-US" dirty="0" err="1">
                <a:solidFill>
                  <a:srgbClr val="001080"/>
                </a:solidFill>
                <a:latin typeface="Menlo" panose="020B0609030804020204" pitchFamily="49" charset="0"/>
              </a:rPr>
              <a:t>numHellos</a:t>
            </a:r>
            <a:r>
              <a:rPr lang="en-US" dirty="0">
                <a:solidFill>
                  <a:srgbClr val="008000"/>
                </a:solidFill>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dirty="0" err="1">
                <a:solidFill>
                  <a:srgbClr val="795E26"/>
                </a:solidFill>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20512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E936-5227-CFE6-15E7-CB2D940A5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A59C5-F59F-7782-B9C2-7A6DFDCC479E}"/>
              </a:ext>
            </a:extLst>
          </p:cNvPr>
          <p:cNvSpPr>
            <a:spLocks noGrp="1"/>
          </p:cNvSpPr>
          <p:nvPr>
            <p:ph type="title"/>
          </p:nvPr>
        </p:nvSpPr>
        <p:spPr>
          <a:xfrm>
            <a:off x="838200" y="18255"/>
            <a:ext cx="10515600" cy="1325563"/>
          </a:xfrm>
        </p:spPr>
        <p:txBody>
          <a:bodyPr>
            <a:normAutofit/>
          </a:bodyPr>
          <a:lstStyle/>
          <a:p>
            <a:r>
              <a:rPr lang="en-US" dirty="0"/>
              <a:t>For Unit Testing, Tests Inputs Should Respect a Function’s Contracts</a:t>
            </a:r>
          </a:p>
        </p:txBody>
      </p:sp>
      <p:sp>
        <p:nvSpPr>
          <p:cNvPr id="3" name="Content Placeholder 2">
            <a:extLst>
              <a:ext uri="{FF2B5EF4-FFF2-40B4-BE49-F238E27FC236}">
                <a16:creationId xmlns:a16="http://schemas.microsoft.com/office/drawing/2014/main" id="{323F76A1-BF52-B873-69B9-820D9DCE4075}"/>
              </a:ext>
            </a:extLst>
          </p:cNvPr>
          <p:cNvSpPr>
            <a:spLocks noGrp="1"/>
          </p:cNvSpPr>
          <p:nvPr>
            <p:ph idx="1"/>
          </p:nvPr>
        </p:nvSpPr>
        <p:spPr>
          <a:xfrm>
            <a:off x="838199" y="1500188"/>
            <a:ext cx="10906126" cy="4351337"/>
          </a:xfrm>
        </p:spPr>
        <p:txBody>
          <a:bodyPr/>
          <a:lstStyle/>
          <a:p>
            <a:r>
              <a:rPr lang="en-US" b="1" dirty="0"/>
              <a:t>Unit Tests: </a:t>
            </a:r>
            <a:r>
              <a:rPr lang="en-US" dirty="0"/>
              <a:t>testing a single function in isolation</a:t>
            </a:r>
          </a:p>
          <a:p>
            <a:pPr lvl="1"/>
            <a:r>
              <a:rPr lang="en-US" dirty="0"/>
              <a:t>Unit testing only needs to give a function tests that respect the functions preconditions: no need to test -3 or 1.4</a:t>
            </a:r>
          </a:p>
          <a:p>
            <a:r>
              <a:rPr lang="en-US" b="1" dirty="0"/>
              <a:t>Integration Tests</a:t>
            </a:r>
            <a:r>
              <a:rPr lang="en-US" dirty="0"/>
              <a:t> test how different parts of a program work together, and that’s where we’re concerned with ensuring that </a:t>
            </a:r>
            <a:r>
              <a:rPr lang="en-US" i="1" dirty="0"/>
              <a:t>other </a:t>
            </a:r>
            <a:r>
              <a:rPr lang="en-US" dirty="0"/>
              <a:t>parts of the program respect our function’s contracts.</a:t>
            </a:r>
          </a:p>
        </p:txBody>
      </p:sp>
      <p:sp>
        <p:nvSpPr>
          <p:cNvPr id="4" name="Slide Number Placeholder 3">
            <a:extLst>
              <a:ext uri="{FF2B5EF4-FFF2-40B4-BE49-F238E27FC236}">
                <a16:creationId xmlns:a16="http://schemas.microsoft.com/office/drawing/2014/main" id="{A3E2DFFF-1693-C2A3-00A9-A9B34BECF25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9" name="TextBox 8">
            <a:extLst>
              <a:ext uri="{FF2B5EF4-FFF2-40B4-BE49-F238E27FC236}">
                <a16:creationId xmlns:a16="http://schemas.microsoft.com/office/drawing/2014/main" id="{703E35E6-DF06-15D2-91E6-EAC2807CB472}"/>
              </a:ext>
            </a:extLst>
          </p:cNvPr>
          <p:cNvSpPr txBox="1"/>
          <p:nvPr/>
        </p:nvSpPr>
        <p:spPr>
          <a:xfrm>
            <a:off x="744069" y="4635277"/>
            <a:ext cx="11354146"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dirty="0">
                <a:solidFill>
                  <a:srgbClr val="008000"/>
                </a:solidFill>
                <a:latin typeface="Menlo" panose="020B0609030804020204" pitchFamily="49" charset="0"/>
              </a:rPr>
              <a:t> * </a:t>
            </a:r>
            <a:r>
              <a:rPr lang="en-US" dirty="0">
                <a:solidFill>
                  <a:srgbClr val="0000FF"/>
                </a:solidFill>
                <a:latin typeface="Menlo" panose="020B0609030804020204" pitchFamily="49" charset="0"/>
              </a:rPr>
              <a:t>@param</a:t>
            </a:r>
            <a:r>
              <a:rPr lang="en-US" dirty="0">
                <a:solidFill>
                  <a:srgbClr val="008000"/>
                </a:solidFill>
                <a:latin typeface="Menlo" panose="020B0609030804020204" pitchFamily="49" charset="0"/>
              </a:rPr>
              <a:t> </a:t>
            </a:r>
            <a:r>
              <a:rPr lang="en-US" dirty="0" err="1">
                <a:solidFill>
                  <a:srgbClr val="001080"/>
                </a:solidFill>
                <a:latin typeface="Menlo" panose="020B0609030804020204" pitchFamily="49" charset="0"/>
              </a:rPr>
              <a:t>numHellos</a:t>
            </a:r>
            <a:r>
              <a:rPr lang="en-US" dirty="0">
                <a:solidFill>
                  <a:srgbClr val="008000"/>
                </a:solidFill>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dirty="0" err="1">
                <a:solidFill>
                  <a:srgbClr val="795E26"/>
                </a:solidFill>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957785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DE22-3767-1FAB-9FB0-77BAC9825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3E4AB-2B15-1894-7865-F2911DC398EA}"/>
              </a:ext>
            </a:extLst>
          </p:cNvPr>
          <p:cNvSpPr>
            <a:spLocks noGrp="1"/>
          </p:cNvSpPr>
          <p:nvPr>
            <p:ph type="title"/>
          </p:nvPr>
        </p:nvSpPr>
        <p:spPr>
          <a:xfrm>
            <a:off x="838199" y="18255"/>
            <a:ext cx="10834991" cy="1325563"/>
          </a:xfrm>
        </p:spPr>
        <p:txBody>
          <a:bodyPr/>
          <a:lstStyle/>
          <a:p>
            <a:r>
              <a:rPr lang="en-US" dirty="0"/>
              <a:t>TypeScript Types Are Easily Circumvented (1)</a:t>
            </a:r>
          </a:p>
        </p:txBody>
      </p:sp>
      <p:sp>
        <p:nvSpPr>
          <p:cNvPr id="4" name="Slide Number Placeholder 3">
            <a:extLst>
              <a:ext uri="{FF2B5EF4-FFF2-40B4-BE49-F238E27FC236}">
                <a16:creationId xmlns:a16="http://schemas.microsoft.com/office/drawing/2014/main" id="{2EAC7836-85FC-F37E-8C61-93C949391FC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7</a:t>
            </a:fld>
            <a:endParaRPr lang="en-US"/>
          </a:p>
        </p:txBody>
      </p:sp>
      <p:sp>
        <p:nvSpPr>
          <p:cNvPr id="10" name="Content Placeholder 9">
            <a:extLst>
              <a:ext uri="{FF2B5EF4-FFF2-40B4-BE49-F238E27FC236}">
                <a16:creationId xmlns:a16="http://schemas.microsoft.com/office/drawing/2014/main" id="{BEDE1200-EC64-29F2-0CEE-B96321774A9E}"/>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helloNTimes</a:t>
            </a:r>
            <a:r>
              <a:rPr lang="en-US" dirty="0"/>
              <a:t> with -3, but not with a string or </a:t>
            </a:r>
            <a:r>
              <a:rPr lang="en-US" sz="24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null</a:t>
            </a:r>
            <a:r>
              <a:rPr lang="en-US" dirty="0"/>
              <a:t>.</a:t>
            </a:r>
          </a:p>
          <a:p>
            <a:r>
              <a:rPr lang="en-US" dirty="0"/>
              <a:t>That’s not true in TypeScript!</a:t>
            </a:r>
          </a:p>
        </p:txBody>
      </p:sp>
      <p:sp>
        <p:nvSpPr>
          <p:cNvPr id="3" name="TextBox 2">
            <a:extLst>
              <a:ext uri="{FF2B5EF4-FFF2-40B4-BE49-F238E27FC236}">
                <a16:creationId xmlns:a16="http://schemas.microsoft.com/office/drawing/2014/main" id="{83AC3B45-76F9-2331-42FC-C7E7FD853618}"/>
              </a:ext>
            </a:extLst>
          </p:cNvPr>
          <p:cNvSpPr txBox="1"/>
          <p:nvPr/>
        </p:nvSpPr>
        <p:spPr>
          <a:xfrm>
            <a:off x="744069" y="4635277"/>
            <a:ext cx="11354146"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dirty="0">
                <a:solidFill>
                  <a:srgbClr val="008000"/>
                </a:solidFill>
                <a:latin typeface="Menlo" panose="020B0609030804020204" pitchFamily="49" charset="0"/>
              </a:rPr>
              <a:t> * </a:t>
            </a:r>
            <a:r>
              <a:rPr lang="en-US" dirty="0">
                <a:solidFill>
                  <a:srgbClr val="0000FF"/>
                </a:solidFill>
                <a:latin typeface="Menlo" panose="020B0609030804020204" pitchFamily="49" charset="0"/>
              </a:rPr>
              <a:t>@param</a:t>
            </a:r>
            <a:r>
              <a:rPr lang="en-US" dirty="0">
                <a:solidFill>
                  <a:srgbClr val="008000"/>
                </a:solidFill>
                <a:latin typeface="Menlo" panose="020B0609030804020204" pitchFamily="49" charset="0"/>
              </a:rPr>
              <a:t> </a:t>
            </a:r>
            <a:r>
              <a:rPr lang="en-US" dirty="0" err="1">
                <a:solidFill>
                  <a:srgbClr val="001080"/>
                </a:solidFill>
                <a:latin typeface="Menlo" panose="020B0609030804020204" pitchFamily="49" charset="0"/>
              </a:rPr>
              <a:t>numHellos</a:t>
            </a:r>
            <a:r>
              <a:rPr lang="en-US" dirty="0">
                <a:solidFill>
                  <a:srgbClr val="008000"/>
                </a:solidFill>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dirty="0" err="1">
                <a:solidFill>
                  <a:srgbClr val="795E26"/>
                </a:solidFill>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1049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2E1C-AF47-3F10-1AA6-D6D388F83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1D2CF-B43E-A897-F5A7-A6D8C3C50AAE}"/>
              </a:ext>
            </a:extLst>
          </p:cNvPr>
          <p:cNvSpPr>
            <a:spLocks noGrp="1"/>
          </p:cNvSpPr>
          <p:nvPr>
            <p:ph type="title"/>
          </p:nvPr>
        </p:nvSpPr>
        <p:spPr>
          <a:xfrm>
            <a:off x="838199" y="18255"/>
            <a:ext cx="10912813" cy="1325563"/>
          </a:xfrm>
        </p:spPr>
        <p:txBody>
          <a:bodyPr/>
          <a:lstStyle/>
          <a:p>
            <a:r>
              <a:rPr lang="en-US" dirty="0"/>
              <a:t>TypeScript Types Are Easily Circumvented (2)</a:t>
            </a:r>
          </a:p>
        </p:txBody>
      </p:sp>
      <p:sp>
        <p:nvSpPr>
          <p:cNvPr id="4" name="Slide Number Placeholder 3">
            <a:extLst>
              <a:ext uri="{FF2B5EF4-FFF2-40B4-BE49-F238E27FC236}">
                <a16:creationId xmlns:a16="http://schemas.microsoft.com/office/drawing/2014/main" id="{4901E884-A524-4D8A-5BA9-D06FA720821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C83C6FFD-746E-026E-E506-DB11C8E044B1}"/>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helloNTimes</a:t>
            </a:r>
            <a:r>
              <a:rPr lang="en-US" dirty="0"/>
              <a:t> with -3, but not with a string.</a:t>
            </a:r>
          </a:p>
          <a:p>
            <a:r>
              <a:rPr lang="en-US" dirty="0"/>
              <a:t>That’s not true in TypeScript!</a:t>
            </a:r>
          </a:p>
          <a:p>
            <a:r>
              <a:rPr lang="en-US" dirty="0"/>
              <a:t>TypeScript types are, at the end of the day, </a:t>
            </a:r>
            <a:br>
              <a:rPr lang="en-US" dirty="0"/>
            </a:br>
            <a:r>
              <a:rPr lang="en-US" dirty="0"/>
              <a:t>no better than preconditions mentioned in comments.</a:t>
            </a:r>
            <a:br>
              <a:rPr lang="en-US" dirty="0"/>
            </a:br>
            <a:endParaRPr lang="en-US" dirty="0"/>
          </a:p>
          <a:p>
            <a:pPr marL="457200" lvl="1" indent="0">
              <a:buNone/>
            </a:pPr>
            <a:r>
              <a:rPr lang="en-US" sz="1600" b="0" dirty="0" err="1">
                <a:solidFill>
                  <a:srgbClr val="795E26"/>
                </a:solidFill>
                <a:effectLst/>
                <a:latin typeface="Menlo" panose="020B0609030804020204" pitchFamily="49" charset="0"/>
              </a:rPr>
              <a:t>helloNTimes</a:t>
            </a:r>
            <a:r>
              <a:rPr lang="en-US" sz="1600" b="0" dirty="0">
                <a:solidFill>
                  <a:srgbClr val="3B3B3B"/>
                </a:solidFill>
                <a:effectLst/>
                <a:latin typeface="Menlo" panose="020B0609030804020204" pitchFamily="49" charset="0"/>
              </a:rPr>
              <a:t>({ </a:t>
            </a:r>
            <a:r>
              <a:rPr lang="en-US" sz="1600" b="0" dirty="0">
                <a:solidFill>
                  <a:srgbClr val="001080"/>
                </a:solidFill>
                <a:effectLst/>
                <a:latin typeface="Menlo" panose="020B0609030804020204" pitchFamily="49" charset="0"/>
              </a:rPr>
              <a:t>lol:</a:t>
            </a:r>
            <a:r>
              <a:rPr lang="en-US" sz="1600" b="0" dirty="0">
                <a:solidFill>
                  <a:srgbClr val="3B3B3B"/>
                </a:solidFill>
                <a:effectLst/>
                <a:latin typeface="Menlo" panose="020B0609030804020204" pitchFamily="49" charset="0"/>
              </a:rPr>
              <a:t> </a:t>
            </a:r>
            <a:r>
              <a:rPr lang="en-US" sz="1600" b="0" dirty="0">
                <a:solidFill>
                  <a:srgbClr val="A31515"/>
                </a:solidFill>
                <a:effectLst/>
                <a:latin typeface="Menlo" panose="020B0609030804020204" pitchFamily="49" charset="0"/>
              </a:rPr>
              <a:t>'owned '</a:t>
            </a:r>
            <a:r>
              <a:rPr lang="en-US" sz="1600" b="0" dirty="0">
                <a:solidFill>
                  <a:srgbClr val="3B3B3B"/>
                </a:solidFill>
                <a:effectLst/>
                <a:latin typeface="Menlo" panose="020B0609030804020204" pitchFamily="49" charset="0"/>
              </a:rPr>
              <a:t> } </a:t>
            </a:r>
            <a:r>
              <a:rPr lang="en-US" sz="1600" b="0" dirty="0">
                <a:solidFill>
                  <a:srgbClr val="AF00DB"/>
                </a:solidFill>
                <a:effectLst/>
                <a:latin typeface="Menlo" panose="020B0609030804020204" pitchFamily="49" charset="0"/>
              </a:rPr>
              <a:t>as</a:t>
            </a:r>
            <a:r>
              <a:rPr lang="en-US" sz="1600" b="0" dirty="0">
                <a:solidFill>
                  <a:srgbClr val="3B3B3B"/>
                </a:solidFill>
                <a:effectLst/>
                <a:latin typeface="Menlo" panose="020B0609030804020204" pitchFamily="49" charset="0"/>
              </a:rPr>
              <a:t> </a:t>
            </a:r>
            <a:r>
              <a:rPr lang="en-US" sz="1600" b="0" dirty="0">
                <a:solidFill>
                  <a:srgbClr val="267F99"/>
                </a:solidFill>
                <a:effectLst/>
                <a:latin typeface="Menlo" panose="020B0609030804020204" pitchFamily="49" charset="0"/>
              </a:rPr>
              <a:t>unknown</a:t>
            </a:r>
            <a:r>
              <a:rPr lang="en-US" sz="1600" b="0" dirty="0">
                <a:solidFill>
                  <a:srgbClr val="3B3B3B"/>
                </a:solidFill>
                <a:effectLst/>
                <a:latin typeface="Menlo" panose="020B0609030804020204" pitchFamily="49" charset="0"/>
              </a:rPr>
              <a:t> </a:t>
            </a:r>
            <a:r>
              <a:rPr lang="en-US" sz="1600" b="0" dirty="0">
                <a:solidFill>
                  <a:srgbClr val="AF00DB"/>
                </a:solidFill>
                <a:effectLst/>
                <a:latin typeface="Menlo" panose="020B0609030804020204" pitchFamily="49" charset="0"/>
              </a:rPr>
              <a:t>as</a:t>
            </a:r>
            <a:r>
              <a:rPr lang="en-US" sz="1600" b="0" dirty="0">
                <a:solidFill>
                  <a:srgbClr val="3B3B3B"/>
                </a:solidFill>
                <a:effectLst/>
                <a:latin typeface="Menlo" panose="020B0609030804020204" pitchFamily="49" charset="0"/>
              </a:rPr>
              <a:t> </a:t>
            </a:r>
            <a:r>
              <a:rPr lang="en-US" sz="1600" b="0" dirty="0">
                <a:solidFill>
                  <a:srgbClr val="267F99"/>
                </a:solidFill>
                <a:effectLst/>
                <a:latin typeface="Menlo" panose="020B0609030804020204" pitchFamily="49" charset="0"/>
              </a:rPr>
              <a:t>number</a:t>
            </a:r>
            <a:r>
              <a:rPr lang="en-US" sz="1600" b="0" dirty="0">
                <a:solidFill>
                  <a:srgbClr val="3B3B3B"/>
                </a:solidFill>
                <a:effectLst/>
                <a:latin typeface="Menlo" panose="020B0609030804020204" pitchFamily="49" charset="0"/>
              </a:rPr>
              <a:t>)</a:t>
            </a:r>
          </a:p>
          <a:p>
            <a:pPr marL="0" indent="0">
              <a:buNone/>
            </a:pPr>
            <a:endParaRPr lang="en-US" dirty="0"/>
          </a:p>
          <a:p>
            <a:r>
              <a:rPr lang="en-US" dirty="0"/>
              <a:t>They do seem to make it less likely you’ll screw up </a:t>
            </a:r>
            <a:r>
              <a:rPr lang="en-US" i="1" dirty="0"/>
              <a:t>accidentally…</a:t>
            </a:r>
            <a:endParaRPr lang="en-US" dirty="0"/>
          </a:p>
        </p:txBody>
      </p:sp>
    </p:spTree>
    <p:extLst>
      <p:ext uri="{BB962C8B-B14F-4D97-AF65-F5344CB8AC3E}">
        <p14:creationId xmlns:p14="http://schemas.microsoft.com/office/powerpoint/2010/main" val="1328486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7678-E75D-D72A-E335-A8B087B98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9018A-9F15-2F80-C8A4-C95F0D4A3CCF}"/>
              </a:ext>
            </a:extLst>
          </p:cNvPr>
          <p:cNvSpPr>
            <a:spLocks noGrp="1"/>
          </p:cNvSpPr>
          <p:nvPr>
            <p:ph type="title"/>
          </p:nvPr>
        </p:nvSpPr>
        <p:spPr/>
        <p:txBody>
          <a:bodyPr/>
          <a:lstStyle/>
          <a:p>
            <a:r>
              <a:rPr lang="en-US" dirty="0"/>
              <a:t>What Trusting Contracts Looks Like</a:t>
            </a:r>
          </a:p>
        </p:txBody>
      </p:sp>
      <p:sp>
        <p:nvSpPr>
          <p:cNvPr id="5" name="Content Placeholder 4">
            <a:extLst>
              <a:ext uri="{FF2B5EF4-FFF2-40B4-BE49-F238E27FC236}">
                <a16:creationId xmlns:a16="http://schemas.microsoft.com/office/drawing/2014/main" id="{A1DBC17E-04F1-ECEF-3F16-CA1E32B3D223}"/>
              </a:ext>
            </a:extLst>
          </p:cNvPr>
          <p:cNvSpPr>
            <a:spLocks noGrp="1"/>
          </p:cNvSpPr>
          <p:nvPr>
            <p:ph idx="1"/>
          </p:nvPr>
        </p:nvSpPr>
        <p:spPr>
          <a:xfrm>
            <a:off x="838199" y="1500159"/>
            <a:ext cx="8157519" cy="4653505"/>
          </a:xfrm>
        </p:spPr>
        <p:txBody>
          <a:bodyPr>
            <a:noAutofit/>
          </a:bodyPr>
          <a:lstStyle/>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Adds a message to a chat, updating the chat</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@param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chatId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Ostensible chat id</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@param user </a:t>
            </a: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Authenticated user </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@param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messageId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Valid message id</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@returns </a:t>
            </a: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the updated chat info object</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@throws </a:t>
            </a: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if the chat id is not valid</a:t>
            </a:r>
          </a:p>
          <a:p>
            <a:pPr marL="0" indent="0">
              <a:spcBef>
                <a:spcPts val="0"/>
              </a:spcBef>
              <a:buNone/>
            </a:pPr>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2000" dirty="0">
                <a:solidFill>
                  <a:srgbClr val="AF00DB"/>
                </a:solidFill>
                <a:latin typeface="Menlo" panose="020B0609030804020204" pitchFamily="49" charset="0"/>
              </a:rPr>
              <a:t>export</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function</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addMessageToChat</a:t>
            </a:r>
            <a:r>
              <a:rPr lang="en-US" sz="20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chatId</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string</a:t>
            </a:r>
            <a:r>
              <a:rPr lang="en-US" sz="20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user</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70C0"/>
                </a:solidFill>
                <a:latin typeface="Menlo" panose="020B0609030804020204" pitchFamily="49" charset="0"/>
                <a:ea typeface="Menlo" panose="020B0609030804020204" pitchFamily="49" charset="0"/>
                <a:cs typeface="Menlo" panose="020B0609030804020204" pitchFamily="49" charset="0"/>
              </a:rPr>
              <a:t>UserWithId</a:t>
            </a:r>
            <a:r>
              <a:rPr lang="en-US" sz="20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messageId</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string</a:t>
            </a:r>
          </a:p>
          <a:p>
            <a:pPr marL="0" indent="0">
              <a:spcBef>
                <a:spcPts val="0"/>
              </a:spcBef>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70C0"/>
                </a:solidFill>
                <a:latin typeface="Menlo" panose="020B0609030804020204" pitchFamily="49" charset="0"/>
                <a:ea typeface="Menlo" panose="020B0609030804020204" pitchFamily="49" charset="0"/>
                <a:cs typeface="Menlo" panose="020B0609030804020204" pitchFamily="49" charset="0"/>
              </a:rPr>
              <a:t>ChatInfo</a:t>
            </a:r>
            <a:r>
              <a:rPr lang="en-US" sz="2000" dirty="0">
                <a:latin typeface="Menlo" panose="020B0609030804020204" pitchFamily="49" charset="0"/>
                <a:ea typeface="Menlo" panose="020B0609030804020204" pitchFamily="49" charset="0"/>
                <a:cs typeface="Menlo" panose="020B0609030804020204" pitchFamily="49" charset="0"/>
              </a:rPr>
              <a:t> {</a:t>
            </a:r>
          </a:p>
          <a:p>
            <a:pPr marL="0" indent="0">
              <a:lnSpc>
                <a:spcPct val="110000"/>
              </a:lnSpc>
              <a:spcBef>
                <a:spcPts val="0"/>
              </a:spcBef>
              <a:buNone/>
            </a:pPr>
            <a:endParaRPr lang="en-US" sz="2000"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B0DD90AE-4FCF-BC2E-F3C1-4EFD0FC1E22D}"/>
              </a:ext>
            </a:extLst>
          </p:cNvPr>
          <p:cNvSpPr>
            <a:spLocks noGrp="1"/>
          </p:cNvSpPr>
          <p:nvPr>
            <p:ph type="sldNum" sz="quarter" idx="12"/>
          </p:nvPr>
        </p:nvSpPr>
        <p:spPr/>
        <p:txBody>
          <a:bodyPr/>
          <a:lstStyle/>
          <a:p>
            <a:fld id="{20F37917-FD3A-4669-9018-DA04BCDD3D75}" type="slidenum">
              <a:rPr lang="en-US" smtClean="0"/>
              <a:pPr/>
              <a:t>9</a:t>
            </a:fld>
            <a:endParaRPr lang="en-US"/>
          </a:p>
        </p:txBody>
      </p:sp>
      <p:sp>
        <p:nvSpPr>
          <p:cNvPr id="3" name="TextBox 2">
            <a:extLst>
              <a:ext uri="{FF2B5EF4-FFF2-40B4-BE49-F238E27FC236}">
                <a16:creationId xmlns:a16="http://schemas.microsoft.com/office/drawing/2014/main" id="{157E633B-897C-3F90-E004-3105CE2B8C7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F5129D48-C8A2-154A-F6AE-7AC539ED4FA5}"/>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133111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99D1-3EFE-CC1D-4232-46A4B4731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CDC19-47F1-62C9-F77F-A3DD8994E0CF}"/>
              </a:ext>
            </a:extLst>
          </p:cNvPr>
          <p:cNvSpPr>
            <a:spLocks noGrp="1"/>
          </p:cNvSpPr>
          <p:nvPr>
            <p:ph type="title"/>
          </p:nvPr>
        </p:nvSpPr>
        <p:spPr/>
        <p:txBody>
          <a:bodyPr/>
          <a:lstStyle/>
          <a:p>
            <a:r>
              <a:rPr lang="en-US" dirty="0"/>
              <a:t>Untrusted Inputs</a:t>
            </a:r>
          </a:p>
        </p:txBody>
      </p:sp>
      <p:sp>
        <p:nvSpPr>
          <p:cNvPr id="7" name="Content Placeholder 6">
            <a:extLst>
              <a:ext uri="{FF2B5EF4-FFF2-40B4-BE49-F238E27FC236}">
                <a16:creationId xmlns:a16="http://schemas.microsoft.com/office/drawing/2014/main" id="{B07DBF23-21C5-DE37-E827-58241A3AB489}"/>
              </a:ext>
            </a:extLst>
          </p:cNvPr>
          <p:cNvSpPr>
            <a:spLocks noGrp="1"/>
          </p:cNvSpPr>
          <p:nvPr>
            <p:ph idx="1"/>
          </p:nvPr>
        </p:nvSpPr>
        <p:spPr/>
        <p:txBody>
          <a:bodyPr>
            <a:normAutofit/>
          </a:bodyPr>
          <a:lstStyle/>
          <a:p>
            <a:pPr marL="0" indent="0">
              <a:buNone/>
            </a:pPr>
            <a:r>
              <a:rPr lang="en-US" dirty="0"/>
              <a:t>Any input given to a web app</a:t>
            </a:r>
            <a:br>
              <a:rPr lang="en-US" dirty="0"/>
            </a:br>
            <a:r>
              <a:rPr lang="en-US" dirty="0"/>
              <a:t>can also be given by other</a:t>
            </a:r>
            <a:br>
              <a:rPr lang="en-US" dirty="0"/>
            </a:br>
            <a:r>
              <a:rPr lang="en-US" dirty="0"/>
              <a:t>means…</a:t>
            </a:r>
          </a:p>
        </p:txBody>
      </p:sp>
      <p:sp>
        <p:nvSpPr>
          <p:cNvPr id="4" name="Slide Number Placeholder 3">
            <a:extLst>
              <a:ext uri="{FF2B5EF4-FFF2-40B4-BE49-F238E27FC236}">
                <a16:creationId xmlns:a16="http://schemas.microsoft.com/office/drawing/2014/main" id="{49BF43A1-E0F6-792E-915A-F1EE88354758}"/>
              </a:ext>
            </a:extLst>
          </p:cNvPr>
          <p:cNvSpPr>
            <a:spLocks noGrp="1"/>
          </p:cNvSpPr>
          <p:nvPr>
            <p:ph type="sldNum" sz="quarter" idx="12"/>
          </p:nvPr>
        </p:nvSpPr>
        <p:spPr/>
        <p:txBody>
          <a:bodyPr/>
          <a:lstStyle/>
          <a:p>
            <a:fld id="{20F37917-FD3A-4669-9018-DA04BCDD3D75}" type="slidenum">
              <a:rPr lang="en-US" smtClean="0"/>
              <a:pPr/>
              <a:t>10</a:t>
            </a:fld>
            <a:endParaRPr lang="en-US" dirty="0"/>
          </a:p>
        </p:txBody>
      </p:sp>
      <p:sp>
        <p:nvSpPr>
          <p:cNvPr id="3" name="TextBox 2">
            <a:extLst>
              <a:ext uri="{FF2B5EF4-FFF2-40B4-BE49-F238E27FC236}">
                <a16:creationId xmlns:a16="http://schemas.microsoft.com/office/drawing/2014/main" id="{26933C7F-EDFD-7B22-60C3-822A5D294ED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1A5354DA-E2DB-A31F-8480-DB5EC910D95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8" name="Picture 7">
            <a:extLst>
              <a:ext uri="{FF2B5EF4-FFF2-40B4-BE49-F238E27FC236}">
                <a16:creationId xmlns:a16="http://schemas.microsoft.com/office/drawing/2014/main" id="{A27C73C2-A36E-1690-B592-29A0DCEE9962}"/>
              </a:ext>
            </a:extLst>
          </p:cNvPr>
          <p:cNvPicPr>
            <a:picLocks noChangeAspect="1"/>
          </p:cNvPicPr>
          <p:nvPr/>
        </p:nvPicPr>
        <p:blipFill>
          <a:blip r:embed="rId3"/>
          <a:stretch>
            <a:fillRect/>
          </a:stretch>
        </p:blipFill>
        <p:spPr>
          <a:xfrm>
            <a:off x="2623477" y="2533505"/>
            <a:ext cx="3130123" cy="3096705"/>
          </a:xfrm>
          <a:prstGeom prst="rect">
            <a:avLst/>
          </a:prstGeom>
        </p:spPr>
        <p:style>
          <a:lnRef idx="2">
            <a:schemeClr val="accent2">
              <a:shade val="15000"/>
            </a:schemeClr>
          </a:lnRef>
          <a:fillRef idx="1">
            <a:schemeClr val="accent2"/>
          </a:fillRef>
          <a:effectRef idx="0">
            <a:schemeClr val="accent2"/>
          </a:effectRef>
          <a:fontRef idx="minor">
            <a:schemeClr val="lt1"/>
          </a:fontRef>
        </p:style>
      </p:pic>
      <p:sp>
        <p:nvSpPr>
          <p:cNvPr id="9" name="TextBox 8">
            <a:extLst>
              <a:ext uri="{FF2B5EF4-FFF2-40B4-BE49-F238E27FC236}">
                <a16:creationId xmlns:a16="http://schemas.microsoft.com/office/drawing/2014/main" id="{05900EFC-DE70-FBE8-2791-FB2B07B74AEB}"/>
              </a:ext>
            </a:extLst>
          </p:cNvPr>
          <p:cNvSpPr txBox="1"/>
          <p:nvPr/>
        </p:nvSpPr>
        <p:spPr>
          <a:xfrm>
            <a:off x="354676" y="5630210"/>
            <a:ext cx="11482647" cy="8311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curl https://</a:t>
            </a:r>
            <a:r>
              <a:rPr lang="en-US" dirty="0" err="1">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strategy.town</a:t>
            </a:r>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api</a:t>
            </a:r>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/user/signup -H 'Content-Type: application/</a:t>
            </a:r>
            <a:r>
              <a:rPr lang="en-US" dirty="0" err="1">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json</a:t>
            </a:r>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 \</a:t>
            </a:r>
          </a:p>
          <a:p>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  --data '{ "username": "</a:t>
            </a:r>
            <a:r>
              <a:rPr lang="en-US" dirty="0" err="1">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trugamer</a:t>
            </a:r>
            <a:r>
              <a:rPr lang="en-US" dirty="0">
                <a:solidFill>
                  <a:schemeClr val="accent2">
                    <a:lumMod val="50000"/>
                  </a:schemeClr>
                </a:solidFill>
                <a:latin typeface="Menlo" panose="020B0609030804020204" pitchFamily="49" charset="0"/>
                <a:ea typeface="Menlo" panose="020B0609030804020204" pitchFamily="49" charset="0"/>
                <a:cs typeface="Menlo" panose="020B0609030804020204" pitchFamily="49" charset="0"/>
              </a:rPr>
              <a:t>", "password": "Hunter2" }'</a:t>
            </a:r>
          </a:p>
        </p:txBody>
      </p:sp>
      <p:pic>
        <p:nvPicPr>
          <p:cNvPr id="10" name="Picture 9">
            <a:extLst>
              <a:ext uri="{FF2B5EF4-FFF2-40B4-BE49-F238E27FC236}">
                <a16:creationId xmlns:a16="http://schemas.microsoft.com/office/drawing/2014/main" id="{4020EB59-7465-48E2-D307-42A460E296D6}"/>
              </a:ext>
            </a:extLst>
          </p:cNvPr>
          <p:cNvPicPr>
            <a:picLocks noChangeAspect="1"/>
          </p:cNvPicPr>
          <p:nvPr/>
        </p:nvPicPr>
        <p:blipFill>
          <a:blip r:embed="rId4"/>
          <a:stretch>
            <a:fillRect/>
          </a:stretch>
        </p:blipFill>
        <p:spPr>
          <a:xfrm>
            <a:off x="5753600" y="1505653"/>
            <a:ext cx="6083723" cy="4124557"/>
          </a:xfrm>
          <a:prstGeom prst="rect">
            <a:avLst/>
          </a:prstGeom>
          <a:ln>
            <a:solidFill>
              <a:schemeClr val="accent1"/>
            </a:solidFill>
          </a:ln>
        </p:spPr>
      </p:pic>
      <p:sp>
        <p:nvSpPr>
          <p:cNvPr id="12" name="TextBox 11">
            <a:extLst>
              <a:ext uri="{FF2B5EF4-FFF2-40B4-BE49-F238E27FC236}">
                <a16:creationId xmlns:a16="http://schemas.microsoft.com/office/drawing/2014/main" id="{AF846D40-6CA3-FF19-8447-AC098381090C}"/>
              </a:ext>
            </a:extLst>
          </p:cNvPr>
          <p:cNvSpPr txBox="1"/>
          <p:nvPr/>
        </p:nvSpPr>
        <p:spPr>
          <a:xfrm>
            <a:off x="1841157" y="200179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TextBox 12">
            <a:extLst>
              <a:ext uri="{FF2B5EF4-FFF2-40B4-BE49-F238E27FC236}">
                <a16:creationId xmlns:a16="http://schemas.microsoft.com/office/drawing/2014/main" id="{A6AAFFBB-2531-3239-1536-926BA1CE3E55}"/>
              </a:ext>
            </a:extLst>
          </p:cNvPr>
          <p:cNvSpPr txBox="1"/>
          <p:nvPr/>
        </p:nvSpPr>
        <p:spPr>
          <a:xfrm>
            <a:off x="3524865" y="1828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56925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4F2E-07F2-D81B-66BA-BB4EF1E92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41892-B670-C220-0AC5-0F82ECC89AAE}"/>
              </a:ext>
            </a:extLst>
          </p:cNvPr>
          <p:cNvSpPr>
            <a:spLocks noGrp="1"/>
          </p:cNvSpPr>
          <p:nvPr>
            <p:ph type="title"/>
          </p:nvPr>
        </p:nvSpPr>
        <p:spPr/>
        <p:txBody>
          <a:bodyPr/>
          <a:lstStyle/>
          <a:p>
            <a:r>
              <a:rPr lang="en-US" dirty="0"/>
              <a:t>Untrusted Inputs should be </a:t>
            </a:r>
            <a:r>
              <a:rPr lang="en-US" dirty="0">
                <a:solidFill>
                  <a:srgbClr val="FF0000"/>
                </a:solidFill>
                <a:latin typeface="Menlo" panose="020B0609030804020204" pitchFamily="49" charset="0"/>
                <a:ea typeface="Menlo" panose="020B0609030804020204" pitchFamily="49" charset="0"/>
                <a:cs typeface="Menlo" panose="020B0609030804020204" pitchFamily="49" charset="0"/>
              </a:rPr>
              <a:t>unknown</a:t>
            </a:r>
          </a:p>
        </p:txBody>
      </p:sp>
      <p:sp>
        <p:nvSpPr>
          <p:cNvPr id="4" name="Slide Number Placeholder 3">
            <a:extLst>
              <a:ext uri="{FF2B5EF4-FFF2-40B4-BE49-F238E27FC236}">
                <a16:creationId xmlns:a16="http://schemas.microsoft.com/office/drawing/2014/main" id="{789D95B4-F24B-7C04-70AB-3D4867516548}"/>
              </a:ext>
            </a:extLst>
          </p:cNvPr>
          <p:cNvSpPr>
            <a:spLocks noGrp="1"/>
          </p:cNvSpPr>
          <p:nvPr>
            <p:ph type="sldNum" sz="quarter" idx="12"/>
          </p:nvPr>
        </p:nvSpPr>
        <p:spPr/>
        <p:txBody>
          <a:bodyPr/>
          <a:lstStyle/>
          <a:p>
            <a:fld id="{20F37917-FD3A-4669-9018-DA04BCDD3D75}" type="slidenum">
              <a:rPr lang="en-US" smtClean="0"/>
              <a:pPr/>
              <a:t>11</a:t>
            </a:fld>
            <a:endParaRPr lang="en-US" dirty="0"/>
          </a:p>
        </p:txBody>
      </p:sp>
      <p:sp>
        <p:nvSpPr>
          <p:cNvPr id="3" name="TextBox 2">
            <a:extLst>
              <a:ext uri="{FF2B5EF4-FFF2-40B4-BE49-F238E27FC236}">
                <a16:creationId xmlns:a16="http://schemas.microsoft.com/office/drawing/2014/main" id="{CAB67779-0FD8-1EDF-670B-3D3FBE19B5F4}"/>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24032205-46D0-6F87-1E21-A5DECCF9C4C9}"/>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Content Placeholder 5">
            <a:extLst>
              <a:ext uri="{FF2B5EF4-FFF2-40B4-BE49-F238E27FC236}">
                <a16:creationId xmlns:a16="http://schemas.microsoft.com/office/drawing/2014/main" id="{45FD9428-A4EC-DE5B-666A-02FAA3D7F1C8}"/>
              </a:ext>
            </a:extLst>
          </p:cNvPr>
          <p:cNvSpPr>
            <a:spLocks noGrp="1"/>
          </p:cNvSpPr>
          <p:nvPr>
            <p:ph idx="1"/>
          </p:nvPr>
        </p:nvSpPr>
        <p:spPr>
          <a:xfrm>
            <a:off x="838199" y="1500160"/>
            <a:ext cx="10515599" cy="4856190"/>
          </a:xfrm>
        </p:spPr>
        <p:txBody>
          <a:bodyPr>
            <a:normAutofit lnSpcReduction="10000"/>
          </a:bodyPr>
          <a:lstStyle/>
          <a:p>
            <a:r>
              <a:rPr lang="en-US" dirty="0"/>
              <a:t>The appropriate TypeScript type for an unknown value is </a:t>
            </a:r>
            <a:r>
              <a:rPr lang="en-US" dirty="0">
                <a:latin typeface="Menlo" panose="020B0609030804020204" pitchFamily="49" charset="0"/>
                <a:ea typeface="Menlo" panose="020B0609030804020204" pitchFamily="49" charset="0"/>
                <a:cs typeface="Menlo" panose="020B0609030804020204" pitchFamily="49" charset="0"/>
              </a:rPr>
              <a:t>unknown</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pPr marL="0" indent="0">
              <a:buNone/>
            </a:pP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function</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lookAtMe</a:t>
            </a:r>
            <a:r>
              <a:rPr lang="en-US" sz="2000" dirty="0">
                <a:latin typeface="Menlo" panose="020B0609030804020204" pitchFamily="49" charset="0"/>
                <a:ea typeface="Menlo" panose="020B0609030804020204" pitchFamily="49" charset="0"/>
                <a:cs typeface="Menlo" panose="020B0609030804020204" pitchFamily="49" charset="0"/>
              </a:rPr>
              <a:t>(</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input</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unknown</a:t>
            </a:r>
            <a:r>
              <a:rPr lang="en-US" sz="2000"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latin typeface="Menlo" panose="020B0609030804020204" pitchFamily="49" charset="0"/>
                <a:ea typeface="Menlo" panose="020B0609030804020204" pitchFamily="49" charset="0"/>
                <a:cs typeface="Menlo" panose="020B0609030804020204" pitchFamily="49" charset="0"/>
              </a:rPr>
              <a:t>console.log</a:t>
            </a:r>
            <a:r>
              <a:rPr lang="en-US" sz="2000" dirty="0">
                <a:latin typeface="Menlo" panose="020B0609030804020204" pitchFamily="49" charset="0"/>
                <a:ea typeface="Menlo" panose="020B0609030804020204" pitchFamily="49" charset="0"/>
                <a:cs typeface="Menlo" panose="020B0609030804020204" pitchFamily="49" charset="0"/>
              </a:rPr>
              <a:t>(</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input</a:t>
            </a:r>
            <a:r>
              <a:rPr lang="en-US" sz="2000" dirty="0" err="1">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toUpperCase</a:t>
            </a:r>
            <a:r>
              <a:rPr lang="en-US" sz="2000" dirty="0">
                <a:latin typeface="Menlo" panose="020B0609030804020204" pitchFamily="49" charset="0"/>
                <a:ea typeface="Menlo" panose="020B0609030804020204" pitchFamily="49" charset="0"/>
                <a:cs typeface="Menlo" panose="020B0609030804020204" pitchFamily="49" charset="0"/>
              </a:rPr>
              <a:t>());</a:t>
            </a:r>
          </a:p>
          <a:p>
            <a:pPr marL="0" indent="0">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AF00DB"/>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AF00DB"/>
                </a:solidFill>
                <a:latin typeface="Menlo" panose="020B0609030804020204" pitchFamily="49" charset="0"/>
              </a:rPr>
              <a:t>if</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input </a:t>
            </a: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"string"</a:t>
            </a:r>
            <a:r>
              <a:rPr lang="en-US" sz="2000"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US" sz="2000" dirty="0">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console</a:t>
            </a:r>
            <a:r>
              <a:rPr lang="en-US" sz="2000" dirty="0" err="1">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log</a:t>
            </a:r>
            <a:r>
              <a:rPr lang="en-US" sz="2000" dirty="0">
                <a:latin typeface="Menlo" panose="020B0609030804020204" pitchFamily="49" charset="0"/>
                <a:ea typeface="Menlo" panose="020B0609030804020204" pitchFamily="49" charset="0"/>
                <a:cs typeface="Menlo" panose="020B0609030804020204" pitchFamily="49" charset="0"/>
              </a:rPr>
              <a:t>(</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input</a:t>
            </a:r>
            <a:r>
              <a:rPr lang="en-US" sz="2000" dirty="0" err="1">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toUpperCase</a:t>
            </a:r>
            <a:r>
              <a:rPr lang="en-US" sz="2000" dirty="0">
                <a:latin typeface="Menlo" panose="020B0609030804020204" pitchFamily="49" charset="0"/>
                <a:ea typeface="Menlo" panose="020B0609030804020204" pitchFamily="49" charset="0"/>
                <a:cs typeface="Menlo" panose="020B0609030804020204" pitchFamily="49" charset="0"/>
              </a:rPr>
              <a:t>());</a:t>
            </a:r>
          </a:p>
          <a:p>
            <a:pPr marL="0" indent="0">
              <a:buNone/>
            </a:pPr>
            <a:r>
              <a:rPr lang="en-US" sz="2000"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US" sz="2000" dirty="0">
                <a:latin typeface="Menlo" panose="020B0609030804020204" pitchFamily="49" charset="0"/>
                <a:ea typeface="Menlo" panose="020B0609030804020204" pitchFamily="49" charset="0"/>
                <a:cs typeface="Menlo" panose="020B0609030804020204" pitchFamily="49" charset="0"/>
              </a:rPr>
              <a:t>}</a:t>
            </a:r>
            <a:br>
              <a:rPr lang="en-US" sz="2100" dirty="0">
                <a:latin typeface="Menlo" panose="020B0609030804020204" pitchFamily="49" charset="0"/>
                <a:ea typeface="Menlo" panose="020B0609030804020204" pitchFamily="49" charset="0"/>
                <a:cs typeface="Menlo" panose="020B0609030804020204" pitchFamily="49" charset="0"/>
              </a:rPr>
            </a:br>
            <a:endParaRPr lang="en-US" sz="2100" dirty="0">
              <a:latin typeface="Menlo" panose="020B0609030804020204" pitchFamily="49" charset="0"/>
              <a:ea typeface="Menlo" panose="020B0609030804020204" pitchFamily="49" charset="0"/>
              <a:cs typeface="Menlo" panose="020B0609030804020204" pitchFamily="49" charset="0"/>
            </a:endParaRPr>
          </a:p>
          <a:p>
            <a:r>
              <a:rPr lang="en-US" dirty="0">
                <a:latin typeface="Calibri" panose="020F0502020204030204" pitchFamily="34" charset="0"/>
                <a:ea typeface="Menlo" panose="020B0609030804020204" pitchFamily="49" charset="0"/>
                <a:cs typeface="Calibri" panose="020F0502020204030204" pitchFamily="34" charset="0"/>
              </a:rPr>
              <a:t>If you use the </a:t>
            </a:r>
            <a:r>
              <a:rPr lang="en-US" dirty="0">
                <a:solidFill>
                  <a:srgbClr val="FF0000"/>
                </a:solidFill>
                <a:latin typeface="Menlo" panose="020B0609030804020204" pitchFamily="49" charset="0"/>
                <a:ea typeface="Menlo" panose="020B0609030804020204" pitchFamily="49" charset="0"/>
                <a:cs typeface="Menlo" panose="020B0609030804020204" pitchFamily="49" charset="0"/>
              </a:rPr>
              <a:t>any</a:t>
            </a:r>
            <a:r>
              <a:rPr lang="en-US" dirty="0">
                <a:latin typeface="Calibri" panose="020F0502020204030204" pitchFamily="34" charset="0"/>
                <a:ea typeface="Menlo" panose="020B0609030804020204" pitchFamily="49" charset="0"/>
                <a:cs typeface="Calibri" panose="020F0502020204030204" pitchFamily="34" charset="0"/>
              </a:rPr>
              <a:t> type instead, TypeScript will just say “ok, I guess you know what you’re doing”</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11" name="AutoShape 9">
            <a:extLst>
              <a:ext uri="{FF2B5EF4-FFF2-40B4-BE49-F238E27FC236}">
                <a16:creationId xmlns:a16="http://schemas.microsoft.com/office/drawing/2014/main" id="{AB28CA65-9D21-D22A-CFE2-BC1D530FA211}"/>
              </a:ext>
            </a:extLst>
          </p:cNvPr>
          <p:cNvSpPr>
            <a:spLocks/>
          </p:cNvSpPr>
          <p:nvPr/>
        </p:nvSpPr>
        <p:spPr bwMode="auto">
          <a:xfrm>
            <a:off x="8043888" y="230118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TypeScript error here!</a:t>
            </a:r>
          </a:p>
        </p:txBody>
      </p:sp>
      <p:cxnSp>
        <p:nvCxnSpPr>
          <p:cNvPr id="15" name="Straight Arrow Connector 14">
            <a:extLst>
              <a:ext uri="{FF2B5EF4-FFF2-40B4-BE49-F238E27FC236}">
                <a16:creationId xmlns:a16="http://schemas.microsoft.com/office/drawing/2014/main" id="{8254D0C4-B77E-A70A-08B5-496BD696E952}"/>
              </a:ext>
            </a:extLst>
          </p:cNvPr>
          <p:cNvCxnSpPr>
            <a:cxnSpLocks/>
            <a:stCxn id="11" idx="1"/>
          </p:cNvCxnSpPr>
          <p:nvPr/>
        </p:nvCxnSpPr>
        <p:spPr>
          <a:xfrm flipH="1">
            <a:off x="6341806" y="2731812"/>
            <a:ext cx="1702082" cy="26211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A6B0B8-7851-E694-4E67-ADC772252335}"/>
              </a:ext>
            </a:extLst>
          </p:cNvPr>
          <p:cNvCxnSpPr>
            <a:cxnSpLocks/>
          </p:cNvCxnSpPr>
          <p:nvPr/>
        </p:nvCxnSpPr>
        <p:spPr>
          <a:xfrm flipH="1" flipV="1">
            <a:off x="6341806" y="3928255"/>
            <a:ext cx="1623423" cy="1748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9">
            <a:extLst>
              <a:ext uri="{FF2B5EF4-FFF2-40B4-BE49-F238E27FC236}">
                <a16:creationId xmlns:a16="http://schemas.microsoft.com/office/drawing/2014/main" id="{40F315DA-B79C-C615-3DE7-EC73AF2C91A4}"/>
              </a:ext>
            </a:extLst>
          </p:cNvPr>
          <p:cNvSpPr>
            <a:spLocks/>
          </p:cNvSpPr>
          <p:nvPr/>
        </p:nvSpPr>
        <p:spPr bwMode="auto">
          <a:xfrm>
            <a:off x="7894753" y="3695566"/>
            <a:ext cx="1697166" cy="948286"/>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it’s ok here!</a:t>
            </a:r>
            <a:endParaRPr lang="en-US" altLang="en-US" sz="2400" i="1"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spTree>
    <p:extLst>
      <p:ext uri="{BB962C8B-B14F-4D97-AF65-F5344CB8AC3E}">
        <p14:creationId xmlns:p14="http://schemas.microsoft.com/office/powerpoint/2010/main" val="196026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8F090-0895-49D9-2431-9ABA97330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84536-288B-181C-8012-F26F25F6CB2F}"/>
              </a:ext>
            </a:extLst>
          </p:cNvPr>
          <p:cNvSpPr>
            <a:spLocks noGrp="1"/>
          </p:cNvSpPr>
          <p:nvPr>
            <p:ph type="title"/>
          </p:nvPr>
        </p:nvSpPr>
        <p:spPr/>
        <p:txBody>
          <a:bodyPr/>
          <a:lstStyle/>
          <a:p>
            <a:r>
              <a:rPr lang="en-US" dirty="0"/>
              <a:t>Untrusted Inputs Should be “</a:t>
            </a:r>
            <a:r>
              <a:rPr lang="en-US" dirty="0">
                <a:latin typeface="Menlo" panose="020B0609030804020204" pitchFamily="49" charset="0"/>
                <a:ea typeface="Menlo" panose="020B0609030804020204" pitchFamily="49" charset="0"/>
                <a:cs typeface="Menlo" panose="020B0609030804020204" pitchFamily="49" charset="0"/>
              </a:rPr>
              <a:t>unknown”</a:t>
            </a:r>
            <a:endParaRPr lang="en-US" dirty="0"/>
          </a:p>
        </p:txBody>
      </p:sp>
      <p:sp>
        <p:nvSpPr>
          <p:cNvPr id="5" name="Content Placeholder 4">
            <a:extLst>
              <a:ext uri="{FF2B5EF4-FFF2-40B4-BE49-F238E27FC236}">
                <a16:creationId xmlns:a16="http://schemas.microsoft.com/office/drawing/2014/main" id="{49E07EEE-FB1E-20BA-06E3-3771093ABBDF}"/>
              </a:ext>
            </a:extLst>
          </p:cNvPr>
          <p:cNvSpPr>
            <a:spLocks noGrp="1"/>
          </p:cNvSpPr>
          <p:nvPr>
            <p:ph idx="1"/>
          </p:nvPr>
        </p:nvSpPr>
        <p:spPr/>
        <p:txBody>
          <a:bodyPr/>
          <a:lstStyle/>
          <a:p>
            <a:pPr marL="0" indent="0">
              <a:buNone/>
            </a:pPr>
            <a:r>
              <a:rPr lang="en-US" dirty="0"/>
              <a:t>This can get complicated fast…</a:t>
            </a:r>
          </a:p>
        </p:txBody>
      </p:sp>
      <p:sp>
        <p:nvSpPr>
          <p:cNvPr id="4" name="Slide Number Placeholder 3">
            <a:extLst>
              <a:ext uri="{FF2B5EF4-FFF2-40B4-BE49-F238E27FC236}">
                <a16:creationId xmlns:a16="http://schemas.microsoft.com/office/drawing/2014/main" id="{8E5AF579-B008-6D6E-98BF-0D376A02FC39}"/>
              </a:ext>
            </a:extLst>
          </p:cNvPr>
          <p:cNvSpPr>
            <a:spLocks noGrp="1"/>
          </p:cNvSpPr>
          <p:nvPr>
            <p:ph type="sldNum" sz="quarter" idx="12"/>
          </p:nvPr>
        </p:nvSpPr>
        <p:spPr/>
        <p:txBody>
          <a:bodyPr/>
          <a:lstStyle/>
          <a:p>
            <a:fld id="{20F37917-FD3A-4669-9018-DA04BCDD3D75}" type="slidenum">
              <a:rPr lang="en-US" smtClean="0"/>
              <a:pPr/>
              <a:t>12</a:t>
            </a:fld>
            <a:endParaRPr lang="en-US"/>
          </a:p>
        </p:txBody>
      </p:sp>
      <p:sp>
        <p:nvSpPr>
          <p:cNvPr id="6" name="TextBox 5">
            <a:extLst>
              <a:ext uri="{FF2B5EF4-FFF2-40B4-BE49-F238E27FC236}">
                <a16:creationId xmlns:a16="http://schemas.microsoft.com/office/drawing/2014/main" id="{A2E5CDC5-E826-1286-F372-5AA31B5541BB}"/>
              </a:ext>
            </a:extLst>
          </p:cNvPr>
          <p:cNvSpPr txBox="1"/>
          <p:nvPr/>
        </p:nvSpPr>
        <p:spPr>
          <a:xfrm>
            <a:off x="744069" y="2501474"/>
            <a:ext cx="11354146" cy="474739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dirty="0">
                <a:solidFill>
                  <a:srgbClr val="002060"/>
                </a:solidFill>
                <a:latin typeface="Menlo" panose="020B0609030804020204" pitchFamily="49" charset="0"/>
              </a:rPr>
              <a:t>type</a:t>
            </a:r>
            <a:r>
              <a:rPr lang="en-US" sz="2000" dirty="0">
                <a:solidFill>
                  <a:srgbClr val="0000FF"/>
                </a:solidFill>
                <a:latin typeface="Menlo" panose="020B0609030804020204" pitchFamily="49" charset="0"/>
              </a:rPr>
              <a:t> </a:t>
            </a:r>
            <a:r>
              <a:rPr lang="en-US" sz="2000" dirty="0">
                <a:solidFill>
                  <a:srgbClr val="0070C0"/>
                </a:solidFill>
                <a:latin typeface="Menlo" panose="020B0609030804020204" pitchFamily="49" charset="0"/>
              </a:rPr>
              <a:t>Auth</a:t>
            </a:r>
            <a:r>
              <a:rPr lang="en-US" sz="2000" dirty="0">
                <a:solidFill>
                  <a:srgbClr val="795E26"/>
                </a:solidFill>
                <a:latin typeface="Menlo" panose="020B0609030804020204" pitchFamily="49" charset="0"/>
              </a:rPr>
              <a:t> </a:t>
            </a:r>
            <a:r>
              <a:rPr lang="en-US" sz="2000" dirty="0">
                <a:solidFill>
                  <a:schemeClr val="tx1"/>
                </a:solidFill>
                <a:latin typeface="Menlo" panose="020B0609030804020204" pitchFamily="49" charset="0"/>
              </a:rPr>
              <a:t>= { username: </a:t>
            </a:r>
            <a:r>
              <a:rPr lang="en-US" sz="2000" dirty="0">
                <a:solidFill>
                  <a:schemeClr val="accent5">
                    <a:lumMod val="50000"/>
                  </a:schemeClr>
                </a:solidFill>
                <a:latin typeface="Menlo" panose="020B0609030804020204" pitchFamily="49" charset="0"/>
              </a:rPr>
              <a:t>string</a:t>
            </a:r>
            <a:r>
              <a:rPr lang="en-US" sz="2000" dirty="0">
                <a:solidFill>
                  <a:schemeClr val="tx1"/>
                </a:solidFill>
                <a:latin typeface="Menlo" panose="020B0609030804020204" pitchFamily="49" charset="0"/>
              </a:rPr>
              <a:t>, password: </a:t>
            </a:r>
            <a:r>
              <a:rPr lang="en-US" sz="2000" dirty="0">
                <a:solidFill>
                  <a:schemeClr val="accent5">
                    <a:lumMod val="50000"/>
                  </a:schemeClr>
                </a:solidFill>
                <a:latin typeface="Menlo" panose="020B0609030804020204" pitchFamily="49" charset="0"/>
              </a:rPr>
              <a:t>string</a:t>
            </a:r>
            <a:r>
              <a:rPr lang="en-US" sz="2000" dirty="0">
                <a:solidFill>
                  <a:schemeClr val="tx1"/>
                </a:solidFill>
                <a:latin typeface="Menlo" panose="020B0609030804020204" pitchFamily="49" charset="0"/>
              </a:rPr>
              <a:t> }</a:t>
            </a:r>
            <a:endParaRPr lang="en-US" sz="2000" b="0" dirty="0">
              <a:solidFill>
                <a:schemeClr val="tx1"/>
              </a:solidFill>
              <a:effectLst/>
              <a:latin typeface="Menlo" panose="020B0609030804020204" pitchFamily="49" charset="0"/>
            </a:endParaRPr>
          </a:p>
          <a:p>
            <a:pPr>
              <a:lnSpc>
                <a:spcPct val="110000"/>
              </a:lnSpc>
              <a:buNone/>
            </a:pPr>
            <a:endParaRPr lang="en-US" sz="2000" b="0" dirty="0">
              <a:solidFill>
                <a:schemeClr val="tx1"/>
              </a:solidFill>
              <a:effectLst/>
              <a:latin typeface="Menlo" panose="020B0609030804020204" pitchFamily="49" charset="0"/>
              <a:ea typeface="Menlo" panose="020B0609030804020204" pitchFamily="49" charset="0"/>
              <a:cs typeface="Menlo" panose="020B0609030804020204" pitchFamily="49" charset="0"/>
            </a:endParaRPr>
          </a:p>
          <a:p>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function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x</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unknown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if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'object'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x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null</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&amp;&amp;</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in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x.username</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&amp;&amp;</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'password'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in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x.password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const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password</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x.password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write the code you care about here!</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pPr>
              <a:lnSpc>
                <a:spcPct val="110000"/>
              </a:lnSpc>
            </a:pPr>
            <a:endParaRPr lang="en-US" b="0" dirty="0">
              <a:solidFill>
                <a:srgbClr val="3B3B3B"/>
              </a:solidFill>
              <a:effectLst/>
              <a:latin typeface="Menlo" panose="020B0609030804020204" pitchFamily="49" charset="0"/>
            </a:endParaRPr>
          </a:p>
        </p:txBody>
      </p:sp>
      <p:sp>
        <p:nvSpPr>
          <p:cNvPr id="3" name="TextBox 2">
            <a:extLst>
              <a:ext uri="{FF2B5EF4-FFF2-40B4-BE49-F238E27FC236}">
                <a16:creationId xmlns:a16="http://schemas.microsoft.com/office/drawing/2014/main" id="{44ABBD34-51F2-BCB0-3D1B-EBCE2F58A959}"/>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32F5209A-94C8-F0EB-DC68-4788D4ECEAF6}"/>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778937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6231A-34C9-209A-BC1A-53AE6CF5D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4A8D1-432E-E65D-05C7-871F056B1146}"/>
              </a:ext>
            </a:extLst>
          </p:cNvPr>
          <p:cNvSpPr>
            <a:spLocks noGrp="1"/>
          </p:cNvSpPr>
          <p:nvPr>
            <p:ph type="title"/>
          </p:nvPr>
        </p:nvSpPr>
        <p:spPr>
          <a:xfrm>
            <a:off x="838200" y="18255"/>
            <a:ext cx="10515600" cy="1325563"/>
          </a:xfrm>
        </p:spPr>
        <p:txBody>
          <a:bodyPr/>
          <a:lstStyle/>
          <a:p>
            <a:r>
              <a:rPr lang="en-US" dirty="0"/>
              <a:t>Libraries Make Checking Types Easier</a:t>
            </a:r>
          </a:p>
        </p:txBody>
      </p:sp>
      <p:sp>
        <p:nvSpPr>
          <p:cNvPr id="4" name="Slide Number Placeholder 3">
            <a:extLst>
              <a:ext uri="{FF2B5EF4-FFF2-40B4-BE49-F238E27FC236}">
                <a16:creationId xmlns:a16="http://schemas.microsoft.com/office/drawing/2014/main" id="{9394747E-E436-62C9-8F94-58A9BB24680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13</a:t>
            </a:fld>
            <a:endParaRPr lang="en-US"/>
          </a:p>
        </p:txBody>
      </p:sp>
      <p:sp>
        <p:nvSpPr>
          <p:cNvPr id="5" name="Content Placeholder 4">
            <a:extLst>
              <a:ext uri="{FF2B5EF4-FFF2-40B4-BE49-F238E27FC236}">
                <a16:creationId xmlns:a16="http://schemas.microsoft.com/office/drawing/2014/main" id="{58CDFBA0-AD38-CEBC-6D8D-0FD6CB79A672}"/>
              </a:ext>
            </a:extLst>
          </p:cNvPr>
          <p:cNvSpPr>
            <a:spLocks noGrp="1"/>
          </p:cNvSpPr>
          <p:nvPr>
            <p:ph idx="1"/>
          </p:nvPr>
        </p:nvSpPr>
        <p:spPr>
          <a:xfrm>
            <a:off x="838200" y="1500160"/>
            <a:ext cx="7887346" cy="1001314"/>
          </a:xfrm>
        </p:spPr>
        <p:txBody>
          <a:bodyPr>
            <a:normAutofit/>
          </a:bodyPr>
          <a:lstStyle/>
          <a:p>
            <a:pPr marL="0" indent="0">
              <a:buNone/>
            </a:pPr>
            <a:r>
              <a:rPr lang="en-US" i="1" dirty="0"/>
              <a:t>Zod</a:t>
            </a:r>
            <a:r>
              <a:rPr lang="en-US" dirty="0"/>
              <a:t> is a library that makes testing the structure of inputs less tedious and error-prone.</a:t>
            </a:r>
          </a:p>
        </p:txBody>
      </p:sp>
      <p:sp>
        <p:nvSpPr>
          <p:cNvPr id="6" name="TextBox 5">
            <a:extLst>
              <a:ext uri="{FF2B5EF4-FFF2-40B4-BE49-F238E27FC236}">
                <a16:creationId xmlns:a16="http://schemas.microsoft.com/office/drawing/2014/main" id="{A14025D7-3318-3D14-3892-FF116EEA0A8E}"/>
              </a:ext>
            </a:extLst>
          </p:cNvPr>
          <p:cNvSpPr txBox="1"/>
          <p:nvPr/>
        </p:nvSpPr>
        <p:spPr>
          <a:xfrm>
            <a:off x="744069" y="2755351"/>
            <a:ext cx="11354146" cy="41018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000" dirty="0">
                <a:solidFill>
                  <a:srgbClr val="AF00DB"/>
                </a:solidFill>
                <a:latin typeface="Menlo" panose="020B0609030804020204" pitchFamily="49" charset="0"/>
              </a:rPr>
              <a:t>import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z } </a:t>
            </a:r>
            <a:r>
              <a:rPr lang="en-US" sz="2000" dirty="0">
                <a:solidFill>
                  <a:srgbClr val="AF00DB"/>
                </a:solidFill>
                <a:latin typeface="Menlo" panose="020B0609030804020204" pitchFamily="49" charset="0"/>
              </a:rPr>
              <a:t>from</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zod</a:t>
            </a:r>
            <a:r>
              <a:rPr lang="en-US" sz="20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const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zAuth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z.</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object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username: </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z.</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password: </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z.</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type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z</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infer</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&lt;</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zAuth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&gt;;</a:t>
            </a:r>
          </a:p>
          <a:p>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success: false }</a:t>
            </a:r>
          </a:p>
          <a:p>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console.log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zAuth</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safeParse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username: 4, password: null }))</a:t>
            </a:r>
          </a:p>
          <a:p>
            <a:r>
              <a:rPr lang="en-US" sz="2000"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success: true, data: { username: "", password: "" } }</a:t>
            </a:r>
          </a:p>
          <a:p>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console.log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5">
                    <a:lumMod val="75000"/>
                  </a:schemeClr>
                </a:solidFill>
                <a:latin typeface="Menlo" panose="020B0609030804020204" pitchFamily="49" charset="0"/>
                <a:ea typeface="Menlo" panose="020B0609030804020204" pitchFamily="49" charset="0"/>
                <a:cs typeface="Menlo" panose="020B0609030804020204" pitchFamily="49" charset="0"/>
              </a:rPr>
              <a:t>zAuth</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safeParse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username: "", password: "" })) </a:t>
            </a:r>
          </a:p>
          <a:p>
            <a:pPr>
              <a:lnSpc>
                <a:spcPct val="110000"/>
              </a:lnSpc>
            </a:pPr>
            <a:endParaRPr lang="en-US" sz="2000" b="0" dirty="0">
              <a:solidFill>
                <a:srgbClr val="3B3B3B"/>
              </a:solidFill>
              <a:effectLst/>
              <a:latin typeface="Menlo" panose="020B0609030804020204" pitchFamily="49" charset="0"/>
            </a:endParaRPr>
          </a:p>
        </p:txBody>
      </p:sp>
      <p:sp>
        <p:nvSpPr>
          <p:cNvPr id="3" name="TextBox 2">
            <a:extLst>
              <a:ext uri="{FF2B5EF4-FFF2-40B4-BE49-F238E27FC236}">
                <a16:creationId xmlns:a16="http://schemas.microsoft.com/office/drawing/2014/main" id="{485AB0D8-371E-71DD-F09E-114D34A6C11D}"/>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94A18262-B510-B75A-5395-24208D918ECB}"/>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AutoShape 9">
            <a:extLst>
              <a:ext uri="{FF2B5EF4-FFF2-40B4-BE49-F238E27FC236}">
                <a16:creationId xmlns:a16="http://schemas.microsoft.com/office/drawing/2014/main" id="{874C090F-8ACA-361F-4622-1A018C2594C9}"/>
              </a:ext>
            </a:extLst>
          </p:cNvPr>
          <p:cNvSpPr>
            <a:spLocks/>
          </p:cNvSpPr>
          <p:nvPr/>
        </p:nvSpPr>
        <p:spPr bwMode="auto">
          <a:xfrm>
            <a:off x="5386431" y="4237471"/>
            <a:ext cx="2557312"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12" name="Straight Arrow Connector 11">
            <a:extLst>
              <a:ext uri="{FF2B5EF4-FFF2-40B4-BE49-F238E27FC236}">
                <a16:creationId xmlns:a16="http://schemas.microsoft.com/office/drawing/2014/main" id="{C8408240-44F8-94B2-97DF-165D3D8B00B6}"/>
              </a:ext>
            </a:extLst>
          </p:cNvPr>
          <p:cNvCxnSpPr>
            <a:cxnSpLocks/>
          </p:cNvCxnSpPr>
          <p:nvPr/>
        </p:nvCxnSpPr>
        <p:spPr>
          <a:xfrm flipH="1" flipV="1">
            <a:off x="2168013" y="4026310"/>
            <a:ext cx="3341811" cy="65468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9DC8529-A309-1F1E-40C3-9FAB71392CF7}"/>
              </a:ext>
            </a:extLst>
          </p:cNvPr>
          <p:cNvPicPr>
            <a:picLocks noChangeAspect="1"/>
          </p:cNvPicPr>
          <p:nvPr/>
        </p:nvPicPr>
        <p:blipFill>
          <a:blip r:embed="rId3"/>
          <a:stretch>
            <a:fillRect/>
          </a:stretch>
        </p:blipFill>
        <p:spPr>
          <a:xfrm>
            <a:off x="5594787" y="4397381"/>
            <a:ext cx="2197100" cy="965200"/>
          </a:xfrm>
          <a:prstGeom prst="rect">
            <a:avLst/>
          </a:prstGeom>
        </p:spPr>
      </p:pic>
    </p:spTree>
    <p:extLst>
      <p:ext uri="{BB962C8B-B14F-4D97-AF65-F5344CB8AC3E}">
        <p14:creationId xmlns:p14="http://schemas.microsoft.com/office/powerpoint/2010/main" val="4968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1C12-5A51-3F91-C2D4-5A72137FA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2283A-F2BC-2E1A-EDDD-DBC7224889D6}"/>
              </a:ext>
            </a:extLst>
          </p:cNvPr>
          <p:cNvSpPr>
            <a:spLocks noGrp="1"/>
          </p:cNvSpPr>
          <p:nvPr>
            <p:ph type="title"/>
          </p:nvPr>
        </p:nvSpPr>
        <p:spPr/>
        <p:txBody>
          <a:bodyPr/>
          <a:lstStyle/>
          <a:p>
            <a:r>
              <a:rPr lang="en-US" dirty="0"/>
              <a:t>Using “any”: Common, Not Great</a:t>
            </a:r>
          </a:p>
        </p:txBody>
      </p:sp>
      <p:sp>
        <p:nvSpPr>
          <p:cNvPr id="4" name="Slide Number Placeholder 3">
            <a:extLst>
              <a:ext uri="{FF2B5EF4-FFF2-40B4-BE49-F238E27FC236}">
                <a16:creationId xmlns:a16="http://schemas.microsoft.com/office/drawing/2014/main" id="{7350D23E-0381-6F7A-A9B2-4765EE624A2B}"/>
              </a:ext>
            </a:extLst>
          </p:cNvPr>
          <p:cNvSpPr>
            <a:spLocks noGrp="1"/>
          </p:cNvSpPr>
          <p:nvPr>
            <p:ph type="sldNum" sz="quarter" idx="12"/>
          </p:nvPr>
        </p:nvSpPr>
        <p:spPr/>
        <p:txBody>
          <a:bodyPr/>
          <a:lstStyle/>
          <a:p>
            <a:fld id="{20F37917-FD3A-4669-9018-DA04BCDD3D75}" type="slidenum">
              <a:rPr lang="en-US" smtClean="0"/>
              <a:pPr/>
              <a:t>14</a:t>
            </a:fld>
            <a:endParaRPr lang="en-US"/>
          </a:p>
        </p:txBody>
      </p:sp>
      <p:sp>
        <p:nvSpPr>
          <p:cNvPr id="3" name="TextBox 2">
            <a:extLst>
              <a:ext uri="{FF2B5EF4-FFF2-40B4-BE49-F238E27FC236}">
                <a16:creationId xmlns:a16="http://schemas.microsoft.com/office/drawing/2014/main" id="{D950AF2B-7C82-9281-05D3-BA227EF41381}"/>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38C5D0DF-44F7-7B6D-DF1E-D5BB857A1F0A}"/>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BBC8F0AD-6C72-2CB3-C0C1-DA5D65242B60}"/>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1800" dirty="0">
              <a:solidFill>
                <a:srgbClr val="AF00DB"/>
              </a:solidFill>
              <a:latin typeface="Menlo" panose="020B0609030804020204" pitchFamily="49" charset="0"/>
            </a:endParaRPr>
          </a:p>
          <a:p>
            <a:pPr marL="0" indent="0">
              <a:spcBef>
                <a:spcPts val="0"/>
              </a:spcBef>
              <a:buNone/>
            </a:pPr>
            <a:r>
              <a:rPr lang="en-US" sz="1800" dirty="0">
                <a:solidFill>
                  <a:srgbClr val="AF00DB"/>
                </a:solidFill>
                <a:latin typeface="Menlo" panose="020B0609030804020204" pitchFamily="49" charset="0"/>
              </a:rPr>
              <a:t>import</a:t>
            </a:r>
            <a:r>
              <a:rPr lang="en-US" sz="1800" dirty="0">
                <a:latin typeface="Menlo" panose="020B0609030804020204" pitchFamily="49" charset="0"/>
                <a:ea typeface="Menlo" panose="020B0609030804020204" pitchFamily="49" charset="0"/>
                <a:cs typeface="Menlo" panose="020B0609030804020204" pitchFamily="49" charset="0"/>
              </a:rPr>
              <a:t> express </a:t>
            </a:r>
            <a:r>
              <a:rPr lang="en-US" sz="1800" dirty="0">
                <a:solidFill>
                  <a:srgbClr val="AF00DB"/>
                </a:solidFill>
                <a:latin typeface="Menlo" panose="020B0609030804020204" pitchFamily="49" charset="0"/>
              </a:rPr>
              <a:t>from</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const app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express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json</a:t>
            </a:r>
            <a:r>
              <a:rPr lang="en-US" sz="1800" dirty="0">
                <a:latin typeface="Menlo" panose="020B0609030804020204" pitchFamily="49" charset="0"/>
                <a:ea typeface="Menlo" panose="020B0609030804020204" pitchFamily="49" charset="0"/>
                <a:cs typeface="Menlo" panose="020B0609030804020204" pitchFamily="49" charset="0"/>
              </a:rPr>
              <a:t>());</a:t>
            </a:r>
            <a:br>
              <a:rPr lang="en-US" sz="1800" dirty="0">
                <a:latin typeface="Menlo" panose="020B0609030804020204" pitchFamily="49" charset="0"/>
                <a:ea typeface="Menlo" panose="020B0609030804020204" pitchFamily="49" charset="0"/>
                <a:cs typeface="Menlo" panose="020B0609030804020204" pitchFamily="49" charset="0"/>
              </a:rPr>
            </a:b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type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 {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string</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password</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string</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post</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req</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a:latin typeface="Menlo" panose="020B0609030804020204" pitchFamily="49" charset="0"/>
                <a:ea typeface="Menlo" panose="020B0609030804020204" pitchFamily="49" charset="0"/>
                <a:cs typeface="Menlo" panose="020B0609030804020204" pitchFamily="49" charset="0"/>
              </a:rPr>
              <a:t>) =&gt;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const</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req.body</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br>
              <a:rPr lang="en-US" sz="1800" dirty="0">
                <a:latin typeface="Menlo" panose="020B0609030804020204" pitchFamily="49" charset="0"/>
                <a:ea typeface="Menlo" panose="020B0609030804020204" pitchFamily="49" charset="0"/>
                <a:cs typeface="Menlo" panose="020B0609030804020204" pitchFamily="49" charset="0"/>
              </a:rPr>
            </a:b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AF00DB"/>
                </a:solidFill>
                <a:latin typeface="Menlo" panose="020B0609030804020204" pitchFamily="49" charset="0"/>
              </a:rPr>
              <a:t>if</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auth.password</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'secret'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status</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403</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error: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'Wrong password' </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 </a:t>
            </a:r>
            <a:r>
              <a:rPr lang="en-US" sz="1800" dirty="0">
                <a:solidFill>
                  <a:srgbClr val="AF00DB"/>
                </a:solidFill>
                <a:latin typeface="Menlo" panose="020B0609030804020204" pitchFamily="49" charset="0"/>
              </a:rPr>
              <a:t>else</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message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`WELCOME,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toUpperCase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listen</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8000</a:t>
            </a:r>
            <a:r>
              <a:rPr lang="en-US" sz="1800" dirty="0">
                <a:latin typeface="Menlo" panose="020B0609030804020204" pitchFamily="49" charset="0"/>
                <a:ea typeface="Menlo" panose="020B0609030804020204" pitchFamily="49" charset="0"/>
                <a:cs typeface="Menlo" panose="020B0609030804020204" pitchFamily="49" charset="0"/>
              </a:rPr>
              <a:t>, () =&gt;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console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log</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`Listening on port 8000`</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br>
              <a:rPr lang="en-US" sz="1800" dirty="0">
                <a:latin typeface="Menlo" panose="020B0609030804020204" pitchFamily="49" charset="0"/>
                <a:ea typeface="Menlo" panose="020B0609030804020204" pitchFamily="49" charset="0"/>
                <a:cs typeface="Menlo" panose="020B0609030804020204" pitchFamily="49" charset="0"/>
              </a:rPr>
            </a:b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lnSpc>
                <a:spcPct val="110000"/>
              </a:lnSpc>
              <a:spcBef>
                <a:spcPts val="0"/>
              </a:spcBef>
              <a:buNone/>
            </a:pPr>
            <a:endParaRPr lang="en-US" sz="1800" dirty="0">
              <a:solidFill>
                <a:srgbClr val="3B3B3B"/>
              </a:solidFill>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p:txBody>
      </p:sp>
      <p:sp>
        <p:nvSpPr>
          <p:cNvPr id="9" name="AutoShape 9">
            <a:extLst>
              <a:ext uri="{FF2B5EF4-FFF2-40B4-BE49-F238E27FC236}">
                <a16:creationId xmlns:a16="http://schemas.microsoft.com/office/drawing/2014/main" id="{8CE9BC04-E4BD-BD9A-2502-EAAB315019F1}"/>
              </a:ext>
            </a:extLst>
          </p:cNvPr>
          <p:cNvSpPr>
            <a:spLocks/>
          </p:cNvSpPr>
          <p:nvPr/>
        </p:nvSpPr>
        <p:spPr bwMode="auto">
          <a:xfrm>
            <a:off x="8442095" y="306700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This has type “</a:t>
            </a:r>
            <a:r>
              <a:rPr lang="en-US" altLang="en-US" sz="2400" dirty="0">
                <a:solidFill>
                  <a:srgbClr val="FFFFFF"/>
                </a:solidFill>
                <a:latin typeface="Menlo" panose="020B0609030804020204" pitchFamily="49" charset="0"/>
                <a:ea typeface="Menlo" panose="020B0609030804020204" pitchFamily="49" charset="0"/>
                <a:cs typeface="Menlo" panose="020B0609030804020204" pitchFamily="49" charset="0"/>
                <a:sym typeface="Helvetica" panose="020B0604020202020204" pitchFamily="34" charset="0"/>
              </a:rPr>
              <a:t>any</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a:t>
            </a:r>
          </a:p>
        </p:txBody>
      </p:sp>
      <p:cxnSp>
        <p:nvCxnSpPr>
          <p:cNvPr id="10" name="Straight Arrow Connector 9">
            <a:extLst>
              <a:ext uri="{FF2B5EF4-FFF2-40B4-BE49-F238E27FC236}">
                <a16:creationId xmlns:a16="http://schemas.microsoft.com/office/drawing/2014/main" id="{9C9F905D-85D7-0A13-2F2C-5B7C40264145}"/>
              </a:ext>
            </a:extLst>
          </p:cNvPr>
          <p:cNvCxnSpPr>
            <a:cxnSpLocks/>
          </p:cNvCxnSpPr>
          <p:nvPr/>
        </p:nvCxnSpPr>
        <p:spPr>
          <a:xfrm flipH="1">
            <a:off x="5220929" y="3497632"/>
            <a:ext cx="3221166" cy="93246"/>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 name="AutoShape 9">
            <a:extLst>
              <a:ext uri="{FF2B5EF4-FFF2-40B4-BE49-F238E27FC236}">
                <a16:creationId xmlns:a16="http://schemas.microsoft.com/office/drawing/2014/main" id="{B95C8717-DEDA-995F-58A6-B727C8BBE736}"/>
              </a:ext>
            </a:extLst>
          </p:cNvPr>
          <p:cNvSpPr>
            <a:spLocks/>
          </p:cNvSpPr>
          <p:nvPr/>
        </p:nvSpPr>
        <p:spPr bwMode="auto">
          <a:xfrm>
            <a:off x="8442095" y="1612582"/>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Only accept JSON</a:t>
            </a:r>
          </a:p>
        </p:txBody>
      </p:sp>
      <p:cxnSp>
        <p:nvCxnSpPr>
          <p:cNvPr id="16" name="Straight Arrow Connector 15">
            <a:extLst>
              <a:ext uri="{FF2B5EF4-FFF2-40B4-BE49-F238E27FC236}">
                <a16:creationId xmlns:a16="http://schemas.microsoft.com/office/drawing/2014/main" id="{B7F05F48-178B-5C00-18FE-9C3CF41951AC}"/>
              </a:ext>
            </a:extLst>
          </p:cNvPr>
          <p:cNvCxnSpPr>
            <a:cxnSpLocks/>
          </p:cNvCxnSpPr>
          <p:nvPr/>
        </p:nvCxnSpPr>
        <p:spPr>
          <a:xfrm flipH="1">
            <a:off x="4262284" y="2043205"/>
            <a:ext cx="4179811" cy="430622"/>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92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6FD4F-AD6C-B698-F7C9-015C684A2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91A0B-9268-C912-4D6A-6B12B43B5BEA}"/>
              </a:ext>
            </a:extLst>
          </p:cNvPr>
          <p:cNvSpPr>
            <a:spLocks noGrp="1"/>
          </p:cNvSpPr>
          <p:nvPr>
            <p:ph type="title"/>
          </p:nvPr>
        </p:nvSpPr>
        <p:spPr/>
        <p:txBody>
          <a:bodyPr/>
          <a:lstStyle/>
          <a:p>
            <a:r>
              <a:rPr lang="en-US" dirty="0"/>
              <a:t>Using “any”: Common, Not Great</a:t>
            </a:r>
          </a:p>
        </p:txBody>
      </p:sp>
      <p:sp>
        <p:nvSpPr>
          <p:cNvPr id="4" name="Slide Number Placeholder 3">
            <a:extLst>
              <a:ext uri="{FF2B5EF4-FFF2-40B4-BE49-F238E27FC236}">
                <a16:creationId xmlns:a16="http://schemas.microsoft.com/office/drawing/2014/main" id="{BBE33987-87EE-3562-EF73-2F2889C22840}"/>
              </a:ext>
            </a:extLst>
          </p:cNvPr>
          <p:cNvSpPr>
            <a:spLocks noGrp="1"/>
          </p:cNvSpPr>
          <p:nvPr>
            <p:ph type="sldNum" sz="quarter" idx="12"/>
          </p:nvPr>
        </p:nvSpPr>
        <p:spPr/>
        <p:txBody>
          <a:bodyPr/>
          <a:lstStyle/>
          <a:p>
            <a:fld id="{20F37917-FD3A-4669-9018-DA04BCDD3D75}" type="slidenum">
              <a:rPr lang="en-US" smtClean="0"/>
              <a:pPr/>
              <a:t>15</a:t>
            </a:fld>
            <a:endParaRPr lang="en-US"/>
          </a:p>
        </p:txBody>
      </p:sp>
      <p:sp>
        <p:nvSpPr>
          <p:cNvPr id="3" name="TextBox 2">
            <a:extLst>
              <a:ext uri="{FF2B5EF4-FFF2-40B4-BE49-F238E27FC236}">
                <a16:creationId xmlns:a16="http://schemas.microsoft.com/office/drawing/2014/main" id="{3D3BB57D-155C-8893-253D-4E4D7B35BBC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76A8FD9D-8AD3-CF4F-E3EE-D67128BBE996}"/>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6E2100AB-F345-9F0F-0A8D-8879B8C8D869}"/>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1800" dirty="0">
              <a:solidFill>
                <a:srgbClr val="AF00DB"/>
              </a:solidFill>
              <a:latin typeface="Menlo" panose="020B0609030804020204" pitchFamily="49" charset="0"/>
            </a:endParaRPr>
          </a:p>
          <a:p>
            <a:pPr marL="0" indent="0">
              <a:spcBef>
                <a:spcPts val="0"/>
              </a:spcBef>
              <a:buNone/>
            </a:pPr>
            <a:r>
              <a:rPr lang="en-US" sz="1800" dirty="0">
                <a:solidFill>
                  <a:srgbClr val="AF00DB"/>
                </a:solidFill>
                <a:latin typeface="Menlo" panose="020B0609030804020204" pitchFamily="49" charset="0"/>
              </a:rPr>
              <a:t>import</a:t>
            </a:r>
            <a:r>
              <a:rPr lang="en-US" sz="1800" dirty="0">
                <a:latin typeface="Menlo" panose="020B0609030804020204" pitchFamily="49" charset="0"/>
                <a:ea typeface="Menlo" panose="020B0609030804020204" pitchFamily="49" charset="0"/>
                <a:cs typeface="Menlo" panose="020B0609030804020204" pitchFamily="49" charset="0"/>
              </a:rPr>
              <a:t> express </a:t>
            </a:r>
            <a:r>
              <a:rPr lang="en-US" sz="1800" dirty="0">
                <a:solidFill>
                  <a:srgbClr val="AF00DB"/>
                </a:solidFill>
                <a:latin typeface="Menlo" panose="020B0609030804020204" pitchFamily="49" charset="0"/>
              </a:rPr>
              <a:t>from</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const app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express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json</a:t>
            </a:r>
            <a:r>
              <a:rPr lang="en-US" sz="1800" dirty="0">
                <a:latin typeface="Menlo" panose="020B0609030804020204" pitchFamily="49" charset="0"/>
                <a:ea typeface="Menlo" panose="020B0609030804020204" pitchFamily="49" charset="0"/>
                <a:cs typeface="Menlo" panose="020B0609030804020204" pitchFamily="49" charset="0"/>
              </a:rPr>
              <a:t>());</a:t>
            </a:r>
            <a:br>
              <a:rPr lang="en-US" sz="1800" dirty="0">
                <a:latin typeface="Menlo" panose="020B0609030804020204" pitchFamily="49" charset="0"/>
                <a:ea typeface="Menlo" panose="020B0609030804020204" pitchFamily="49" charset="0"/>
                <a:cs typeface="Menlo" panose="020B0609030804020204" pitchFamily="49" charset="0"/>
              </a:rPr>
            </a:b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type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 {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string</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password</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string</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post</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req</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a:latin typeface="Menlo" panose="020B0609030804020204" pitchFamily="49" charset="0"/>
                <a:ea typeface="Menlo" panose="020B0609030804020204" pitchFamily="49" charset="0"/>
                <a:cs typeface="Menlo" panose="020B0609030804020204" pitchFamily="49" charset="0"/>
              </a:rPr>
              <a:t>) =&gt;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const</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1800" dirty="0">
                <a:latin typeface="Menlo" panose="020B0609030804020204" pitchFamily="49" charset="0"/>
                <a:ea typeface="Menlo" panose="020B0609030804020204" pitchFamily="49" charset="0"/>
                <a:cs typeface="Menlo" panose="020B0609030804020204" pitchFamily="49" charset="0"/>
              </a:rPr>
              <a:t> =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req.body</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br>
              <a:rPr lang="en-US" sz="1800" dirty="0">
                <a:latin typeface="Menlo" panose="020B0609030804020204" pitchFamily="49" charset="0"/>
                <a:ea typeface="Menlo" panose="020B0609030804020204" pitchFamily="49" charset="0"/>
                <a:cs typeface="Menlo" panose="020B0609030804020204" pitchFamily="49" charset="0"/>
              </a:rPr>
            </a:b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AF00DB"/>
                </a:solidFill>
                <a:latin typeface="Menlo" panose="020B0609030804020204" pitchFamily="49" charset="0"/>
              </a:rPr>
              <a:t>if</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auth.password</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'secret'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status</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403</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error: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'Wrong password' </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 </a:t>
            </a:r>
            <a:r>
              <a:rPr lang="en-US" sz="1800" dirty="0">
                <a:solidFill>
                  <a:srgbClr val="AF00DB"/>
                </a:solidFill>
                <a:latin typeface="Menlo" panose="020B0609030804020204" pitchFamily="49" charset="0"/>
              </a:rPr>
              <a:t>else</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message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`WELCOME,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toUpperCase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listen</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8000</a:t>
            </a:r>
            <a:r>
              <a:rPr lang="en-US" sz="1800" dirty="0">
                <a:latin typeface="Menlo" panose="020B0609030804020204" pitchFamily="49" charset="0"/>
                <a:ea typeface="Menlo" panose="020B0609030804020204" pitchFamily="49" charset="0"/>
                <a:cs typeface="Menlo" panose="020B0609030804020204" pitchFamily="49" charset="0"/>
              </a:rPr>
              <a:t>, () =&gt;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console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log</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`Listening on port 8000`</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br>
              <a:rPr lang="en-US" sz="1800" dirty="0">
                <a:latin typeface="Menlo" panose="020B0609030804020204" pitchFamily="49" charset="0"/>
                <a:ea typeface="Menlo" panose="020B0609030804020204" pitchFamily="49" charset="0"/>
                <a:cs typeface="Menlo" panose="020B0609030804020204" pitchFamily="49" charset="0"/>
              </a:rPr>
            </a:b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lnSpc>
                <a:spcPct val="110000"/>
              </a:lnSpc>
              <a:spcBef>
                <a:spcPts val="0"/>
              </a:spcBef>
              <a:buNone/>
            </a:pPr>
            <a:endParaRPr lang="en-US" sz="1800" dirty="0">
              <a:solidFill>
                <a:srgbClr val="3B3B3B"/>
              </a:solidFill>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p:txBody>
      </p:sp>
      <p:sp>
        <p:nvSpPr>
          <p:cNvPr id="6" name="AutoShape 9">
            <a:extLst>
              <a:ext uri="{FF2B5EF4-FFF2-40B4-BE49-F238E27FC236}">
                <a16:creationId xmlns:a16="http://schemas.microsoft.com/office/drawing/2014/main" id="{387B3737-7F28-7DB7-B5B0-33B4FE6A5BB8}"/>
              </a:ext>
            </a:extLst>
          </p:cNvPr>
          <p:cNvSpPr>
            <a:spLocks/>
          </p:cNvSpPr>
          <p:nvPr/>
        </p:nvSpPr>
        <p:spPr bwMode="auto">
          <a:xfrm>
            <a:off x="5639902" y="304081"/>
            <a:ext cx="5967080" cy="3869713"/>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7" name="Straight Arrow Connector 6">
            <a:extLst>
              <a:ext uri="{FF2B5EF4-FFF2-40B4-BE49-F238E27FC236}">
                <a16:creationId xmlns:a16="http://schemas.microsoft.com/office/drawing/2014/main" id="{0155CAA9-09AF-AF34-412B-3A8DFE7FD745}"/>
              </a:ext>
            </a:extLst>
          </p:cNvPr>
          <p:cNvCxnSpPr>
            <a:cxnSpLocks/>
          </p:cNvCxnSpPr>
          <p:nvPr/>
        </p:nvCxnSpPr>
        <p:spPr>
          <a:xfrm flipH="1">
            <a:off x="7639665" y="3760838"/>
            <a:ext cx="368709" cy="159700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1379210-EB90-4E38-F7EA-3229E05022BB}"/>
              </a:ext>
            </a:extLst>
          </p:cNvPr>
          <p:cNvPicPr>
            <a:picLocks noChangeAspect="1"/>
          </p:cNvPicPr>
          <p:nvPr/>
        </p:nvPicPr>
        <p:blipFill>
          <a:blip r:embed="rId3"/>
          <a:stretch>
            <a:fillRect/>
          </a:stretch>
        </p:blipFill>
        <p:spPr>
          <a:xfrm>
            <a:off x="6153150" y="560438"/>
            <a:ext cx="4914900" cy="3200400"/>
          </a:xfrm>
          <a:prstGeom prst="rect">
            <a:avLst/>
          </a:prstGeom>
        </p:spPr>
      </p:pic>
      <p:sp>
        <p:nvSpPr>
          <p:cNvPr id="11" name="TextBox 10">
            <a:extLst>
              <a:ext uri="{FF2B5EF4-FFF2-40B4-BE49-F238E27FC236}">
                <a16:creationId xmlns:a16="http://schemas.microsoft.com/office/drawing/2014/main" id="{397FD718-7D32-FC65-DF53-EEA3BD17CE39}"/>
              </a:ext>
            </a:extLst>
          </p:cNvPr>
          <p:cNvSpPr txBox="1"/>
          <p:nvPr/>
        </p:nvSpPr>
        <p:spPr>
          <a:xfrm>
            <a:off x="88490" y="556014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8810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81AD-3594-57AA-6142-BF4B9EA43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A0ABE-953F-F16A-5176-C3659229014F}"/>
              </a:ext>
            </a:extLst>
          </p:cNvPr>
          <p:cNvSpPr>
            <a:spLocks noGrp="1"/>
          </p:cNvSpPr>
          <p:nvPr>
            <p:ph type="title"/>
          </p:nvPr>
        </p:nvSpPr>
        <p:spPr/>
        <p:txBody>
          <a:bodyPr/>
          <a:lstStyle/>
          <a:p>
            <a:r>
              <a:rPr lang="en-US" dirty="0"/>
              <a:t>Improving This Web Server With Zod</a:t>
            </a:r>
          </a:p>
        </p:txBody>
      </p:sp>
      <p:sp>
        <p:nvSpPr>
          <p:cNvPr id="4" name="Slide Number Placeholder 3">
            <a:extLst>
              <a:ext uri="{FF2B5EF4-FFF2-40B4-BE49-F238E27FC236}">
                <a16:creationId xmlns:a16="http://schemas.microsoft.com/office/drawing/2014/main" id="{25147EF1-C39A-3535-BB73-A90B0DF82CB5}"/>
              </a:ext>
            </a:extLst>
          </p:cNvPr>
          <p:cNvSpPr>
            <a:spLocks noGrp="1"/>
          </p:cNvSpPr>
          <p:nvPr>
            <p:ph type="sldNum" sz="quarter" idx="12"/>
          </p:nvPr>
        </p:nvSpPr>
        <p:spPr/>
        <p:txBody>
          <a:bodyPr/>
          <a:lstStyle/>
          <a:p>
            <a:fld id="{20F37917-FD3A-4669-9018-DA04BCDD3D75}" type="slidenum">
              <a:rPr lang="en-US" smtClean="0"/>
              <a:pPr/>
              <a:t>16</a:t>
            </a:fld>
            <a:endParaRPr lang="en-US"/>
          </a:p>
        </p:txBody>
      </p:sp>
      <p:sp>
        <p:nvSpPr>
          <p:cNvPr id="3" name="TextBox 2">
            <a:extLst>
              <a:ext uri="{FF2B5EF4-FFF2-40B4-BE49-F238E27FC236}">
                <a16:creationId xmlns:a16="http://schemas.microsoft.com/office/drawing/2014/main" id="{04A6F1FE-58CC-223C-F7AF-0E95EDDBA9A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433D702-0BA4-2D56-0931-DD91A6E6B991}"/>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CD488ED7-E8B6-9CAF-5DCC-8F76283D60F7}"/>
              </a:ext>
            </a:extLst>
          </p:cNvPr>
          <p:cNvSpPr>
            <a:spLocks noGrp="1"/>
          </p:cNvSpPr>
          <p:nvPr>
            <p:ph idx="1"/>
          </p:nvPr>
        </p:nvSpPr>
        <p:spPr>
          <a:xfrm>
            <a:off x="838199" y="1500159"/>
            <a:ext cx="10960511" cy="5092369"/>
          </a:xfrm>
        </p:spPr>
        <p:txBody>
          <a:bodyPr>
            <a:noAutofit/>
          </a:bodyPr>
          <a:lstStyle/>
          <a:p>
            <a:pPr marL="0" indent="0">
              <a:spcBef>
                <a:spcPts val="0"/>
              </a:spcBef>
              <a:buNone/>
            </a:pPr>
            <a:r>
              <a:rPr lang="en-US" sz="1800" dirty="0">
                <a:solidFill>
                  <a:srgbClr val="AF00DB"/>
                </a:solidFill>
                <a:highlight>
                  <a:srgbClr val="FFFF00"/>
                </a:highlight>
                <a:latin typeface="Menlo" panose="020B0609030804020204" pitchFamily="49" charset="0"/>
                <a:ea typeface="Menlo" panose="020B0609030804020204" pitchFamily="49" charset="0"/>
                <a:cs typeface="Menlo" panose="020B0609030804020204" pitchFamily="49" charset="0"/>
              </a:rPr>
              <a:t>import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 z } </a:t>
            </a:r>
            <a:r>
              <a:rPr lang="en-US" sz="1800" dirty="0">
                <a:solidFill>
                  <a:srgbClr val="AF00DB"/>
                </a:solidFill>
                <a:highlight>
                  <a:srgbClr val="FFFF00"/>
                </a:highlight>
                <a:latin typeface="Menlo" panose="020B0609030804020204" pitchFamily="49" charset="0"/>
                <a:ea typeface="Menlo" panose="020B0609030804020204" pitchFamily="49" charset="0"/>
                <a:cs typeface="Menlo" panose="020B0609030804020204" pitchFamily="49" charset="0"/>
              </a:rPr>
              <a:t>from</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zod</a:t>
            </a:r>
            <a:r>
              <a:rPr lang="en-US" sz="1800"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a:t>
            </a:r>
            <a:endParaRPr lang="en-US" sz="1800" dirty="0">
              <a:solidFill>
                <a:srgbClr val="AF00DB"/>
              </a:solidFill>
              <a:highlight>
                <a:srgbClr val="FFFF00"/>
              </a:highlight>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a:solidFill>
                  <a:srgbClr val="AF00DB"/>
                </a:solidFill>
                <a:latin typeface="Menlo" panose="020B0609030804020204" pitchFamily="49" charset="0"/>
                <a:ea typeface="Menlo" panose="020B0609030804020204" pitchFamily="49" charset="0"/>
                <a:cs typeface="Menlo" panose="020B0609030804020204" pitchFamily="49" charset="0"/>
              </a:rPr>
              <a:t>import</a:t>
            </a:r>
            <a:r>
              <a:rPr lang="en-US" sz="1800" dirty="0">
                <a:latin typeface="Menlo" panose="020B0609030804020204" pitchFamily="49" charset="0"/>
                <a:ea typeface="Menlo" panose="020B0609030804020204" pitchFamily="49" charset="0"/>
                <a:cs typeface="Menlo" panose="020B0609030804020204" pitchFamily="49" charset="0"/>
              </a:rPr>
              <a:t> express </a:t>
            </a:r>
            <a:r>
              <a:rPr lang="en-US" sz="1800" dirty="0">
                <a:solidFill>
                  <a:srgbClr val="AF00DB"/>
                </a:solidFill>
                <a:latin typeface="Menlo" panose="020B0609030804020204" pitchFamily="49" charset="0"/>
                <a:ea typeface="Menlo" panose="020B0609030804020204" pitchFamily="49" charset="0"/>
                <a:cs typeface="Menlo" panose="020B0609030804020204" pitchFamily="49" charset="0"/>
              </a:rPr>
              <a:t>from</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const app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express</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express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json</a:t>
            </a:r>
            <a:r>
              <a:rPr lang="en-US" sz="1800" dirty="0">
                <a:latin typeface="Menlo" panose="020B0609030804020204" pitchFamily="49" charset="0"/>
                <a:ea typeface="Menlo" panose="020B0609030804020204" pitchFamily="49" charset="0"/>
                <a:cs typeface="Menlo" panose="020B0609030804020204" pitchFamily="49" charset="0"/>
              </a:rPr>
              <a:t>());</a:t>
            </a:r>
            <a:br>
              <a:rPr lang="en-US" sz="18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br>
            <a:endParaRPr lang="en-US" sz="1800"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const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70C0"/>
                </a:solidFill>
                <a:highlight>
                  <a:srgbClr val="FFFF00"/>
                </a:highlight>
                <a:latin typeface="Menlo" panose="020B0609030804020204" pitchFamily="49" charset="0"/>
                <a:ea typeface="Menlo" panose="020B0609030804020204" pitchFamily="49" charset="0"/>
                <a:cs typeface="Menlo" panose="020B0609030804020204" pitchFamily="49" charset="0"/>
              </a:rPr>
              <a:t>zAuth</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 </a:t>
            </a:r>
            <a:r>
              <a:rPr lang="en-US" sz="1800" dirty="0" err="1">
                <a:highlight>
                  <a:srgbClr val="FFFF00"/>
                </a:highlight>
                <a:latin typeface="Menlo" panose="020B0609030804020204" pitchFamily="49" charset="0"/>
                <a:ea typeface="Menlo" panose="020B0609030804020204" pitchFamily="49" charset="0"/>
                <a:cs typeface="Menlo" panose="020B0609030804020204" pitchFamily="49" charset="0"/>
              </a:rPr>
              <a:t>z.</a:t>
            </a:r>
            <a:r>
              <a:rPr lang="en-US" sz="1800" dirty="0" err="1">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object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username</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highlight>
                  <a:srgbClr val="FFFF00"/>
                </a:highlight>
                <a:latin typeface="Menlo" panose="020B0609030804020204" pitchFamily="49" charset="0"/>
                <a:ea typeface="Menlo" panose="020B0609030804020204" pitchFamily="49" charset="0"/>
                <a:cs typeface="Menlo" panose="020B0609030804020204" pitchFamily="49" charset="0"/>
              </a:rPr>
              <a:t>z.</a:t>
            </a:r>
            <a:r>
              <a:rPr lang="en-US" sz="1800" dirty="0" err="1">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string</a:t>
            </a:r>
            <a:r>
              <a:rPr lang="en-US" sz="1800" dirty="0">
                <a:solidFill>
                  <a:srgbClr val="0070C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password</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highlight>
                  <a:srgbClr val="FFFF00"/>
                </a:highlight>
                <a:latin typeface="Menlo" panose="020B0609030804020204" pitchFamily="49" charset="0"/>
                <a:ea typeface="Menlo" panose="020B0609030804020204" pitchFamily="49" charset="0"/>
                <a:cs typeface="Menlo" panose="020B0609030804020204" pitchFamily="49" charset="0"/>
              </a:rPr>
              <a:t>z.</a:t>
            </a:r>
            <a:r>
              <a:rPr lang="en-US" sz="1800" dirty="0" err="1">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string</a:t>
            </a:r>
            <a:r>
              <a:rPr lang="en-US" sz="1800" dirty="0">
                <a:solidFill>
                  <a:srgbClr val="0070C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post</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req</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a:latin typeface="Menlo" panose="020B0609030804020204" pitchFamily="49" charset="0"/>
                <a:ea typeface="Menlo" panose="020B0609030804020204" pitchFamily="49" charset="0"/>
                <a:cs typeface="Menlo" panose="020B0609030804020204" pitchFamily="49" charset="0"/>
              </a:rPr>
              <a:t>) =&gt; {</a:t>
            </a:r>
          </a:p>
          <a:p>
            <a:pPr marL="0" indent="0">
              <a:spcBef>
                <a:spcPts val="0"/>
              </a:spcBef>
              <a:buNone/>
            </a:pP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const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0070C0"/>
                </a:solidFill>
                <a:highlight>
                  <a:srgbClr val="FFFF00"/>
                </a:highlight>
                <a:latin typeface="Menlo" panose="020B0609030804020204" pitchFamily="49" charset="0"/>
                <a:ea typeface="Menlo" panose="020B0609030804020204" pitchFamily="49" charset="0"/>
                <a:cs typeface="Menlo" panose="020B0609030804020204" pitchFamily="49" charset="0"/>
              </a:rPr>
              <a:t>auth </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zAuth</a:t>
            </a:r>
            <a:r>
              <a:rPr lang="en-US" sz="1800" dirty="0" err="1">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safeParse</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req.body</a:t>
            </a:r>
            <a:r>
              <a:rPr lang="en-US" sz="1800" dirty="0">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solidFill>
                  <a:srgbClr val="AF00DB"/>
                </a:solidFill>
                <a:highlight>
                  <a:srgbClr val="FFFF00"/>
                </a:highlight>
                <a:latin typeface="Menlo" panose="020B0609030804020204" pitchFamily="49" charset="0"/>
                <a:ea typeface="Menlo" panose="020B0609030804020204" pitchFamily="49" charset="0"/>
                <a:cs typeface="Menlo" panose="020B0609030804020204" pitchFamily="49" charset="0"/>
              </a:rPr>
              <a:t>if</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auth.error</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res</a:t>
            </a:r>
            <a:r>
              <a:rPr lang="en-US" sz="1800" dirty="0" err="1">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status</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highlight>
                  <a:srgbClr val="FFFF00"/>
                </a:highlight>
                <a:latin typeface="Menlo" panose="020B0609030804020204" pitchFamily="49" charset="0"/>
                <a:ea typeface="Menlo" panose="020B0609030804020204" pitchFamily="49" charset="0"/>
                <a:cs typeface="Menlo" panose="020B0609030804020204" pitchFamily="49" charset="0"/>
              </a:rPr>
              <a:t>400</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800" dirty="0">
                <a:solidFill>
                  <a:schemeClr val="accent4">
                    <a:lumMod val="50000"/>
                  </a:schemeClr>
                </a:solidFill>
                <a:highlight>
                  <a:srgbClr val="FFFF00"/>
                </a:highlight>
                <a:latin typeface="Menlo" panose="020B0609030804020204" pitchFamily="49" charset="0"/>
                <a:ea typeface="Menlo" panose="020B0609030804020204" pitchFamily="49" charset="0"/>
                <a:cs typeface="Menlo" panose="020B0609030804020204" pitchFamily="49" charset="0"/>
              </a:rPr>
              <a:t>send</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error: </a:t>
            </a:r>
            <a:r>
              <a:rPr lang="en-US" sz="1800"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'Unexpected message' </a:t>
            </a: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br>
              <a:rPr lang="en-US" sz="1800" dirty="0">
                <a:latin typeface="Menlo" panose="020B0609030804020204" pitchFamily="49" charset="0"/>
                <a:ea typeface="Menlo" panose="020B0609030804020204" pitchFamily="49" charset="0"/>
                <a:cs typeface="Menlo" panose="020B0609030804020204" pitchFamily="49" charset="0"/>
              </a:rPr>
            </a:br>
            <a:r>
              <a:rPr lang="en-US" sz="1800"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AF00DB"/>
                </a:solidFill>
                <a:latin typeface="Menlo" panose="020B0609030804020204" pitchFamily="49" charset="0"/>
                <a:ea typeface="Menlo" panose="020B0609030804020204" pitchFamily="49" charset="0"/>
                <a:cs typeface="Menlo" panose="020B0609030804020204" pitchFamily="49" charset="0"/>
              </a:rPr>
              <a:t>else if</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data</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.password</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'secret'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status</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403</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error: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'Wrong password' </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 else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res</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send</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002060"/>
                </a:solidFill>
                <a:latin typeface="Menlo" panose="020B0609030804020204" pitchFamily="49" charset="0"/>
                <a:ea typeface="Menlo" panose="020B0609030804020204" pitchFamily="49" charset="0"/>
                <a:cs typeface="Menlo" panose="020B0609030804020204" pitchFamily="49" charset="0"/>
              </a:rPr>
              <a:t>message</a:t>
            </a:r>
            <a:r>
              <a:rPr lang="en-US" sz="1800" dirty="0">
                <a:latin typeface="Menlo" panose="020B0609030804020204" pitchFamily="49" charset="0"/>
                <a:ea typeface="Menlo" panose="020B0609030804020204" pitchFamily="49" charset="0"/>
                <a:cs typeface="Menlo" panose="020B0609030804020204" pitchFamily="49" charset="0"/>
              </a:rPr>
              <a:t>: </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`WELCOME,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auth</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highlight>
                  <a:srgbClr val="FFFF00"/>
                </a:highlight>
                <a:latin typeface="Menlo" panose="020B0609030804020204" pitchFamily="49" charset="0"/>
                <a:ea typeface="Menlo" panose="020B0609030804020204" pitchFamily="49" charset="0"/>
                <a:cs typeface="Menlo" panose="020B0609030804020204" pitchFamily="49" charset="0"/>
              </a:rPr>
              <a:t>data</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toUpperCase</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  }</a:t>
            </a:r>
          </a:p>
          <a:p>
            <a:pPr marL="0" indent="0">
              <a:spcBef>
                <a:spcPts val="0"/>
              </a:spcBef>
              <a:buNone/>
            </a:pP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app</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listen</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8000</a:t>
            </a:r>
            <a:r>
              <a:rPr lang="en-US" sz="1800" dirty="0">
                <a:latin typeface="Menlo" panose="020B0609030804020204" pitchFamily="49" charset="0"/>
                <a:ea typeface="Menlo" panose="020B0609030804020204" pitchFamily="49" charset="0"/>
                <a:cs typeface="Menlo" panose="020B0609030804020204" pitchFamily="49" charset="0"/>
              </a:rPr>
              <a:t>, () =&gt; </a:t>
            </a:r>
            <a:r>
              <a:rPr lang="en-US" sz="1800" dirty="0" err="1">
                <a:solidFill>
                  <a:srgbClr val="002060"/>
                </a:solidFill>
                <a:latin typeface="Menlo" panose="020B0609030804020204" pitchFamily="49" charset="0"/>
                <a:ea typeface="Menlo" panose="020B0609030804020204" pitchFamily="49" charset="0"/>
                <a:cs typeface="Menlo" panose="020B0609030804020204" pitchFamily="49" charset="0"/>
              </a:rPr>
              <a:t>console</a:t>
            </a:r>
            <a:r>
              <a:rPr lang="en-US" sz="1800" dirty="0" err="1">
                <a:latin typeface="Menlo" panose="020B0609030804020204" pitchFamily="49" charset="0"/>
                <a:ea typeface="Menlo" panose="020B0609030804020204" pitchFamily="49" charset="0"/>
                <a:cs typeface="Menlo" panose="020B0609030804020204" pitchFamily="49" charset="0"/>
              </a:rPr>
              <a:t>.</a:t>
            </a:r>
            <a:r>
              <a:rPr lang="en-US" sz="18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log</a:t>
            </a: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a:solidFill>
                  <a:srgbClr val="C00000"/>
                </a:solidFill>
                <a:latin typeface="Menlo" panose="020B0609030804020204" pitchFamily="49" charset="0"/>
                <a:ea typeface="Menlo" panose="020B0609030804020204" pitchFamily="49" charset="0"/>
                <a:cs typeface="Menlo" panose="020B0609030804020204" pitchFamily="49" charset="0"/>
              </a:rPr>
              <a:t>`Listening on port 8000`</a:t>
            </a:r>
            <a:r>
              <a:rPr lang="en-US" sz="1800" dirty="0">
                <a:latin typeface="Menlo" panose="020B0609030804020204" pitchFamily="49" charset="0"/>
                <a:ea typeface="Menlo" panose="020B0609030804020204" pitchFamily="49" charset="0"/>
                <a:cs typeface="Menlo" panose="020B0609030804020204" pitchFamily="49" charset="0"/>
              </a:rPr>
              <a:t>));</a:t>
            </a:r>
          </a:p>
          <a:p>
            <a:pPr marL="0" indent="0">
              <a:spcBef>
                <a:spcPts val="0"/>
              </a:spcBef>
              <a:buNone/>
            </a:pPr>
            <a:br>
              <a:rPr lang="en-US" sz="1800" dirty="0">
                <a:latin typeface="Menlo" panose="020B0609030804020204" pitchFamily="49" charset="0"/>
                <a:ea typeface="Menlo" panose="020B0609030804020204" pitchFamily="49" charset="0"/>
                <a:cs typeface="Menlo" panose="020B0609030804020204" pitchFamily="49" charset="0"/>
              </a:rPr>
            </a:br>
            <a:endParaRPr lang="en-US" sz="1800" dirty="0">
              <a:latin typeface="Menlo" panose="020B0609030804020204" pitchFamily="49" charset="0"/>
              <a:ea typeface="Menlo" panose="020B0609030804020204" pitchFamily="49" charset="0"/>
              <a:cs typeface="Menlo" panose="020B0609030804020204" pitchFamily="49" charset="0"/>
            </a:endParaRPr>
          </a:p>
          <a:p>
            <a:pPr marL="0" indent="0">
              <a:lnSpc>
                <a:spcPct val="110000"/>
              </a:lnSpc>
              <a:spcBef>
                <a:spcPts val="0"/>
              </a:spcBef>
              <a:buNone/>
            </a:pPr>
            <a:endParaRPr lang="en-US" sz="1800" dirty="0">
              <a:solidFill>
                <a:srgbClr val="3B3B3B"/>
              </a:solidFill>
              <a:latin typeface="Menlo" panose="020B0609030804020204" pitchFamily="49" charset="0"/>
              <a:ea typeface="Menlo" panose="020B0609030804020204" pitchFamily="49" charset="0"/>
              <a:cs typeface="Menlo" panose="020B0609030804020204" pitchFamily="49" charset="0"/>
            </a:endParaRPr>
          </a:p>
          <a:p>
            <a:pPr marL="0" indent="0">
              <a:spcBef>
                <a:spcPts val="0"/>
              </a:spcBef>
              <a:buNone/>
            </a:pPr>
            <a:endParaRPr lang="en-US" sz="1800"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2046813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7F18-B45B-CFC5-09EA-8501955B2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194F-7AC3-5E4A-D2E2-B1757CE5665E}"/>
              </a:ext>
            </a:extLst>
          </p:cNvPr>
          <p:cNvSpPr>
            <a:spLocks noGrp="1"/>
          </p:cNvSpPr>
          <p:nvPr>
            <p:ph type="title"/>
          </p:nvPr>
        </p:nvSpPr>
        <p:spPr/>
        <p:txBody>
          <a:bodyPr/>
          <a:lstStyle/>
          <a:p>
            <a:r>
              <a:rPr lang="en-US" dirty="0"/>
              <a:t>Review</a:t>
            </a:r>
          </a:p>
        </p:txBody>
      </p:sp>
      <p:sp>
        <p:nvSpPr>
          <p:cNvPr id="4" name="Slide Number Placeholder 3">
            <a:extLst>
              <a:ext uri="{FF2B5EF4-FFF2-40B4-BE49-F238E27FC236}">
                <a16:creationId xmlns:a16="http://schemas.microsoft.com/office/drawing/2014/main" id="{22A396DC-EAD6-C238-812F-A74D841313EC}"/>
              </a:ext>
            </a:extLst>
          </p:cNvPr>
          <p:cNvSpPr>
            <a:spLocks noGrp="1"/>
          </p:cNvSpPr>
          <p:nvPr>
            <p:ph type="sldNum" sz="quarter" idx="12"/>
          </p:nvPr>
        </p:nvSpPr>
        <p:spPr/>
        <p:txBody>
          <a:bodyPr/>
          <a:lstStyle/>
          <a:p>
            <a:fld id="{20F37917-FD3A-4669-9018-DA04BCDD3D75}" type="slidenum">
              <a:rPr lang="en-US" smtClean="0"/>
              <a:pPr/>
              <a:t>17</a:t>
            </a:fld>
            <a:endParaRPr lang="en-US"/>
          </a:p>
        </p:txBody>
      </p:sp>
      <p:sp>
        <p:nvSpPr>
          <p:cNvPr id="3" name="TextBox 2">
            <a:extLst>
              <a:ext uri="{FF2B5EF4-FFF2-40B4-BE49-F238E27FC236}">
                <a16:creationId xmlns:a16="http://schemas.microsoft.com/office/drawing/2014/main" id="{28CC9EFF-765C-086B-0DEB-9908E5B4857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45DFBD17-BF04-419C-395B-AF5A030E043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Content Placeholder 5">
            <a:extLst>
              <a:ext uri="{FF2B5EF4-FFF2-40B4-BE49-F238E27FC236}">
                <a16:creationId xmlns:a16="http://schemas.microsoft.com/office/drawing/2014/main" id="{C47B2FF9-0368-E616-6EDC-433FB770B78D}"/>
              </a:ext>
            </a:extLst>
          </p:cNvPr>
          <p:cNvSpPr>
            <a:spLocks noGrp="1"/>
          </p:cNvSpPr>
          <p:nvPr>
            <p:ph idx="1"/>
          </p:nvPr>
        </p:nvSpPr>
        <p:spPr/>
        <p:txBody>
          <a:bodyPr/>
          <a:lstStyle/>
          <a:p>
            <a:r>
              <a:rPr lang="en-US" dirty="0"/>
              <a:t>One view of TypeScript is that it’s a handy way of documenting, and </a:t>
            </a:r>
            <a:r>
              <a:rPr lang="en-US" i="1" dirty="0"/>
              <a:t>imperfectly</a:t>
            </a:r>
            <a:r>
              <a:rPr lang="en-US" dirty="0"/>
              <a:t> checking, the contracts (preconditions and postconditions) of your code</a:t>
            </a:r>
          </a:p>
          <a:p>
            <a:r>
              <a:rPr lang="en-US" dirty="0"/>
              <a:t>Do you need to test inputs that violate your contracts? It depends!</a:t>
            </a:r>
          </a:p>
          <a:p>
            <a:r>
              <a:rPr lang="en-US" dirty="0"/>
              <a:t>You can never trust that the input to a web server will obey any sort of </a:t>
            </a:r>
            <a:r>
              <a:rPr lang="en-US"/>
              <a:t>contract — </a:t>
            </a:r>
            <a:r>
              <a:rPr lang="en-US" dirty="0"/>
              <a:t>important to test!</a:t>
            </a:r>
          </a:p>
        </p:txBody>
      </p:sp>
    </p:spTree>
    <p:extLst>
      <p:ext uri="{BB962C8B-B14F-4D97-AF65-F5344CB8AC3E}">
        <p14:creationId xmlns:p14="http://schemas.microsoft.com/office/powerpoint/2010/main" val="1741171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24328</TotalTime>
  <Words>3278</Words>
  <Application>Microsoft Macintosh PowerPoint</Application>
  <PresentationFormat>Widescreen</PresentationFormat>
  <Paragraphs>295</Paragraphs>
  <Slides>17</Slides>
  <Notes>17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Menlo</vt:lpstr>
      <vt:lpstr>Arial</vt:lpstr>
      <vt:lpstr>Verdana</vt:lpstr>
      <vt:lpstr>Calibri</vt:lpstr>
      <vt:lpstr>Helvetica Neue</vt:lpstr>
      <vt:lpstr>Office Theme</vt:lpstr>
      <vt:lpstr>CS 4530: Fundamentals of Software Engineering Module 3.1: Trusting TypeScript (or not!)</vt:lpstr>
      <vt:lpstr>Learning Goals for this Lesson</vt:lpstr>
      <vt:lpstr>What Inputs Should We Test?</vt:lpstr>
      <vt:lpstr>What Inputs Should We Test?</vt:lpstr>
      <vt:lpstr>For Unit Testing, Tests Inputs Should Respect a Function’s Contracts</vt:lpstr>
      <vt:lpstr>For Unit Testing, Tests Inputs Should Respect a Function’s Contracts</vt:lpstr>
      <vt:lpstr>TypeScript Types Are Easily Circumvented (1)</vt:lpstr>
      <vt:lpstr>TypeScript Types Are Easily Circumvented (2)</vt:lpstr>
      <vt:lpstr>What Trusting Contracts Looks Like</vt:lpstr>
      <vt:lpstr>Untrusted Inputs</vt:lpstr>
      <vt:lpstr>Untrusted Inputs should be unknown</vt:lpstr>
      <vt:lpstr>Untrusted Inputs Should be “unknown”</vt:lpstr>
      <vt:lpstr>Libraries Make Checking Types Easier</vt:lpstr>
      <vt:lpstr>Using “any”: Common, Not Great</vt:lpstr>
      <vt:lpstr>Using “any”: Common, Not Great</vt:lpstr>
      <vt:lpstr>Improving This Web Server With Zod</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249</cp:revision>
  <cp:lastPrinted>2026-01-02T18:10:21Z</cp:lastPrinted>
  <dcterms:created xsi:type="dcterms:W3CDTF">2021-01-07T15:19:22Z</dcterms:created>
  <dcterms:modified xsi:type="dcterms:W3CDTF">2026-01-02T18:11:01Z</dcterms:modified>
</cp:coreProperties>
</file>