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3"/>
  </p:notesMasterIdLst>
  <p:sldIdLst>
    <p:sldId id="485" r:id="rId2"/>
    <p:sldId id="579" r:id="rId3"/>
    <p:sldId id="652" r:id="rId4"/>
    <p:sldId id="653" r:id="rId5"/>
    <p:sldId id="583" r:id="rId6"/>
    <p:sldId id="657" r:id="rId7"/>
    <p:sldId id="666" r:id="rId8"/>
    <p:sldId id="668" r:id="rId9"/>
    <p:sldId id="669" r:id="rId10"/>
    <p:sldId id="670" r:id="rId11"/>
    <p:sldId id="665" r:id="rId12"/>
    <p:sldId id="672" r:id="rId13"/>
    <p:sldId id="674" r:id="rId14"/>
    <p:sldId id="675" r:id="rId15"/>
    <p:sldId id="676" r:id="rId16"/>
    <p:sldId id="671" r:id="rId17"/>
    <p:sldId id="667" r:id="rId18"/>
    <p:sldId id="655" r:id="rId19"/>
    <p:sldId id="656" r:id="rId20"/>
    <p:sldId id="264" r:id="rId21"/>
    <p:sldId id="258" r:id="rId22"/>
    <p:sldId id="584" r:id="rId23"/>
    <p:sldId id="585" r:id="rId24"/>
    <p:sldId id="586" r:id="rId25"/>
    <p:sldId id="587" r:id="rId26"/>
    <p:sldId id="589" r:id="rId27"/>
    <p:sldId id="663" r:id="rId28"/>
    <p:sldId id="661" r:id="rId29"/>
    <p:sldId id="588" r:id="rId30"/>
    <p:sldId id="658" r:id="rId31"/>
    <p:sldId id="617" r:id="rId32"/>
    <p:sldId id="620" r:id="rId33"/>
    <p:sldId id="619" r:id="rId34"/>
    <p:sldId id="621" r:id="rId35"/>
    <p:sldId id="622" r:id="rId36"/>
    <p:sldId id="659" r:id="rId37"/>
    <p:sldId id="660" r:id="rId38"/>
    <p:sldId id="291" r:id="rId39"/>
    <p:sldId id="664" r:id="rId40"/>
    <p:sldId id="654" r:id="rId41"/>
    <p:sldId id="631" r:id="rId42"/>
  </p:sldIdLst>
  <p:sldSz cx="12192000" cy="6858000"/>
  <p:notesSz cx="6858000" cy="9144000"/>
  <p:embeddedFontLst>
    <p:embeddedFont>
      <p:font typeface="Comic Sans MS" panose="030F0902030302020204" pitchFamily="66" charset="0"/>
      <p:regular r:id="rId44"/>
    </p:embeddedFont>
    <p:embeddedFont>
      <p:font typeface="Consolas" panose="020B0609020204030204" pitchFamily="49" charset="0"/>
      <p:regular r:id="rId45"/>
      <p:bold r:id="rId46"/>
      <p:italic r:id="rId47"/>
      <p:boldItalic r:id="rId48"/>
    </p:embeddedFont>
    <p:embeddedFont>
      <p:font typeface="Verdana" panose="020B0604030504040204" pitchFamily="34" charset="0"/>
      <p:regular r:id="rId49"/>
      <p:bold r:id="rId50"/>
      <p:italic r:id="rId51"/>
      <p:boldItalic r:id="rId5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9"/>
            <p14:sldId id="652"/>
            <p14:sldId id="653"/>
            <p14:sldId id="583"/>
            <p14:sldId id="657"/>
            <p14:sldId id="666"/>
            <p14:sldId id="668"/>
            <p14:sldId id="669"/>
            <p14:sldId id="670"/>
            <p14:sldId id="665"/>
            <p14:sldId id="672"/>
            <p14:sldId id="674"/>
            <p14:sldId id="675"/>
            <p14:sldId id="676"/>
            <p14:sldId id="671"/>
            <p14:sldId id="667"/>
            <p14:sldId id="655"/>
            <p14:sldId id="656"/>
            <p14:sldId id="264"/>
            <p14:sldId id="258"/>
            <p14:sldId id="584"/>
            <p14:sldId id="585"/>
            <p14:sldId id="586"/>
            <p14:sldId id="587"/>
            <p14:sldId id="589"/>
            <p14:sldId id="663"/>
            <p14:sldId id="661"/>
            <p14:sldId id="588"/>
            <p14:sldId id="658"/>
            <p14:sldId id="617"/>
            <p14:sldId id="620"/>
            <p14:sldId id="619"/>
            <p14:sldId id="621"/>
            <p14:sldId id="622"/>
            <p14:sldId id="659"/>
            <p14:sldId id="660"/>
            <p14:sldId id="291"/>
            <p14:sldId id="664"/>
            <p14:sldId id="654"/>
            <p14:sldId id="631"/>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65677" autoAdjust="0"/>
  </p:normalViewPr>
  <p:slideViewPr>
    <p:cSldViewPr snapToGrid="0">
      <p:cViewPr varScale="1">
        <p:scale>
          <a:sx n="103" d="100"/>
          <a:sy n="103" d="100"/>
        </p:scale>
        <p:origin x="432"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12/30/25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Assemble/Act/Assess. Testing a function like this one is always going to involve:</a:t>
            </a:r>
          </a:p>
          <a:p>
            <a:endParaRPr lang="en-US" dirty="0"/>
          </a:p>
          <a:p>
            <a:r>
              <a:rPr lang="en-US" dirty="0"/>
              <a:t> - Assembling an input</a:t>
            </a:r>
          </a:p>
          <a:p>
            <a:r>
              <a:rPr lang="en-US" dirty="0"/>
              <a:t> - Acting by passing that input to the function</a:t>
            </a:r>
          </a:p>
          <a:p>
            <a:r>
              <a:rPr lang="en-US" dirty="0"/>
              <a:t> - Assessing something about what the function does</a:t>
            </a:r>
          </a:p>
          <a:p>
            <a:endParaRPr lang="en-US" dirty="0"/>
          </a:p>
          <a:p>
            <a:r>
              <a:rPr lang="en-US" dirty="0"/>
              <a:t>How should we test this function? What inputs should we pass it?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doesn’t have type “number,” just as it will happily run it on an input that violates the “nonnegative integer” contract in the precondition.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reality is that different software projects use TypeScript in fundamentally different ways. It’s possible, in most cases, to make choices in a project that make mistakes less likely. Our project code sets up the </a:t>
            </a:r>
            <a:r>
              <a:rPr lang="en-US" dirty="0" err="1"/>
              <a:t>ESLint</a:t>
            </a:r>
            <a:r>
              <a:rPr lang="en-US" dirty="0"/>
              <a:t> linter with a lot of rules that enforce this strict use of TypeScript.</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694065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Here’s a more real version of the initial example, a piece of code from the project codebase. Both the comments and the types are telling us about the function’s preconditions, which help set  the expectations for testing the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We’d definitely want to test this function with a valid chat ID and an invalid chat ID.</a:t>
            </a:r>
          </a:p>
          <a:p>
            <a:endParaRPr lang="en-US" dirty="0"/>
          </a:p>
          <a:p>
            <a:r>
              <a:rPr lang="en-US" dirty="0"/>
              <a:t>TypeScript won’t consistently enforce that we’ll only pass a message ID that’s a string, and not a number or an object or something else — and TypeScript definitely won’t enforce that you only call the function with valid message IDs that correspond to actual messages. But the contracts on this function — but if we’re trusting that this function will be called in ways that respect the function’s contracts, we don’t need to test it with a message ID 4, or with a random string message ID that doesn’t correspond to a message.</a:t>
            </a:r>
          </a:p>
          <a:p>
            <a:endParaRPr lang="en-US" dirty="0"/>
          </a:p>
          <a:p>
            <a:r>
              <a:rPr lang="en-US" dirty="0"/>
              <a:t>But maybe we don’t trust ourselves and the evolution of our code over time, so we want to write the test anyway! There’s not a single right answer. What are the tradeoffs for writing tests that violate the stated preconditions? (One answer: if you write tests that violate the preconditions, that may push you to check for the precondition violation in code. Which means your code is now more slower and more complicated than it had to be!)</a:t>
            </a:r>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3D2D4-3B06-92DD-2ABB-088B1DBA7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101BA-48A2-D84E-4FC4-92812349A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17B64-C914-2D5D-3BBC-4469E3D1FD1F}"/>
              </a:ext>
            </a:extLst>
          </p:cNvPr>
          <p:cNvSpPr>
            <a:spLocks noGrp="1"/>
          </p:cNvSpPr>
          <p:nvPr>
            <p:ph type="body" idx="1"/>
          </p:nvPr>
        </p:nvSpPr>
        <p:spPr/>
        <p:txBody>
          <a:bodyPr/>
          <a:lstStyle/>
          <a:p>
            <a:r>
              <a:rPr lang="en-US" dirty="0"/>
              <a:t>Not all inputs to your programs can be trusted to have any particular shape or form, however!</a:t>
            </a:r>
          </a:p>
          <a:p>
            <a:endParaRPr lang="en-US" dirty="0"/>
          </a:p>
          <a:p>
            <a:r>
              <a:rPr lang="en-US" dirty="0"/>
              <a:t>When you give an input to a website through a web browser, the code on the web browser will make sure the request has a specific format. But the nature of web applications is that those submissions can </a:t>
            </a:r>
            <a:r>
              <a:rPr lang="en-US" i="1" dirty="0"/>
              <a:t>always </a:t>
            </a:r>
            <a:r>
              <a:rPr lang="en-US" i="0" dirty="0"/>
              <a:t>be done in different ways, without the same guardrails.</a:t>
            </a:r>
          </a:p>
          <a:p>
            <a:endParaRPr lang="en-US" i="0" dirty="0"/>
          </a:p>
          <a:p>
            <a:r>
              <a:rPr lang="en-US" i="0" dirty="0"/>
              <a:t>On the upper right we show the same action of creating a </a:t>
            </a:r>
            <a:r>
              <a:rPr lang="en-US" i="0" dirty="0" err="1"/>
              <a:t>GameNite</a:t>
            </a:r>
            <a:r>
              <a:rPr lang="en-US" i="0" dirty="0"/>
              <a:t> account being done through the “Postman” program (there’s a Postman tutorial on the website), and on the command line with a command-line “curl” command. (You can get “curl” commands out of Postman too.)</a:t>
            </a:r>
            <a:endParaRPr lang="en-US" dirty="0"/>
          </a:p>
        </p:txBody>
      </p:sp>
      <p:sp>
        <p:nvSpPr>
          <p:cNvPr id="4" name="Slide Number Placeholder 3">
            <a:extLst>
              <a:ext uri="{FF2B5EF4-FFF2-40B4-BE49-F238E27FC236}">
                <a16:creationId xmlns:a16="http://schemas.microsoft.com/office/drawing/2014/main" id="{2FF8C9A4-B2EE-6557-8062-EF8775204CD1}"/>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61962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3F2F5-3486-F3D4-01BD-3A260D56A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A9310-4DD7-173D-212C-E57A29B49F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C2DE8-FE51-C4EA-5FC3-AEBE167FCF82}"/>
              </a:ext>
            </a:extLst>
          </p:cNvPr>
          <p:cNvSpPr>
            <a:spLocks noGrp="1"/>
          </p:cNvSpPr>
          <p:nvPr>
            <p:ph type="body" idx="1"/>
          </p:nvPr>
        </p:nvSpPr>
        <p:spPr/>
        <p:txBody>
          <a:bodyPr/>
          <a:lstStyle/>
          <a:p>
            <a:r>
              <a:rPr lang="en-US" dirty="0"/>
              <a:t>TypeScript has a way of dealing with inputs when you can’t trust that the input is going to obey any sort of contract: the unknown type.</a:t>
            </a:r>
          </a:p>
          <a:p>
            <a:endParaRPr lang="en-US" dirty="0"/>
          </a:p>
          <a:p>
            <a:r>
              <a:rPr lang="en-US" dirty="0"/>
              <a:t>(click)</a:t>
            </a:r>
          </a:p>
          <a:p>
            <a:r>
              <a:rPr lang="en-US" dirty="0"/>
              <a:t>If you have an unknown value and you try to do pretty much anything to it (such as cast it to uppercase like it’s a string), TypeScript will yell at you. </a:t>
            </a:r>
          </a:p>
          <a:p>
            <a:endParaRPr lang="en-US" dirty="0"/>
          </a:p>
          <a:p>
            <a:r>
              <a:rPr lang="en-US" dirty="0"/>
              <a:t>(click)</a:t>
            </a:r>
          </a:p>
          <a:p>
            <a:r>
              <a:rPr lang="en-US" dirty="0"/>
              <a:t>But if you check that it’s a string first with JavaScript’s </a:t>
            </a:r>
            <a:r>
              <a:rPr lang="en-US" dirty="0" err="1"/>
              <a:t>typeof</a:t>
            </a:r>
            <a:r>
              <a:rPr lang="en-US" dirty="0"/>
              <a:t> function, TypeScript will then remember that you’ve checked that it’s a string.</a:t>
            </a:r>
          </a:p>
        </p:txBody>
      </p:sp>
      <p:sp>
        <p:nvSpPr>
          <p:cNvPr id="4" name="Slide Number Placeholder 3">
            <a:extLst>
              <a:ext uri="{FF2B5EF4-FFF2-40B4-BE49-F238E27FC236}">
                <a16:creationId xmlns:a16="http://schemas.microsoft.com/office/drawing/2014/main" id="{9BF8BCC5-B2AB-557F-2B03-6F1C9309125F}"/>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39117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5B551-2ACB-87DF-621E-8CF85F22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3843C4-E597-FB7B-4107-41A7F5EE87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35BE9-25C8-D5D8-AEDF-FF73546206B2}"/>
              </a:ext>
            </a:extLst>
          </p:cNvPr>
          <p:cNvSpPr>
            <a:spLocks noGrp="1"/>
          </p:cNvSpPr>
          <p:nvPr>
            <p:ph type="body" idx="1"/>
          </p:nvPr>
        </p:nvSpPr>
        <p:spPr/>
        <p:txBody>
          <a:bodyPr/>
          <a:lstStyle/>
          <a:p>
            <a:r>
              <a:rPr lang="en-US" dirty="0"/>
              <a:t>This was just about shortest code I could come up with to use straightforward TypeScript to reliably take an unknown piece of data and get record with a string username and a string password.</a:t>
            </a:r>
          </a:p>
        </p:txBody>
      </p:sp>
      <p:sp>
        <p:nvSpPr>
          <p:cNvPr id="4" name="Slide Number Placeholder 3">
            <a:extLst>
              <a:ext uri="{FF2B5EF4-FFF2-40B4-BE49-F238E27FC236}">
                <a16:creationId xmlns:a16="http://schemas.microsoft.com/office/drawing/2014/main" id="{2FEAF677-102E-2F95-DC9E-3BC9DE0972A6}"/>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960252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EF256-FC42-E509-0AE2-20ED6E83E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A4400-19B1-61D6-AC65-F55617D33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E9C0F3-BA1B-3144-59CA-48D65C56BABC}"/>
              </a:ext>
            </a:extLst>
          </p:cNvPr>
          <p:cNvSpPr>
            <a:spLocks noGrp="1"/>
          </p:cNvSpPr>
          <p:nvPr>
            <p:ph type="body" idx="1"/>
          </p:nvPr>
        </p:nvSpPr>
        <p:spPr/>
        <p:txBody>
          <a:bodyPr/>
          <a:lstStyle/>
          <a:p>
            <a:r>
              <a:rPr lang="en-US" dirty="0"/>
              <a:t>Zod is a library that lets us create representations of the TypeScript types we want to enforce, and then use a function like </a:t>
            </a:r>
            <a:r>
              <a:rPr lang="en-US" dirty="0" err="1"/>
              <a:t>safeParse</a:t>
            </a:r>
            <a:r>
              <a:rPr lang="en-US" dirty="0"/>
              <a:t> to ensure that the object really has the structure we expect it to have.</a:t>
            </a:r>
          </a:p>
          <a:p>
            <a:endParaRPr lang="en-US" dirty="0"/>
          </a:p>
          <a:p>
            <a:r>
              <a:rPr lang="en-US" dirty="0"/>
              <a:t>(click)</a:t>
            </a:r>
          </a:p>
          <a:p>
            <a:r>
              <a:rPr lang="en-US" dirty="0"/>
              <a:t>If you put this code in </a:t>
            </a:r>
            <a:r>
              <a:rPr lang="en-US" dirty="0" err="1"/>
              <a:t>VSCode</a:t>
            </a:r>
            <a:r>
              <a:rPr lang="en-US" dirty="0"/>
              <a:t> and hover over “Auth”, you’ll see it’s exactly the type that we want, so we don’t even have to write the same type twice.</a:t>
            </a:r>
          </a:p>
          <a:p>
            <a:endParaRPr lang="en-US" dirty="0"/>
          </a:p>
        </p:txBody>
      </p:sp>
      <p:sp>
        <p:nvSpPr>
          <p:cNvPr id="4" name="Slide Number Placeholder 3">
            <a:extLst>
              <a:ext uri="{FF2B5EF4-FFF2-40B4-BE49-F238E27FC236}">
                <a16:creationId xmlns:a16="http://schemas.microsoft.com/office/drawing/2014/main" id="{B5E2D8E2-9F92-7BAD-8C7B-7855949EF681}"/>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5184569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(click)</a:t>
            </a:r>
          </a:p>
          <a:p>
            <a:r>
              <a:rPr lang="en-US" dirty="0"/>
              <a:t>The third line covers an enormous amount of validation — it ensures that our web server will only respond to specific requests that send JSON data (we’ll be using JSON data a lot in the class, there’s an article about it in the </a:t>
            </a:r>
            <a:r>
              <a:rPr lang="en-US" dirty="0" err="1"/>
              <a:t>resoures</a:t>
            </a:r>
            <a:r>
              <a:rPr lang="en-US" dirty="0"/>
              <a:t> for this lecture)</a:t>
            </a:r>
          </a:p>
          <a:p>
            <a:endParaRPr lang="en-US" dirty="0"/>
          </a:p>
          <a:p>
            <a:r>
              <a:rPr lang="en-US" dirty="0"/>
              <a:t>(click)</a:t>
            </a:r>
          </a:p>
          <a:p>
            <a:r>
              <a:rPr lang="en-US" dirty="0"/>
              <a:t>However, the line that lets `</a:t>
            </a:r>
            <a:r>
              <a:rPr lang="en-US" dirty="0" err="1"/>
              <a:t>req.body</a:t>
            </a:r>
            <a:r>
              <a:rPr lang="en-US" dirty="0"/>
              <a:t>` be treated as an `Auth` is no good — it’s only allowed because the express library treats untrusted request bodies as “any”, not as “unknown.” This makes the express server a lot easier to use… and also makes it a lot easier to make errors.</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18DB-7251-A596-69C9-9AD34AC1A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2CD85-3EEA-141E-25BC-E1DC51954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D64E0-2374-DAF7-3837-0B2C34A60862}"/>
              </a:ext>
            </a:extLst>
          </p:cNvPr>
          <p:cNvSpPr>
            <a:spLocks noGrp="1"/>
          </p:cNvSpPr>
          <p:nvPr>
            <p:ph type="body" idx="1"/>
          </p:nvPr>
        </p:nvSpPr>
        <p:spPr/>
        <p:txBody>
          <a:bodyPr/>
          <a:lstStyle/>
          <a:p>
            <a:r>
              <a:rPr lang="en-US" dirty="0"/>
              <a:t>Plausible but incorrect answer: null or 3, anything that will cause an error if you try to project out the “password” field. This actually doesn’t work, because </a:t>
            </a:r>
            <a:r>
              <a:rPr lang="en-US" dirty="0" err="1"/>
              <a:t>express.json</a:t>
            </a:r>
            <a:r>
              <a:rPr lang="en-US" dirty="0"/>
              <a:t>() only accepts JSON that represents an </a:t>
            </a:r>
            <a:r>
              <a:rPr lang="en-US" i="1" dirty="0"/>
              <a:t>object </a:t>
            </a:r>
            <a:r>
              <a:rPr lang="en-US" i="0" dirty="0"/>
              <a:t>or an </a:t>
            </a:r>
            <a:r>
              <a:rPr lang="en-US" i="1" dirty="0"/>
              <a:t>array</a:t>
            </a:r>
            <a:r>
              <a:rPr lang="en-US" i="0" dirty="0"/>
              <a:t>. </a:t>
            </a:r>
          </a:p>
          <a:p>
            <a:endParaRPr lang="en-US" i="0" dirty="0"/>
          </a:p>
          <a:p>
            <a:r>
              <a:rPr lang="en-US" i="0" dirty="0"/>
              <a:t>You can allow any JSON by replacing </a:t>
            </a:r>
            <a:r>
              <a:rPr lang="en-US" i="0" dirty="0" err="1"/>
              <a:t>express.json</a:t>
            </a:r>
            <a:r>
              <a:rPr lang="en-US" i="0" dirty="0"/>
              <a:t>() with </a:t>
            </a:r>
            <a:r>
              <a:rPr lang="en-US" i="0" dirty="0" err="1"/>
              <a:t>express.json</a:t>
            </a:r>
            <a:r>
              <a:rPr lang="en-US" i="0" dirty="0"/>
              <a:t>({ strict: false })</a:t>
            </a:r>
          </a:p>
          <a:p>
            <a:endParaRPr lang="en-US" i="0" dirty="0"/>
          </a:p>
          <a:p>
            <a:r>
              <a:rPr lang="en-US" dirty="0"/>
              <a:t>True answer: something like { username: 4, password: secret } will trigger </a:t>
            </a:r>
            <a:r>
              <a:rPr lang="en-US" dirty="0" err="1"/>
              <a:t>toUpperCase</a:t>
            </a:r>
            <a:endParaRPr lang="en-US" dirty="0"/>
          </a:p>
        </p:txBody>
      </p:sp>
      <p:sp>
        <p:nvSpPr>
          <p:cNvPr id="4" name="Slide Number Placeholder 3">
            <a:extLst>
              <a:ext uri="{FF2B5EF4-FFF2-40B4-BE49-F238E27FC236}">
                <a16:creationId xmlns:a16="http://schemas.microsoft.com/office/drawing/2014/main" id="{5F57C527-7D2C-1311-07F0-43B863181E44}"/>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8250799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43747-9C7C-B08C-A838-CF2D7CE84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C7350-0944-ADF6-0F6B-905B5FA7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F1F15C-CD2B-B4DF-C52A-D7A02F1A7FA2}"/>
              </a:ext>
            </a:extLst>
          </p:cNvPr>
          <p:cNvSpPr>
            <a:spLocks noGrp="1"/>
          </p:cNvSpPr>
          <p:nvPr>
            <p:ph type="body" idx="1"/>
          </p:nvPr>
        </p:nvSpPr>
        <p:spPr/>
        <p:txBody>
          <a:bodyPr/>
          <a:lstStyle/>
          <a:p>
            <a:r>
              <a:rPr lang="en-US" dirty="0"/>
              <a:t>Express’s design was set in stone before tools like Zod existed that made it easier to build code that actually gets validation right.</a:t>
            </a:r>
          </a:p>
        </p:txBody>
      </p:sp>
      <p:sp>
        <p:nvSpPr>
          <p:cNvPr id="4" name="Slide Number Placeholder 3">
            <a:extLst>
              <a:ext uri="{FF2B5EF4-FFF2-40B4-BE49-F238E27FC236}">
                <a16:creationId xmlns:a16="http://schemas.microsoft.com/office/drawing/2014/main" id="{F43FEA7B-6C46-36E4-0B8C-291CE694E7AB}"/>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1667529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5973981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2677B-204E-5CCF-86C7-304CF10C00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92DC3-E99F-D1A1-14A5-6E16E074D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316F66-E7D2-842F-807C-2C4992AF70B6}"/>
              </a:ext>
            </a:extLst>
          </p:cNvPr>
          <p:cNvSpPr>
            <a:spLocks noGrp="1"/>
          </p:cNvSpPr>
          <p:nvPr>
            <p:ph type="body" idx="1"/>
          </p:nvPr>
        </p:nvSpPr>
        <p:spPr/>
        <p:txBody>
          <a:bodyPr/>
          <a:lstStyle/>
          <a:p>
            <a:r>
              <a:rPr lang="en-US" dirty="0"/>
              <a:t>The reality is that different software projects use TypeScript in fundamentally different ways. It’s possible, in most cases, to make choices in a project that make mistakes less likely. Our project code sets up the </a:t>
            </a:r>
            <a:r>
              <a:rPr lang="en-US" dirty="0" err="1"/>
              <a:t>ESLint</a:t>
            </a:r>
            <a:r>
              <a:rPr lang="en-US" dirty="0"/>
              <a:t> linter with a lot of rules that enforce this strict use of TypeScript.</a:t>
            </a:r>
          </a:p>
          <a:p>
            <a:endParaRPr lang="en-US" dirty="0"/>
          </a:p>
          <a:p>
            <a:r>
              <a:rPr lang="en-US" dirty="0"/>
              <a:t>The unknown type means that TypeScript won’t let you assume anything about what the value is. The any type </a:t>
            </a:r>
            <a:r>
              <a:rPr lang="en-US" i="1" dirty="0"/>
              <a:t>seems</a:t>
            </a:r>
            <a:r>
              <a:rPr lang="en-US" i="0" dirty="0"/>
              <a:t> like it should mean the same thing, but what it actually does is let TypeScript pretend that your types make perfect sense no matter what. This is a recipe for having no idea what’s going on in your application!</a:t>
            </a:r>
            <a:endParaRPr lang="en-US" dirty="0"/>
          </a:p>
        </p:txBody>
      </p:sp>
      <p:sp>
        <p:nvSpPr>
          <p:cNvPr id="4" name="Slide Number Placeholder 3">
            <a:extLst>
              <a:ext uri="{FF2B5EF4-FFF2-40B4-BE49-F238E27FC236}">
                <a16:creationId xmlns:a16="http://schemas.microsoft.com/office/drawing/2014/main" id="{F3920446-8B88-37F6-D5AB-D82389EE7111}"/>
              </a:ext>
            </a:extLst>
          </p:cNvPr>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12241135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433312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taking an unknown value in TypeScript and checking that it has the structure expected by the Auth type.</a:t>
            </a:r>
          </a:p>
          <a:p>
            <a:endParaRPr lang="en-US" dirty="0"/>
          </a:p>
          <a:p>
            <a:r>
              <a:rPr lang="en-US" dirty="0"/>
              <a:t>This is pretty complicated to do comprehensively: and there are still other things that could have been checked here that we didn’t check. Can you figure out any surprising values that might get </a:t>
            </a:r>
            <a:r>
              <a:rPr lang="en-US" dirty="0" err="1"/>
              <a:t>isAuth</a:t>
            </a:r>
            <a:r>
              <a:rPr lang="en-US" dirty="0"/>
              <a:t> to evaluate to true? (The only one I can think of is if there are extra fields, which is a good one to point out)</a:t>
            </a:r>
          </a:p>
          <a:p>
            <a:endParaRPr lang="en-US" dirty="0"/>
          </a:p>
          <a:p>
            <a:r>
              <a:rPr lang="en-US" dirty="0"/>
              <a:t>First, remember: unknown is the right type to use if you don’t know the type of something, not any</a:t>
            </a:r>
          </a:p>
          <a:p>
            <a:endParaRPr lang="en-US" dirty="0"/>
          </a:p>
          <a:p>
            <a:r>
              <a:rPr lang="en-US" dirty="0"/>
              <a:t>Second, while you probably won’t need to use the “x is &lt;type&gt;” TypeScript construct in this class, when you encounter it you have to be very careful: TypeScript will just trust you that if you pass the function that the thing must be the type you say it is. (TypeScript: it’s really helpful but it’s full of lots and lots of footguns and caveats!)</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317656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&lt;click&gt; Our focus is on testing as part of the test-driven development process.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assumption behind test-driven specification is that the real specification is often not written out explicitly or precisely, so often the tests are the most effective documentation of that unwritten spec. You may have specific domain knowledge that future developers who touch the code do not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Shape 277"/>
          <p:cNvSpPr>
            <a:spLocks noGrp="1" noRot="1" noChangeAspect="1"/>
          </p:cNvSpPr>
          <p:nvPr>
            <p:ph type="sldImg"/>
          </p:nvPr>
        </p:nvSpPr>
        <p:spPr>
          <a:xfrm>
            <a:off x="381000" y="685800"/>
            <a:ext cx="6096000" cy="3429000"/>
          </a:xfrm>
          <a:prstGeom prst="rect">
            <a:avLst/>
          </a:prstGeom>
        </p:spPr>
        <p:txBody>
          <a:bodyPr/>
          <a:lstStyle/>
          <a:p>
            <a:endParaRPr/>
          </a:p>
        </p:txBody>
      </p:sp>
      <p:sp>
        <p:nvSpPr>
          <p:cNvPr id="278" name="Shape 278"/>
          <p:cNvSpPr>
            <a:spLocks noGrp="1"/>
          </p:cNvSpPr>
          <p:nvPr>
            <p:ph type="body" sz="quarter" idx="1"/>
          </p:nvPr>
        </p:nvSpPr>
        <p:spPr>
          <a:prstGeom prst="rect">
            <a:avLst/>
          </a:prstGeom>
        </p:spPr>
        <p:txBody>
          <a:bodyPr/>
          <a:lstStyle/>
          <a:p>
            <a:pPr defTabSz="914400">
              <a:defRPr sz="1200"/>
            </a:pPr>
            <a:r>
              <a:rPr dirty="0"/>
              <a:t>&lt;read slide</a:t>
            </a:r>
            <a:r>
              <a:rPr lang="en-US" dirty="0"/>
              <a:t>&gt;</a:t>
            </a:r>
          </a:p>
          <a:p>
            <a:pPr defTabSz="914400">
              <a:defRPr sz="1200"/>
            </a:pPr>
            <a:r>
              <a:rPr lang="en-US" dirty="0"/>
              <a:t>Discuss: Are there any other qualities for a “good” test?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way to think about when you’ve written enough tests is </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Note that this is the kind of mistake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 tell the difference"?</a:t>
            </a:r>
          </a:p>
        </p:txBody>
      </p:sp>
    </p:spTree>
    <p:extLst>
      <p:ext uri="{BB962C8B-B14F-4D97-AF65-F5344CB8AC3E}">
        <p14:creationId xmlns:p14="http://schemas.microsoft.com/office/powerpoint/2010/main" val="30231196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opponent starts by running your tests against your code (this is called the "dry run").  It then generates a set of modified versions of your code.   These are called the "mutants".   Some mutations introduce bugs (here, mutants 1 and 2).  Some mutations may be benign (here mutant 3).  </a:t>
            </a:r>
          </a:p>
          <a:p>
            <a:endParaRPr lang="en-US" dirty="0"/>
          </a:p>
        </p:txBody>
      </p:sp>
    </p:spTree>
    <p:extLst>
      <p:ext uri="{BB962C8B-B14F-4D97-AF65-F5344CB8AC3E}">
        <p14:creationId xmlns:p14="http://schemas.microsoft.com/office/powerpoint/2010/main" val="8952032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each round of the game, your tests are run against each of the mutants.  Your tests will reject some of the mutants-- they are definitely buggy because they don't pass your tests.   We say those mutants are "dead". </a:t>
            </a:r>
          </a:p>
        </p:txBody>
      </p:sp>
    </p:spTree>
    <p:extLst>
      <p:ext uri="{BB962C8B-B14F-4D97-AF65-F5344CB8AC3E}">
        <p14:creationId xmlns:p14="http://schemas.microsoft.com/office/powerpoint/2010/main" val="2365647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But what about mutant #3?  Remember that the opponent doesn't have a reference solution or reference tests, so some of the mutants they generate may be innocuous.   You get to see exactly what was changed in mutant #3 (and any other surviving mutant), so you can inspect each surviving mutant by hand to decide.</a:t>
            </a:r>
          </a:p>
        </p:txBody>
      </p:sp>
    </p:spTree>
    <p:extLst>
      <p:ext uri="{BB962C8B-B14F-4D97-AF65-F5344CB8AC3E}">
        <p14:creationId xmlns:p14="http://schemas.microsoft.com/office/powerpoint/2010/main" val="16315999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&lt;click&gt;</a:t>
            </a:r>
          </a:p>
          <a:p>
            <a:r>
              <a:rPr lang="en-US" dirty="0"/>
              <a:t>Here, we imagine that you've decided that mutant #3 wasn't really bug: it was a change that doesn't affect the successful operation of your program.</a:t>
            </a:r>
          </a:p>
          <a:p>
            <a:endParaRPr lang="en-US" dirty="0"/>
          </a:p>
          <a:p>
            <a:r>
              <a:rPr lang="en-US" dirty="0"/>
              <a:t>You've killed all the buggy mutants, and all the survivors are harmless. You win!</a:t>
            </a:r>
          </a:p>
        </p:txBody>
      </p:sp>
    </p:spTree>
    <p:extLst>
      <p:ext uri="{BB962C8B-B14F-4D97-AF65-F5344CB8AC3E}">
        <p14:creationId xmlns:p14="http://schemas.microsoft.com/office/powerpoint/2010/main" val="7998096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&lt;click&gt;</a:t>
            </a:r>
          </a:p>
          <a:p>
            <a:r>
              <a:rPr lang="en-US" dirty="0"/>
              <a:t>Alternatively, you could decide that the modification introduced in mutant 3 really was a bug.   So you need to go back and modify your tests or write new tests to catch it.</a:t>
            </a:r>
          </a:p>
          <a:p>
            <a:endParaRPr lang="en-US" dirty="0"/>
          </a:p>
          <a:p>
            <a:r>
              <a:rPr lang="en-US" dirty="0"/>
              <a:t>And of course, then you go back to the beginning and run your new tests again, against the same set of mutants.</a:t>
            </a:r>
          </a:p>
          <a:p>
            <a:endParaRPr lang="en-US" dirty="0"/>
          </a:p>
          <a:p>
            <a:endParaRPr lang="en-US" dirty="0"/>
          </a:p>
        </p:txBody>
      </p:sp>
    </p:spTree>
    <p:extLst>
      <p:ext uri="{BB962C8B-B14F-4D97-AF65-F5344CB8AC3E}">
        <p14:creationId xmlns:p14="http://schemas.microsoft.com/office/powerpoint/2010/main" val="1896237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48171-4442-B15D-DE0D-B372B9BDC397}"/>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C66D89A7-B0D1-C436-6C0D-DB4F9CEF445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0871838B-0D1F-E7BC-D35F-37CF66C33B3C}"/>
              </a:ext>
            </a:extLst>
          </p:cNvPr>
          <p:cNvSpPr>
            <a:spLocks noGrp="1"/>
          </p:cNvSpPr>
          <p:nvPr>
            <p:ph type="body" sz="quarter" idx="1"/>
          </p:nvPr>
        </p:nvSpPr>
        <p:spPr>
          <a:prstGeom prst="rect">
            <a:avLst/>
          </a:prstGeom>
        </p:spPr>
        <p:txBody>
          <a:bodyPr/>
          <a:lstStyle/>
          <a:p>
            <a:r>
              <a:rPr lang="en-US" dirty="0"/>
              <a:t>The idea of "mutation testing" is that most defects are the result of simple errors.  (Is this a realistic assumption?  Spoiler alert: it's realistic enough!)</a:t>
            </a:r>
          </a:p>
          <a:p>
            <a:endParaRPr lang="en-US" dirty="0"/>
          </a:p>
          <a:p>
            <a:r>
              <a:rPr lang="en-US" dirty="0"/>
              <a:t> In mutation testing, the adversary generates buggy code by making simple changes.  Generating buggy code in this way is clearly automatable.</a:t>
            </a:r>
          </a:p>
          <a:p>
            <a:endParaRPr lang="en-US" dirty="0"/>
          </a:p>
          <a:p>
            <a:r>
              <a:rPr lang="en-US" dirty="0"/>
              <a:t>Note that this is the kind of mistake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 tell the difference"?</a:t>
            </a:r>
          </a:p>
          <a:p>
            <a:endParaRPr lang="en-US" dirty="0"/>
          </a:p>
          <a:p>
            <a:r>
              <a:rPr lang="en-US" dirty="0"/>
              <a:t>(Recall that a while ago we promised you help in making sure that your regions have the right boundaries.   This will help!)</a:t>
            </a:r>
            <a:endParaRPr dirty="0"/>
          </a:p>
        </p:txBody>
      </p:sp>
    </p:spTree>
    <p:extLst>
      <p:ext uri="{BB962C8B-B14F-4D97-AF65-F5344CB8AC3E}">
        <p14:creationId xmlns:p14="http://schemas.microsoft.com/office/powerpoint/2010/main" val="36674070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a:t>The idea of "mutation testing" is that most defects are the result of simple errors.  (Is this a realistic assumption?  Spoiler alert: it's realistic enough!)</a:t>
            </a:r>
          </a:p>
          <a:p>
            <a:endParaRPr lang="en-US"/>
          </a:p>
          <a:p>
            <a:r>
              <a:rPr lang="en-US"/>
              <a:t> In mutation testing, the adversary generates buggy code by making simple changes.  Generating buggy code in this way is clearly automatable.</a:t>
            </a:r>
          </a:p>
          <a:p>
            <a:endParaRPr lang="en-US"/>
          </a:p>
          <a:p>
            <a:r>
              <a:rPr lang="en-US"/>
              <a:t>Note that this is the kind of mistake that </a:t>
            </a:r>
            <a:r>
              <a:rPr lang="en-US" b="1"/>
              <a:t>you</a:t>
            </a:r>
            <a:r>
              <a:rPr lang="en-US" b="0"/>
              <a:t> might make if you were in a hurry, or tired, or it was late at night.</a:t>
            </a:r>
            <a:endParaRPr lang="en-US"/>
          </a:p>
          <a:p>
            <a:endParaRPr lang="en-US"/>
          </a:p>
          <a:p>
            <a:r>
              <a:rPr lang="en-US"/>
              <a:t>Snidely Whiplash (over there on the right) asks "can you tell the difference"?</a:t>
            </a:r>
          </a:p>
          <a:p>
            <a:endParaRPr lang="en-US"/>
          </a:p>
          <a:p>
            <a:r>
              <a:rPr lang="en-US"/>
              <a:t>(Recall that a while ago we promised you help in making sure that your regions have the right boundaries.   This will help!)</a:t>
            </a:r>
            <a:endParaRPr/>
          </a:p>
        </p:txBody>
      </p:sp>
    </p:spTree>
    <p:extLst>
      <p:ext uri="{BB962C8B-B14F-4D97-AF65-F5344CB8AC3E}">
        <p14:creationId xmlns:p14="http://schemas.microsoft.com/office/powerpoint/2010/main" val="31059232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7D4C7-0636-00E9-42C5-425BF03D0252}"/>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79702974-F08D-91D5-FAD5-D5DDC47AE4A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2D7FE792-4D68-F933-599A-7E3A55485DD6}"/>
              </a:ext>
            </a:extLst>
          </p:cNvPr>
          <p:cNvSpPr>
            <a:spLocks noGrp="1"/>
          </p:cNvSpPr>
          <p:nvPr>
            <p:ph type="body" sz="quarter" idx="1"/>
          </p:nvPr>
        </p:nvSpPr>
        <p:spPr>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Here's an example.   Should we make this particular error message part of the specification? Or is this an example of over-specification?  (Discuss)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Thinking about testing as a two-player game helps highlight these questions about what good tests are, and what it means for a program to pass its tests.</a:t>
            </a:r>
          </a:p>
          <a:p>
            <a:endParaRPr dirty="0"/>
          </a:p>
        </p:txBody>
      </p:sp>
    </p:spTree>
    <p:extLst>
      <p:ext uri="{BB962C8B-B14F-4D97-AF65-F5344CB8AC3E}">
        <p14:creationId xmlns:p14="http://schemas.microsoft.com/office/powerpoint/2010/main" val="398538873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module is divided into 3 lessons: &lt;read slide&gt;</a:t>
            </a:r>
          </a:p>
        </p:txBody>
      </p:sp>
    </p:spTree>
    <p:extLst>
      <p:ext uri="{BB962C8B-B14F-4D97-AF65-F5344CB8AC3E}">
        <p14:creationId xmlns:p14="http://schemas.microsoft.com/office/powerpoint/2010/main" val="35160475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12/30/25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12/30/25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12/30/25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12/30/25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12/30/25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12/30/25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12/30/25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12/30/25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12/30/25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12/30/25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12/30/25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tif"/><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32.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3.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4.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1.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jpeg"/><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3.1: Trusting TypeScript (or not!)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t> vs </a:t>
            </a:r>
            <a:r>
              <a:rPr lang="en-US">
                <a:latin typeface="Menlo" panose="020B0609030804020204" pitchFamily="49" charset="0"/>
                <a:ea typeface="Menlo" panose="020B0609030804020204" pitchFamily="49" charset="0"/>
                <a:cs typeface="Menlo" panose="020B0609030804020204" pitchFamily="49" charset="0"/>
              </a:rPr>
              <a:t>unknown</a:t>
            </a:r>
            <a:r>
              <a:rPr lang="en-US"/>
              <a:t> types </a:t>
            </a:r>
            <a:r>
              <a:rPr lang="en-US" dirty="0"/>
              <a:t>in TypeScript</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What Inputs Should We Test?</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input values do I need to test this function on?</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Prints "hello" repeatedly</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a:t>
            </a:r>
            <a:r>
              <a:rPr lang="en-US" b="0" dirty="0">
                <a:solidFill>
                  <a:srgbClr val="0000FF"/>
                </a:solidFill>
                <a:effectLst/>
                <a:latin typeface="Menlo" panose="020B0609030804020204" pitchFamily="49" charset="0"/>
              </a:rPr>
              <a:t>@param</a:t>
            </a:r>
            <a:r>
              <a:rPr lang="en-US" b="0" dirty="0">
                <a:solidFill>
                  <a:srgbClr val="008000"/>
                </a:solidFill>
                <a:effectLst/>
                <a:latin typeface="Menlo" panose="020B0609030804020204" pitchFamily="49" charset="0"/>
              </a:rPr>
              <a:t> </a:t>
            </a:r>
            <a:r>
              <a:rPr lang="en-US" b="0" dirty="0" err="1">
                <a:solidFill>
                  <a:srgbClr val="001080"/>
                </a:solidFill>
                <a:effectLst/>
                <a:latin typeface="Menlo" panose="020B0609030804020204" pitchFamily="49" charset="0"/>
              </a:rPr>
              <a:t>numHellos</a:t>
            </a:r>
            <a:r>
              <a:rPr lang="en-US" b="0" dirty="0">
                <a:solidFill>
                  <a:srgbClr val="008000"/>
                </a:solidFill>
                <a:effectLst/>
                <a:latin typeface="Menlo" panose="020B0609030804020204" pitchFamily="49" charset="0"/>
              </a:rPr>
              <a:t> - number of times to print “hello”, </a:t>
            </a:r>
          </a:p>
          <a:p>
            <a:pPr>
              <a:lnSpc>
                <a:spcPct val="110000"/>
              </a:lnSpc>
              <a:buNone/>
            </a:pPr>
            <a:r>
              <a:rPr lang="en-US" dirty="0">
                <a:solidFill>
                  <a:srgbClr val="008000"/>
                </a:solidFill>
                <a:latin typeface="Menlo" panose="020B0609030804020204" pitchFamily="49" charset="0"/>
              </a:rPr>
              <a:t> *   </a:t>
            </a:r>
            <a:r>
              <a:rPr lang="en-US" b="0" dirty="0">
                <a:solidFill>
                  <a:srgbClr val="008000"/>
                </a:solidFill>
                <a:effectLst/>
                <a:latin typeface="Menlo" panose="020B0609030804020204" pitchFamily="49" charset="0"/>
              </a:rPr>
              <a:t>must be an integer &gt;= 0</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function</a:t>
            </a:r>
            <a:r>
              <a:rPr lang="en-US" b="0" dirty="0">
                <a:solidFill>
                  <a:srgbClr val="3B3B3B"/>
                </a:solidFill>
                <a:effectLst/>
                <a:latin typeface="Menlo" panose="020B0609030804020204" pitchFamily="49" charset="0"/>
              </a:rPr>
              <a:t> </a:t>
            </a:r>
            <a:r>
              <a:rPr lang="en-US" b="0" dirty="0" err="1">
                <a:solidFill>
                  <a:srgbClr val="795E26"/>
                </a:solidFill>
                <a:effectLst/>
                <a:latin typeface="Menlo" panose="020B0609030804020204" pitchFamily="49" charset="0"/>
              </a:rPr>
              <a:t>helloNTimes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numHellos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  for</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numHellos</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0</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console</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log</a:t>
            </a:r>
            <a:r>
              <a:rPr lang="en-US" b="0" dirty="0">
                <a:solidFill>
                  <a:srgbClr val="3B3B3B"/>
                </a:solidFill>
                <a:effectLst/>
                <a:latin typeface="Menlo" panose="020B0609030804020204" pitchFamily="49" charset="0"/>
              </a:rPr>
              <a:t>(</a:t>
            </a:r>
            <a:r>
              <a:rPr lang="en-US" dirty="0">
                <a:solidFill>
                  <a:srgbClr val="A31515"/>
                </a:solidFill>
                <a:latin typeface="Menlo" panose="020B0609030804020204" pitchFamily="49" charset="0"/>
              </a:rPr>
              <a:t>'hello'</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What Inputs Should We Test?</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1500188"/>
            <a:ext cx="10906126" cy="4351337"/>
          </a:xfrm>
        </p:spPr>
        <p:txBody>
          <a:bodyPr/>
          <a:lstStyle/>
          <a:p>
            <a:pPr marL="0" indent="0">
              <a:buNone/>
            </a:pPr>
            <a:r>
              <a:rPr lang="en-US" dirty="0"/>
              <a:t>What input values do I need to test this function on?</a:t>
            </a:r>
          </a:p>
          <a:p>
            <a:r>
              <a:rPr lang="en-US" dirty="0"/>
              <a:t>Edge cases (definitely 0)</a:t>
            </a:r>
          </a:p>
          <a:p>
            <a:r>
              <a:rPr lang="en-US" dirty="0"/>
              <a:t>Probably 1 and some larger number? </a:t>
            </a:r>
            <a:br>
              <a:rPr lang="en-US" dirty="0"/>
            </a:br>
            <a:r>
              <a:rPr lang="en-US" dirty="0"/>
              <a:t>But most numbers &gt; 1 are kind of interchangeable.</a:t>
            </a:r>
          </a:p>
          <a:p>
            <a:pPr lvl="1"/>
            <a:r>
              <a:rPr lang="en-US" dirty="0"/>
              <a:t>If we want to sound fancy, we can call these “equivalence classes of inputs.”</a:t>
            </a:r>
          </a:p>
          <a:p>
            <a:r>
              <a:rPr lang="en-US" dirty="0"/>
              <a:t>What about -3? 1.4? </a:t>
            </a:r>
            <a:r>
              <a:rPr lang="en-US" dirty="0" err="1"/>
              <a:t>NaN</a:t>
            </a:r>
            <a:r>
              <a:rPr lang="en-US" dirty="0"/>
              <a:t>? </a:t>
            </a:r>
            <a:r>
              <a:rPr lang="en-US" sz="1800" b="0" dirty="0">
                <a:solidFill>
                  <a:srgbClr val="0000FF"/>
                </a:solidFill>
                <a:effectLst/>
                <a:latin typeface="Menlo" panose="020B0609030804020204" pitchFamily="49" charset="0"/>
              </a:rPr>
              <a:t>null</a:t>
            </a:r>
            <a:r>
              <a:rPr lang="en-US" dirty="0"/>
              <a:t>? </a:t>
            </a:r>
            <a:r>
              <a:rPr lang="en-US" sz="1800" b="0" dirty="0">
                <a:solidFill>
                  <a:srgbClr val="3B3B3B"/>
                </a:solidFill>
                <a:effectLst/>
                <a:latin typeface="Menlo" panose="020B0609030804020204" pitchFamily="49" charset="0"/>
              </a:rPr>
              <a:t>{ </a:t>
            </a:r>
            <a:r>
              <a:rPr lang="en-US" sz="1800" b="0" dirty="0">
                <a:solidFill>
                  <a:srgbClr val="001080"/>
                </a:solidFill>
                <a:effectLst/>
                <a:latin typeface="Menlo" panose="020B0609030804020204" pitchFamily="49" charset="0"/>
              </a:rPr>
              <a:t>lol:</a:t>
            </a:r>
            <a:r>
              <a:rPr lang="en-US" sz="1800" b="0" dirty="0">
                <a:solidFill>
                  <a:srgbClr val="3B3B3B"/>
                </a:solidFill>
                <a:effectLst/>
                <a:latin typeface="Menlo" panose="020B0609030804020204" pitchFamily="49" charset="0"/>
              </a:rPr>
              <a:t> </a:t>
            </a:r>
            <a:r>
              <a:rPr lang="en-US" sz="1800" b="0" dirty="0">
                <a:solidFill>
                  <a:srgbClr val="A31515"/>
                </a:solidFill>
                <a:effectLst/>
                <a:latin typeface="Menlo" panose="020B0609030804020204" pitchFamily="49" charset="0"/>
              </a:rPr>
              <a:t>'owned'</a:t>
            </a:r>
            <a:r>
              <a:rPr lang="en-US" sz="1800" b="0" dirty="0">
                <a:solidFill>
                  <a:srgbClr val="3B3B3B"/>
                </a:solidFill>
                <a:effectLst/>
                <a:latin typeface="Menlo" panose="020B0609030804020204" pitchFamily="49" charset="0"/>
              </a:rPr>
              <a:t> }</a:t>
            </a:r>
            <a:r>
              <a:rPr lang="en-US" sz="1800" dirty="0"/>
              <a:t> </a:t>
            </a:r>
            <a:r>
              <a:rPr lang="en-US" dirty="0"/>
              <a:t>?</a:t>
            </a:r>
            <a:endParaRPr lang="en-US" b="0" dirty="0">
              <a:solidFill>
                <a:srgbClr val="3B3B3B"/>
              </a:solidFill>
              <a:effectLst/>
              <a:latin typeface="Menlo"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4</a:t>
            </a:fld>
            <a:endParaRPr lang="en-US"/>
          </a:p>
        </p:txBody>
      </p:sp>
      <p:sp>
        <p:nvSpPr>
          <p:cNvPr id="6" name="TextBox 5">
            <a:extLst>
              <a:ext uri="{FF2B5EF4-FFF2-40B4-BE49-F238E27FC236}">
                <a16:creationId xmlns:a16="http://schemas.microsoft.com/office/drawing/2014/main" id="{672F0922-83D5-1321-785B-9E49D3F3F01A}"/>
              </a:ext>
            </a:extLst>
          </p:cNvPr>
          <p:cNvSpPr txBox="1"/>
          <p:nvPr/>
        </p:nvSpPr>
        <p:spPr>
          <a:xfrm>
            <a:off x="744069" y="4635277"/>
            <a:ext cx="11354146"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Prints "hello" repeatedly</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dirty="0">
                <a:solidFill>
                  <a:srgbClr val="008000"/>
                </a:solidFill>
                <a:latin typeface="Menlo" panose="020B0609030804020204" pitchFamily="49" charset="0"/>
              </a:rPr>
              <a:t> * </a:t>
            </a:r>
            <a:r>
              <a:rPr lang="en-US" dirty="0">
                <a:solidFill>
                  <a:srgbClr val="0000FF"/>
                </a:solidFill>
                <a:latin typeface="Menlo" panose="020B0609030804020204" pitchFamily="49" charset="0"/>
              </a:rPr>
              <a:t>@param</a:t>
            </a:r>
            <a:r>
              <a:rPr lang="en-US" dirty="0">
                <a:solidFill>
                  <a:srgbClr val="008000"/>
                </a:solidFill>
                <a:latin typeface="Menlo" panose="020B0609030804020204" pitchFamily="49" charset="0"/>
              </a:rPr>
              <a:t> </a:t>
            </a:r>
            <a:r>
              <a:rPr lang="en-US" dirty="0" err="1">
                <a:solidFill>
                  <a:srgbClr val="001080"/>
                </a:solidFill>
                <a:latin typeface="Menlo" panose="020B0609030804020204" pitchFamily="49" charset="0"/>
              </a:rPr>
              <a:t>numHellos</a:t>
            </a:r>
            <a:r>
              <a:rPr lang="en-US" dirty="0">
                <a:solidFill>
                  <a:srgbClr val="008000"/>
                </a:solidFill>
                <a:latin typeface="Menlo" panose="020B0609030804020204" pitchFamily="49" charset="0"/>
              </a:rPr>
              <a:t> - number of times to print “hello”, </a:t>
            </a:r>
          </a:p>
          <a:p>
            <a:pPr>
              <a:lnSpc>
                <a:spcPct val="110000"/>
              </a:lnSpc>
              <a:buNone/>
            </a:pPr>
            <a:r>
              <a:rPr lang="en-US" dirty="0">
                <a:solidFill>
                  <a:srgbClr val="008000"/>
                </a:solidFill>
                <a:latin typeface="Menlo" panose="020B0609030804020204" pitchFamily="49" charset="0"/>
              </a:rPr>
              <a:t> *   </a:t>
            </a:r>
            <a:r>
              <a:rPr lang="en-US" b="0" dirty="0">
                <a:solidFill>
                  <a:srgbClr val="008000"/>
                </a:solidFill>
                <a:effectLst/>
                <a:latin typeface="Menlo" panose="020B0609030804020204" pitchFamily="49" charset="0"/>
              </a:rPr>
              <a:t>must be an integer &gt;= 0</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function</a:t>
            </a:r>
            <a:r>
              <a:rPr lang="en-US" b="0" dirty="0">
                <a:solidFill>
                  <a:srgbClr val="3B3B3B"/>
                </a:solidFill>
                <a:effectLst/>
                <a:latin typeface="Menlo" panose="020B0609030804020204" pitchFamily="49" charset="0"/>
              </a:rPr>
              <a:t> </a:t>
            </a:r>
            <a:r>
              <a:rPr lang="en-US" dirty="0" err="1">
                <a:solidFill>
                  <a:srgbClr val="795E26"/>
                </a:solidFill>
                <a:latin typeface="Menlo" panose="020B0609030804020204" pitchFamily="49" charset="0"/>
              </a:rPr>
              <a:t>helloNTimes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numHellos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144752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200" y="18255"/>
            <a:ext cx="10515600" cy="1325563"/>
          </a:xfrm>
        </p:spPr>
        <p:txBody>
          <a:bodyPr/>
          <a:lstStyle/>
          <a:p>
            <a:r>
              <a:rPr lang="en-US" dirty="0"/>
              <a:t>TypeScript Types Cannot Be Trusted</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5</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types are, at the end of the day, </a:t>
            </a:r>
            <a:br>
              <a:rPr lang="en-US" dirty="0"/>
            </a:br>
            <a:r>
              <a:rPr lang="en-US" dirty="0"/>
              <a:t>no better than preconditions mentioned in comments.</a:t>
            </a:r>
            <a:br>
              <a:rPr lang="en-US" dirty="0"/>
            </a:br>
            <a:endParaRPr lang="en-US" dirty="0"/>
          </a:p>
          <a:p>
            <a:pPr marL="457200" lvl="1" indent="0">
              <a:buNone/>
            </a:pPr>
            <a:r>
              <a:rPr lang="en-US" sz="1600" b="0" dirty="0" err="1">
                <a:solidFill>
                  <a:srgbClr val="795E26"/>
                </a:solidFill>
                <a:effectLst/>
                <a:latin typeface="Menlo" panose="020B0609030804020204" pitchFamily="49" charset="0"/>
              </a:rPr>
              <a:t>helloNTimes</a:t>
            </a:r>
            <a:r>
              <a:rPr lang="en-US" sz="1600" b="0" dirty="0">
                <a:solidFill>
                  <a:srgbClr val="3B3B3B"/>
                </a:solidFill>
                <a:effectLst/>
                <a:latin typeface="Menlo" panose="020B0609030804020204" pitchFamily="49" charset="0"/>
              </a:rPr>
              <a:t>({ </a:t>
            </a:r>
            <a:r>
              <a:rPr lang="en-US" sz="1600" b="0" dirty="0">
                <a:solidFill>
                  <a:srgbClr val="001080"/>
                </a:solidFill>
                <a:effectLst/>
                <a:latin typeface="Menlo" panose="020B0609030804020204" pitchFamily="49" charset="0"/>
              </a:rPr>
              <a:t>lol:</a:t>
            </a:r>
            <a:r>
              <a:rPr lang="en-US" sz="1600" b="0" dirty="0">
                <a:solidFill>
                  <a:srgbClr val="3B3B3B"/>
                </a:solidFill>
                <a:effectLst/>
                <a:latin typeface="Menlo" panose="020B0609030804020204" pitchFamily="49" charset="0"/>
              </a:rPr>
              <a:t> </a:t>
            </a:r>
            <a:r>
              <a:rPr lang="en-US" sz="1600" b="0" dirty="0">
                <a:solidFill>
                  <a:srgbClr val="A31515"/>
                </a:solidFill>
                <a:effectLst/>
                <a:latin typeface="Menlo" panose="020B0609030804020204" pitchFamily="49" charset="0"/>
              </a:rPr>
              <a:t>'owned '</a:t>
            </a:r>
            <a:r>
              <a:rPr lang="en-US" sz="1600" b="0" dirty="0">
                <a:solidFill>
                  <a:srgbClr val="3B3B3B"/>
                </a:solidFill>
                <a:effectLst/>
                <a:latin typeface="Menlo" panose="020B0609030804020204" pitchFamily="49" charset="0"/>
              </a:rPr>
              <a:t> } </a:t>
            </a:r>
            <a:r>
              <a:rPr lang="en-US" sz="1600" b="0" dirty="0">
                <a:solidFill>
                  <a:srgbClr val="AF00DB"/>
                </a:solidFill>
                <a:effectLst/>
                <a:latin typeface="Menlo" panose="020B0609030804020204" pitchFamily="49" charset="0"/>
              </a:rPr>
              <a:t>as</a:t>
            </a:r>
            <a:r>
              <a:rPr lang="en-US" sz="1600" b="0" dirty="0">
                <a:solidFill>
                  <a:srgbClr val="3B3B3B"/>
                </a:solidFill>
                <a:effectLst/>
                <a:latin typeface="Menlo" panose="020B0609030804020204" pitchFamily="49" charset="0"/>
              </a:rPr>
              <a:t> </a:t>
            </a:r>
            <a:r>
              <a:rPr lang="en-US" sz="1600" b="0" dirty="0">
                <a:solidFill>
                  <a:srgbClr val="267F99"/>
                </a:solidFill>
                <a:effectLst/>
                <a:latin typeface="Menlo" panose="020B0609030804020204" pitchFamily="49" charset="0"/>
              </a:rPr>
              <a:t>unknown</a:t>
            </a:r>
            <a:r>
              <a:rPr lang="en-US" sz="1600" b="0" dirty="0">
                <a:solidFill>
                  <a:srgbClr val="3B3B3B"/>
                </a:solidFill>
                <a:effectLst/>
                <a:latin typeface="Menlo" panose="020B0609030804020204" pitchFamily="49" charset="0"/>
              </a:rPr>
              <a:t> </a:t>
            </a:r>
            <a:r>
              <a:rPr lang="en-US" sz="1600" b="0" dirty="0">
                <a:solidFill>
                  <a:srgbClr val="AF00DB"/>
                </a:solidFill>
                <a:effectLst/>
                <a:latin typeface="Menlo" panose="020B0609030804020204" pitchFamily="49" charset="0"/>
              </a:rPr>
              <a:t>as</a:t>
            </a:r>
            <a:r>
              <a:rPr lang="en-US" sz="1600" b="0" dirty="0">
                <a:solidFill>
                  <a:srgbClr val="3B3B3B"/>
                </a:solidFill>
                <a:effectLst/>
                <a:latin typeface="Menlo" panose="020B0609030804020204" pitchFamily="49" charset="0"/>
              </a:rPr>
              <a:t> </a:t>
            </a:r>
            <a:r>
              <a:rPr lang="en-US" sz="1600" b="0" dirty="0">
                <a:solidFill>
                  <a:srgbClr val="267F99"/>
                </a:solidFill>
                <a:effectLst/>
                <a:latin typeface="Menlo" panose="020B0609030804020204" pitchFamily="49" charset="0"/>
              </a:rPr>
              <a:t>number</a:t>
            </a:r>
            <a:r>
              <a:rPr lang="en-US" sz="1600" b="0" dirty="0">
                <a:solidFill>
                  <a:srgbClr val="3B3B3B"/>
                </a:solidFill>
                <a:effectLst/>
                <a:latin typeface="Menlo" panose="020B0609030804020204" pitchFamily="49" charset="0"/>
              </a:rPr>
              <a:t>)</a:t>
            </a:r>
          </a:p>
          <a:p>
            <a:pPr marL="0" indent="0">
              <a:buNone/>
            </a:pPr>
            <a:endParaRPr lang="en-US" dirty="0"/>
          </a:p>
          <a:p>
            <a:r>
              <a:rPr lang="en-US" dirty="0"/>
              <a:t>They do at least make it less likely you’ll screw up </a:t>
            </a:r>
            <a:r>
              <a:rPr lang="en-US" i="1" dirty="0"/>
              <a:t>accidentally…</a:t>
            </a:r>
            <a:endParaRPr lang="en-US" dirty="0"/>
          </a:p>
        </p:txBody>
      </p:sp>
    </p:spTree>
    <p:extLst>
      <p:ext uri="{BB962C8B-B14F-4D97-AF65-F5344CB8AC3E}">
        <p14:creationId xmlns:p14="http://schemas.microsoft.com/office/powerpoint/2010/main" val="1104949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79078-7FEB-FB08-C9B4-ECDECB155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52A5D-57C7-9E80-03A8-9998E491CB18}"/>
              </a:ext>
            </a:extLst>
          </p:cNvPr>
          <p:cNvSpPr>
            <a:spLocks noGrp="1"/>
          </p:cNvSpPr>
          <p:nvPr>
            <p:ph type="title"/>
          </p:nvPr>
        </p:nvSpPr>
        <p:spPr/>
        <p:txBody>
          <a:bodyPr/>
          <a:lstStyle/>
          <a:p>
            <a:r>
              <a:rPr lang="en-US" dirty="0"/>
              <a:t>TypeScript Types… Can Be Trusted?</a:t>
            </a:r>
          </a:p>
        </p:txBody>
      </p:sp>
      <p:sp>
        <p:nvSpPr>
          <p:cNvPr id="5" name="Content Placeholder 4">
            <a:extLst>
              <a:ext uri="{FF2B5EF4-FFF2-40B4-BE49-F238E27FC236}">
                <a16:creationId xmlns:a16="http://schemas.microsoft.com/office/drawing/2014/main" id="{C37A77FF-2F73-32A6-C83B-33D520E1CC75}"/>
              </a:ext>
            </a:extLst>
          </p:cNvPr>
          <p:cNvSpPr>
            <a:spLocks noGrp="1"/>
          </p:cNvSpPr>
          <p:nvPr>
            <p:ph idx="1"/>
          </p:nvPr>
        </p:nvSpPr>
        <p:spPr>
          <a:xfrm>
            <a:off x="838200" y="1500160"/>
            <a:ext cx="9300882" cy="4351338"/>
          </a:xfrm>
        </p:spPr>
        <p:txBody>
          <a:bodyPr>
            <a:normAutofit/>
          </a:bodyPr>
          <a:lstStyle/>
          <a:p>
            <a:r>
              <a:rPr lang="en-US" dirty="0"/>
              <a:t>If you use TypeScript with care, you can rely on the control it gives you over what might get passed to the function</a:t>
            </a:r>
          </a:p>
          <a:p>
            <a:pPr lvl="1"/>
            <a:r>
              <a:rPr lang="en-US" dirty="0"/>
              <a:t>If a function is only being called from other sources that respect contracts… then you can rely on the contracts being respected?</a:t>
            </a:r>
          </a:p>
          <a:p>
            <a:pPr lvl="1"/>
            <a:r>
              <a:rPr lang="en-US" dirty="0"/>
              <a:t>Don’t have contracts on functions that won’t be respected!</a:t>
            </a:r>
          </a:p>
        </p:txBody>
      </p:sp>
      <p:sp>
        <p:nvSpPr>
          <p:cNvPr id="4" name="Slide Number Placeholder 3">
            <a:extLst>
              <a:ext uri="{FF2B5EF4-FFF2-40B4-BE49-F238E27FC236}">
                <a16:creationId xmlns:a16="http://schemas.microsoft.com/office/drawing/2014/main" id="{1AE47F66-96DD-AF15-C1DD-4071CF94F6BF}"/>
              </a:ext>
            </a:extLst>
          </p:cNvPr>
          <p:cNvSpPr>
            <a:spLocks noGrp="1"/>
          </p:cNvSpPr>
          <p:nvPr>
            <p:ph type="sldNum" sz="quarter" idx="12"/>
          </p:nvPr>
        </p:nvSpPr>
        <p:spPr/>
        <p:txBody>
          <a:bodyPr/>
          <a:lstStyle/>
          <a:p>
            <a:fld id="{20F37917-FD3A-4669-9018-DA04BCDD3D75}" type="slidenum">
              <a:rPr lang="en-US" smtClean="0"/>
              <a:pPr/>
              <a:t>6</a:t>
            </a:fld>
            <a:endParaRPr lang="en-US"/>
          </a:p>
        </p:txBody>
      </p:sp>
      <p:sp>
        <p:nvSpPr>
          <p:cNvPr id="3" name="TextBox 2">
            <a:extLst>
              <a:ext uri="{FF2B5EF4-FFF2-40B4-BE49-F238E27FC236}">
                <a16:creationId xmlns:a16="http://schemas.microsoft.com/office/drawing/2014/main" id="{1FB16FB1-5FD1-C403-9583-EA8AD5F90D5E}"/>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TextBox 8">
            <a:extLst>
              <a:ext uri="{FF2B5EF4-FFF2-40B4-BE49-F238E27FC236}">
                <a16:creationId xmlns:a16="http://schemas.microsoft.com/office/drawing/2014/main" id="{A289D19E-0F6F-CF73-B14A-BF609439A95C}"/>
              </a:ext>
            </a:extLst>
          </p:cNvPr>
          <p:cNvSpPr txBox="1"/>
          <p:nvPr/>
        </p:nvSpPr>
        <p:spPr>
          <a:xfrm>
            <a:off x="443753" y="223221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F25E5EA8-3C62-C15C-87FA-BFED90716FB6}"/>
              </a:ext>
            </a:extLst>
          </p:cNvPr>
          <p:cNvSpPr txBox="1"/>
          <p:nvPr/>
        </p:nvSpPr>
        <p:spPr>
          <a:xfrm>
            <a:off x="4504765" y="75303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90075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What Trusting Contracts Looks Like</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8157519" cy="4653505"/>
          </a:xfrm>
        </p:spPr>
        <p:txBody>
          <a:bodyPr>
            <a:noAutofit/>
          </a:bodyPr>
          <a:lstStyle/>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Adds a message to a chat, updating the chat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chatId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Ostensible chat 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user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Authenticated user </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messageId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Valid message 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@returns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the updated chat info object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@throws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if the chat id is not valid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solidFill>
                  <a:srgbClr val="AF00DB"/>
                </a:solidFill>
                <a:latin typeface="Menlo" panose="020B0609030804020204" pitchFamily="49" charset="0"/>
              </a:rPr>
              <a:t>export</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addMessageToChat</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chatId</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user</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70C0"/>
                </a:solidFill>
                <a:latin typeface="Menlo" panose="020B0609030804020204" pitchFamily="49" charset="0"/>
                <a:ea typeface="Menlo" panose="020B0609030804020204" pitchFamily="49" charset="0"/>
                <a:cs typeface="Menlo" panose="020B0609030804020204" pitchFamily="49" charset="0"/>
              </a:rPr>
              <a:t>UserWithId</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messageId</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string</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70C0"/>
                </a:solidFill>
                <a:latin typeface="Menlo" panose="020B0609030804020204" pitchFamily="49" charset="0"/>
                <a:ea typeface="Menlo" panose="020B0609030804020204" pitchFamily="49" charset="0"/>
                <a:cs typeface="Menlo" panose="020B0609030804020204" pitchFamily="49" charset="0"/>
              </a:rPr>
              <a:t>ChatInfo</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lnSpc>
                <a:spcPct val="110000"/>
              </a:lnSpc>
              <a:spcBef>
                <a:spcPts val="0"/>
              </a:spcBef>
              <a:buNone/>
            </a:pPr>
            <a:endParaRPr lang="en-US" sz="2000" dirty="0">
              <a:latin typeface="Menlo" panose="020B0609030804020204" pitchFamily="49" charset="0"/>
              <a:ea typeface="Menlo" panose="020B0609030804020204" pitchFamily="49" charset="0"/>
              <a:cs typeface="Menlo" panose="020B060903080402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7</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33111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99D1-3EFE-CC1D-4232-46A4B4731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DCDC19-47F1-62C9-F77F-A3DD8994E0CF}"/>
              </a:ext>
            </a:extLst>
          </p:cNvPr>
          <p:cNvSpPr>
            <a:spLocks noGrp="1"/>
          </p:cNvSpPr>
          <p:nvPr>
            <p:ph type="title"/>
          </p:nvPr>
        </p:nvSpPr>
        <p:spPr/>
        <p:txBody>
          <a:bodyPr/>
          <a:lstStyle/>
          <a:p>
            <a:r>
              <a:rPr lang="en-US" dirty="0"/>
              <a:t>Untrusted Inputs</a:t>
            </a:r>
          </a:p>
        </p:txBody>
      </p:sp>
      <p:sp>
        <p:nvSpPr>
          <p:cNvPr id="4" name="Slide Number Placeholder 3">
            <a:extLst>
              <a:ext uri="{FF2B5EF4-FFF2-40B4-BE49-F238E27FC236}">
                <a16:creationId xmlns:a16="http://schemas.microsoft.com/office/drawing/2014/main" id="{49BF43A1-E0F6-792E-915A-F1EE88354758}"/>
              </a:ext>
            </a:extLst>
          </p:cNvPr>
          <p:cNvSpPr>
            <a:spLocks noGrp="1"/>
          </p:cNvSpPr>
          <p:nvPr>
            <p:ph type="sldNum" sz="quarter" idx="12"/>
          </p:nvPr>
        </p:nvSpPr>
        <p:spPr/>
        <p:txBody>
          <a:bodyPr/>
          <a:lstStyle/>
          <a:p>
            <a:fld id="{20F37917-FD3A-4669-9018-DA04BCDD3D75}" type="slidenum">
              <a:rPr lang="en-US" smtClean="0"/>
              <a:pPr/>
              <a:t>8</a:t>
            </a:fld>
            <a:endParaRPr lang="en-US" dirty="0"/>
          </a:p>
        </p:txBody>
      </p:sp>
      <p:sp>
        <p:nvSpPr>
          <p:cNvPr id="3" name="TextBox 2">
            <a:extLst>
              <a:ext uri="{FF2B5EF4-FFF2-40B4-BE49-F238E27FC236}">
                <a16:creationId xmlns:a16="http://schemas.microsoft.com/office/drawing/2014/main" id="{26933C7F-EDFD-7B22-60C3-822A5D294ED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1A5354DA-E2DB-A31F-8480-DB5EC910D95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6">
            <a:extLst>
              <a:ext uri="{FF2B5EF4-FFF2-40B4-BE49-F238E27FC236}">
                <a16:creationId xmlns:a16="http://schemas.microsoft.com/office/drawing/2014/main" id="{B07DBF23-21C5-DE37-E827-58241A3AB489}"/>
              </a:ext>
            </a:extLst>
          </p:cNvPr>
          <p:cNvSpPr>
            <a:spLocks noGrp="1"/>
          </p:cNvSpPr>
          <p:nvPr>
            <p:ph idx="1"/>
          </p:nvPr>
        </p:nvSpPr>
        <p:spPr>
          <a:xfrm>
            <a:off x="342582" y="1509357"/>
            <a:ext cx="4598128" cy="3519843"/>
          </a:xfrm>
        </p:spPr>
        <p:txBody>
          <a:bodyPr>
            <a:normAutofit/>
          </a:bodyPr>
          <a:lstStyle/>
          <a:p>
            <a:pPr marL="0" indent="0">
              <a:buNone/>
            </a:pPr>
            <a:r>
              <a:rPr lang="en-US" dirty="0"/>
              <a:t>Any input given to a web app</a:t>
            </a:r>
            <a:br>
              <a:rPr lang="en-US" dirty="0"/>
            </a:br>
            <a:r>
              <a:rPr lang="en-US" dirty="0"/>
              <a:t>can also</a:t>
            </a:r>
            <a:br>
              <a:rPr lang="en-US" dirty="0"/>
            </a:br>
            <a:r>
              <a:rPr lang="en-US" dirty="0"/>
              <a:t>be given</a:t>
            </a:r>
            <a:br>
              <a:rPr lang="en-US" dirty="0"/>
            </a:br>
            <a:r>
              <a:rPr lang="en-US" dirty="0"/>
              <a:t>by other</a:t>
            </a:r>
            <a:br>
              <a:rPr lang="en-US" dirty="0"/>
            </a:br>
            <a:r>
              <a:rPr lang="en-US" dirty="0"/>
              <a:t>means…</a:t>
            </a:r>
          </a:p>
        </p:txBody>
      </p:sp>
      <p:pic>
        <p:nvPicPr>
          <p:cNvPr id="8" name="Picture 7">
            <a:extLst>
              <a:ext uri="{FF2B5EF4-FFF2-40B4-BE49-F238E27FC236}">
                <a16:creationId xmlns:a16="http://schemas.microsoft.com/office/drawing/2014/main" id="{A27C73C2-A36E-1690-B592-29A0DCEE9962}"/>
              </a:ext>
            </a:extLst>
          </p:cNvPr>
          <p:cNvPicPr>
            <a:picLocks noChangeAspect="1"/>
          </p:cNvPicPr>
          <p:nvPr/>
        </p:nvPicPr>
        <p:blipFill>
          <a:blip r:embed="rId3"/>
          <a:stretch>
            <a:fillRect/>
          </a:stretch>
        </p:blipFill>
        <p:spPr>
          <a:xfrm>
            <a:off x="2130317" y="2261135"/>
            <a:ext cx="3130123" cy="3096705"/>
          </a:xfrm>
          <a:prstGeom prst="rect">
            <a:avLst/>
          </a:prstGeom>
        </p:spPr>
        <p:style>
          <a:lnRef idx="2">
            <a:schemeClr val="accent2">
              <a:shade val="15000"/>
            </a:schemeClr>
          </a:lnRef>
          <a:fillRef idx="1">
            <a:schemeClr val="accent2"/>
          </a:fillRef>
          <a:effectRef idx="0">
            <a:schemeClr val="accent2"/>
          </a:effectRef>
          <a:fontRef idx="minor">
            <a:schemeClr val="lt1"/>
          </a:fontRef>
        </p:style>
      </p:pic>
      <p:sp>
        <p:nvSpPr>
          <p:cNvPr id="9" name="TextBox 8">
            <a:extLst>
              <a:ext uri="{FF2B5EF4-FFF2-40B4-BE49-F238E27FC236}">
                <a16:creationId xmlns:a16="http://schemas.microsoft.com/office/drawing/2014/main" id="{05900EFC-DE70-FBE8-2791-FB2B07B74AEB}"/>
              </a:ext>
            </a:extLst>
          </p:cNvPr>
          <p:cNvSpPr txBox="1"/>
          <p:nvPr/>
        </p:nvSpPr>
        <p:spPr>
          <a:xfrm>
            <a:off x="354676" y="5357840"/>
            <a:ext cx="11482647" cy="8311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curl https://</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strategy.town</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api</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/user/signup -H 'Content-Type: application/</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--data '{ "username": "</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trugamer</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"password": "Hunter2" }'</a:t>
            </a:r>
          </a:p>
        </p:txBody>
      </p:sp>
      <p:pic>
        <p:nvPicPr>
          <p:cNvPr id="10" name="Picture 9">
            <a:extLst>
              <a:ext uri="{FF2B5EF4-FFF2-40B4-BE49-F238E27FC236}">
                <a16:creationId xmlns:a16="http://schemas.microsoft.com/office/drawing/2014/main" id="{4020EB59-7465-48E2-D307-42A460E296D6}"/>
              </a:ext>
            </a:extLst>
          </p:cNvPr>
          <p:cNvPicPr>
            <a:picLocks noChangeAspect="1"/>
          </p:cNvPicPr>
          <p:nvPr/>
        </p:nvPicPr>
        <p:blipFill>
          <a:blip r:embed="rId4"/>
          <a:stretch>
            <a:fillRect/>
          </a:stretch>
        </p:blipFill>
        <p:spPr>
          <a:xfrm>
            <a:off x="5270077" y="898937"/>
            <a:ext cx="6576883" cy="4458903"/>
          </a:xfrm>
          <a:prstGeom prst="rect">
            <a:avLst/>
          </a:prstGeom>
          <a:ln>
            <a:solidFill>
              <a:schemeClr val="accent1"/>
            </a:solidFill>
          </a:ln>
        </p:spPr>
      </p:pic>
      <p:sp>
        <p:nvSpPr>
          <p:cNvPr id="12" name="TextBox 11">
            <a:extLst>
              <a:ext uri="{FF2B5EF4-FFF2-40B4-BE49-F238E27FC236}">
                <a16:creationId xmlns:a16="http://schemas.microsoft.com/office/drawing/2014/main" id="{AF846D40-6CA3-FF19-8447-AC098381090C}"/>
              </a:ext>
            </a:extLst>
          </p:cNvPr>
          <p:cNvSpPr txBox="1"/>
          <p:nvPr/>
        </p:nvSpPr>
        <p:spPr>
          <a:xfrm>
            <a:off x="1841157" y="200179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A6AAFFBB-2531-3239-1536-926BA1CE3E55}"/>
              </a:ext>
            </a:extLst>
          </p:cNvPr>
          <p:cNvSpPr txBox="1"/>
          <p:nvPr/>
        </p:nvSpPr>
        <p:spPr>
          <a:xfrm>
            <a:off x="3524865" y="1828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692584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C4F2E-07F2-D81B-66BA-BB4EF1E92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41892-B670-C220-0AC5-0F82ECC89AAE}"/>
              </a:ext>
            </a:extLst>
          </p:cNvPr>
          <p:cNvSpPr>
            <a:spLocks noGrp="1"/>
          </p:cNvSpPr>
          <p:nvPr>
            <p:ph type="title"/>
          </p:nvPr>
        </p:nvSpPr>
        <p:spPr/>
        <p:txBody>
          <a:bodyPr/>
          <a:lstStyle/>
          <a:p>
            <a:r>
              <a:rPr lang="en-US" dirty="0"/>
              <a:t>Untrusted Inputs should be </a:t>
            </a:r>
            <a:r>
              <a:rPr lang="en-US" dirty="0">
                <a:latin typeface="Menlo" panose="020B0609030804020204" pitchFamily="49" charset="0"/>
                <a:ea typeface="Menlo" panose="020B0609030804020204" pitchFamily="49" charset="0"/>
                <a:cs typeface="Menlo" panose="020B0609030804020204" pitchFamily="49" charset="0"/>
              </a:rPr>
              <a:t>unknown</a:t>
            </a:r>
          </a:p>
        </p:txBody>
      </p:sp>
      <p:sp>
        <p:nvSpPr>
          <p:cNvPr id="4" name="Slide Number Placeholder 3">
            <a:extLst>
              <a:ext uri="{FF2B5EF4-FFF2-40B4-BE49-F238E27FC236}">
                <a16:creationId xmlns:a16="http://schemas.microsoft.com/office/drawing/2014/main" id="{789D95B4-F24B-7C04-70AB-3D4867516548}"/>
              </a:ext>
            </a:extLst>
          </p:cNvPr>
          <p:cNvSpPr>
            <a:spLocks noGrp="1"/>
          </p:cNvSpPr>
          <p:nvPr>
            <p:ph type="sldNum" sz="quarter" idx="12"/>
          </p:nvPr>
        </p:nvSpPr>
        <p:spPr/>
        <p:txBody>
          <a:bodyPr/>
          <a:lstStyle/>
          <a:p>
            <a:fld id="{20F37917-FD3A-4669-9018-DA04BCDD3D75}" type="slidenum">
              <a:rPr lang="en-US" smtClean="0"/>
              <a:pPr/>
              <a:t>9</a:t>
            </a:fld>
            <a:endParaRPr lang="en-US" dirty="0"/>
          </a:p>
        </p:txBody>
      </p:sp>
      <p:sp>
        <p:nvSpPr>
          <p:cNvPr id="3" name="TextBox 2">
            <a:extLst>
              <a:ext uri="{FF2B5EF4-FFF2-40B4-BE49-F238E27FC236}">
                <a16:creationId xmlns:a16="http://schemas.microsoft.com/office/drawing/2014/main" id="{CAB67779-0FD8-1EDF-670B-3D3FBE19B5F4}"/>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24032205-46D0-6F87-1E21-A5DECCF9C4C9}"/>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45FD9428-A4EC-DE5B-666A-02FAA3D7F1C8}"/>
              </a:ext>
            </a:extLst>
          </p:cNvPr>
          <p:cNvSpPr>
            <a:spLocks noGrp="1"/>
          </p:cNvSpPr>
          <p:nvPr>
            <p:ph idx="1"/>
          </p:nvPr>
        </p:nvSpPr>
        <p:spPr>
          <a:xfrm>
            <a:off x="838199" y="1500160"/>
            <a:ext cx="10515599" cy="4856190"/>
          </a:xfrm>
        </p:spPr>
        <p:txBody>
          <a:bodyPr>
            <a:normAutofit lnSpcReduction="10000"/>
          </a:bodyPr>
          <a:lstStyle/>
          <a:p>
            <a:r>
              <a:rPr lang="en-US" dirty="0"/>
              <a:t>The appropriate TypeScript type for an unknown value is </a:t>
            </a:r>
            <a:r>
              <a:rPr lang="en-US" dirty="0">
                <a:latin typeface="Menlo" panose="020B0609030804020204" pitchFamily="49" charset="0"/>
                <a:ea typeface="Menlo" panose="020B0609030804020204" pitchFamily="49" charset="0"/>
                <a:cs typeface="Menlo" panose="020B0609030804020204" pitchFamily="49" charset="0"/>
              </a:rPr>
              <a:t>unknown</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pPr marL="0" indent="0">
              <a:buNone/>
            </a:pP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lookAtMe</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latin typeface="Menlo" panose="020B0609030804020204" pitchFamily="49" charset="0"/>
                <a:ea typeface="Menlo" panose="020B0609030804020204" pitchFamily="49" charset="0"/>
                <a:cs typeface="Menlo" panose="020B0609030804020204" pitchFamily="49" charset="0"/>
              </a:rPr>
              <a:t>console.log</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AF00DB"/>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AF00DB"/>
                </a:solidFill>
                <a:latin typeface="Menlo" panose="020B0609030804020204" pitchFamily="49" charset="0"/>
              </a:rPr>
              <a:t>if</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input </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a:t>
            </a:r>
            <a:br>
              <a:rPr lang="en-US" sz="2100" dirty="0">
                <a:latin typeface="Menlo" panose="020B0609030804020204" pitchFamily="49" charset="0"/>
                <a:ea typeface="Menlo" panose="020B0609030804020204" pitchFamily="49" charset="0"/>
                <a:cs typeface="Menlo" panose="020B0609030804020204" pitchFamily="49" charset="0"/>
              </a:rPr>
            </a:br>
            <a:endParaRPr lang="en-US" sz="2100" dirty="0">
              <a:latin typeface="Menlo" panose="020B0609030804020204" pitchFamily="49" charset="0"/>
              <a:ea typeface="Menlo" panose="020B0609030804020204" pitchFamily="49" charset="0"/>
              <a:cs typeface="Menlo" panose="020B0609030804020204" pitchFamily="49" charset="0"/>
            </a:endParaRPr>
          </a:p>
          <a:p>
            <a:r>
              <a:rPr lang="en-US" dirty="0">
                <a:latin typeface="Calibri" panose="020F0502020204030204" pitchFamily="34" charset="0"/>
                <a:ea typeface="Menlo" panose="020B0609030804020204" pitchFamily="49" charset="0"/>
                <a:cs typeface="Calibri" panose="020F0502020204030204" pitchFamily="34" charset="0"/>
              </a:rPr>
              <a:t>If you use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latin typeface="Calibri" panose="020F0502020204030204" pitchFamily="34" charset="0"/>
                <a:ea typeface="Menlo" panose="020B0609030804020204" pitchFamily="49" charset="0"/>
                <a:cs typeface="Calibri" panose="020F0502020204030204" pitchFamily="34" charset="0"/>
              </a:rPr>
              <a:t> type instead, TypeScript will just say “ok, I guess you know what you’re doing”</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endParaRPr lang="en-US" dirty="0">
              <a:latin typeface="Menlo" panose="020B0609030804020204" pitchFamily="49" charset="0"/>
              <a:ea typeface="Menlo" panose="020B0609030804020204" pitchFamily="49" charset="0"/>
              <a:cs typeface="Menlo" panose="020B0609030804020204" pitchFamily="49" charset="0"/>
            </a:endParaRPr>
          </a:p>
        </p:txBody>
      </p:sp>
      <p:sp>
        <p:nvSpPr>
          <p:cNvPr id="11" name="AutoShape 9">
            <a:extLst>
              <a:ext uri="{FF2B5EF4-FFF2-40B4-BE49-F238E27FC236}">
                <a16:creationId xmlns:a16="http://schemas.microsoft.com/office/drawing/2014/main" id="{AB28CA65-9D21-D22A-CFE2-BC1D530FA211}"/>
              </a:ext>
            </a:extLst>
          </p:cNvPr>
          <p:cNvSpPr>
            <a:spLocks/>
          </p:cNvSpPr>
          <p:nvPr/>
        </p:nvSpPr>
        <p:spPr bwMode="auto">
          <a:xfrm>
            <a:off x="8043888" y="230118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TypeScript error here!</a:t>
            </a:r>
          </a:p>
        </p:txBody>
      </p:sp>
      <p:cxnSp>
        <p:nvCxnSpPr>
          <p:cNvPr id="15" name="Straight Arrow Connector 14">
            <a:extLst>
              <a:ext uri="{FF2B5EF4-FFF2-40B4-BE49-F238E27FC236}">
                <a16:creationId xmlns:a16="http://schemas.microsoft.com/office/drawing/2014/main" id="{8254D0C4-B77E-A70A-08B5-496BD696E952}"/>
              </a:ext>
            </a:extLst>
          </p:cNvPr>
          <p:cNvCxnSpPr>
            <a:cxnSpLocks/>
            <a:stCxn id="11" idx="1"/>
          </p:cNvCxnSpPr>
          <p:nvPr/>
        </p:nvCxnSpPr>
        <p:spPr>
          <a:xfrm flipH="1">
            <a:off x="6341806" y="2731812"/>
            <a:ext cx="1702082" cy="26211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BA6B0B8-7851-E694-4E67-ADC772252335}"/>
              </a:ext>
            </a:extLst>
          </p:cNvPr>
          <p:cNvCxnSpPr>
            <a:cxnSpLocks/>
          </p:cNvCxnSpPr>
          <p:nvPr/>
        </p:nvCxnSpPr>
        <p:spPr>
          <a:xfrm flipH="1" flipV="1">
            <a:off x="6341806" y="3928255"/>
            <a:ext cx="1623423" cy="1748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6" name="AutoShape 9">
            <a:extLst>
              <a:ext uri="{FF2B5EF4-FFF2-40B4-BE49-F238E27FC236}">
                <a16:creationId xmlns:a16="http://schemas.microsoft.com/office/drawing/2014/main" id="{40F315DA-B79C-C615-3DE7-EC73AF2C91A4}"/>
              </a:ext>
            </a:extLst>
          </p:cNvPr>
          <p:cNvSpPr>
            <a:spLocks/>
          </p:cNvSpPr>
          <p:nvPr/>
        </p:nvSpPr>
        <p:spPr bwMode="auto">
          <a:xfrm>
            <a:off x="7894753" y="3695566"/>
            <a:ext cx="1697166" cy="94828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it’s ok here!</a:t>
            </a:r>
            <a:endPar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spTree>
    <p:extLst>
      <p:ext uri="{BB962C8B-B14F-4D97-AF65-F5344CB8AC3E}">
        <p14:creationId xmlns:p14="http://schemas.microsoft.com/office/powerpoint/2010/main" val="196026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8F090-0895-49D9-2431-9ABA97330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F84536-288B-181C-8012-F26F25F6CB2F}"/>
              </a:ext>
            </a:extLst>
          </p:cNvPr>
          <p:cNvSpPr>
            <a:spLocks noGrp="1"/>
          </p:cNvSpPr>
          <p:nvPr>
            <p:ph type="title"/>
          </p:nvPr>
        </p:nvSpPr>
        <p:spPr/>
        <p:txBody>
          <a:bodyPr/>
          <a:lstStyle/>
          <a:p>
            <a:r>
              <a:rPr lang="en-US" dirty="0"/>
              <a:t>Untrusted Inputs Should be “</a:t>
            </a:r>
            <a:r>
              <a:rPr lang="en-US" dirty="0">
                <a:latin typeface="Menlo" panose="020B0609030804020204" pitchFamily="49" charset="0"/>
                <a:ea typeface="Menlo" panose="020B0609030804020204" pitchFamily="49" charset="0"/>
                <a:cs typeface="Menlo" panose="020B0609030804020204" pitchFamily="49" charset="0"/>
              </a:rPr>
              <a:t>unknown”</a:t>
            </a:r>
            <a:endParaRPr lang="en-US" dirty="0"/>
          </a:p>
        </p:txBody>
      </p:sp>
      <p:sp>
        <p:nvSpPr>
          <p:cNvPr id="5" name="Content Placeholder 4">
            <a:extLst>
              <a:ext uri="{FF2B5EF4-FFF2-40B4-BE49-F238E27FC236}">
                <a16:creationId xmlns:a16="http://schemas.microsoft.com/office/drawing/2014/main" id="{49E07EEE-FB1E-20BA-06E3-3771093ABBDF}"/>
              </a:ext>
            </a:extLst>
          </p:cNvPr>
          <p:cNvSpPr>
            <a:spLocks noGrp="1"/>
          </p:cNvSpPr>
          <p:nvPr>
            <p:ph idx="1"/>
          </p:nvPr>
        </p:nvSpPr>
        <p:spPr/>
        <p:txBody>
          <a:bodyPr/>
          <a:lstStyle/>
          <a:p>
            <a:pPr marL="0" indent="0">
              <a:buNone/>
            </a:pPr>
            <a:r>
              <a:rPr lang="en-US" dirty="0"/>
              <a:t>This can get complicated fast…</a:t>
            </a:r>
          </a:p>
        </p:txBody>
      </p:sp>
      <p:sp>
        <p:nvSpPr>
          <p:cNvPr id="4" name="Slide Number Placeholder 3">
            <a:extLst>
              <a:ext uri="{FF2B5EF4-FFF2-40B4-BE49-F238E27FC236}">
                <a16:creationId xmlns:a16="http://schemas.microsoft.com/office/drawing/2014/main" id="{8E5AF579-B008-6D6E-98BF-0D376A02FC39}"/>
              </a:ext>
            </a:extLst>
          </p:cNvPr>
          <p:cNvSpPr>
            <a:spLocks noGrp="1"/>
          </p:cNvSpPr>
          <p:nvPr>
            <p:ph type="sldNum" sz="quarter" idx="12"/>
          </p:nvPr>
        </p:nvSpPr>
        <p:spPr/>
        <p:txBody>
          <a:bodyPr/>
          <a:lstStyle/>
          <a:p>
            <a:fld id="{20F37917-FD3A-4669-9018-DA04BCDD3D75}" type="slidenum">
              <a:rPr lang="en-US" smtClean="0"/>
              <a:pPr/>
              <a:t>10</a:t>
            </a:fld>
            <a:endParaRPr lang="en-US"/>
          </a:p>
        </p:txBody>
      </p:sp>
      <p:sp>
        <p:nvSpPr>
          <p:cNvPr id="6" name="TextBox 5">
            <a:extLst>
              <a:ext uri="{FF2B5EF4-FFF2-40B4-BE49-F238E27FC236}">
                <a16:creationId xmlns:a16="http://schemas.microsoft.com/office/drawing/2014/main" id="{A2E5CDC5-E826-1286-F372-5AA31B5541BB}"/>
              </a:ext>
            </a:extLst>
          </p:cNvPr>
          <p:cNvSpPr txBox="1"/>
          <p:nvPr/>
        </p:nvSpPr>
        <p:spPr>
          <a:xfrm>
            <a:off x="744069" y="2501474"/>
            <a:ext cx="11354146" cy="474739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Menlo" panose="020B0609030804020204" pitchFamily="49" charset="0"/>
              </a:rPr>
              <a:t>type</a:t>
            </a:r>
            <a:r>
              <a:rPr lang="en-US" sz="2000" dirty="0">
                <a:solidFill>
                  <a:srgbClr val="0000FF"/>
                </a:solidFill>
                <a:latin typeface="Menlo" panose="020B0609030804020204" pitchFamily="49" charset="0"/>
              </a:rPr>
              <a:t> </a:t>
            </a:r>
            <a:r>
              <a:rPr lang="en-US" sz="2000" dirty="0">
                <a:solidFill>
                  <a:srgbClr val="0070C0"/>
                </a:solidFill>
                <a:latin typeface="Menlo" panose="020B0609030804020204" pitchFamily="49" charset="0"/>
              </a:rPr>
              <a:t>Auth</a:t>
            </a:r>
            <a:r>
              <a:rPr lang="en-US" sz="2000" dirty="0">
                <a:solidFill>
                  <a:srgbClr val="795E26"/>
                </a:solidFill>
                <a:latin typeface="Menlo" panose="020B0609030804020204" pitchFamily="49" charset="0"/>
              </a:rPr>
              <a:t> </a:t>
            </a:r>
            <a:r>
              <a:rPr lang="en-US" sz="2000" dirty="0">
                <a:solidFill>
                  <a:schemeClr val="tx1"/>
                </a:solidFill>
                <a:latin typeface="Menlo" panose="020B0609030804020204" pitchFamily="49" charset="0"/>
              </a:rPr>
              <a:t>= { username: </a:t>
            </a:r>
            <a:r>
              <a:rPr lang="en-US" sz="2000" dirty="0">
                <a:solidFill>
                  <a:schemeClr val="accent5">
                    <a:lumMod val="50000"/>
                  </a:schemeClr>
                </a:solidFill>
                <a:latin typeface="Menlo" panose="020B0609030804020204" pitchFamily="49" charset="0"/>
              </a:rPr>
              <a:t>string</a:t>
            </a:r>
            <a:r>
              <a:rPr lang="en-US" sz="2000" dirty="0">
                <a:solidFill>
                  <a:schemeClr val="tx1"/>
                </a:solidFill>
                <a:latin typeface="Menlo" panose="020B0609030804020204" pitchFamily="49" charset="0"/>
              </a:rPr>
              <a:t>, password: </a:t>
            </a:r>
            <a:r>
              <a:rPr lang="en-US" sz="2000" dirty="0">
                <a:solidFill>
                  <a:schemeClr val="accent5">
                    <a:lumMod val="50000"/>
                  </a:schemeClr>
                </a:solidFill>
                <a:latin typeface="Menlo" panose="020B0609030804020204" pitchFamily="49" charset="0"/>
              </a:rPr>
              <a:t>string</a:t>
            </a:r>
            <a:r>
              <a:rPr lang="en-US" sz="2000" dirty="0">
                <a:solidFill>
                  <a:schemeClr val="tx1"/>
                </a:solidFill>
                <a:latin typeface="Menlo" panose="020B0609030804020204" pitchFamily="49" charset="0"/>
              </a:rPr>
              <a:t> }</a:t>
            </a:r>
            <a:endParaRPr lang="en-US" sz="2000" b="0" dirty="0">
              <a:solidFill>
                <a:schemeClr val="tx1"/>
              </a:solidFill>
              <a:effectLst/>
              <a:latin typeface="Menlo" panose="020B0609030804020204" pitchFamily="49" charset="0"/>
            </a:endParaRPr>
          </a:p>
          <a:p>
            <a:pPr>
              <a:lnSpc>
                <a:spcPct val="110000"/>
              </a:lnSpc>
              <a:buNone/>
            </a:pPr>
            <a:endParaRPr lang="en-US" sz="2000" b="0" dirty="0">
              <a:solidFill>
                <a:schemeClr val="tx1"/>
              </a:solidFill>
              <a:effectLst/>
              <a:latin typeface="Menlo" panose="020B0609030804020204" pitchFamily="49" charset="0"/>
              <a:ea typeface="Menlo" panose="020B0609030804020204" pitchFamily="49" charset="0"/>
              <a:cs typeface="Menlo" panose="020B0609030804020204" pitchFamily="49" charset="0"/>
            </a:endParaRP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x</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if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'object'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x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null</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x.username</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'password'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x.password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x.password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write the code you care about here!</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b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br>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pPr>
              <a:lnSpc>
                <a:spcPct val="110000"/>
              </a:lnSpc>
            </a:pPr>
            <a:endParaRPr lang="en-US" b="0" dirty="0">
              <a:solidFill>
                <a:srgbClr val="3B3B3B"/>
              </a:solidFill>
              <a:effectLst/>
              <a:latin typeface="Menlo" panose="020B0609030804020204" pitchFamily="49" charset="0"/>
            </a:endParaRPr>
          </a:p>
        </p:txBody>
      </p:sp>
      <p:sp>
        <p:nvSpPr>
          <p:cNvPr id="3" name="TextBox 2">
            <a:extLst>
              <a:ext uri="{FF2B5EF4-FFF2-40B4-BE49-F238E27FC236}">
                <a16:creationId xmlns:a16="http://schemas.microsoft.com/office/drawing/2014/main" id="{44ABBD34-51F2-BCB0-3D1B-EBCE2F58A959}"/>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2F5209A-94C8-F0EB-DC68-4788D4ECEAF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7789372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6231A-34C9-209A-BC1A-53AE6CF5D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54A8D1-432E-E65D-05C7-871F056B1146}"/>
              </a:ext>
            </a:extLst>
          </p:cNvPr>
          <p:cNvSpPr>
            <a:spLocks noGrp="1"/>
          </p:cNvSpPr>
          <p:nvPr>
            <p:ph type="title"/>
          </p:nvPr>
        </p:nvSpPr>
        <p:spPr>
          <a:xfrm>
            <a:off x="838200" y="18255"/>
            <a:ext cx="10515600" cy="1325563"/>
          </a:xfrm>
        </p:spPr>
        <p:txBody>
          <a:bodyPr/>
          <a:lstStyle/>
          <a:p>
            <a:r>
              <a:rPr lang="en-US" dirty="0"/>
              <a:t>Libraries Make Checking Types Easier</a:t>
            </a:r>
          </a:p>
        </p:txBody>
      </p:sp>
      <p:sp>
        <p:nvSpPr>
          <p:cNvPr id="4" name="Slide Number Placeholder 3">
            <a:extLst>
              <a:ext uri="{FF2B5EF4-FFF2-40B4-BE49-F238E27FC236}">
                <a16:creationId xmlns:a16="http://schemas.microsoft.com/office/drawing/2014/main" id="{9394747E-E436-62C9-8F94-58A9BB24680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5" name="Content Placeholder 4">
            <a:extLst>
              <a:ext uri="{FF2B5EF4-FFF2-40B4-BE49-F238E27FC236}">
                <a16:creationId xmlns:a16="http://schemas.microsoft.com/office/drawing/2014/main" id="{58CDFBA0-AD38-CEBC-6D8D-0FD6CB79A672}"/>
              </a:ext>
            </a:extLst>
          </p:cNvPr>
          <p:cNvSpPr>
            <a:spLocks noGrp="1"/>
          </p:cNvSpPr>
          <p:nvPr>
            <p:ph idx="1"/>
          </p:nvPr>
        </p:nvSpPr>
        <p:spPr>
          <a:xfrm>
            <a:off x="838200" y="1500160"/>
            <a:ext cx="7887346" cy="1001314"/>
          </a:xfrm>
        </p:spPr>
        <p:txBody>
          <a:bodyPr>
            <a:normAutofit/>
          </a:bodyPr>
          <a:lstStyle/>
          <a:p>
            <a:pPr marL="0" indent="0">
              <a:buNone/>
            </a:pPr>
            <a:r>
              <a:rPr lang="en-US" i="1" dirty="0"/>
              <a:t>Zod</a:t>
            </a:r>
            <a:r>
              <a:rPr lang="en-US" dirty="0"/>
              <a:t> is a library that makes testing the structure of inputs less tedious and error-prone.</a:t>
            </a:r>
          </a:p>
        </p:txBody>
      </p:sp>
      <p:sp>
        <p:nvSpPr>
          <p:cNvPr id="6" name="TextBox 5">
            <a:extLst>
              <a:ext uri="{FF2B5EF4-FFF2-40B4-BE49-F238E27FC236}">
                <a16:creationId xmlns:a16="http://schemas.microsoft.com/office/drawing/2014/main" id="{A14025D7-3318-3D14-3892-FF116EEA0A8E}"/>
              </a:ext>
            </a:extLst>
          </p:cNvPr>
          <p:cNvSpPr txBox="1"/>
          <p:nvPr/>
        </p:nvSpPr>
        <p:spPr>
          <a:xfrm>
            <a:off x="744069" y="2755351"/>
            <a:ext cx="11354146" cy="41018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AF00DB"/>
                </a:solidFill>
                <a:latin typeface="Menlo" panose="020B0609030804020204" pitchFamily="49" charset="0"/>
              </a:rPr>
              <a:t>import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z } </a:t>
            </a:r>
            <a:r>
              <a:rPr lang="en-US" sz="2000" dirty="0">
                <a:solidFill>
                  <a:srgbClr val="AF00DB"/>
                </a:solidFill>
                <a:latin typeface="Menlo" panose="020B0609030804020204" pitchFamily="49" charset="0"/>
              </a:rPr>
              <a:t>from</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zod</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password: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infer</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&lt;</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&gt;;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false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4, password: null }))</a:t>
            </a: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true, data: { username: "", password: "" }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 password: "" })) </a:t>
            </a:r>
          </a:p>
          <a:p>
            <a:pPr>
              <a:lnSpc>
                <a:spcPct val="110000"/>
              </a:lnSpc>
            </a:pPr>
            <a:endParaRPr lang="en-US" sz="2000" b="0" dirty="0">
              <a:solidFill>
                <a:srgbClr val="3B3B3B"/>
              </a:solidFill>
              <a:effectLst/>
              <a:latin typeface="Menlo" panose="020B0609030804020204" pitchFamily="49" charset="0"/>
            </a:endParaRPr>
          </a:p>
        </p:txBody>
      </p:sp>
      <p:sp>
        <p:nvSpPr>
          <p:cNvPr id="3" name="TextBox 2">
            <a:extLst>
              <a:ext uri="{FF2B5EF4-FFF2-40B4-BE49-F238E27FC236}">
                <a16:creationId xmlns:a16="http://schemas.microsoft.com/office/drawing/2014/main" id="{485AB0D8-371E-71DD-F09E-114D34A6C11D}"/>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94A18262-B510-B75A-5395-24208D918ECB}"/>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AutoShape 9">
            <a:extLst>
              <a:ext uri="{FF2B5EF4-FFF2-40B4-BE49-F238E27FC236}">
                <a16:creationId xmlns:a16="http://schemas.microsoft.com/office/drawing/2014/main" id="{874C090F-8ACA-361F-4622-1A018C2594C9}"/>
              </a:ext>
            </a:extLst>
          </p:cNvPr>
          <p:cNvSpPr>
            <a:spLocks/>
          </p:cNvSpPr>
          <p:nvPr/>
        </p:nvSpPr>
        <p:spPr bwMode="auto">
          <a:xfrm>
            <a:off x="5386431" y="4237471"/>
            <a:ext cx="2557312"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12" name="Straight Arrow Connector 11">
            <a:extLst>
              <a:ext uri="{FF2B5EF4-FFF2-40B4-BE49-F238E27FC236}">
                <a16:creationId xmlns:a16="http://schemas.microsoft.com/office/drawing/2014/main" id="{C8408240-44F8-94B2-97DF-165D3D8B00B6}"/>
              </a:ext>
            </a:extLst>
          </p:cNvPr>
          <p:cNvCxnSpPr>
            <a:cxnSpLocks/>
          </p:cNvCxnSpPr>
          <p:nvPr/>
        </p:nvCxnSpPr>
        <p:spPr>
          <a:xfrm flipH="1" flipV="1">
            <a:off x="2168013" y="4026310"/>
            <a:ext cx="3341811" cy="65468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99DC8529-A309-1F1E-40C3-9FAB71392CF7}"/>
              </a:ext>
            </a:extLst>
          </p:cNvPr>
          <p:cNvPicPr>
            <a:picLocks noChangeAspect="1"/>
          </p:cNvPicPr>
          <p:nvPr/>
        </p:nvPicPr>
        <p:blipFill>
          <a:blip r:embed="rId3"/>
          <a:stretch>
            <a:fillRect/>
          </a:stretch>
        </p:blipFill>
        <p:spPr>
          <a:xfrm>
            <a:off x="5594787" y="4397381"/>
            <a:ext cx="2197100" cy="965200"/>
          </a:xfrm>
          <a:prstGeom prst="rect">
            <a:avLst/>
          </a:prstGeom>
        </p:spPr>
      </p:pic>
    </p:spTree>
    <p:extLst>
      <p:ext uri="{BB962C8B-B14F-4D97-AF65-F5344CB8AC3E}">
        <p14:creationId xmlns:p14="http://schemas.microsoft.com/office/powerpoint/2010/main" val="4968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12</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Menlo" panose="020B0609030804020204" pitchFamily="49" charset="0"/>
            </a:endParaRPr>
          </a:p>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express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 app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express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sz="1800" dirty="0">
                <a:latin typeface="Menlo" panose="020B0609030804020204" pitchFamily="49" charset="0"/>
                <a:ea typeface="Menlo" panose="020B0609030804020204" pitchFamily="49" charset="0"/>
                <a:cs typeface="Menlo" panose="020B0609030804020204" pitchFamily="49" charset="0"/>
              </a:rPr>
              <a:t>());</a:t>
            </a: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post</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req</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a:latin typeface="Menlo" panose="020B0609030804020204" pitchFamily="49" charset="0"/>
                <a:ea typeface="Menlo" panose="020B0609030804020204" pitchFamily="49" charset="0"/>
                <a:cs typeface="Menlo" panose="020B0609030804020204" pitchFamily="49" charset="0"/>
              </a:rPr>
              <a:t>)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403</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'Wrong password' </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listen</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8000</a:t>
            </a:r>
            <a:r>
              <a:rPr lang="en-US" sz="1800" dirty="0">
                <a:latin typeface="Menlo" panose="020B0609030804020204" pitchFamily="49" charset="0"/>
                <a:ea typeface="Menlo" panose="020B0609030804020204" pitchFamily="49" charset="0"/>
                <a:cs typeface="Menlo" panose="020B0609030804020204" pitchFamily="49" charset="0"/>
              </a:rPr>
              <a:t>, () =&gt;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`Listening on port 8000`</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This has type “</a:t>
            </a:r>
            <a:r>
              <a:rPr lang="en-US" altLang="en-US" sz="2400" dirty="0">
                <a:solidFill>
                  <a:srgbClr val="FFFFFF"/>
                </a:solidFill>
                <a:latin typeface="Menlo" panose="020B0609030804020204" pitchFamily="49" charset="0"/>
                <a:ea typeface="Menlo" panose="020B0609030804020204" pitchFamily="49" charset="0"/>
                <a:cs typeface="Menlo" panose="020B0609030804020204" pitchFamily="49" charset="0"/>
                <a:sym typeface="Helvetica" panose="020B0604020202020204" pitchFamily="34" charset="0"/>
              </a:rPr>
              <a:t>any</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 name="AutoShape 9">
            <a:extLst>
              <a:ext uri="{FF2B5EF4-FFF2-40B4-BE49-F238E27FC236}">
                <a16:creationId xmlns:a16="http://schemas.microsoft.com/office/drawing/2014/main" id="{B95C8717-DEDA-995F-58A6-B727C8BBE736}"/>
              </a:ext>
            </a:extLst>
          </p:cNvPr>
          <p:cNvSpPr>
            <a:spLocks/>
          </p:cNvSpPr>
          <p:nvPr/>
        </p:nvSpPr>
        <p:spPr bwMode="auto">
          <a:xfrm>
            <a:off x="8442095" y="1612582"/>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Only accept JSON</a:t>
            </a:r>
          </a:p>
        </p:txBody>
      </p:sp>
      <p:cxnSp>
        <p:nvCxnSpPr>
          <p:cNvPr id="16" name="Straight Arrow Connector 15">
            <a:extLst>
              <a:ext uri="{FF2B5EF4-FFF2-40B4-BE49-F238E27FC236}">
                <a16:creationId xmlns:a16="http://schemas.microsoft.com/office/drawing/2014/main" id="{B7F05F48-178B-5C00-18FE-9C3CF41951AC}"/>
              </a:ext>
            </a:extLst>
          </p:cNvPr>
          <p:cNvCxnSpPr>
            <a:cxnSpLocks/>
          </p:cNvCxnSpPr>
          <p:nvPr/>
        </p:nvCxnSpPr>
        <p:spPr>
          <a:xfrm flipH="1">
            <a:off x="4262284" y="2043205"/>
            <a:ext cx="4179811" cy="43062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092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D6FD4F-AD6C-B698-F7C9-015C684A24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91A0B-9268-C912-4D6A-6B12B43B5BEA}"/>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BBE33987-87EE-3562-EF73-2F2889C22840}"/>
              </a:ext>
            </a:extLst>
          </p:cNvPr>
          <p:cNvSpPr>
            <a:spLocks noGrp="1"/>
          </p:cNvSpPr>
          <p:nvPr>
            <p:ph type="sldNum" sz="quarter" idx="12"/>
          </p:nvPr>
        </p:nvSpPr>
        <p:spPr/>
        <p:txBody>
          <a:bodyPr/>
          <a:lstStyle/>
          <a:p>
            <a:fld id="{20F37917-FD3A-4669-9018-DA04BCDD3D75}" type="slidenum">
              <a:rPr lang="en-US" smtClean="0"/>
              <a:pPr/>
              <a:t>13</a:t>
            </a:fld>
            <a:endParaRPr lang="en-US"/>
          </a:p>
        </p:txBody>
      </p:sp>
      <p:sp>
        <p:nvSpPr>
          <p:cNvPr id="3" name="TextBox 2">
            <a:extLst>
              <a:ext uri="{FF2B5EF4-FFF2-40B4-BE49-F238E27FC236}">
                <a16:creationId xmlns:a16="http://schemas.microsoft.com/office/drawing/2014/main" id="{3D3BB57D-155C-8893-253D-4E4D7B35BBC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76A8FD9D-8AD3-CF4F-E3EE-D67128BBE99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6E2100AB-F345-9F0F-0A8D-8879B8C8D869}"/>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Menlo" panose="020B0609030804020204" pitchFamily="49" charset="0"/>
            </a:endParaRPr>
          </a:p>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express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 app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express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sz="1800" dirty="0">
                <a:latin typeface="Menlo" panose="020B0609030804020204" pitchFamily="49" charset="0"/>
                <a:ea typeface="Menlo" panose="020B0609030804020204" pitchFamily="49" charset="0"/>
                <a:cs typeface="Menlo" panose="020B0609030804020204" pitchFamily="49" charset="0"/>
              </a:rPr>
              <a:t>());</a:t>
            </a: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post</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req</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a:latin typeface="Menlo" panose="020B0609030804020204" pitchFamily="49" charset="0"/>
                <a:ea typeface="Menlo" panose="020B0609030804020204" pitchFamily="49" charset="0"/>
                <a:cs typeface="Menlo" panose="020B0609030804020204" pitchFamily="49" charset="0"/>
              </a:rPr>
              <a:t>)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403</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'Wrong password' </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listen</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8000</a:t>
            </a:r>
            <a:r>
              <a:rPr lang="en-US" sz="1800" dirty="0">
                <a:latin typeface="Menlo" panose="020B0609030804020204" pitchFamily="49" charset="0"/>
                <a:ea typeface="Menlo" panose="020B0609030804020204" pitchFamily="49" charset="0"/>
                <a:cs typeface="Menlo" panose="020B0609030804020204" pitchFamily="49" charset="0"/>
              </a:rPr>
              <a:t>, () =&gt;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`Listening on port 8000`</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
        <p:nvSpPr>
          <p:cNvPr id="6" name="AutoShape 9">
            <a:extLst>
              <a:ext uri="{FF2B5EF4-FFF2-40B4-BE49-F238E27FC236}">
                <a16:creationId xmlns:a16="http://schemas.microsoft.com/office/drawing/2014/main" id="{387B3737-7F28-7DB7-B5B0-33B4FE6A5BB8}"/>
              </a:ext>
            </a:extLst>
          </p:cNvPr>
          <p:cNvSpPr>
            <a:spLocks/>
          </p:cNvSpPr>
          <p:nvPr/>
        </p:nvSpPr>
        <p:spPr bwMode="auto">
          <a:xfrm>
            <a:off x="5639902" y="304081"/>
            <a:ext cx="5967080" cy="386971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7" name="Straight Arrow Connector 6">
            <a:extLst>
              <a:ext uri="{FF2B5EF4-FFF2-40B4-BE49-F238E27FC236}">
                <a16:creationId xmlns:a16="http://schemas.microsoft.com/office/drawing/2014/main" id="{0155CAA9-09AF-AF34-412B-3A8DFE7FD745}"/>
              </a:ext>
            </a:extLst>
          </p:cNvPr>
          <p:cNvCxnSpPr>
            <a:cxnSpLocks/>
          </p:cNvCxnSpPr>
          <p:nvPr/>
        </p:nvCxnSpPr>
        <p:spPr>
          <a:xfrm flipH="1">
            <a:off x="7639665" y="3760838"/>
            <a:ext cx="368709" cy="159700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51379210-EB90-4E38-F7EA-3229E05022BB}"/>
              </a:ext>
            </a:extLst>
          </p:cNvPr>
          <p:cNvPicPr>
            <a:picLocks noChangeAspect="1"/>
          </p:cNvPicPr>
          <p:nvPr/>
        </p:nvPicPr>
        <p:blipFill>
          <a:blip r:embed="rId3"/>
          <a:stretch>
            <a:fillRect/>
          </a:stretch>
        </p:blipFill>
        <p:spPr>
          <a:xfrm>
            <a:off x="6153150" y="560438"/>
            <a:ext cx="4914900" cy="3200400"/>
          </a:xfrm>
          <a:prstGeom prst="rect">
            <a:avLst/>
          </a:prstGeom>
        </p:spPr>
      </p:pic>
      <p:sp>
        <p:nvSpPr>
          <p:cNvPr id="11" name="TextBox 10">
            <a:extLst>
              <a:ext uri="{FF2B5EF4-FFF2-40B4-BE49-F238E27FC236}">
                <a16:creationId xmlns:a16="http://schemas.microsoft.com/office/drawing/2014/main" id="{397FD718-7D32-FC65-DF53-EEA3BD17CE39}"/>
              </a:ext>
            </a:extLst>
          </p:cNvPr>
          <p:cNvSpPr txBox="1"/>
          <p:nvPr/>
        </p:nvSpPr>
        <p:spPr>
          <a:xfrm>
            <a:off x="88490" y="556014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810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B81AD-3594-57AA-6142-BF4B9EA43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A0ABE-953F-F16A-5176-C3659229014F}"/>
              </a:ext>
            </a:extLst>
          </p:cNvPr>
          <p:cNvSpPr>
            <a:spLocks noGrp="1"/>
          </p:cNvSpPr>
          <p:nvPr>
            <p:ph type="title"/>
          </p:nvPr>
        </p:nvSpPr>
        <p:spPr/>
        <p:txBody>
          <a:bodyPr/>
          <a:lstStyle/>
          <a:p>
            <a:r>
              <a:rPr lang="en-US" dirty="0"/>
              <a:t>Zod In A Tiny Web Server </a:t>
            </a:r>
          </a:p>
        </p:txBody>
      </p:sp>
      <p:sp>
        <p:nvSpPr>
          <p:cNvPr id="4" name="Slide Number Placeholder 3">
            <a:extLst>
              <a:ext uri="{FF2B5EF4-FFF2-40B4-BE49-F238E27FC236}">
                <a16:creationId xmlns:a16="http://schemas.microsoft.com/office/drawing/2014/main" id="{25147EF1-C39A-3535-BB73-A90B0DF82CB5}"/>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04A6F1FE-58CC-223C-F7AF-0E95EDDBA9A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433D702-0BA4-2D56-0931-DD91A6E6B991}"/>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CD488ED7-E8B6-9CAF-5DCC-8F76283D60F7}"/>
              </a:ext>
            </a:extLst>
          </p:cNvPr>
          <p:cNvSpPr>
            <a:spLocks noGrp="1"/>
          </p:cNvSpPr>
          <p:nvPr>
            <p:ph idx="1"/>
          </p:nvPr>
        </p:nvSpPr>
        <p:spPr>
          <a:xfrm>
            <a:off x="838199" y="1500159"/>
            <a:ext cx="10960511" cy="5092369"/>
          </a:xfrm>
        </p:spPr>
        <p:txBody>
          <a:bodyPr>
            <a:noAutofit/>
          </a:bodyPr>
          <a:lstStyle/>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 z }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C00000"/>
                </a:solidFill>
                <a:latin typeface="Menlo" panose="020B0609030804020204" pitchFamily="49" charset="0"/>
                <a:ea typeface="Menlo" panose="020B0609030804020204" pitchFamily="49" charset="0"/>
                <a:cs typeface="Menlo" panose="020B0609030804020204" pitchFamily="49" charset="0"/>
              </a:rPr>
              <a:t>zod</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a:t>
            </a:r>
            <a:endParaRPr lang="en-US" sz="1800" dirty="0">
              <a:solidFill>
                <a:srgbClr val="AF00DB"/>
              </a:solidFill>
              <a:latin typeface="Menlo" panose="020B0609030804020204" pitchFamily="49" charset="0"/>
            </a:endParaRPr>
          </a:p>
          <a:p>
            <a:pPr marL="0" indent="0">
              <a:spcBef>
                <a:spcPts val="0"/>
              </a:spcBef>
              <a:buNone/>
            </a:pPr>
            <a:r>
              <a:rPr lang="en-US" sz="1800" dirty="0">
                <a:solidFill>
                  <a:schemeClr val="bg1">
                    <a:lumMod val="65000"/>
                  </a:schemeClr>
                </a:solidFill>
                <a:latin typeface="Menlo" panose="020B0609030804020204" pitchFamily="49" charset="0"/>
              </a:rPr>
              <a:t>import</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express </a:t>
            </a:r>
            <a:r>
              <a:rPr lang="en-US" sz="1800" dirty="0">
                <a:solidFill>
                  <a:schemeClr val="bg1">
                    <a:lumMod val="65000"/>
                  </a:schemeClr>
                </a:solidFill>
                <a:latin typeface="Menlo" panose="020B0609030804020204" pitchFamily="49" charset="0"/>
              </a:rPr>
              <a:t>from</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'express';</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const app = express();</a:t>
            </a: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app.use</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express.json</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b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br>
            <a:endPar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zAuth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app.post</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(req, res)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zAuth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auth.error</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400</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'Unexpected message' </a:t>
            </a:r>
            <a:r>
              <a:rPr lang="en-US" sz="1800" dirty="0">
                <a:latin typeface="Menlo" panose="020B0609030804020204" pitchFamily="49" charset="0"/>
                <a:ea typeface="Menlo" panose="020B0609030804020204" pitchFamily="49" charset="0"/>
                <a:cs typeface="Menlo" panose="020B0609030804020204" pitchFamily="49" charset="0"/>
              </a:rPr>
              <a:t>});  </a:t>
            </a: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 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b="1" dirty="0" err="1">
                <a:solidFill>
                  <a:srgbClr val="002060"/>
                </a:solidFill>
                <a:latin typeface="Menlo" panose="020B0609030804020204" pitchFamily="49" charset="0"/>
                <a:ea typeface="Menlo" panose="020B0609030804020204" pitchFamily="49" charset="0"/>
                <a:cs typeface="Menlo" panose="020B0609030804020204" pitchFamily="49" charset="0"/>
              </a:rPr>
              <a:t>data</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res.status</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(403).send({ error: 'Wrong password'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 </a:t>
            </a:r>
            <a:r>
              <a:rPr lang="en-US" sz="1800" dirty="0">
                <a:solidFill>
                  <a:schemeClr val="bg1">
                    <a:lumMod val="65000"/>
                  </a:schemeClr>
                </a:solidFill>
                <a:latin typeface="Menlo" panose="020B0609030804020204" pitchFamily="49" charset="0"/>
              </a:rPr>
              <a:t>else</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b="1" dirty="0" err="1">
                <a:solidFill>
                  <a:srgbClr val="002060"/>
                </a:solidFill>
                <a:latin typeface="Menlo" panose="020B0609030804020204" pitchFamily="49" charset="0"/>
                <a:ea typeface="Menlo" panose="020B0609030804020204" pitchFamily="49" charset="0"/>
                <a:cs typeface="Menlo" panose="020B0609030804020204" pitchFamily="49" charset="0"/>
              </a:rPr>
              <a:t>data</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app.listen</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(8000, () =&gt; </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console.log</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(`Listening on port 8000`));</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0468137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15</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a:t>
            </a:r>
          </a:p>
          <a:p>
            <a:r>
              <a:rPr lang="en-US" dirty="0"/>
              <a:t>You can never trust that the input to a web server will obey any sort of </a:t>
            </a:r>
            <a:r>
              <a:rPr lang="en-US"/>
              <a:t>contract — </a:t>
            </a:r>
            <a:r>
              <a:rPr lang="en-US" dirty="0"/>
              <a:t>important to test!</a:t>
            </a:r>
          </a:p>
        </p:txBody>
      </p:sp>
    </p:spTree>
    <p:extLst>
      <p:ext uri="{BB962C8B-B14F-4D97-AF65-F5344CB8AC3E}">
        <p14:creationId xmlns:p14="http://schemas.microsoft.com/office/powerpoint/2010/main" val="1741171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3A434-134B-DEC4-0437-7993A5536EE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2C853A3-60F1-001B-4631-61E238A8F1FC}"/>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BCDF65F4-4DE9-113C-9388-33600A1B9438}"/>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30337893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721DD-02B2-53E0-2188-A7E399ED38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DC57E-4A12-B34A-32C6-F9788573BD2B}"/>
              </a:ext>
            </a:extLst>
          </p:cNvPr>
          <p:cNvSpPr>
            <a:spLocks noGrp="1"/>
          </p:cNvSpPr>
          <p:nvPr>
            <p:ph type="title"/>
          </p:nvPr>
        </p:nvSpPr>
        <p:spPr/>
        <p:txBody>
          <a:bodyPr/>
          <a:lstStyle/>
          <a:p>
            <a:r>
              <a:rPr lang="en-US" dirty="0"/>
              <a:t>TypeScript Types… Can Be Trusted?</a:t>
            </a:r>
          </a:p>
        </p:txBody>
      </p:sp>
      <p:sp>
        <p:nvSpPr>
          <p:cNvPr id="5" name="Content Placeholder 4">
            <a:extLst>
              <a:ext uri="{FF2B5EF4-FFF2-40B4-BE49-F238E27FC236}">
                <a16:creationId xmlns:a16="http://schemas.microsoft.com/office/drawing/2014/main" id="{000CE07F-9B18-5131-C2D5-8A3CA557BAD7}"/>
              </a:ext>
            </a:extLst>
          </p:cNvPr>
          <p:cNvSpPr>
            <a:spLocks noGrp="1"/>
          </p:cNvSpPr>
          <p:nvPr>
            <p:ph idx="1"/>
          </p:nvPr>
        </p:nvSpPr>
        <p:spPr>
          <a:xfrm>
            <a:off x="838200" y="1500160"/>
            <a:ext cx="9300882" cy="4351338"/>
          </a:xfrm>
        </p:spPr>
        <p:txBody>
          <a:bodyPr>
            <a:normAutofit/>
          </a:bodyPr>
          <a:lstStyle/>
          <a:p>
            <a:r>
              <a:rPr lang="en-US" dirty="0"/>
              <a:t>If you use TypeScript with care, you can rely on the control it gives you over what might get passed to the function</a:t>
            </a:r>
          </a:p>
          <a:p>
            <a:pPr lvl="1"/>
            <a:r>
              <a:rPr lang="en-US" dirty="0"/>
              <a:t>If a function is only being called from other sources that respect contracts… then you can rely on the contracts being respected?</a:t>
            </a:r>
          </a:p>
          <a:p>
            <a:pPr lvl="1"/>
            <a:r>
              <a:rPr lang="en-US" dirty="0"/>
              <a:t>Don’t have contracts on functions that won’t be respected!</a:t>
            </a:r>
          </a:p>
          <a:p>
            <a:r>
              <a:rPr lang="en-US" dirty="0"/>
              <a:t>Sometimes you </a:t>
            </a:r>
            <a:r>
              <a:rPr lang="en-US" i="1" dirty="0"/>
              <a:t>cannot </a:t>
            </a:r>
            <a:r>
              <a:rPr lang="en-US" dirty="0"/>
              <a:t>control your input, like when it’s coming directly from a user or a network request</a:t>
            </a:r>
          </a:p>
          <a:p>
            <a:r>
              <a:rPr lang="en-US" dirty="0"/>
              <a:t>The </a:t>
            </a:r>
            <a:r>
              <a:rPr lang="en-US"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dirty="0"/>
              <a:t> type (NOT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t> type) helps in these situations</a:t>
            </a:r>
          </a:p>
        </p:txBody>
      </p:sp>
      <p:sp>
        <p:nvSpPr>
          <p:cNvPr id="4" name="Slide Number Placeholder 3">
            <a:extLst>
              <a:ext uri="{FF2B5EF4-FFF2-40B4-BE49-F238E27FC236}">
                <a16:creationId xmlns:a16="http://schemas.microsoft.com/office/drawing/2014/main" id="{535AF715-18A9-64E5-DD70-DA6A6D7F1C2D}"/>
              </a:ext>
            </a:extLst>
          </p:cNvPr>
          <p:cNvSpPr>
            <a:spLocks noGrp="1"/>
          </p:cNvSpPr>
          <p:nvPr>
            <p:ph type="sldNum" sz="quarter" idx="12"/>
          </p:nvPr>
        </p:nvSpPr>
        <p:spPr/>
        <p:txBody>
          <a:bodyPr/>
          <a:lstStyle/>
          <a:p>
            <a:fld id="{20F37917-FD3A-4669-9018-DA04BCDD3D75}" type="slidenum">
              <a:rPr lang="en-US" smtClean="0"/>
              <a:pPr/>
              <a:t>17</a:t>
            </a:fld>
            <a:endParaRPr lang="en-US"/>
          </a:p>
        </p:txBody>
      </p:sp>
      <p:sp>
        <p:nvSpPr>
          <p:cNvPr id="3" name="TextBox 2">
            <a:extLst>
              <a:ext uri="{FF2B5EF4-FFF2-40B4-BE49-F238E27FC236}">
                <a16:creationId xmlns:a16="http://schemas.microsoft.com/office/drawing/2014/main" id="{849D798B-886A-484B-D03D-EF2D41000B0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TextBox 8">
            <a:extLst>
              <a:ext uri="{FF2B5EF4-FFF2-40B4-BE49-F238E27FC236}">
                <a16:creationId xmlns:a16="http://schemas.microsoft.com/office/drawing/2014/main" id="{40FFDFD7-87E6-6132-7535-E934641B5807}"/>
              </a:ext>
            </a:extLst>
          </p:cNvPr>
          <p:cNvSpPr txBox="1"/>
          <p:nvPr/>
        </p:nvSpPr>
        <p:spPr>
          <a:xfrm>
            <a:off x="443753" y="223221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D79AE66F-C925-E4AE-C129-74F251E673EE}"/>
              </a:ext>
            </a:extLst>
          </p:cNvPr>
          <p:cNvSpPr txBox="1"/>
          <p:nvPr/>
        </p:nvSpPr>
        <p:spPr>
          <a:xfrm>
            <a:off x="4504765" y="75303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7935521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4E342-459E-7A94-3206-AAEB380DD1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A7571-3002-2AA7-ACDB-016744198D7B}"/>
              </a:ext>
            </a:extLst>
          </p:cNvPr>
          <p:cNvSpPr>
            <a:spLocks noGrp="1"/>
          </p:cNvSpPr>
          <p:nvPr>
            <p:ph type="title"/>
          </p:nvPr>
        </p:nvSpPr>
        <p:spPr/>
        <p:txBody>
          <a:bodyPr/>
          <a:lstStyle/>
          <a:p>
            <a:r>
              <a:rPr lang="en-US" dirty="0"/>
              <a:t>TypeScript (can) Make Testing Trickier!</a:t>
            </a:r>
          </a:p>
        </p:txBody>
      </p:sp>
      <p:sp>
        <p:nvSpPr>
          <p:cNvPr id="5" name="Content Placeholder 4">
            <a:extLst>
              <a:ext uri="{FF2B5EF4-FFF2-40B4-BE49-F238E27FC236}">
                <a16:creationId xmlns:a16="http://schemas.microsoft.com/office/drawing/2014/main" id="{63F11D85-B614-119A-E96B-7F26059E1E8E}"/>
              </a:ext>
            </a:extLst>
          </p:cNvPr>
          <p:cNvSpPr>
            <a:spLocks noGrp="1"/>
          </p:cNvSpPr>
          <p:nvPr>
            <p:ph idx="1"/>
          </p:nvPr>
        </p:nvSpPr>
        <p:spPr>
          <a:xfrm>
            <a:off x="838200" y="1500160"/>
            <a:ext cx="9300882" cy="4351338"/>
          </a:xfrm>
        </p:spPr>
        <p:txBody>
          <a:bodyPr>
            <a:normAutofit/>
          </a:bodyPr>
          <a:lstStyle/>
          <a:p>
            <a:r>
              <a:rPr lang="en-US" dirty="0"/>
              <a:t>TypeScript can lull you into a false sense of security that you </a:t>
            </a:r>
            <a:r>
              <a:rPr lang="en-US" i="1" dirty="0"/>
              <a:t>don’t</a:t>
            </a:r>
            <a:r>
              <a:rPr lang="en-US" dirty="0"/>
              <a:t> need to check whether your number-accepting function can handle a string.</a:t>
            </a:r>
          </a:p>
          <a:p>
            <a:r>
              <a:rPr lang="en-US" dirty="0"/>
              <a:t>It makes sense </a:t>
            </a:r>
            <a:r>
              <a:rPr lang="en-US" i="1" dirty="0"/>
              <a:t>sometimes</a:t>
            </a:r>
            <a:r>
              <a:rPr lang="en-US" dirty="0"/>
              <a:t> to treat your precondition comments as not-needing-to-be tested</a:t>
            </a:r>
          </a:p>
          <a:p>
            <a:r>
              <a:rPr lang="en-US" dirty="0"/>
              <a:t>It makes sense </a:t>
            </a:r>
            <a:r>
              <a:rPr lang="en-US" i="1" dirty="0"/>
              <a:t>often </a:t>
            </a:r>
            <a:r>
              <a:rPr lang="en-US" dirty="0"/>
              <a:t>to treat your TypeScript types as </a:t>
            </a:r>
            <a:br>
              <a:rPr lang="en-US" dirty="0"/>
            </a:br>
            <a:r>
              <a:rPr lang="en-US" dirty="0"/>
              <a:t>not-needing-to-be-tested, especially if you use TypeScript appropriately (avoid the use of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t> type!)  </a:t>
            </a:r>
          </a:p>
          <a:p>
            <a:endParaRPr lang="en-US" dirty="0"/>
          </a:p>
        </p:txBody>
      </p:sp>
      <p:sp>
        <p:nvSpPr>
          <p:cNvPr id="4" name="Slide Number Placeholder 3">
            <a:extLst>
              <a:ext uri="{FF2B5EF4-FFF2-40B4-BE49-F238E27FC236}">
                <a16:creationId xmlns:a16="http://schemas.microsoft.com/office/drawing/2014/main" id="{7ED81EC7-D680-06C1-9222-B95F2F189963}"/>
              </a:ext>
            </a:extLst>
          </p:cNvPr>
          <p:cNvSpPr>
            <a:spLocks noGrp="1"/>
          </p:cNvSpPr>
          <p:nvPr>
            <p:ph type="sldNum" sz="quarter" idx="12"/>
          </p:nvPr>
        </p:nvSpPr>
        <p:spPr/>
        <p:txBody>
          <a:bodyPr/>
          <a:lstStyle/>
          <a:p>
            <a:fld id="{20F37917-FD3A-4669-9018-DA04BCDD3D75}" type="slidenum">
              <a:rPr lang="en-US" smtClean="0"/>
              <a:pPr/>
              <a:t>18</a:t>
            </a:fld>
            <a:endParaRPr lang="en-US"/>
          </a:p>
        </p:txBody>
      </p:sp>
      <p:sp>
        <p:nvSpPr>
          <p:cNvPr id="3" name="TextBox 2">
            <a:extLst>
              <a:ext uri="{FF2B5EF4-FFF2-40B4-BE49-F238E27FC236}">
                <a16:creationId xmlns:a16="http://schemas.microsoft.com/office/drawing/2014/main" id="{B18E2D9A-4256-AB96-52EA-141676FF678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TextBox 8">
            <a:extLst>
              <a:ext uri="{FF2B5EF4-FFF2-40B4-BE49-F238E27FC236}">
                <a16:creationId xmlns:a16="http://schemas.microsoft.com/office/drawing/2014/main" id="{5C6BE914-C89F-75FF-CA9F-FB0F3CEE5884}"/>
              </a:ext>
            </a:extLst>
          </p:cNvPr>
          <p:cNvSpPr txBox="1"/>
          <p:nvPr/>
        </p:nvSpPr>
        <p:spPr>
          <a:xfrm>
            <a:off x="443753" y="223221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94967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F37E0-EC2E-A56B-E348-01956A9E9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36C5A-1C12-B6ED-0731-A002ADD3FECE}"/>
              </a:ext>
            </a:extLst>
          </p:cNvPr>
          <p:cNvSpPr>
            <a:spLocks noGrp="1"/>
          </p:cNvSpPr>
          <p:nvPr>
            <p:ph type="title"/>
          </p:nvPr>
        </p:nvSpPr>
        <p:spPr>
          <a:xfrm>
            <a:off x="838200" y="18255"/>
            <a:ext cx="10515600" cy="1325563"/>
          </a:xfrm>
        </p:spPr>
        <p:txBody>
          <a:bodyPr/>
          <a:lstStyle/>
          <a:p>
            <a:r>
              <a:rPr lang="en-US" dirty="0"/>
              <a:t>(Un)authenticated Inputs</a:t>
            </a:r>
          </a:p>
        </p:txBody>
      </p:sp>
      <p:sp>
        <p:nvSpPr>
          <p:cNvPr id="4" name="Slide Number Placeholder 3">
            <a:extLst>
              <a:ext uri="{FF2B5EF4-FFF2-40B4-BE49-F238E27FC236}">
                <a16:creationId xmlns:a16="http://schemas.microsoft.com/office/drawing/2014/main" id="{89966352-EB99-270A-DF9F-1B1E3AF8E79F}"/>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5" name="Content Placeholder 4">
            <a:extLst>
              <a:ext uri="{FF2B5EF4-FFF2-40B4-BE49-F238E27FC236}">
                <a16:creationId xmlns:a16="http://schemas.microsoft.com/office/drawing/2014/main" id="{17FE361B-C10F-F1E5-611C-7B8D2621C24C}"/>
              </a:ext>
            </a:extLst>
          </p:cNvPr>
          <p:cNvSpPr>
            <a:spLocks noGrp="1"/>
          </p:cNvSpPr>
          <p:nvPr>
            <p:ph idx="1"/>
          </p:nvPr>
        </p:nvSpPr>
        <p:spPr>
          <a:xfrm>
            <a:off x="838200" y="1500160"/>
            <a:ext cx="7887346" cy="785840"/>
          </a:xfrm>
        </p:spPr>
        <p:txBody>
          <a:bodyPr/>
          <a:lstStyle/>
          <a:p>
            <a:pPr marL="0" indent="0">
              <a:buNone/>
            </a:pPr>
            <a:r>
              <a:rPr lang="en-US" dirty="0"/>
              <a:t>With difficulty, you can check an unknown value</a:t>
            </a:r>
          </a:p>
        </p:txBody>
      </p:sp>
      <p:sp>
        <p:nvSpPr>
          <p:cNvPr id="6" name="TextBox 5">
            <a:extLst>
              <a:ext uri="{FF2B5EF4-FFF2-40B4-BE49-F238E27FC236}">
                <a16:creationId xmlns:a16="http://schemas.microsoft.com/office/drawing/2014/main" id="{8FCC4CC6-BB97-AA4F-EADE-0026A52DD19A}"/>
              </a:ext>
            </a:extLst>
          </p:cNvPr>
          <p:cNvSpPr txBox="1"/>
          <p:nvPr/>
        </p:nvSpPr>
        <p:spPr>
          <a:xfrm>
            <a:off x="744069" y="2501474"/>
            <a:ext cx="11354146" cy="32023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2060"/>
                </a:solidFill>
                <a:latin typeface="Menlo" panose="020B0609030804020204" pitchFamily="49" charset="0"/>
              </a:rPr>
              <a:t>type</a:t>
            </a:r>
            <a:r>
              <a:rPr lang="en-US" dirty="0">
                <a:solidFill>
                  <a:srgbClr val="0000FF"/>
                </a:solidFill>
                <a:latin typeface="Menlo" panose="020B0609030804020204" pitchFamily="49" charset="0"/>
              </a:rPr>
              <a:t> </a:t>
            </a:r>
            <a:r>
              <a:rPr lang="en-US" dirty="0">
                <a:solidFill>
                  <a:srgbClr val="795E26"/>
                </a:solidFill>
                <a:latin typeface="Menlo" panose="020B0609030804020204" pitchFamily="49" charset="0"/>
              </a:rPr>
              <a:t>Auth </a:t>
            </a:r>
            <a:r>
              <a:rPr lang="en-US" dirty="0">
                <a:solidFill>
                  <a:schemeClr val="tx1"/>
                </a:solidFill>
                <a:latin typeface="Menlo" panose="020B0609030804020204" pitchFamily="49" charset="0"/>
              </a:rPr>
              <a:t>= { username: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password: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a:t>
            </a:r>
            <a:endParaRPr lang="en-US" b="0" dirty="0">
              <a:solidFill>
                <a:schemeClr val="tx1"/>
              </a:solidFill>
              <a:effectLst/>
              <a:latin typeface="Menlo" panose="020B0609030804020204" pitchFamily="49" charset="0"/>
            </a:endParaRPr>
          </a:p>
          <a:p>
            <a:pPr>
              <a:lnSpc>
                <a:spcPct val="110000"/>
              </a:lnSpc>
              <a:buNone/>
            </a:pPr>
            <a:endParaRPr lang="en-US" b="0" dirty="0">
              <a:solidFill>
                <a:srgbClr val="008000"/>
              </a:solidFill>
              <a:effectLst/>
              <a:latin typeface="Menlo" panose="020B0609030804020204" pitchFamily="49" charset="0"/>
            </a:endParaRPr>
          </a:p>
          <a:p>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isAuth</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(x: </a:t>
            </a:r>
            <a:r>
              <a:rPr lang="en-US" dirty="0">
                <a:solidFill>
                  <a:schemeClr val="accent5">
                    <a:lumMod val="50000"/>
                  </a:schemeClr>
                </a:solidFill>
                <a:latin typeface="Menlo" panose="020B0609030804020204" pitchFamily="49" charset="0"/>
                <a:ea typeface="Menlo" panose="020B0609030804020204" pitchFamily="49" charset="0"/>
                <a:cs typeface="Menlo" panose="020B0609030804020204" pitchFamily="49" charset="0"/>
              </a:rPr>
              <a:t>unknown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x is </a:t>
            </a:r>
            <a:r>
              <a:rPr lang="en-US" dirty="0">
                <a:solidFill>
                  <a:srgbClr val="795E26"/>
                </a:solidFill>
                <a:latin typeface="Menlo" panose="020B0609030804020204" pitchFamily="49" charset="0"/>
              </a:rPr>
              <a:t>Auth</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AF00DB"/>
                </a:solidFill>
                <a:latin typeface="Menlo" panose="020B0609030804020204" pitchFamily="49" charset="0"/>
              </a:rPr>
              <a:t>return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2060"/>
                </a:solidFill>
                <a:latin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pPr>
              <a:lnSpc>
                <a:spcPct val="110000"/>
              </a:lnSpc>
            </a:pPr>
            <a:endParaRPr lang="en-US" b="0" dirty="0">
              <a:solidFill>
                <a:srgbClr val="3B3B3B"/>
              </a:solidFill>
              <a:effectLst/>
              <a:latin typeface="Menlo" panose="020B0609030804020204" pitchFamily="49" charset="0"/>
            </a:endParaRPr>
          </a:p>
        </p:txBody>
      </p:sp>
      <p:sp>
        <p:nvSpPr>
          <p:cNvPr id="7" name="AutoShape 9">
            <a:extLst>
              <a:ext uri="{FF2B5EF4-FFF2-40B4-BE49-F238E27FC236}">
                <a16:creationId xmlns:a16="http://schemas.microsoft.com/office/drawing/2014/main" id="{F5BFD086-0EB2-8F5C-B04B-7AED98FB0008}"/>
              </a:ext>
            </a:extLst>
          </p:cNvPr>
          <p:cNvSpPr>
            <a:spLocks/>
          </p:cNvSpPr>
          <p:nvPr/>
        </p:nvSpPr>
        <p:spPr bwMode="auto">
          <a:xfrm>
            <a:off x="8038971" y="1559292"/>
            <a:ext cx="4153029"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“unknown,” NOT “any,” is the type for unauthenticated inputs</a:t>
            </a:r>
          </a:p>
        </p:txBody>
      </p:sp>
      <p:cxnSp>
        <p:nvCxnSpPr>
          <p:cNvPr id="8" name="Straight Arrow Connector 7">
            <a:extLst>
              <a:ext uri="{FF2B5EF4-FFF2-40B4-BE49-F238E27FC236}">
                <a16:creationId xmlns:a16="http://schemas.microsoft.com/office/drawing/2014/main" id="{07F4BBAE-F557-AC8B-A00D-9BBE6FFC6191}"/>
              </a:ext>
            </a:extLst>
          </p:cNvPr>
          <p:cNvCxnSpPr>
            <a:cxnSpLocks/>
            <a:stCxn id="7" idx="1"/>
          </p:cNvCxnSpPr>
          <p:nvPr/>
        </p:nvCxnSpPr>
        <p:spPr>
          <a:xfrm flipH="1">
            <a:off x="4316506" y="2201803"/>
            <a:ext cx="3722465" cy="89102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941B2547-E16A-5C73-37DD-0F0102E42566}"/>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0" name="AutoShape 9">
            <a:extLst>
              <a:ext uri="{FF2B5EF4-FFF2-40B4-BE49-F238E27FC236}">
                <a16:creationId xmlns:a16="http://schemas.microsoft.com/office/drawing/2014/main" id="{693FB59D-8720-3800-F0D4-DEA7EF36A2D9}"/>
              </a:ext>
            </a:extLst>
          </p:cNvPr>
          <p:cNvSpPr>
            <a:spLocks/>
          </p:cNvSpPr>
          <p:nvPr/>
        </p:nvSpPr>
        <p:spPr bwMode="auto">
          <a:xfrm>
            <a:off x="7801407" y="4997630"/>
            <a:ext cx="4153029" cy="17238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If a value passes this function, TypeScript will just assume it’s an Auth, </a:t>
            </a:r>
            <a:r>
              <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even if you write the function wrong</a:t>
            </a:r>
          </a:p>
        </p:txBody>
      </p:sp>
      <p:cxnSp>
        <p:nvCxnSpPr>
          <p:cNvPr id="11" name="Straight Arrow Connector 10">
            <a:extLst>
              <a:ext uri="{FF2B5EF4-FFF2-40B4-BE49-F238E27FC236}">
                <a16:creationId xmlns:a16="http://schemas.microsoft.com/office/drawing/2014/main" id="{8C359A16-AB04-7109-2237-F503D619C01E}"/>
              </a:ext>
            </a:extLst>
          </p:cNvPr>
          <p:cNvCxnSpPr>
            <a:cxnSpLocks/>
          </p:cNvCxnSpPr>
          <p:nvPr/>
        </p:nvCxnSpPr>
        <p:spPr>
          <a:xfrm flipH="1" flipV="1">
            <a:off x="5862918" y="3497135"/>
            <a:ext cx="2057400" cy="163964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1886E25C-9752-AE05-188E-109B6D435914}"/>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971840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idx="1"/>
          </p:nvPr>
        </p:nvSpPr>
        <p:spPr>
          <a:xfrm>
            <a:off x="838199" y="1500160"/>
            <a:ext cx="8574741"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Title 1"/>
          <p:cNvSpPr txBox="1">
            <a:spLocks noGrp="1"/>
          </p:cNvSpPr>
          <p:nvPr>
            <p:ph type="title"/>
          </p:nvPr>
        </p:nvSpPr>
        <p:spPr>
          <a:xfrm>
            <a:off x="838200" y="18255"/>
            <a:ext cx="10515600" cy="1325563"/>
          </a:xfrm>
          <a:prstGeom prst="rect">
            <a:avLst/>
          </a:prstGeom>
        </p:spPr>
        <p:txBody>
          <a:bodyPr/>
          <a:lstStyle/>
          <a:p>
            <a:r>
              <a:rPr dirty="0"/>
              <a:t>What makes for a good test (suite)?</a:t>
            </a:r>
          </a:p>
        </p:txBody>
      </p:sp>
      <p:sp>
        <p:nvSpPr>
          <p:cNvPr id="275" name="Content Placeholder 2"/>
          <p:cNvSpPr txBox="1">
            <a:spLocks noGrp="1"/>
          </p:cNvSpPr>
          <p:nvPr>
            <p:ph type="body" idx="1"/>
          </p:nvPr>
        </p:nvSpPr>
        <p:spPr>
          <a:xfrm>
            <a:off x="838200" y="1547052"/>
            <a:ext cx="7887345" cy="4351338"/>
          </a:xfrm>
          <a:prstGeom prst="rect">
            <a:avLst/>
          </a:prstGeom>
        </p:spPr>
        <p:txBody>
          <a:bodyPr/>
          <a:lstStyle/>
          <a:p>
            <a:r>
              <a:rPr dirty="0"/>
              <a:t>Desirable properties of test suites:</a:t>
            </a:r>
          </a:p>
          <a:p>
            <a:pPr marL="457200" lvl="1"/>
            <a:r>
              <a:rPr dirty="0"/>
              <a:t>Find bugs</a:t>
            </a:r>
          </a:p>
          <a:p>
            <a:pPr marL="457200" lvl="1"/>
            <a:r>
              <a:rPr dirty="0"/>
              <a:t>Run automatically</a:t>
            </a:r>
          </a:p>
          <a:p>
            <a:pPr marL="457200" lvl="1"/>
            <a:r>
              <a:rPr dirty="0"/>
              <a:t>Are relatively cheap to run</a:t>
            </a:r>
            <a:endParaRPr lang="en-US" dirty="0"/>
          </a:p>
          <a:p>
            <a:pPr marL="457200" lvl="1"/>
            <a:r>
              <a:rPr lang="en-US" dirty="0"/>
              <a:t>Don't depend on the order of tests.</a:t>
            </a:r>
            <a:endParaRPr dirty="0"/>
          </a:p>
          <a:p>
            <a:r>
              <a:rPr dirty="0"/>
              <a:t>Desirable properties of individual tests:</a:t>
            </a:r>
          </a:p>
          <a:p>
            <a:pPr marL="457200" lvl="1"/>
            <a:r>
              <a:rPr dirty="0"/>
              <a:t>Understandable and </a:t>
            </a:r>
            <a:r>
              <a:rPr dirty="0" err="1"/>
              <a:t>debuggable</a:t>
            </a:r>
            <a:endParaRPr dirty="0"/>
          </a:p>
          <a:p>
            <a:pPr marL="457200" lvl="1"/>
            <a:r>
              <a:rPr dirty="0"/>
              <a:t>No false alarms (not “flaky”)</a:t>
            </a:r>
          </a:p>
        </p:txBody>
      </p:sp>
      <p:sp>
        <p:nvSpPr>
          <p:cNvPr id="276" name="Slide Number Placeholder 3"/>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22</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a:t>The industry standard answer for “have I written enough tests”</a:t>
            </a:r>
          </a:p>
          <a:p>
            <a:r>
              <a:rPr lang="en-US"/>
              <a:t>Measures “how much of your code” is exercised by your tests</a:t>
            </a:r>
          </a:p>
          <a:p>
            <a:r>
              <a:rPr lang="en-US"/>
              <a:t>If none of your test even </a:t>
            </a:r>
            <a:r>
              <a:rPr lang="en-US" i="1"/>
              <a:t>execute</a:t>
            </a:r>
            <a:r>
              <a:rPr lang="en-US"/>
              <a:t> a piece of code, it’s definitely not being tested!</a:t>
            </a:r>
          </a:p>
          <a:p>
            <a:endParaRPr lang="en-US"/>
          </a:p>
        </p:txBody>
      </p:sp>
    </p:spTree>
    <p:extLst>
      <p:ext uri="{BB962C8B-B14F-4D97-AF65-F5344CB8AC3E}">
        <p14:creationId xmlns:p14="http://schemas.microsoft.com/office/powerpoint/2010/main" val="15633415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23</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a:t>Line </a:t>
            </a:r>
            <a:r>
              <a:rPr lang="en-US"/>
              <a:t>and </a:t>
            </a:r>
            <a:r>
              <a:rPr lang="en-US" i="1"/>
              <a:t>Statement </a:t>
            </a:r>
            <a:r>
              <a:rPr lang="en-US"/>
              <a:t>coverage: coarsest measure.</a:t>
            </a:r>
          </a:p>
          <a:p>
            <a:r>
              <a:rPr lang="en-US"/>
              <a:t>Testing x = 0 exercises lines 1 and 2</a:t>
            </a:r>
          </a:p>
          <a:p>
            <a:r>
              <a:rPr lang="en-US"/>
              <a:t>Testing x = 10 exercises lines 1, 4, 5, and 6.</a:t>
            </a:r>
          </a:p>
          <a:p>
            <a:pPr marL="0" indent="0">
              <a:buNone/>
            </a:pPr>
            <a:endParaRPr lang="en-US"/>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21013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a:solidFill>
                  <a:schemeClr val="bg2">
                    <a:lumMod val="90000"/>
                  </a:schemeClr>
                </a:solidFill>
                <a:effectLst/>
                <a:latin typeface="Menlo" panose="020B0609030804020204" pitchFamily="49" charset="0"/>
              </a:rPr>
              <a:t>1| </a:t>
            </a:r>
            <a:r>
              <a:rPr lang="en-US" sz="2000" b="0">
                <a:solidFill>
                  <a:srgbClr val="AF00DB"/>
                </a:solidFill>
                <a:effectLst/>
                <a:latin typeface="Menlo" panose="020B0609030804020204" pitchFamily="49" charset="0"/>
              </a:rPr>
              <a:t>if</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p>
          <a:p>
            <a:pPr>
              <a:lnSpc>
                <a:spcPct val="110000"/>
              </a:lnSpc>
              <a:buNone/>
            </a:pPr>
            <a:r>
              <a:rPr lang="en-US" sz="2000">
                <a:solidFill>
                  <a:schemeClr val="bg2">
                    <a:lumMod val="90000"/>
                  </a:schemeClr>
                </a:solidFill>
                <a:latin typeface="Menlo" panose="020B0609030804020204" pitchFamily="49" charset="0"/>
              </a:rPr>
              <a:t>2</a:t>
            </a:r>
            <a:r>
              <a:rPr lang="en-US" sz="2000" b="0">
                <a:solidFill>
                  <a:schemeClr val="bg2">
                    <a:lumMod val="90000"/>
                  </a:schemeClr>
                </a:solidFill>
                <a:effectLst/>
                <a:latin typeface="Menlo" panose="020B0609030804020204" pitchFamily="49" charset="0"/>
              </a:rPr>
              <a:t>|</a:t>
            </a:r>
            <a:r>
              <a:rPr lang="en-US" sz="2000" b="0">
                <a:solidFill>
                  <a:srgbClr val="AF00DB"/>
                </a:solidFill>
                <a:effectLst/>
                <a:latin typeface="Menlo" panose="020B0609030804020204" pitchFamily="49" charset="0"/>
              </a:rPr>
              <a:t>  return</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3</a:t>
            </a:r>
            <a:r>
              <a:rPr lang="en-US" sz="2000" b="0">
                <a:solidFill>
                  <a:schemeClr val="bg2">
                    <a:lumMod val="90000"/>
                  </a:schemeClr>
                </a:solidFill>
                <a:effectLst/>
                <a:latin typeface="Menlo" panose="020B0609030804020204" pitchFamily="49" charset="0"/>
              </a:rPr>
              <a:t>| </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4</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&gt;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4</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5</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1</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2</a:t>
            </a:r>
            <a:r>
              <a:rPr lang="en-US" sz="2000" b="0">
                <a:solidFill>
                  <a:srgbClr val="3B3B3B"/>
                </a:solidFill>
                <a:effectLst/>
                <a:latin typeface="Menlo" panose="020B0609030804020204" pitchFamily="49" charset="0"/>
              </a:rPr>
              <a:t>;</a:t>
            </a:r>
          </a:p>
          <a:p>
            <a:pPr>
              <a:lnSpc>
                <a:spcPct val="110000"/>
              </a:lnSpc>
            </a:pPr>
            <a:r>
              <a:rPr lang="en-US" sz="2000">
                <a:solidFill>
                  <a:schemeClr val="bg2">
                    <a:lumMod val="90000"/>
                  </a:schemeClr>
                </a:solidFill>
                <a:latin typeface="Menlo" panose="020B0609030804020204" pitchFamily="49" charset="0"/>
              </a:rPr>
              <a:t>6</a:t>
            </a:r>
            <a:r>
              <a:rPr lang="en-US" sz="2000" b="0">
                <a:solidFill>
                  <a:schemeClr val="bg2">
                    <a:lumMod val="90000"/>
                  </a:schemeClr>
                </a:solidFill>
                <a:effectLst/>
                <a:latin typeface="Menlo" panose="020B0609030804020204" pitchFamily="49" charset="0"/>
              </a:rPr>
              <a:t>| </a:t>
            </a:r>
            <a:r>
              <a:rPr lang="en-US" sz="2000" b="0">
                <a:solidFill>
                  <a:srgbClr val="AF00DB"/>
                </a:solidFill>
                <a:effectLst/>
                <a:latin typeface="Menlo" panose="020B0609030804020204" pitchFamily="49" charset="0"/>
              </a:rPr>
              <a:t>return</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24</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a:t>Branch </a:t>
            </a:r>
            <a:r>
              <a:rPr lang="en-US"/>
              <a:t>coverage: most widely used in industry.</a:t>
            </a:r>
          </a:p>
          <a:p>
            <a:r>
              <a:rPr lang="en-US"/>
              <a:t>Testing with x &gt; 4 and x &lt;= 4 necessary to handle both branches on line 4.</a:t>
            </a:r>
          </a:p>
          <a:p>
            <a:r>
              <a:rPr lang="en-US"/>
              <a:t>Testing with odd and even numbers necessary to handle both branches on line 5.</a:t>
            </a:r>
          </a:p>
          <a:p>
            <a:r>
              <a:rPr lang="en-US"/>
              <a:t>The values -2, 0, 1, and 10 get full branch coverage.</a:t>
            </a:r>
          </a:p>
          <a:p>
            <a:pPr marL="0" indent="0">
              <a:buNone/>
            </a:pPr>
            <a:endParaRPr lang="en-US"/>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21013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a:solidFill>
                  <a:schemeClr val="bg2">
                    <a:lumMod val="90000"/>
                  </a:schemeClr>
                </a:solidFill>
                <a:effectLst/>
                <a:latin typeface="Menlo" panose="020B0609030804020204" pitchFamily="49" charset="0"/>
              </a:rPr>
              <a:t>1| </a:t>
            </a:r>
            <a:r>
              <a:rPr lang="en-US" sz="2000" b="0">
                <a:solidFill>
                  <a:srgbClr val="AF00DB"/>
                </a:solidFill>
                <a:effectLst/>
                <a:latin typeface="Menlo" panose="020B0609030804020204" pitchFamily="49" charset="0"/>
              </a:rPr>
              <a:t>if</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p>
          <a:p>
            <a:pPr>
              <a:lnSpc>
                <a:spcPct val="110000"/>
              </a:lnSpc>
              <a:buNone/>
            </a:pPr>
            <a:r>
              <a:rPr lang="en-US" sz="2000">
                <a:solidFill>
                  <a:schemeClr val="bg2">
                    <a:lumMod val="90000"/>
                  </a:schemeClr>
                </a:solidFill>
                <a:latin typeface="Menlo" panose="020B0609030804020204" pitchFamily="49" charset="0"/>
              </a:rPr>
              <a:t>2</a:t>
            </a:r>
            <a:r>
              <a:rPr lang="en-US" sz="2000" b="0">
                <a:solidFill>
                  <a:schemeClr val="bg2">
                    <a:lumMod val="90000"/>
                  </a:schemeClr>
                </a:solidFill>
                <a:effectLst/>
                <a:latin typeface="Menlo" panose="020B0609030804020204" pitchFamily="49" charset="0"/>
              </a:rPr>
              <a:t>|</a:t>
            </a:r>
            <a:r>
              <a:rPr lang="en-US" sz="2000" b="0">
                <a:solidFill>
                  <a:srgbClr val="AF00DB"/>
                </a:solidFill>
                <a:effectLst/>
                <a:latin typeface="Menlo" panose="020B0609030804020204" pitchFamily="49" charset="0"/>
              </a:rPr>
              <a:t>  return</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3</a:t>
            </a:r>
            <a:r>
              <a:rPr lang="en-US" sz="2000" b="0">
                <a:solidFill>
                  <a:schemeClr val="bg2">
                    <a:lumMod val="90000"/>
                  </a:schemeClr>
                </a:solidFill>
                <a:effectLst/>
                <a:latin typeface="Menlo" panose="020B0609030804020204" pitchFamily="49" charset="0"/>
              </a:rPr>
              <a:t>| </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4</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&gt;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4</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5</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1</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2</a:t>
            </a:r>
            <a:r>
              <a:rPr lang="en-US" sz="2000" b="0">
                <a:solidFill>
                  <a:srgbClr val="3B3B3B"/>
                </a:solidFill>
                <a:effectLst/>
                <a:latin typeface="Menlo" panose="020B0609030804020204" pitchFamily="49" charset="0"/>
              </a:rPr>
              <a:t>;</a:t>
            </a:r>
          </a:p>
          <a:p>
            <a:pPr>
              <a:lnSpc>
                <a:spcPct val="110000"/>
              </a:lnSpc>
            </a:pPr>
            <a:r>
              <a:rPr lang="en-US" sz="2000">
                <a:solidFill>
                  <a:schemeClr val="bg2">
                    <a:lumMod val="90000"/>
                  </a:schemeClr>
                </a:solidFill>
                <a:latin typeface="Menlo" panose="020B0609030804020204" pitchFamily="49" charset="0"/>
              </a:rPr>
              <a:t>6</a:t>
            </a:r>
            <a:r>
              <a:rPr lang="en-US" sz="2000" b="0">
                <a:solidFill>
                  <a:schemeClr val="bg2">
                    <a:lumMod val="90000"/>
                  </a:schemeClr>
                </a:solidFill>
                <a:effectLst/>
                <a:latin typeface="Menlo" panose="020B0609030804020204" pitchFamily="49" charset="0"/>
              </a:rPr>
              <a:t>| </a:t>
            </a:r>
            <a:r>
              <a:rPr lang="en-US" sz="2000" b="0">
                <a:solidFill>
                  <a:srgbClr val="AF00DB"/>
                </a:solidFill>
                <a:effectLst/>
                <a:latin typeface="Menlo" panose="020B0609030804020204" pitchFamily="49" charset="0"/>
              </a:rPr>
              <a:t>return</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25</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4882662" cy="5221316"/>
          </a:xfrm>
        </p:spPr>
        <p:txBody>
          <a:bodyPr>
            <a:normAutofit/>
          </a:bodyPr>
          <a:lstStyle/>
          <a:p>
            <a:r>
              <a:rPr lang="en-US" dirty="0"/>
              <a:t>The values -2, 0, 1, and 10 get full branch coverage…</a:t>
            </a:r>
          </a:p>
          <a:p>
            <a:r>
              <a:rPr lang="en-US" dirty="0"/>
              <a:t>…but 5 causes line 6 to divide by zero! </a:t>
            </a:r>
          </a:p>
          <a:p>
            <a:pPr lvl="1"/>
            <a:r>
              <a:rPr lang="en-US" dirty="0"/>
              <a:t>In JavaScript/TypeScript, this doesn’t cause an exception, there’s a number called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21013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a:solidFill>
                  <a:schemeClr val="bg2">
                    <a:lumMod val="90000"/>
                  </a:schemeClr>
                </a:solidFill>
                <a:effectLst/>
                <a:latin typeface="Menlo" panose="020B0609030804020204" pitchFamily="49" charset="0"/>
              </a:rPr>
              <a:t>1| </a:t>
            </a:r>
            <a:r>
              <a:rPr lang="en-US" sz="2000" b="0">
                <a:solidFill>
                  <a:srgbClr val="AF00DB"/>
                </a:solidFill>
                <a:effectLst/>
                <a:latin typeface="Menlo" panose="020B0609030804020204" pitchFamily="49" charset="0"/>
              </a:rPr>
              <a:t>if</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p>
          <a:p>
            <a:pPr>
              <a:lnSpc>
                <a:spcPct val="110000"/>
              </a:lnSpc>
              <a:buNone/>
            </a:pPr>
            <a:r>
              <a:rPr lang="en-US" sz="2000">
                <a:solidFill>
                  <a:schemeClr val="bg2">
                    <a:lumMod val="90000"/>
                  </a:schemeClr>
                </a:solidFill>
                <a:latin typeface="Menlo" panose="020B0609030804020204" pitchFamily="49" charset="0"/>
              </a:rPr>
              <a:t>2</a:t>
            </a:r>
            <a:r>
              <a:rPr lang="en-US" sz="2000" b="0">
                <a:solidFill>
                  <a:schemeClr val="bg2">
                    <a:lumMod val="90000"/>
                  </a:schemeClr>
                </a:solidFill>
                <a:effectLst/>
                <a:latin typeface="Menlo" panose="020B0609030804020204" pitchFamily="49" charset="0"/>
              </a:rPr>
              <a:t>|</a:t>
            </a:r>
            <a:r>
              <a:rPr lang="en-US" sz="2000" b="0">
                <a:solidFill>
                  <a:srgbClr val="AF00DB"/>
                </a:solidFill>
                <a:effectLst/>
                <a:latin typeface="Menlo" panose="020B0609030804020204" pitchFamily="49" charset="0"/>
              </a:rPr>
              <a:t>  return</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3</a:t>
            </a:r>
            <a:r>
              <a:rPr lang="en-US" sz="2000" b="0">
                <a:solidFill>
                  <a:schemeClr val="bg2">
                    <a:lumMod val="90000"/>
                  </a:schemeClr>
                </a:solidFill>
                <a:effectLst/>
                <a:latin typeface="Menlo" panose="020B0609030804020204" pitchFamily="49" charset="0"/>
              </a:rPr>
              <a:t>| </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4</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&gt;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4</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3</a:t>
            </a:r>
            <a:r>
              <a:rPr lang="en-US" sz="2000" b="0">
                <a:solidFill>
                  <a:srgbClr val="3B3B3B"/>
                </a:solidFill>
                <a:effectLst/>
                <a:latin typeface="Menlo" panose="020B0609030804020204" pitchFamily="49" charset="0"/>
              </a:rPr>
              <a:t>;</a:t>
            </a:r>
          </a:p>
          <a:p>
            <a:pPr>
              <a:lnSpc>
                <a:spcPct val="110000"/>
              </a:lnSpc>
              <a:buNone/>
            </a:pPr>
            <a:r>
              <a:rPr lang="en-US" sz="2000">
                <a:solidFill>
                  <a:schemeClr val="bg2">
                    <a:lumMod val="90000"/>
                  </a:schemeClr>
                </a:solidFill>
                <a:latin typeface="Menlo" panose="020B0609030804020204" pitchFamily="49" charset="0"/>
              </a:rPr>
              <a:t>5</a:t>
            </a:r>
            <a:r>
              <a:rPr lang="en-US" sz="2000" b="0">
                <a:solidFill>
                  <a:schemeClr val="bg2">
                    <a:lumMod val="90000"/>
                  </a:schemeClr>
                </a:solidFill>
                <a:effectLst/>
                <a:latin typeface="Menlo" panose="020B0609030804020204" pitchFamily="49" charset="0"/>
              </a:rPr>
              <a:t>| </a:t>
            </a:r>
            <a:r>
              <a:rPr lang="en-US" sz="2000" b="0">
                <a:solidFill>
                  <a:srgbClr val="0000FF"/>
                </a:solidFill>
                <a:effectLst/>
                <a:latin typeface="Menlo" panose="020B0609030804020204" pitchFamily="49" charset="0"/>
              </a:rPr>
              <a:t>const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2</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98658"/>
                </a:solidFill>
                <a:effectLst/>
                <a:latin typeface="Menlo" panose="020B0609030804020204" pitchFamily="49" charset="0"/>
              </a:rPr>
              <a:t>0</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1</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a:solidFill>
                  <a:srgbClr val="098658"/>
                </a:solidFill>
                <a:latin typeface="Menlo" panose="020B0609030804020204" pitchFamily="49" charset="0"/>
              </a:rPr>
              <a:t>2</a:t>
            </a:r>
            <a:r>
              <a:rPr lang="en-US" sz="2000" b="0">
                <a:solidFill>
                  <a:srgbClr val="3B3B3B"/>
                </a:solidFill>
                <a:effectLst/>
                <a:latin typeface="Menlo" panose="020B0609030804020204" pitchFamily="49" charset="0"/>
              </a:rPr>
              <a:t>;</a:t>
            </a:r>
          </a:p>
          <a:p>
            <a:pPr>
              <a:lnSpc>
                <a:spcPct val="110000"/>
              </a:lnSpc>
            </a:pPr>
            <a:r>
              <a:rPr lang="en-US" sz="2000">
                <a:solidFill>
                  <a:schemeClr val="bg2">
                    <a:lumMod val="90000"/>
                  </a:schemeClr>
                </a:solidFill>
                <a:latin typeface="Menlo" panose="020B0609030804020204" pitchFamily="49" charset="0"/>
              </a:rPr>
              <a:t>6</a:t>
            </a:r>
            <a:r>
              <a:rPr lang="en-US" sz="2000" b="0">
                <a:solidFill>
                  <a:schemeClr val="bg2">
                    <a:lumMod val="90000"/>
                  </a:schemeClr>
                </a:solidFill>
                <a:effectLst/>
                <a:latin typeface="Menlo" panose="020B0609030804020204" pitchFamily="49" charset="0"/>
              </a:rPr>
              <a:t>| </a:t>
            </a:r>
            <a:r>
              <a:rPr lang="en-US" sz="2000" b="0">
                <a:solidFill>
                  <a:srgbClr val="AF00DB"/>
                </a:solidFill>
                <a:effectLst/>
                <a:latin typeface="Menlo" panose="020B0609030804020204" pitchFamily="49" charset="0"/>
              </a:rPr>
              <a:t>return</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x</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y</a:t>
            </a:r>
            <a:r>
              <a:rPr lang="en-US" sz="2000" b="0">
                <a:solidFill>
                  <a:srgbClr val="3B3B3B"/>
                </a:solidFill>
                <a:effectLst/>
                <a:latin typeface="Menlo" panose="020B0609030804020204" pitchFamily="49" charset="0"/>
              </a:rPr>
              <a:t> </a:t>
            </a:r>
            <a:r>
              <a:rPr lang="en-US" sz="2000" b="0">
                <a:solidFill>
                  <a:srgbClr val="000000"/>
                </a:solidFill>
                <a:effectLst/>
                <a:latin typeface="Menlo" panose="020B0609030804020204" pitchFamily="49" charset="0"/>
              </a:rPr>
              <a:t>-</a:t>
            </a:r>
            <a:r>
              <a:rPr lang="en-US" sz="2000" b="0">
                <a:solidFill>
                  <a:srgbClr val="3B3B3B"/>
                </a:solidFill>
                <a:effectLst/>
                <a:latin typeface="Menlo" panose="020B0609030804020204" pitchFamily="49" charset="0"/>
              </a:rPr>
              <a:t> </a:t>
            </a:r>
            <a:r>
              <a:rPr lang="en-US" sz="2000" b="0">
                <a:solidFill>
                  <a:srgbClr val="0070C1"/>
                </a:solidFill>
                <a:effectLst/>
                <a:latin typeface="Menlo" panose="020B0609030804020204" pitchFamily="49" charset="0"/>
              </a:rPr>
              <a:t>z</a:t>
            </a:r>
            <a:r>
              <a:rPr lang="en-US" sz="2000" b="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a:t>Code Coverage</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99220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a:t>Code Coverage</a:t>
            </a:r>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7887346" cy="4856190"/>
          </a:xfrm>
        </p:spPr>
        <p:txBody>
          <a:bodyPr>
            <a:normAutofit/>
          </a:bodyPr>
          <a:lstStyle/>
          <a:p>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27</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Tree>
    <p:extLst>
      <p:ext uri="{BB962C8B-B14F-4D97-AF65-F5344CB8AC3E}">
        <p14:creationId xmlns:p14="http://schemas.microsoft.com/office/powerpoint/2010/main" val="10053484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Review</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A lot of what you’ve been taught about “edge cases” is can be understood in terms of trying to imagine inputs that will provide code coverage for an unknown function.</a:t>
            </a:r>
          </a:p>
          <a:p>
            <a:r>
              <a:rPr lang="en-US" dirty="0"/>
              <a:t>What inputs should we start with for code coverage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42398377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a:bodyPr>
          <a:lstStyle/>
          <a:p>
            <a:r>
              <a:rPr lang="en-US" dirty="0"/>
              <a:t>It can be helpful to think of testing as a game in which you play against an adversary.</a:t>
            </a:r>
          </a:p>
          <a:p>
            <a:r>
              <a:rPr lang="en-US" dirty="0"/>
              <a:t>Your adversary plays by producing multiple versions of code that you agree is buggy, and multiple versions of code you agree is correct.</a:t>
            </a:r>
          </a:p>
          <a:p>
            <a:r>
              <a:rPr lang="en-US" dirty="0"/>
              <a:t>Your win if your tests catch all the buggy code, </a:t>
            </a:r>
            <a:br>
              <a:rPr lang="en-US" dirty="0"/>
            </a:br>
            <a:r>
              <a:rPr lang="en-US" dirty="0"/>
              <a:t>and pass all the correct code.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5827377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30</a:t>
            </a:fld>
            <a:endParaRPr/>
          </a:p>
        </p:txBody>
      </p:sp>
      <p:sp>
        <p:nvSpPr>
          <p:cNvPr id="829" name="public contains(location: PlayerLocation): boolean {…"/>
          <p:cNvSpPr txBox="1"/>
          <p:nvPr/>
        </p:nvSpPr>
        <p:spPr>
          <a:xfrm>
            <a:off x="1104030" y="1923578"/>
            <a:ext cx="8036174" cy="1477328"/>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a:solidFill>
                  <a:srgbClr val="008000"/>
                </a:solidFill>
                <a:latin typeface="Consolas" panose="020B0609020204030204" pitchFamily="49" charset="0"/>
              </a:rPr>
              <a:t>// find the first item in the list that is </a:t>
            </a:r>
            <a:endParaRPr lang="en-US">
              <a:solidFill>
                <a:srgbClr val="3B3B3B"/>
              </a:solidFill>
              <a:latin typeface="Consolas" panose="020B0609020204030204" pitchFamily="49" charset="0"/>
            </a:endParaRPr>
          </a:p>
          <a:p>
            <a:r>
              <a:rPr lang="en-US">
                <a:solidFill>
                  <a:srgbClr val="008000"/>
                </a:solidFill>
                <a:latin typeface="Consolas" panose="020B0609020204030204" pitchFamily="49" charset="0"/>
              </a:rPr>
              <a:t>// greater than or equal to the target.</a:t>
            </a:r>
            <a:endParaRPr lang="en-US">
              <a:solidFill>
                <a:srgbClr val="3B3B3B"/>
              </a:solidFill>
              <a:latin typeface="Consolas" panose="020B0609020204030204" pitchFamily="49" charset="0"/>
            </a:endParaRPr>
          </a:p>
          <a:p>
            <a:r>
              <a:rPr lang="en-US">
                <a:solidFill>
                  <a:srgbClr val="AF00DB"/>
                </a:solidFill>
                <a:latin typeface="Consolas" panose="020B0609020204030204" pitchFamily="49" charset="0"/>
              </a:rPr>
              <a:t>export</a:t>
            </a:r>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default</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function</a:t>
            </a:r>
            <a:r>
              <a:rPr lang="en-US">
                <a:solidFill>
                  <a:srgbClr val="3B3B3B"/>
                </a:solidFill>
                <a:latin typeface="Consolas" panose="020B0609020204030204" pitchFamily="49" charset="0"/>
              </a:rPr>
              <a:t> </a:t>
            </a:r>
            <a:r>
              <a:rPr lang="en-US">
                <a:solidFill>
                  <a:srgbClr val="795E26"/>
                </a:solidFill>
                <a:latin typeface="Consolas" panose="020B0609020204030204" pitchFamily="49" charset="0"/>
              </a:rPr>
              <a:t>search</a:t>
            </a:r>
            <a:r>
              <a:rPr lang="en-US">
                <a:solidFill>
                  <a:srgbClr val="3B3B3B"/>
                </a:solidFill>
                <a:latin typeface="Consolas" panose="020B0609020204030204" pitchFamily="49" charset="0"/>
              </a:rPr>
              <a:t>(</a:t>
            </a:r>
            <a:r>
              <a:rPr lang="en-US" err="1">
                <a:solidFill>
                  <a:srgbClr val="001080"/>
                </a:solidFill>
                <a:latin typeface="Consolas" panose="020B0609020204030204" pitchFamily="49" charset="0"/>
              </a:rPr>
              <a:t>list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target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p>
          <a:p>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return</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list</a:t>
            </a:r>
            <a:r>
              <a:rPr lang="en-US" err="1">
                <a:solidFill>
                  <a:srgbClr val="3B3B3B"/>
                </a:solidFill>
                <a:latin typeface="Consolas" panose="020B0609020204030204" pitchFamily="49" charset="0"/>
              </a:rPr>
              <a:t>.</a:t>
            </a:r>
            <a:r>
              <a:rPr lang="en-US" err="1">
                <a:solidFill>
                  <a:srgbClr val="795E26"/>
                </a:solidFill>
                <a:latin typeface="Consolas" panose="020B0609020204030204" pitchFamily="49" charset="0"/>
              </a:rPr>
              <a:t>find</a:t>
            </a:r>
            <a:r>
              <a:rPr lang="en-US">
                <a:solidFill>
                  <a:srgbClr val="3B3B3B"/>
                </a:solidFill>
                <a:latin typeface="Consolas" panose="020B0609020204030204" pitchFamily="49" charset="0"/>
              </a:rPr>
              <a:t>((</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00"/>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target</a:t>
            </a:r>
            <a:r>
              <a:rPr lang="en-US">
                <a:solidFill>
                  <a:srgbClr val="3B3B3B"/>
                </a:solidFill>
                <a:latin typeface="Consolas" panose="020B0609020204030204" pitchFamily="49" charset="0"/>
              </a:rPr>
              <a:t>);</a:t>
            </a:r>
          </a:p>
          <a:p>
            <a:r>
              <a:rPr lang="en-US">
                <a:solidFill>
                  <a:srgbClr val="3B3B3B"/>
                </a:solidFill>
                <a:latin typeface="Consolas" panose="020B0609020204030204" pitchFamily="49" charset="0"/>
              </a:rPr>
              <a:t>}</a:t>
            </a:r>
            <a:r>
              <a:rPr lang="en-US"/>
              <a:t>               </a:t>
            </a:r>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036174" cy="1892826"/>
            <a:chOff x="2222476" y="8248054"/>
            <a:chExt cx="16072346" cy="3785652"/>
          </a:xfrm>
        </p:grpSpPr>
        <p:sp>
          <p:nvSpPr>
            <p:cNvPr id="831" name="public contains(location: PlayerLocation): boolean {…"/>
            <p:cNvSpPr txBox="1"/>
            <p:nvPr/>
          </p:nvSpPr>
          <p:spPr>
            <a:xfrm>
              <a:off x="2222476" y="8248054"/>
              <a:ext cx="16072346" cy="3785652"/>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a:t> </a:t>
              </a:r>
              <a:r>
                <a:rPr lang="en-US">
                  <a:solidFill>
                    <a:srgbClr val="008000"/>
                  </a:solidFill>
                  <a:latin typeface="Consolas" panose="020B0609020204030204" pitchFamily="49" charset="0"/>
                </a:rPr>
                <a:t>// find the first item in the list that is </a:t>
              </a:r>
              <a:endParaRPr lang="en-US">
                <a:solidFill>
                  <a:srgbClr val="3B3B3B"/>
                </a:solidFill>
                <a:latin typeface="Consolas" panose="020B0609020204030204" pitchFamily="49" charset="0"/>
              </a:endParaRPr>
            </a:p>
            <a:p>
              <a:r>
                <a:rPr lang="en-US">
                  <a:solidFill>
                    <a:srgbClr val="008000"/>
                  </a:solidFill>
                  <a:latin typeface="Consolas" panose="020B0609020204030204" pitchFamily="49" charset="0"/>
                </a:rPr>
                <a:t>// greater than or equal to the target.</a:t>
              </a:r>
              <a:endParaRPr lang="en-US">
                <a:solidFill>
                  <a:srgbClr val="3B3B3B"/>
                </a:solidFill>
                <a:latin typeface="Consolas" panose="020B0609020204030204" pitchFamily="49" charset="0"/>
              </a:endParaRPr>
            </a:p>
            <a:p>
              <a:r>
                <a:rPr lang="en-US">
                  <a:solidFill>
                    <a:srgbClr val="AF00DB"/>
                  </a:solidFill>
                  <a:latin typeface="Consolas" panose="020B0609020204030204" pitchFamily="49" charset="0"/>
                </a:rPr>
                <a:t>export</a:t>
              </a:r>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default</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function</a:t>
              </a:r>
              <a:r>
                <a:rPr lang="en-US">
                  <a:solidFill>
                    <a:srgbClr val="3B3B3B"/>
                  </a:solidFill>
                  <a:latin typeface="Consolas" panose="020B0609020204030204" pitchFamily="49" charset="0"/>
                </a:rPr>
                <a:t> </a:t>
              </a:r>
              <a:r>
                <a:rPr lang="en-US">
                  <a:solidFill>
                    <a:srgbClr val="795E26"/>
                  </a:solidFill>
                  <a:latin typeface="Consolas" panose="020B0609020204030204" pitchFamily="49" charset="0"/>
                </a:rPr>
                <a:t>search</a:t>
              </a:r>
              <a:r>
                <a:rPr lang="en-US">
                  <a:solidFill>
                    <a:srgbClr val="3B3B3B"/>
                  </a:solidFill>
                  <a:latin typeface="Consolas" panose="020B0609020204030204" pitchFamily="49" charset="0"/>
                </a:rPr>
                <a:t>(</a:t>
              </a:r>
              <a:r>
                <a:rPr lang="en-US" err="1">
                  <a:solidFill>
                    <a:srgbClr val="001080"/>
                  </a:solidFill>
                  <a:latin typeface="Consolas" panose="020B0609020204030204" pitchFamily="49" charset="0"/>
                </a:rPr>
                <a:t>list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target</a:t>
              </a:r>
              <a:r>
                <a:rPr lang="en-US" err="1">
                  <a:solidFill>
                    <a:srgbClr val="000000"/>
                  </a:solidFill>
                  <a:latin typeface="Consolas" panose="020B0609020204030204" pitchFamily="49" charset="0"/>
                </a:rPr>
                <a:t>:</a:t>
              </a:r>
              <a:r>
                <a:rPr lang="en-US" err="1">
                  <a:solidFill>
                    <a:srgbClr val="267F99"/>
                  </a:solidFill>
                  <a:latin typeface="Consolas" panose="020B0609020204030204" pitchFamily="49" charset="0"/>
                </a:rPr>
                <a:t>number</a:t>
              </a:r>
              <a:r>
                <a:rPr lang="en-US">
                  <a:solidFill>
                    <a:srgbClr val="3B3B3B"/>
                  </a:solidFill>
                  <a:latin typeface="Consolas" panose="020B0609020204030204" pitchFamily="49" charset="0"/>
                </a:rPr>
                <a:t>) {</a:t>
              </a:r>
            </a:p>
            <a:p>
              <a:r>
                <a:rPr lang="en-US">
                  <a:solidFill>
                    <a:srgbClr val="3B3B3B"/>
                  </a:solidFill>
                  <a:latin typeface="Consolas" panose="020B0609020204030204" pitchFamily="49" charset="0"/>
                </a:rPr>
                <a:t>    </a:t>
              </a:r>
              <a:r>
                <a:rPr lang="en-US">
                  <a:solidFill>
                    <a:srgbClr val="AF00DB"/>
                  </a:solidFill>
                  <a:latin typeface="Consolas" panose="020B0609020204030204" pitchFamily="49" charset="0"/>
                </a:rPr>
                <a:t>return</a:t>
              </a:r>
              <a:r>
                <a:rPr lang="en-US">
                  <a:solidFill>
                    <a:srgbClr val="3B3B3B"/>
                  </a:solidFill>
                  <a:latin typeface="Consolas" panose="020B0609020204030204" pitchFamily="49" charset="0"/>
                </a:rPr>
                <a:t> </a:t>
              </a:r>
              <a:r>
                <a:rPr lang="en-US" err="1">
                  <a:solidFill>
                    <a:srgbClr val="001080"/>
                  </a:solidFill>
                  <a:latin typeface="Consolas" panose="020B0609020204030204" pitchFamily="49" charset="0"/>
                </a:rPr>
                <a:t>list</a:t>
              </a:r>
              <a:r>
                <a:rPr lang="en-US" err="1">
                  <a:solidFill>
                    <a:srgbClr val="3B3B3B"/>
                  </a:solidFill>
                  <a:latin typeface="Consolas" panose="020B0609020204030204" pitchFamily="49" charset="0"/>
                </a:rPr>
                <a:t>.</a:t>
              </a:r>
              <a:r>
                <a:rPr lang="en-US" err="1">
                  <a:solidFill>
                    <a:srgbClr val="795E26"/>
                  </a:solidFill>
                  <a:latin typeface="Consolas" panose="020B0609020204030204" pitchFamily="49" charset="0"/>
                </a:rPr>
                <a:t>find</a:t>
              </a:r>
              <a:r>
                <a:rPr lang="en-US">
                  <a:solidFill>
                    <a:srgbClr val="3B3B3B"/>
                  </a:solidFill>
                  <a:latin typeface="Consolas" panose="020B0609020204030204" pitchFamily="49" charset="0"/>
                </a:rPr>
                <a:t>((</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FF"/>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item</a:t>
              </a:r>
              <a:r>
                <a:rPr lang="en-US">
                  <a:solidFill>
                    <a:srgbClr val="3B3B3B"/>
                  </a:solidFill>
                  <a:latin typeface="Consolas" panose="020B0609020204030204" pitchFamily="49" charset="0"/>
                </a:rPr>
                <a:t> </a:t>
              </a:r>
              <a:r>
                <a:rPr lang="en-US">
                  <a:solidFill>
                    <a:srgbClr val="000000"/>
                  </a:solidFill>
                  <a:latin typeface="Consolas" panose="020B0609020204030204" pitchFamily="49" charset="0"/>
                </a:rPr>
                <a:t>&gt;</a:t>
              </a:r>
              <a:r>
                <a:rPr lang="en-US">
                  <a:solidFill>
                    <a:srgbClr val="3B3B3B"/>
                  </a:solidFill>
                  <a:latin typeface="Consolas" panose="020B0609020204030204" pitchFamily="49" charset="0"/>
                </a:rPr>
                <a:t> </a:t>
              </a:r>
              <a:r>
                <a:rPr lang="en-US">
                  <a:solidFill>
                    <a:srgbClr val="001080"/>
                  </a:solidFill>
                  <a:latin typeface="Consolas" panose="020B0609020204030204" pitchFamily="49" charset="0"/>
                </a:rPr>
                <a:t>target</a:t>
              </a:r>
              <a:r>
                <a:rPr lang="en-US">
                  <a:solidFill>
                    <a:srgbClr val="3B3B3B"/>
                  </a:solidFill>
                  <a:latin typeface="Consolas" panose="020B0609020204030204" pitchFamily="49" charset="0"/>
                </a:rPr>
                <a:t>);</a:t>
              </a:r>
            </a:p>
            <a:p>
              <a:r>
                <a:rPr lang="en-US">
                  <a:solidFill>
                    <a:srgbClr val="3B3B3B"/>
                  </a:solidFill>
                  <a:latin typeface="Consolas" panose="020B0609020204030204" pitchFamily="49" charset="0"/>
                </a:rPr>
                <a:t>}</a:t>
              </a:r>
            </a:p>
            <a:p>
              <a:pPr defTabSz="457200">
                <a:defRPr sz="2700">
                  <a:solidFill>
                    <a:srgbClr val="272727"/>
                  </a:solidFill>
                  <a:latin typeface="Courier"/>
                  <a:ea typeface="Courier"/>
                  <a:cs typeface="Courier"/>
                  <a:sym typeface="Courier"/>
                </a:defRPr>
              </a:pPr>
              <a:r>
                <a:rPr lang="en-US"/>
                <a:t>    </a:t>
              </a:r>
              <a:endParaRPr/>
            </a:p>
          </p:txBody>
        </p:sp>
        <p:sp>
          <p:nvSpPr>
            <p:cNvPr id="833" name="Rectangle"/>
            <p:cNvSpPr/>
            <p:nvPr/>
          </p:nvSpPr>
          <p:spPr>
            <a:xfrm>
              <a:off x="10037349" y="9836414"/>
              <a:ext cx="3786850"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The Opening</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31</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3" name="Arrow: Left-Right 2">
            <a:extLst>
              <a:ext uri="{FF2B5EF4-FFF2-40B4-BE49-F238E27FC236}">
                <a16:creationId xmlns:a16="http://schemas.microsoft.com/office/drawing/2014/main" id="{07CBCD99-0245-8739-4561-E0A544C22620}"/>
              </a:ext>
            </a:extLst>
          </p:cNvPr>
          <p:cNvSpPr/>
          <p:nvPr/>
        </p:nvSpPr>
        <p:spPr>
          <a:xfrm>
            <a:off x="3956500" y="3735181"/>
            <a:ext cx="2278247"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5" name="Arrow: Left-Right 4">
            <a:extLst>
              <a:ext uri="{FF2B5EF4-FFF2-40B4-BE49-F238E27FC236}">
                <a16:creationId xmlns:a16="http://schemas.microsoft.com/office/drawing/2014/main" id="{9863E180-F4AB-1BBA-9BF6-E55BF0BAF4BC}"/>
              </a:ext>
            </a:extLst>
          </p:cNvPr>
          <p:cNvSpPr/>
          <p:nvPr/>
        </p:nvSpPr>
        <p:spPr>
          <a:xfrm>
            <a:off x="3974618" y="4926005"/>
            <a:ext cx="2278247"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9" name="Arrow: Left-Right 8">
            <a:extLst>
              <a:ext uri="{FF2B5EF4-FFF2-40B4-BE49-F238E27FC236}">
                <a16:creationId xmlns:a16="http://schemas.microsoft.com/office/drawing/2014/main" id="{B444A2AE-EC65-7050-E2CE-656816C1658D}"/>
              </a:ext>
            </a:extLst>
          </p:cNvPr>
          <p:cNvSpPr/>
          <p:nvPr/>
        </p:nvSpPr>
        <p:spPr>
          <a:xfrm>
            <a:off x="3982664" y="6041167"/>
            <a:ext cx="2278247"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7" name="Arrow: Left-Right 6">
            <a:extLst>
              <a:ext uri="{FF2B5EF4-FFF2-40B4-BE49-F238E27FC236}">
                <a16:creationId xmlns:a16="http://schemas.microsoft.com/office/drawing/2014/main" id="{BA08AF62-F01A-9988-BF09-8175AEC83E0C}"/>
              </a:ext>
            </a:extLst>
          </p:cNvPr>
          <p:cNvSpPr/>
          <p:nvPr/>
        </p:nvSpPr>
        <p:spPr>
          <a:xfrm rot="16200000">
            <a:off x="2016513" y="3938350"/>
            <a:ext cx="1654055" cy="452388"/>
          </a:xfrm>
          <a:prstGeom prst="leftRightArrow">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Tree>
    <p:extLst>
      <p:ext uri="{BB962C8B-B14F-4D97-AF65-F5344CB8AC3E}">
        <p14:creationId xmlns:p14="http://schemas.microsoft.com/office/powerpoint/2010/main" val="1306166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A round of play</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32</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86253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A round of play</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33</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6387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a winning position</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34</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4235E97-9132-CA37-E077-22452277CDDE}"/>
              </a:ext>
            </a:extLst>
          </p:cNvPr>
          <p:cNvSpPr txBox="1"/>
          <p:nvPr/>
        </p:nvSpPr>
        <p:spPr>
          <a:xfrm>
            <a:off x="8347434" y="5448782"/>
            <a:ext cx="3330077" cy="1255346"/>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Comic Sans MS" panose="030F0702030302020204" pitchFamily="66" charset="0"/>
              </a:rPr>
              <a:t>Hmm, now that you look closer, you see that mutant 3 isn't actually a bug.</a:t>
            </a:r>
          </a:p>
        </p:txBody>
      </p:sp>
    </p:spTree>
    <p:extLst>
      <p:ext uri="{BB962C8B-B14F-4D97-AF65-F5344CB8AC3E}">
        <p14:creationId xmlns:p14="http://schemas.microsoft.com/office/powerpoint/2010/main" val="6633035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0595816B-3B9E-0DD6-E8BE-1FA448A2CD3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0531" y="4504113"/>
            <a:ext cx="988471" cy="70871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8FD725C7-6D2A-BE5D-7391-3B4F57B226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45929" y="3202602"/>
            <a:ext cx="988471" cy="7087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4EE7052-82B2-BFE2-BE3C-7FE04E90D362}"/>
              </a:ext>
            </a:extLst>
          </p:cNvPr>
          <p:cNvSpPr>
            <a:spLocks noGrp="1"/>
          </p:cNvSpPr>
          <p:nvPr>
            <p:ph type="title"/>
          </p:nvPr>
        </p:nvSpPr>
        <p:spPr/>
        <p:txBody>
          <a:bodyPr/>
          <a:lstStyle/>
          <a:p>
            <a:r>
              <a:rPr lang="en-US" dirty="0"/>
              <a:t>Adversarial Testing: you lose</a:t>
            </a:r>
          </a:p>
        </p:txBody>
      </p:sp>
      <p:sp>
        <p:nvSpPr>
          <p:cNvPr id="4" name="Slide Number Placeholder 3">
            <a:extLst>
              <a:ext uri="{FF2B5EF4-FFF2-40B4-BE49-F238E27FC236}">
                <a16:creationId xmlns:a16="http://schemas.microsoft.com/office/drawing/2014/main" id="{37AAF879-2BA6-4795-5D2A-ACA6A66F074D}"/>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35</a:t>
            </a:fld>
            <a:endParaRPr lang="en-US" sz="1200">
              <a:solidFill>
                <a:prstClr val="black">
                  <a:tint val="75000"/>
                </a:prstClr>
              </a:solidFill>
              <a:latin typeface="Calibri" panose="020F0502020204030204"/>
            </a:endParaRPr>
          </a:p>
        </p:txBody>
      </p:sp>
      <p:sp>
        <p:nvSpPr>
          <p:cNvPr id="8" name="Rectangle 7">
            <a:extLst>
              <a:ext uri="{FF2B5EF4-FFF2-40B4-BE49-F238E27FC236}">
                <a16:creationId xmlns:a16="http://schemas.microsoft.com/office/drawing/2014/main" id="{926B2026-3232-5195-5849-5027E1E47B7E}"/>
              </a:ext>
            </a:extLst>
          </p:cNvPr>
          <p:cNvSpPr/>
          <p:nvPr/>
        </p:nvSpPr>
        <p:spPr>
          <a:xfrm>
            <a:off x="2179527" y="244947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code</a:t>
            </a:r>
          </a:p>
        </p:txBody>
      </p:sp>
      <p:sp>
        <p:nvSpPr>
          <p:cNvPr id="10" name="Rectangle 9">
            <a:extLst>
              <a:ext uri="{FF2B5EF4-FFF2-40B4-BE49-F238E27FC236}">
                <a16:creationId xmlns:a16="http://schemas.microsoft.com/office/drawing/2014/main" id="{9F89201E-2738-414E-269A-376A465CDDA3}"/>
              </a:ext>
            </a:extLst>
          </p:cNvPr>
          <p:cNvSpPr/>
          <p:nvPr/>
        </p:nvSpPr>
        <p:spPr>
          <a:xfrm>
            <a:off x="2179528" y="4991571"/>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Your tests</a:t>
            </a:r>
          </a:p>
        </p:txBody>
      </p:sp>
      <p:sp>
        <p:nvSpPr>
          <p:cNvPr id="11" name="TextBox 10">
            <a:extLst>
              <a:ext uri="{FF2B5EF4-FFF2-40B4-BE49-F238E27FC236}">
                <a16:creationId xmlns:a16="http://schemas.microsoft.com/office/drawing/2014/main" id="{0F416FE4-CB69-886C-0B48-F8CA9ADCDB41}"/>
              </a:ext>
            </a:extLst>
          </p:cNvPr>
          <p:cNvSpPr txBox="1"/>
          <p:nvPr/>
        </p:nvSpPr>
        <p:spPr>
          <a:xfrm>
            <a:off x="246136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Player (You)</a:t>
            </a:r>
          </a:p>
        </p:txBody>
      </p:sp>
      <p:sp>
        <p:nvSpPr>
          <p:cNvPr id="12" name="TextBox 11">
            <a:extLst>
              <a:ext uri="{FF2B5EF4-FFF2-40B4-BE49-F238E27FC236}">
                <a16:creationId xmlns:a16="http://schemas.microsoft.com/office/drawing/2014/main" id="{33AC4057-B8C2-2DCD-C9E4-10A4D020C27E}"/>
              </a:ext>
            </a:extLst>
          </p:cNvPr>
          <p:cNvSpPr txBox="1"/>
          <p:nvPr/>
        </p:nvSpPr>
        <p:spPr>
          <a:xfrm>
            <a:off x="6997871" y="127379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4400" dirty="0">
                <a:solidFill>
                  <a:schemeClr val="tx1"/>
                </a:solidFill>
              </a:rPr>
              <a:t>Opponent (Them)</a:t>
            </a:r>
          </a:p>
        </p:txBody>
      </p:sp>
      <p:sp>
        <p:nvSpPr>
          <p:cNvPr id="16" name="Rectangle 15">
            <a:extLst>
              <a:ext uri="{FF2B5EF4-FFF2-40B4-BE49-F238E27FC236}">
                <a16:creationId xmlns:a16="http://schemas.microsoft.com/office/drawing/2014/main" id="{33E29B71-D522-B200-066D-36D129260235}"/>
              </a:ext>
            </a:extLst>
          </p:cNvPr>
          <p:cNvSpPr/>
          <p:nvPr/>
        </p:nvSpPr>
        <p:spPr>
          <a:xfrm>
            <a:off x="6258835" y="4805045"/>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2</a:t>
            </a:r>
          </a:p>
        </p:txBody>
      </p:sp>
      <p:sp>
        <p:nvSpPr>
          <p:cNvPr id="17" name="Rectangle 16">
            <a:extLst>
              <a:ext uri="{FF2B5EF4-FFF2-40B4-BE49-F238E27FC236}">
                <a16:creationId xmlns:a16="http://schemas.microsoft.com/office/drawing/2014/main" id="{38DBC254-38B3-3961-D394-D5719E3CE6DC}"/>
              </a:ext>
            </a:extLst>
          </p:cNvPr>
          <p:cNvSpPr/>
          <p:nvPr/>
        </p:nvSpPr>
        <p:spPr>
          <a:xfrm>
            <a:off x="6258836" y="5967076"/>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3</a:t>
            </a:r>
          </a:p>
        </p:txBody>
      </p:sp>
      <p:sp>
        <p:nvSpPr>
          <p:cNvPr id="15" name="Rectangle 14">
            <a:extLst>
              <a:ext uri="{FF2B5EF4-FFF2-40B4-BE49-F238E27FC236}">
                <a16:creationId xmlns:a16="http://schemas.microsoft.com/office/drawing/2014/main" id="{0257930C-BC52-BEC7-1AAD-086DD7C34E9E}"/>
              </a:ext>
            </a:extLst>
          </p:cNvPr>
          <p:cNvSpPr/>
          <p:nvPr/>
        </p:nvSpPr>
        <p:spPr>
          <a:xfrm>
            <a:off x="6258836" y="3625159"/>
            <a:ext cx="1478071" cy="846200"/>
          </a:xfrm>
          <a:prstGeom prst="rect">
            <a:avLst/>
          </a:prstGeom>
          <a:solidFill>
            <a:schemeClr val="bg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Mutant 1</a:t>
            </a:r>
          </a:p>
        </p:txBody>
      </p:sp>
      <p:sp>
        <p:nvSpPr>
          <p:cNvPr id="21" name="Arrow: Bent-Up 20">
            <a:extLst>
              <a:ext uri="{FF2B5EF4-FFF2-40B4-BE49-F238E27FC236}">
                <a16:creationId xmlns:a16="http://schemas.microsoft.com/office/drawing/2014/main" id="{EF06BE51-2A69-A4B9-27F9-528C08837D6E}"/>
              </a:ext>
            </a:extLst>
          </p:cNvPr>
          <p:cNvSpPr/>
          <p:nvPr/>
        </p:nvSpPr>
        <p:spPr>
          <a:xfrm rot="5400000" flipV="1">
            <a:off x="8255390" y="2830940"/>
            <a:ext cx="991500" cy="1958268"/>
          </a:xfrm>
          <a:prstGeom prst="bentUpArrow">
            <a:avLst>
              <a:gd name="adj1" fmla="val 16123"/>
              <a:gd name="adj2" fmla="val 23863"/>
              <a:gd name="adj3" fmla="val 25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4" name="Arrow: Bent-Up 23">
            <a:extLst>
              <a:ext uri="{FF2B5EF4-FFF2-40B4-BE49-F238E27FC236}">
                <a16:creationId xmlns:a16="http://schemas.microsoft.com/office/drawing/2014/main" id="{B121B697-7A3A-DF1A-E6C0-4123DBA3B11D}"/>
              </a:ext>
            </a:extLst>
          </p:cNvPr>
          <p:cNvSpPr/>
          <p:nvPr/>
        </p:nvSpPr>
        <p:spPr>
          <a:xfrm rot="5400000" flipV="1">
            <a:off x="7101463" y="3967530"/>
            <a:ext cx="3299957" cy="1996890"/>
          </a:xfrm>
          <a:prstGeom prst="bentUpArrow">
            <a:avLst>
              <a:gd name="adj1" fmla="val 10829"/>
              <a:gd name="adj2" fmla="val 10090"/>
              <a:gd name="adj3" fmla="val 1270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5" name="Arrow: Bent-Up 24">
            <a:extLst>
              <a:ext uri="{FF2B5EF4-FFF2-40B4-BE49-F238E27FC236}">
                <a16:creationId xmlns:a16="http://schemas.microsoft.com/office/drawing/2014/main" id="{7362EE26-27CC-D95A-9D5B-ECC434346566}"/>
              </a:ext>
            </a:extLst>
          </p:cNvPr>
          <p:cNvSpPr/>
          <p:nvPr/>
        </p:nvSpPr>
        <p:spPr>
          <a:xfrm rot="5400000" flipV="1">
            <a:off x="7701494" y="3351410"/>
            <a:ext cx="2067721" cy="1996891"/>
          </a:xfrm>
          <a:prstGeom prst="bentUpArrow">
            <a:avLst>
              <a:gd name="adj1" fmla="val 8360"/>
              <a:gd name="adj2" fmla="val 7366"/>
              <a:gd name="adj3" fmla="val 1295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0" name="Left Brace 19">
            <a:extLst>
              <a:ext uri="{FF2B5EF4-FFF2-40B4-BE49-F238E27FC236}">
                <a16:creationId xmlns:a16="http://schemas.microsoft.com/office/drawing/2014/main" id="{B19FFA5D-0DD8-B003-5C54-546090139A8D}"/>
              </a:ext>
            </a:extLst>
          </p:cNvPr>
          <p:cNvSpPr/>
          <p:nvPr/>
        </p:nvSpPr>
        <p:spPr>
          <a:xfrm>
            <a:off x="3706745" y="3759228"/>
            <a:ext cx="430144" cy="2856726"/>
          </a:xfrm>
          <a:prstGeom prst="leftBrace">
            <a:avLst>
              <a:gd name="adj1" fmla="val 61066"/>
              <a:gd name="adj2" fmla="val 50458"/>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600"/>
          </a:p>
        </p:txBody>
      </p:sp>
      <p:sp>
        <p:nvSpPr>
          <p:cNvPr id="22" name="Arrow: Left-Right 21">
            <a:extLst>
              <a:ext uri="{FF2B5EF4-FFF2-40B4-BE49-F238E27FC236}">
                <a16:creationId xmlns:a16="http://schemas.microsoft.com/office/drawing/2014/main" id="{8D7309BB-4B06-DA1B-B5FA-D07F230E9500}"/>
              </a:ext>
            </a:extLst>
          </p:cNvPr>
          <p:cNvSpPr/>
          <p:nvPr/>
        </p:nvSpPr>
        <p:spPr>
          <a:xfrm>
            <a:off x="4186037" y="6032999"/>
            <a:ext cx="2062363" cy="452388"/>
          </a:xfrm>
          <a:prstGeom prst="leftRightArrow">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sp>
        <p:nvSpPr>
          <p:cNvPr id="23" name="Arrow: Left-Right 22">
            <a:extLst>
              <a:ext uri="{FF2B5EF4-FFF2-40B4-BE49-F238E27FC236}">
                <a16:creationId xmlns:a16="http://schemas.microsoft.com/office/drawing/2014/main" id="{C03F6A3D-B8D6-662C-E86F-4153E8D15090}"/>
              </a:ext>
            </a:extLst>
          </p:cNvPr>
          <p:cNvSpPr/>
          <p:nvPr/>
        </p:nvSpPr>
        <p:spPr>
          <a:xfrm>
            <a:off x="4136889" y="3872436"/>
            <a:ext cx="2105410"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sp>
        <p:nvSpPr>
          <p:cNvPr id="26" name="Arrow: Left-Right 25">
            <a:extLst>
              <a:ext uri="{FF2B5EF4-FFF2-40B4-BE49-F238E27FC236}">
                <a16:creationId xmlns:a16="http://schemas.microsoft.com/office/drawing/2014/main" id="{232CBE74-8364-05F1-DA7C-E259CC033FA1}"/>
              </a:ext>
            </a:extLst>
          </p:cNvPr>
          <p:cNvSpPr/>
          <p:nvPr/>
        </p:nvSpPr>
        <p:spPr>
          <a:xfrm>
            <a:off x="4152976" y="4980266"/>
            <a:ext cx="2089322" cy="452388"/>
          </a:xfrm>
          <a:prstGeom prst="leftRightArrow">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3600" dirty="0">
              <a:solidFill>
                <a:schemeClr val="tx1"/>
              </a:solidFill>
            </a:endParaRPr>
          </a:p>
        </p:txBody>
      </p:sp>
      <p:pic>
        <p:nvPicPr>
          <p:cNvPr id="29" name="Picture 28" descr="A red x on a black background&#10;&#10;Description automatically generated">
            <a:extLst>
              <a:ext uri="{FF2B5EF4-FFF2-40B4-BE49-F238E27FC236}">
                <a16:creationId xmlns:a16="http://schemas.microsoft.com/office/drawing/2014/main" id="{012C0C91-084A-2613-2281-C720F8C841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77756" y="3300930"/>
            <a:ext cx="439762" cy="550166"/>
          </a:xfrm>
          <a:prstGeom prst="rect">
            <a:avLst/>
          </a:prstGeom>
        </p:spPr>
      </p:pic>
      <p:pic>
        <p:nvPicPr>
          <p:cNvPr id="31" name="Picture 30" descr="A red x on a black background&#10;&#10;Description automatically generated">
            <a:extLst>
              <a:ext uri="{FF2B5EF4-FFF2-40B4-BE49-F238E27FC236}">
                <a16:creationId xmlns:a16="http://schemas.microsoft.com/office/drawing/2014/main" id="{EE25F185-2EA6-88B2-FBA4-D5B9AE9C8B8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5955" y="4441405"/>
            <a:ext cx="439762" cy="550166"/>
          </a:xfrm>
          <a:prstGeom prst="rect">
            <a:avLst/>
          </a:prstGeom>
        </p:spPr>
      </p:pic>
      <p:pic>
        <p:nvPicPr>
          <p:cNvPr id="28" name="Picture 2">
            <a:extLst>
              <a:ext uri="{FF2B5EF4-FFF2-40B4-BE49-F238E27FC236}">
                <a16:creationId xmlns:a16="http://schemas.microsoft.com/office/drawing/2014/main" id="{BC017D78-4438-32C9-F49D-111FF4C9DB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3690" y="2193512"/>
            <a:ext cx="828784" cy="1144005"/>
          </a:xfrm>
          <a:prstGeom prst="rect">
            <a:avLst/>
          </a:prstGeom>
          <a:noFill/>
          <a:extLst>
            <a:ext uri="{909E8E84-426E-40DD-AFC4-6F175D3DCCD1}">
              <a14:hiddenFill xmlns:a14="http://schemas.microsoft.com/office/drawing/2010/main">
                <a:solidFill>
                  <a:srgbClr val="FFFFFF"/>
                </a:solidFill>
              </a14:hiddenFill>
            </a:ext>
          </a:extLst>
        </p:spPr>
      </p:pic>
      <p:sp>
        <p:nvSpPr>
          <p:cNvPr id="33" name="Arrow: Right 32">
            <a:extLst>
              <a:ext uri="{FF2B5EF4-FFF2-40B4-BE49-F238E27FC236}">
                <a16:creationId xmlns:a16="http://schemas.microsoft.com/office/drawing/2014/main" id="{37DAD66B-37C5-1082-F704-979AC7F10D63}"/>
              </a:ext>
            </a:extLst>
          </p:cNvPr>
          <p:cNvSpPr/>
          <p:nvPr/>
        </p:nvSpPr>
        <p:spPr>
          <a:xfrm>
            <a:off x="3706745" y="2718486"/>
            <a:ext cx="5476945" cy="404334"/>
          </a:xfrm>
          <a:prstGeom prst="rightArrow">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3600" dirty="0">
              <a:solidFill>
                <a:schemeClr val="tx1"/>
              </a:solidFill>
            </a:endParaRPr>
          </a:p>
        </p:txBody>
      </p:sp>
      <p:pic>
        <p:nvPicPr>
          <p:cNvPr id="34" name="Picture 33">
            <a:extLst>
              <a:ext uri="{FF2B5EF4-FFF2-40B4-BE49-F238E27FC236}">
                <a16:creationId xmlns:a16="http://schemas.microsoft.com/office/drawing/2014/main" id="{00C08090-2F54-D19F-CA7E-B237FEC9045A}"/>
              </a:ext>
            </a:extLst>
          </p:cNvPr>
          <p:cNvPicPr>
            <a:picLocks noChangeAspect="1"/>
          </p:cNvPicPr>
          <p:nvPr/>
        </p:nvPicPr>
        <p:blipFill>
          <a:blip r:embed="rId6"/>
          <a:stretch>
            <a:fillRect/>
          </a:stretch>
        </p:blipFill>
        <p:spPr>
          <a:xfrm>
            <a:off x="4880283" y="5483794"/>
            <a:ext cx="678383" cy="620323"/>
          </a:xfrm>
          <a:prstGeom prst="rect">
            <a:avLst/>
          </a:prstGeom>
        </p:spPr>
      </p:pic>
      <p:pic>
        <p:nvPicPr>
          <p:cNvPr id="5" name="Picture 2" descr="Rip Headstone Stock Photo - Download Image Now - Tombstone, Rest In Peace,  Torn - iStock">
            <a:extLst>
              <a:ext uri="{FF2B5EF4-FFF2-40B4-BE49-F238E27FC236}">
                <a16:creationId xmlns:a16="http://schemas.microsoft.com/office/drawing/2014/main" id="{4B2D6627-D92D-3CDA-BF2A-47A512E190A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3655095"/>
            <a:ext cx="692764" cy="7954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Rip Headstone Stock Photo - Download Image Now - Tombstone, Rest In Peace,  Torn - iStock">
            <a:extLst>
              <a:ext uri="{FF2B5EF4-FFF2-40B4-BE49-F238E27FC236}">
                <a16:creationId xmlns:a16="http://schemas.microsoft.com/office/drawing/2014/main" id="{9DA830FF-4615-6347-25DF-5375260A2015}"/>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77286" y="4827886"/>
            <a:ext cx="692764" cy="795444"/>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4235E97-9132-CA37-E077-22452277CDDE}"/>
              </a:ext>
            </a:extLst>
          </p:cNvPr>
          <p:cNvSpPr txBox="1"/>
          <p:nvPr/>
        </p:nvSpPr>
        <p:spPr>
          <a:xfrm>
            <a:off x="8347434" y="5448782"/>
            <a:ext cx="3330077" cy="1255346"/>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Comic Sans MS" panose="030F0702030302020204" pitchFamily="66" charset="0"/>
              </a:rPr>
              <a:t>Hmm, mutant #3 really demonstrates a bug.  Time to strengthen your tests</a:t>
            </a:r>
          </a:p>
        </p:txBody>
      </p:sp>
    </p:spTree>
    <p:extLst>
      <p:ext uri="{BB962C8B-B14F-4D97-AF65-F5344CB8AC3E}">
        <p14:creationId xmlns:p14="http://schemas.microsoft.com/office/powerpoint/2010/main" val="4180793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964C-B9F1-B09A-02B9-F3DBDD834230}"/>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3505756F-0E16-DD45-F6F8-5EF6A9FC0F4B}"/>
              </a:ext>
            </a:extLst>
          </p:cNvPr>
          <p:cNvSpPr txBox="1">
            <a:spLocks noGrp="1"/>
          </p:cNvSpPr>
          <p:nvPr>
            <p:ph type="title"/>
          </p:nvPr>
        </p:nvSpPr>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95BB1608-BF12-06F4-3A8E-8E22548F46EC}"/>
              </a:ext>
            </a:extLst>
          </p:cNvPr>
          <p:cNvSpPr>
            <a:spLocks noGrp="1"/>
          </p:cNvSpPr>
          <p:nvPr>
            <p:ph idx="1"/>
          </p:nvPr>
        </p:nvSpPr>
        <p:spPr>
          <a:xfrm>
            <a:off x="838200" y="1500160"/>
            <a:ext cx="9220200" cy="4351338"/>
          </a:xfrm>
        </p:spPr>
        <p:txBody>
          <a:bodyPr/>
          <a:lstStyle/>
          <a:p>
            <a:pPr marL="0" indent="0">
              <a:buNone/>
            </a:pPr>
            <a:r>
              <a:rPr lang="en-US"/>
              <a:t>Stryker is a </a:t>
            </a:r>
            <a:r>
              <a:rPr lang="en-US" i="1"/>
              <a:t>mutation tester </a:t>
            </a:r>
            <a:r>
              <a:rPr lang="en-US"/>
              <a:t>for JavaScript — an automated adversary!</a:t>
            </a:r>
          </a:p>
        </p:txBody>
      </p:sp>
      <p:sp>
        <p:nvSpPr>
          <p:cNvPr id="828" name="Slide Number">
            <a:extLst>
              <a:ext uri="{FF2B5EF4-FFF2-40B4-BE49-F238E27FC236}">
                <a16:creationId xmlns:a16="http://schemas.microsoft.com/office/drawing/2014/main" id="{02E8DAD1-E08C-F87D-BFC9-1B8899A1AC29}"/>
              </a:ext>
            </a:extLst>
          </p:cNvPr>
          <p:cNvSpPr txBox="1">
            <a:spLocks noGrp="1"/>
          </p:cNvSpPr>
          <p:nvPr>
            <p:ph type="sldNum" sz="quarter" idx="12"/>
          </p:nvPr>
        </p:nvSpPr>
        <p:spPr>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36</a:t>
            </a:fld>
            <a:endParaRPr/>
          </a:p>
        </p:txBody>
      </p:sp>
      <p:pic>
        <p:nvPicPr>
          <p:cNvPr id="4" name="Image" descr="Image">
            <a:extLst>
              <a:ext uri="{FF2B5EF4-FFF2-40B4-BE49-F238E27FC236}">
                <a16:creationId xmlns:a16="http://schemas.microsoft.com/office/drawing/2014/main" id="{4DE925F5-88D1-1054-240C-326948CD9F6D}"/>
              </a:ext>
            </a:extLst>
          </p:cNvPr>
          <p:cNvPicPr>
            <a:picLocks noChangeAspect="1"/>
          </p:cNvPicPr>
          <p:nvPr/>
        </p:nvPicPr>
        <p:blipFill>
          <a:blip r:embed="rId3"/>
          <a:stretch>
            <a:fillRect/>
          </a:stretch>
        </p:blipFill>
        <p:spPr>
          <a:xfrm>
            <a:off x="838200" y="2554975"/>
            <a:ext cx="10637069" cy="3548949"/>
          </a:xfrm>
          <a:prstGeom prst="rect">
            <a:avLst/>
          </a:prstGeom>
          <a:ln w="25400">
            <a:solidFill>
              <a:schemeClr val="accent1"/>
            </a:solidFill>
            <a:miter/>
          </a:ln>
        </p:spPr>
      </p:pic>
    </p:spTree>
    <p:extLst>
      <p:ext uri="{BB962C8B-B14F-4D97-AF65-F5344CB8AC3E}">
        <p14:creationId xmlns:p14="http://schemas.microsoft.com/office/powerpoint/2010/main" val="19954053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a:t>Stryker is a mutation tester for JavaScript — an automated adversary!</a:t>
            </a:r>
            <a:endParaRPr lang="en-US" sz="1000"/>
          </a:p>
          <a:p>
            <a:pPr marL="0" indent="0">
              <a:buNone/>
            </a:pPr>
            <a:endParaRPr lang="en-US" sz="1000"/>
          </a:p>
          <a:p>
            <a:pPr marL="0" indent="0">
              <a:buNone/>
            </a:pPr>
            <a:r>
              <a:rPr lang="en-US"/>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37</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38</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6D42B-FD50-CACB-79EF-ADDEE1553AC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ACA81DE3-AFF2-153C-408D-4D943FA4361C}"/>
              </a:ext>
            </a:extLst>
          </p:cNvPr>
          <p:cNvSpPr txBox="1">
            <a:spLocks noGrp="1"/>
          </p:cNvSpPr>
          <p:nvPr>
            <p:ph type="title"/>
          </p:nvPr>
        </p:nvSpPr>
        <p:spPr>
          <a:xfrm>
            <a:off x="838200" y="18255"/>
            <a:ext cx="10515600" cy="1325563"/>
          </a:xfrm>
        </p:spPr>
        <p:txBody>
          <a:bodyPr>
            <a:normAutofit/>
          </a:bodyPr>
          <a:lstStyle/>
          <a:p>
            <a:r>
              <a:rPr lang="en-US" dirty="0"/>
              <a:t>Adversarial Testing &amp; Overspecification</a:t>
            </a:r>
          </a:p>
        </p:txBody>
      </p:sp>
      <p:sp>
        <p:nvSpPr>
          <p:cNvPr id="5" name="Content Placeholder 4">
            <a:extLst>
              <a:ext uri="{FF2B5EF4-FFF2-40B4-BE49-F238E27FC236}">
                <a16:creationId xmlns:a16="http://schemas.microsoft.com/office/drawing/2014/main" id="{F7DF1B94-3598-C24F-56A7-AF16503313E3}"/>
              </a:ext>
            </a:extLst>
          </p:cNvPr>
          <p:cNvSpPr>
            <a:spLocks noGrp="1"/>
          </p:cNvSpPr>
          <p:nvPr>
            <p:ph idx="1"/>
          </p:nvPr>
        </p:nvSpPr>
        <p:spPr>
          <a:xfrm>
            <a:off x="838200" y="1500188"/>
            <a:ext cx="9602972" cy="4351337"/>
          </a:xfrm>
        </p:spPr>
        <p:txBody>
          <a:bodyPr/>
          <a:lstStyle/>
          <a:p>
            <a:pPr marL="0" indent="0">
              <a:buNone/>
            </a:pPr>
            <a:r>
              <a:rPr lang="en-US" dirty="0"/>
              <a:t>We don’t </a:t>
            </a:r>
            <a:r>
              <a:rPr lang="en-US" i="1" dirty="0"/>
              <a:t>want </a:t>
            </a:r>
            <a:r>
              <a:rPr lang="en-US" dirty="0"/>
              <a:t>our test to fail on non-bug mutants! </a:t>
            </a:r>
          </a:p>
          <a:p>
            <a:pPr marL="0" indent="0">
              <a:buNone/>
            </a:pPr>
            <a:endParaRPr lang="en-US" dirty="0"/>
          </a:p>
          <a:p>
            <a:pPr marL="0" indent="0">
              <a:buNone/>
            </a:pPr>
            <a:r>
              <a:rPr lang="en-US" dirty="0"/>
              <a:t>Example: is a mutant that changes the specific error message a valid change, or a bug, according to the English spec? </a:t>
            </a:r>
          </a:p>
        </p:txBody>
      </p:sp>
      <p:sp>
        <p:nvSpPr>
          <p:cNvPr id="828" name="Slide Number">
            <a:extLst>
              <a:ext uri="{FF2B5EF4-FFF2-40B4-BE49-F238E27FC236}">
                <a16:creationId xmlns:a16="http://schemas.microsoft.com/office/drawing/2014/main" id="{A1AC3BF8-7AFD-3BDF-4926-A0F8C34F70B0}"/>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39</a:t>
            </a:fld>
            <a:endParaRPr lang="en-US"/>
          </a:p>
        </p:txBody>
      </p:sp>
      <p:sp>
        <p:nvSpPr>
          <p:cNvPr id="2" name="TextBox 1">
            <a:extLst>
              <a:ext uri="{FF2B5EF4-FFF2-40B4-BE49-F238E27FC236}">
                <a16:creationId xmlns:a16="http://schemas.microsoft.com/office/drawing/2014/main" id="{F028F04B-3EEA-80E7-D887-2085F35A9AA8}"/>
              </a:ext>
            </a:extLst>
          </p:cNvPr>
          <p:cNvSpPr txBox="1"/>
          <p:nvPr/>
        </p:nvSpPr>
        <p:spPr>
          <a:xfrm>
            <a:off x="1108504" y="3971691"/>
            <a:ext cx="9974992" cy="178510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throw an error if no such item"</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0000FF"/>
                </a:solidFill>
                <a:latin typeface="Consolas" panose="020B0609020204030204" pitchFamily="49" charset="0"/>
              </a:rPr>
              <a:t>const</a:t>
            </a:r>
            <a:r>
              <a:rPr lang="en-US" sz="2200" dirty="0">
                <a:solidFill>
                  <a:srgbClr val="3B3B3B"/>
                </a:solidFill>
                <a:latin typeface="Consolas" panose="020B0609020204030204" pitchFamily="49" charset="0"/>
              </a:rPr>
              <a:t> </a:t>
            </a:r>
            <a:r>
              <a:rPr lang="en-US" sz="2200" dirty="0">
                <a:solidFill>
                  <a:srgbClr val="0070C1"/>
                </a:solidFill>
                <a:latin typeface="Consolas" panose="020B0609020204030204" pitchFamily="49" charset="0"/>
              </a:rPr>
              <a:t>list</a:t>
            </a:r>
            <a:r>
              <a:rPr lang="en-US" sz="2200" dirty="0">
                <a:solidFill>
                  <a:srgbClr val="3B3B3B"/>
                </a:solidFill>
                <a:latin typeface="Consolas" panose="020B0609020204030204" pitchFamily="49" charset="0"/>
              </a:rPr>
              <a:t> </a:t>
            </a:r>
            <a:r>
              <a:rPr lang="en-US" sz="2200" dirty="0">
                <a:solidFill>
                  <a:srgbClr val="000000"/>
                </a:solidFill>
                <a:latin typeface="Consolas" panose="020B0609020204030204" pitchFamily="49" charset="0"/>
              </a:rPr>
              <a:t>=</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1</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2</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3</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r>
              <a:rPr lang="en-US" sz="2200" dirty="0">
                <a:solidFill>
                  <a:srgbClr val="0000FF"/>
                </a:solidFill>
                <a:latin typeface="Consolas" panose="020B0609020204030204" pitchFamily="49" charset="0"/>
              </a:rPr>
              <a:t>const</a:t>
            </a:r>
            <a:r>
              <a:rPr lang="en-US" sz="2200" dirty="0">
                <a:solidFill>
                  <a:srgbClr val="3B3B3B"/>
                </a:solidFill>
                <a:latin typeface="Consolas" panose="020B0609020204030204" pitchFamily="49" charset="0"/>
              </a:rPr>
              <a:t> </a:t>
            </a:r>
            <a:r>
              <a:rPr lang="en-US" sz="2200" dirty="0">
                <a:solidFill>
                  <a:srgbClr val="0070C1"/>
                </a:solidFill>
                <a:latin typeface="Consolas" panose="020B0609020204030204" pitchFamily="49" charset="0"/>
              </a:rPr>
              <a:t>target</a:t>
            </a:r>
            <a:r>
              <a:rPr lang="en-US" sz="2200" dirty="0">
                <a:solidFill>
                  <a:srgbClr val="3B3B3B"/>
                </a:solidFill>
                <a:latin typeface="Consolas" panose="020B0609020204030204" pitchFamily="49" charset="0"/>
              </a:rPr>
              <a:t> </a:t>
            </a:r>
            <a:r>
              <a:rPr lang="en-US" sz="2200" dirty="0">
                <a:solidFill>
                  <a:srgbClr val="000000"/>
                </a:solidFill>
                <a:latin typeface="Consolas" panose="020B0609020204030204" pitchFamily="49" charset="0"/>
              </a:rPr>
              <a:t>=</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4</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070C1"/>
                </a:solidFill>
                <a:latin typeface="Consolas" panose="020B0609020204030204" pitchFamily="49" charset="0"/>
              </a:rPr>
              <a:t>list</a:t>
            </a:r>
            <a:r>
              <a:rPr lang="en-US" sz="2200" dirty="0">
                <a:solidFill>
                  <a:srgbClr val="3B3B3B"/>
                </a:solidFill>
                <a:latin typeface="Consolas" panose="020B0609020204030204" pitchFamily="49" charset="0"/>
              </a:rPr>
              <a:t>, </a:t>
            </a:r>
            <a:r>
              <a:rPr lang="en-US" sz="2200" dirty="0">
                <a:solidFill>
                  <a:srgbClr val="0070C1"/>
                </a:solidFill>
                <a:latin typeface="Consolas" panose="020B0609020204030204" pitchFamily="49" charset="0"/>
              </a:rPr>
              <a:t>target</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toThrowError</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"No such item"</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a:t>
            </a:r>
          </a:p>
        </p:txBody>
      </p:sp>
      <p:sp>
        <p:nvSpPr>
          <p:cNvPr id="3" name="TextBox 2">
            <a:extLst>
              <a:ext uri="{FF2B5EF4-FFF2-40B4-BE49-F238E27FC236}">
                <a16:creationId xmlns:a16="http://schemas.microsoft.com/office/drawing/2014/main" id="{221BFE21-DD23-CD86-DB7A-774A98A6CD6B}"/>
              </a:ext>
            </a:extLst>
          </p:cNvPr>
          <p:cNvSpPr txBox="1"/>
          <p:nvPr/>
        </p:nvSpPr>
        <p:spPr>
          <a:xfrm>
            <a:off x="4648965" y="6213644"/>
            <a:ext cx="6093069" cy="5078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700" dirty="0"/>
              <a:t>Maybe better?    </a:t>
            </a:r>
            <a:r>
              <a:rPr lang="en-US" sz="2200" dirty="0" err="1">
                <a:solidFill>
                  <a:srgbClr val="795E26"/>
                </a:solidFill>
                <a:latin typeface="Consolas" panose="020B0609020204030204" pitchFamily="49" charset="0"/>
              </a:rPr>
              <a:t>toThrowError</a:t>
            </a:r>
            <a:r>
              <a:rPr lang="en-US" sz="2200" dirty="0">
                <a:solidFill>
                  <a:srgbClr val="3B3B3B"/>
                </a:solidFill>
                <a:latin typeface="Consolas" panose="020B0609020204030204" pitchFamily="49" charset="0"/>
              </a:rPr>
              <a:t>();</a:t>
            </a:r>
          </a:p>
        </p:txBody>
      </p:sp>
    </p:spTree>
    <p:extLst>
      <p:ext uri="{BB962C8B-B14F-4D97-AF65-F5344CB8AC3E}">
        <p14:creationId xmlns:p14="http://schemas.microsoft.com/office/powerpoint/2010/main" val="1274890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9C462-6B5D-5A10-1C1F-D115A668E6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84AC01-862E-D371-3BE1-C0B84DE421A1}"/>
              </a:ext>
            </a:extLst>
          </p:cNvPr>
          <p:cNvSpPr>
            <a:spLocks noGrp="1"/>
          </p:cNvSpPr>
          <p:nvPr>
            <p:ph type="title"/>
          </p:nvPr>
        </p:nvSpPr>
        <p:spPr>
          <a:xfrm>
            <a:off x="838200" y="18255"/>
            <a:ext cx="10515600" cy="1325563"/>
          </a:xfrm>
        </p:spPr>
        <p:txBody>
          <a:bodyPr/>
          <a:lstStyle/>
          <a:p>
            <a:r>
              <a:rPr lang="en-US" dirty="0"/>
              <a:t>Defensiveness has a cost</a:t>
            </a:r>
          </a:p>
        </p:txBody>
      </p:sp>
      <p:sp>
        <p:nvSpPr>
          <p:cNvPr id="4" name="Slide Number Placeholder 3">
            <a:extLst>
              <a:ext uri="{FF2B5EF4-FFF2-40B4-BE49-F238E27FC236}">
                <a16:creationId xmlns:a16="http://schemas.microsoft.com/office/drawing/2014/main" id="{C24E2333-7435-FB0F-23D2-FD9F61035BBC}"/>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40</a:t>
            </a:fld>
            <a:endParaRPr lang="en-US"/>
          </a:p>
        </p:txBody>
      </p:sp>
      <p:sp>
        <p:nvSpPr>
          <p:cNvPr id="5" name="Content Placeholder 4">
            <a:extLst>
              <a:ext uri="{FF2B5EF4-FFF2-40B4-BE49-F238E27FC236}">
                <a16:creationId xmlns:a16="http://schemas.microsoft.com/office/drawing/2014/main" id="{2E588B43-C3D7-05F8-40E8-CACC7F81469F}"/>
              </a:ext>
            </a:extLst>
          </p:cNvPr>
          <p:cNvSpPr>
            <a:spLocks noGrp="1"/>
          </p:cNvSpPr>
          <p:nvPr>
            <p:ph idx="1"/>
          </p:nvPr>
        </p:nvSpPr>
        <p:spPr>
          <a:xfrm>
            <a:off x="838200" y="1500160"/>
            <a:ext cx="7887346" cy="785840"/>
          </a:xfrm>
        </p:spPr>
        <p:txBody>
          <a:bodyPr/>
          <a:lstStyle/>
          <a:p>
            <a:pPr marL="0" indent="0">
              <a:buNone/>
            </a:pPr>
            <a:r>
              <a:rPr lang="en-US" dirty="0"/>
              <a:t>When you can’t control </a:t>
            </a:r>
          </a:p>
        </p:txBody>
      </p:sp>
      <p:sp>
        <p:nvSpPr>
          <p:cNvPr id="6" name="TextBox 5">
            <a:extLst>
              <a:ext uri="{FF2B5EF4-FFF2-40B4-BE49-F238E27FC236}">
                <a16:creationId xmlns:a16="http://schemas.microsoft.com/office/drawing/2014/main" id="{0FE4840B-5B9B-16C1-75A8-EE622D56E2B1}"/>
              </a:ext>
            </a:extLst>
          </p:cNvPr>
          <p:cNvSpPr txBox="1"/>
          <p:nvPr/>
        </p:nvSpPr>
        <p:spPr>
          <a:xfrm>
            <a:off x="744069" y="2501474"/>
            <a:ext cx="11354146" cy="41164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2060"/>
                </a:solidFill>
                <a:latin typeface="Menlo" panose="020B0609030804020204" pitchFamily="49" charset="0"/>
              </a:rPr>
              <a:t>type</a:t>
            </a:r>
            <a:r>
              <a:rPr lang="en-US" dirty="0">
                <a:solidFill>
                  <a:srgbClr val="0000FF"/>
                </a:solidFill>
                <a:latin typeface="Menlo" panose="020B0609030804020204" pitchFamily="49" charset="0"/>
              </a:rPr>
              <a:t> </a:t>
            </a:r>
            <a:r>
              <a:rPr lang="en-US" dirty="0">
                <a:solidFill>
                  <a:srgbClr val="795E26"/>
                </a:solidFill>
                <a:latin typeface="Menlo" panose="020B0609030804020204" pitchFamily="49" charset="0"/>
              </a:rPr>
              <a:t>Auth </a:t>
            </a:r>
            <a:r>
              <a:rPr lang="en-US" dirty="0">
                <a:solidFill>
                  <a:schemeClr val="tx1"/>
                </a:solidFill>
                <a:latin typeface="Menlo" panose="020B0609030804020204" pitchFamily="49" charset="0"/>
              </a:rPr>
              <a:t>= { username: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password: </a:t>
            </a:r>
            <a:r>
              <a:rPr lang="en-US" dirty="0">
                <a:solidFill>
                  <a:schemeClr val="accent5">
                    <a:lumMod val="50000"/>
                  </a:schemeClr>
                </a:solidFill>
                <a:latin typeface="Menlo" panose="020B0609030804020204" pitchFamily="49" charset="0"/>
              </a:rPr>
              <a:t>string</a:t>
            </a:r>
            <a:r>
              <a:rPr lang="en-US" dirty="0">
                <a:solidFill>
                  <a:schemeClr val="tx1"/>
                </a:solidFill>
                <a:latin typeface="Menlo" panose="020B0609030804020204" pitchFamily="49" charset="0"/>
              </a:rPr>
              <a:t> }</a:t>
            </a:r>
            <a:endParaRPr lang="en-US" b="0" dirty="0">
              <a:solidFill>
                <a:schemeClr val="tx1"/>
              </a:solidFill>
              <a:effectLst/>
              <a:latin typeface="Menlo" panose="020B0609030804020204" pitchFamily="49" charset="0"/>
            </a:endParaRPr>
          </a:p>
          <a:p>
            <a:pPr>
              <a:lnSpc>
                <a:spcPct val="110000"/>
              </a:lnSpc>
              <a:buNone/>
            </a:pPr>
            <a:endParaRPr lang="en-US" b="0" dirty="0">
              <a:solidFill>
                <a:srgbClr val="008000"/>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Checks whether an unknown value is an `Auth`</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isAuth</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(x: </a:t>
            </a:r>
            <a:r>
              <a:rPr lang="en-US" dirty="0">
                <a:solidFill>
                  <a:schemeClr val="accent5">
                    <a:lumMod val="50000"/>
                  </a:schemeClr>
                </a:solidFill>
                <a:latin typeface="Menlo" panose="020B0609030804020204" pitchFamily="49" charset="0"/>
                <a:ea typeface="Menlo" panose="020B0609030804020204" pitchFamily="49" charset="0"/>
                <a:cs typeface="Menlo" panose="020B0609030804020204" pitchFamily="49" charset="0"/>
              </a:rPr>
              <a:t>unknown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AF00DB"/>
                </a:solidFill>
                <a:latin typeface="Menlo" panose="020B0609030804020204" pitchFamily="49" charset="0"/>
              </a:rPr>
              <a:t>return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2060"/>
                </a:solidFill>
                <a:latin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x.username</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2060"/>
                </a:solidFill>
                <a:latin typeface="Menlo" panose="020B0609030804020204" pitchFamily="49" charset="0"/>
                <a:ea typeface="Menlo" panose="020B0609030804020204" pitchFamily="49" charset="0"/>
                <a:cs typeface="Menlo" panose="020B0609030804020204" pitchFamily="49" charset="0"/>
              </a:rPr>
              <a:t>in</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x &amp;&amp; </a:t>
            </a:r>
            <a:r>
              <a:rPr lang="en-US"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x.password</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pPr>
              <a:lnSpc>
                <a:spcPct val="110000"/>
              </a:lnSpc>
            </a:pPr>
            <a:endParaRPr lang="en-US" b="0" dirty="0">
              <a:solidFill>
                <a:srgbClr val="3B3B3B"/>
              </a:solidFill>
              <a:effectLst/>
              <a:latin typeface="Menlo" panose="020B0609030804020204" pitchFamily="49" charset="0"/>
            </a:endParaRPr>
          </a:p>
        </p:txBody>
      </p:sp>
      <p:sp>
        <p:nvSpPr>
          <p:cNvPr id="7" name="AutoShape 9">
            <a:extLst>
              <a:ext uri="{FF2B5EF4-FFF2-40B4-BE49-F238E27FC236}">
                <a16:creationId xmlns:a16="http://schemas.microsoft.com/office/drawing/2014/main" id="{581B4BBA-2FAA-F6D3-2D35-D94537D46F6D}"/>
              </a:ext>
            </a:extLst>
          </p:cNvPr>
          <p:cNvSpPr>
            <a:spLocks/>
          </p:cNvSpPr>
          <p:nvPr/>
        </p:nvSpPr>
        <p:spPr bwMode="auto">
          <a:xfrm>
            <a:off x="7857739" y="3553807"/>
            <a:ext cx="4153029"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“unknown,” NOT “any,” is the type for unauthenticated inputs</a:t>
            </a:r>
          </a:p>
        </p:txBody>
      </p:sp>
      <p:cxnSp>
        <p:nvCxnSpPr>
          <p:cNvPr id="8" name="Straight Arrow Connector 7">
            <a:extLst>
              <a:ext uri="{FF2B5EF4-FFF2-40B4-BE49-F238E27FC236}">
                <a16:creationId xmlns:a16="http://schemas.microsoft.com/office/drawing/2014/main" id="{D5C55F2C-B99F-F6E4-FED5-D823A1104A98}"/>
              </a:ext>
            </a:extLst>
          </p:cNvPr>
          <p:cNvCxnSpPr>
            <a:cxnSpLocks/>
            <a:stCxn id="7" idx="1"/>
          </p:cNvCxnSpPr>
          <p:nvPr/>
        </p:nvCxnSpPr>
        <p:spPr>
          <a:xfrm flipH="1">
            <a:off x="4497859" y="4196318"/>
            <a:ext cx="3359880"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30864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61AE9-F291-7C6E-D0DD-34BDD323C2F3}"/>
              </a:ext>
            </a:extLst>
          </p:cNvPr>
          <p:cNvSpPr>
            <a:spLocks noGrp="1"/>
          </p:cNvSpPr>
          <p:nvPr>
            <p:ph type="title"/>
          </p:nvPr>
        </p:nvSpPr>
        <p:spPr/>
        <p:txBody>
          <a:bodyPr/>
          <a:lstStyle/>
          <a:p>
            <a:r>
              <a:rPr lang="en-US" dirty="0"/>
              <a:t>Module Outline</a:t>
            </a:r>
          </a:p>
        </p:txBody>
      </p:sp>
      <p:sp>
        <p:nvSpPr>
          <p:cNvPr id="3" name="Text Placeholder 2">
            <a:extLst>
              <a:ext uri="{FF2B5EF4-FFF2-40B4-BE49-F238E27FC236}">
                <a16:creationId xmlns:a16="http://schemas.microsoft.com/office/drawing/2014/main" id="{10DE7BCC-BDAB-4166-6C35-42B14D67B00A}"/>
              </a:ext>
            </a:extLst>
          </p:cNvPr>
          <p:cNvSpPr>
            <a:spLocks noGrp="1"/>
          </p:cNvSpPr>
          <p:nvPr>
            <p:ph type="body" idx="1"/>
          </p:nvPr>
        </p:nvSpPr>
        <p:spPr/>
        <p:txBody>
          <a:bodyPr>
            <a:normAutofit/>
          </a:bodyPr>
          <a:lstStyle/>
          <a:p>
            <a:r>
              <a:rPr lang="en-US" dirty="0"/>
              <a:t>Lesson 3.1 Writing tests for TDD</a:t>
            </a:r>
          </a:p>
          <a:p>
            <a:r>
              <a:rPr lang="en-US" dirty="0"/>
              <a:t>Lesson 3.2 Assessing Test Coverage</a:t>
            </a:r>
          </a:p>
          <a:p>
            <a:r>
              <a:rPr lang="en-US" dirty="0"/>
              <a:t>Lesson 3.3 Adversarial Coverage Testing</a:t>
            </a:r>
          </a:p>
          <a:p>
            <a:pPr marL="228600" lvl="1" indent="0">
              <a:buNone/>
            </a:pP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p:txBody>
      </p:sp>
    </p:spTree>
    <p:extLst>
      <p:ext uri="{BB962C8B-B14F-4D97-AF65-F5344CB8AC3E}">
        <p14:creationId xmlns:p14="http://schemas.microsoft.com/office/powerpoint/2010/main" val="22161967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24113</TotalTime>
  <Words>5591</Words>
  <Application>Microsoft Macintosh PowerPoint</Application>
  <PresentationFormat>Widescreen</PresentationFormat>
  <Paragraphs>542</Paragraphs>
  <Slides>41</Slides>
  <Notes>35</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41</vt:i4>
      </vt:variant>
    </vt:vector>
  </HeadingPairs>
  <TitlesOfParts>
    <vt:vector size="49" baseType="lpstr">
      <vt:lpstr>Menlo</vt:lpstr>
      <vt:lpstr>Verdana</vt:lpstr>
      <vt:lpstr>Arial</vt:lpstr>
      <vt:lpstr>Consolas</vt:lpstr>
      <vt:lpstr>Calibri</vt:lpstr>
      <vt:lpstr>Helvetica Neue</vt:lpstr>
      <vt:lpstr>Comic Sans MS</vt:lpstr>
      <vt:lpstr>Office Theme</vt:lpstr>
      <vt:lpstr>CS 4530: Fundamentals of Software Engineering Module 3.1: Trusting TypeScript (or not!)</vt:lpstr>
      <vt:lpstr>Learning Goals for this Lesson</vt:lpstr>
      <vt:lpstr>What Inputs Should We Test?</vt:lpstr>
      <vt:lpstr>What Inputs Should We Test?</vt:lpstr>
      <vt:lpstr>TypeScript Types Cannot Be Trusted</vt:lpstr>
      <vt:lpstr>TypeScript Types… Can Be Trusted?</vt:lpstr>
      <vt:lpstr>What Trusting Contracts Looks Like</vt:lpstr>
      <vt:lpstr>Untrusted Inputs</vt:lpstr>
      <vt:lpstr>Untrusted Inputs should be unknown</vt:lpstr>
      <vt:lpstr>Untrusted Inputs Should be “unknown”</vt:lpstr>
      <vt:lpstr>Libraries Make Checking Types Easier</vt:lpstr>
      <vt:lpstr>Using “any”: Common, Not Great</vt:lpstr>
      <vt:lpstr>Using “any”: Common, Not Great</vt:lpstr>
      <vt:lpstr>Zod In A Tiny Web Server </vt:lpstr>
      <vt:lpstr>Review</vt:lpstr>
      <vt:lpstr>PowerPoint Presentation</vt:lpstr>
      <vt:lpstr>TypeScript Types… Can Be Trusted?</vt:lpstr>
      <vt:lpstr>TypeScript (can) Make Testing Trickier!</vt:lpstr>
      <vt:lpstr>(Un)authenticated Inputs</vt:lpstr>
      <vt:lpstr>Why do we test?</vt:lpstr>
      <vt:lpstr>What makes for a good test (suite)?</vt:lpstr>
      <vt:lpstr>Code Coverage</vt:lpstr>
      <vt:lpstr>Code Coverage</vt:lpstr>
      <vt:lpstr>Code Coverage</vt:lpstr>
      <vt:lpstr>Code Coverage</vt:lpstr>
      <vt:lpstr>Code Coverage</vt:lpstr>
      <vt:lpstr>Code Coverage</vt:lpstr>
      <vt:lpstr>Code Coverage: Review</vt:lpstr>
      <vt:lpstr>Adversarial Testing</vt:lpstr>
      <vt:lpstr>Adversarial Testing</vt:lpstr>
      <vt:lpstr>Adversarial Testing: The Opening</vt:lpstr>
      <vt:lpstr>Adversarial Testing: A round of play</vt:lpstr>
      <vt:lpstr>Adversarial Testing: A round of play</vt:lpstr>
      <vt:lpstr>Adversarial Testing: a winning position</vt:lpstr>
      <vt:lpstr>Adversarial Testing: you lose</vt:lpstr>
      <vt:lpstr>Adversarial Testing</vt:lpstr>
      <vt:lpstr>Adversarial Testing</vt:lpstr>
      <vt:lpstr>Are mutants a Valid Substitute for Real Faults?  Probably yes.</vt:lpstr>
      <vt:lpstr>Adversarial Testing &amp; Overspecification</vt:lpstr>
      <vt:lpstr>Defensiveness has a cost</vt:lpstr>
      <vt:lpstr>Module Outline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245</cp:revision>
  <dcterms:created xsi:type="dcterms:W3CDTF">2021-01-07T15:19:22Z</dcterms:created>
  <dcterms:modified xsi:type="dcterms:W3CDTF">2025-12-31T00:37:08Z</dcterms:modified>
</cp:coreProperties>
</file>