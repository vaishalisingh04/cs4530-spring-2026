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485" r:id="rId2"/>
    <p:sldId id="548" r:id="rId3"/>
    <p:sldId id="397" r:id="rId4"/>
    <p:sldId id="587" r:id="rId5"/>
    <p:sldId id="575" r:id="rId6"/>
    <p:sldId id="576" r:id="rId7"/>
    <p:sldId id="550" r:id="rId8"/>
    <p:sldId id="578" r:id="rId9"/>
    <p:sldId id="579" r:id="rId10"/>
    <p:sldId id="570" r:id="rId11"/>
    <p:sldId id="552" r:id="rId12"/>
    <p:sldId id="537" r:id="rId13"/>
    <p:sldId id="536" r:id="rId14"/>
    <p:sldId id="535" r:id="rId15"/>
    <p:sldId id="580" r:id="rId16"/>
    <p:sldId id="569" r:id="rId17"/>
    <p:sldId id="559" r:id="rId18"/>
    <p:sldId id="560" r:id="rId19"/>
    <p:sldId id="561" r:id="rId20"/>
    <p:sldId id="562" r:id="rId21"/>
    <p:sldId id="563" r:id="rId22"/>
    <p:sldId id="581" r:id="rId23"/>
    <p:sldId id="495" r:id="rId24"/>
    <p:sldId id="585" r:id="rId25"/>
    <p:sldId id="494" r:id="rId26"/>
    <p:sldId id="539" r:id="rId27"/>
    <p:sldId id="586" r:id="rId28"/>
  </p:sldIdLst>
  <p:sldSz cx="12192000" cy="6858000"/>
  <p:notesSz cx="9240838" cy="6854825"/>
  <p:embeddedFontLs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397"/>
            <p14:sldId id="587"/>
            <p14:sldId id="575"/>
            <p14:sldId id="576"/>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242" autoAdjust="0"/>
    <p:restoredTop sz="72622" autoAdjust="0"/>
  </p:normalViewPr>
  <p:slideViewPr>
    <p:cSldViewPr snapToGrid="0">
      <p:cViewPr varScale="1">
        <p:scale>
          <a:sx n="54" d="100"/>
          <a:sy n="54" d="100"/>
        </p:scale>
        <p:origin x="908" y="40"/>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1/4/2026</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meme does a great job capturing the many ways in which we can get off course and end up building the wrong thing.</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going to talk more about requirements gathering and where user stories actually come from in the next module.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41691331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(the tire swing) — that’s the main topic for this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feature that can fit on a 3x5” card, written in the user’s language.</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COSs must be prioritized as Essential, Desirable or Extension.</a:t>
            </a:r>
          </a:p>
          <a:p>
            <a:endParaRPr lang="en-US" dirty="0"/>
          </a:p>
          <a:p>
            <a:r>
              <a:rPr lang="en-US" dirty="0"/>
              <a:t>(Sometimes user stories are also prioritized, but in the class project this semester, we’re not going to prioritize user stories in the same way.)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this is desirable, maybe it's essential.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27</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1/4/2026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1/4/2026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1/4/2026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1/4/2026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1/4/2026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1/4/2026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1/4/2026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1/4/2026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1/4/2026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1/4/2026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1/4/2026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svg"/><Relationship Id="rId2" Type="http://schemas.openxmlformats.org/officeDocument/2006/relationships/notesSlide" Target="../notesSlides/notesSlide6.xml"/><Relationship Id="rId16" Type="http://schemas.openxmlformats.org/officeDocument/2006/relationships/image" Target="../media/image15.svg"/><Relationship Id="rId1" Type="http://schemas.openxmlformats.org/officeDocument/2006/relationships/slideLayout" Target="../slideLayouts/slideLayout2.xml"/><Relationship Id="rId6" Type="http://schemas.openxmlformats.org/officeDocument/2006/relationships/image" Target="../media/image5.sv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 Id="rId1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User stories come from</a:t>
            </a:r>
            <a:br>
              <a:rPr lang="en-US" dirty="0"/>
            </a:br>
            <a:r>
              <a:rPr lang="en-US" dirty="0"/>
              <a:t>analyzing the user’s requirements</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0395" y="1730992"/>
            <a:ext cx="10103405" cy="37480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60992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DD9DC61-0E66-37B4-6DFC-58DD8B5D9D9D}"/>
              </a:ext>
            </a:extLst>
          </p:cNvPr>
          <p:cNvSpPr txBox="1"/>
          <p:nvPr/>
        </p:nvSpPr>
        <p:spPr>
          <a:xfrm>
            <a:off x="1753008" y="3749434"/>
            <a:ext cx="9824703"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lvl="0">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a(n) </a:t>
            </a:r>
            <a:r>
              <a:rPr lang="en-US" sz="3200" b="1" i="1" u="sng" dirty="0">
                <a:solidFill>
                  <a:srgbClr val="FF0000"/>
                </a:solidFill>
                <a:latin typeface="Ink Free" panose="03080402000500000000" pitchFamily="66" charset="0"/>
              </a:rPr>
              <a:t>active outdoor park-goer</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a:t>
            </a:r>
            <a:r>
              <a:rPr lang="en-US" sz="3200" b="1" i="1" u="sng" dirty="0">
                <a:solidFill>
                  <a:srgbClr val="FF0000"/>
                </a:solidFill>
                <a:latin typeface="Ink Free" panose="03080402000500000000" pitchFamily="66" charset="0"/>
              </a:rPr>
              <a:t>a safe way to fly through the air under a tree </a:t>
            </a: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a:t>
            </a:r>
            <a:r>
              <a:rPr lang="en-US" sz="3200" b="1" i="1" u="sng" dirty="0">
                <a:solidFill>
                  <a:srgbClr val="FF0000"/>
                </a:solidFill>
                <a:latin typeface="Ink Free" panose="03080402000500000000" pitchFamily="66" charset="0"/>
              </a:rPr>
              <a:t>feel the wind in my hair</a:t>
            </a:r>
            <a:endPar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endParaRPr>
          </a:p>
        </p:txBody>
      </p:sp>
    </p:spTree>
    <p:extLst>
      <p:ext uri="{BB962C8B-B14F-4D97-AF65-F5344CB8AC3E}">
        <p14:creationId xmlns:p14="http://schemas.microsoft.com/office/powerpoint/2010/main" val="2281422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…a least-common-denominator approach documenting the requirements of users when </a:t>
            </a:r>
            <a:r>
              <a:rPr lang="en-US" b="1" dirty="0"/>
              <a:t>planning</a:t>
            </a:r>
            <a:r>
              <a:rPr lang="en-US" dirty="0"/>
              <a:t> projects</a:t>
            </a:r>
          </a:p>
          <a:p>
            <a:r>
              <a:rPr lang="en-US" dirty="0"/>
              <a:t>…a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User stories in software engineering</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9895450" cy="4351338"/>
          </a:xfrm>
        </p:spPr>
        <p:txBody>
          <a:bodyPr vert="horz" lIns="91440" tIns="45720" rIns="91440" bIns="45720" rtlCol="0" anchor="t">
            <a:normAutofit/>
          </a:bodyPr>
          <a:lstStyle/>
          <a:p>
            <a:r>
              <a:rPr lang="en-US" dirty="0"/>
              <a:t>Roles are positions or functions that people inhabit!</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lvl="1"/>
            <a:endParaRPr lang="en-US" dirty="0"/>
          </a:p>
          <a:p>
            <a:r>
              <a:rPr lang="en-US" dirty="0"/>
              <a:t>The person is not you!</a:t>
            </a:r>
          </a:p>
          <a:p>
            <a:pPr lvl="1"/>
            <a:r>
              <a:rPr lang="en-US" dirty="0"/>
              <a:t>You may want to build software to develop skills, or to make a codebase more maintainable. That’s good, but it doesn’t fit as a user story.</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066649"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8412678"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10</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2302331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Good Examples of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540235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a:t>
            </a:r>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a:bodyPr>
          <a:lstStyle/>
          <a:p>
            <a:r>
              <a:rPr lang="en-US" dirty="0"/>
              <a:t>As a maintenance supervisor, I want to be able to control the order in which potholes are repaired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24</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a:t>
            </a:r>
            <a:r>
              <a:rPr lang="en-US"/>
              <a:t>other stakeholders</a:t>
            </a:r>
            <a:endParaRPr lang="en-US" dirty="0"/>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25</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t>Security</a:t>
            </a:r>
          </a:p>
          <a:p>
            <a:r>
              <a:rPr lang="en-US" dirty="0"/>
              <a:t>Supportability</a:t>
            </a:r>
          </a:p>
          <a:p>
            <a:r>
              <a:rPr lang="en-US" dirty="0"/>
              <a:t>Testability</a:t>
            </a:r>
          </a:p>
          <a:p>
            <a:r>
              <a:rPr lang="en-US" dirty="0"/>
              <a:t>Usability</a:t>
            </a:r>
          </a:p>
        </p:txBody>
      </p:sp>
    </p:spTree>
    <p:extLst>
      <p:ext uri="{BB962C8B-B14F-4D97-AF65-F5344CB8AC3E}">
        <p14:creationId xmlns:p14="http://schemas.microsoft.com/office/powerpoint/2010/main" val="27092849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1467186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27</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14660</TotalTime>
  <Words>3583</Words>
  <Application>Microsoft Office PowerPoint</Application>
  <PresentationFormat>Widescreen</PresentationFormat>
  <Paragraphs>281</Paragraphs>
  <Slides>27</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Helvetica Neue</vt:lpstr>
      <vt:lpstr>Ink Free</vt:lpstr>
      <vt:lpstr>Calibri</vt:lpstr>
      <vt:lpstr>Arial</vt:lpstr>
      <vt:lpstr>Verdana</vt:lpstr>
      <vt:lpstr>Office Theme</vt:lpstr>
      <vt:lpstr>CS 4530: Fundamentals of Software Engineering Module 1.2: User Stories</vt:lpstr>
      <vt:lpstr>Learning Goals for this Lesson</vt:lpstr>
      <vt:lpstr>User stories come from analyzing the user’s requirements</vt:lpstr>
      <vt:lpstr>User stories come from analyzing the user’s requirements</vt:lpstr>
      <vt:lpstr>What are user stories?</vt:lpstr>
      <vt:lpstr>User stories in software engineering</vt:lpstr>
      <vt:lpstr>Components of a user story</vt:lpstr>
      <vt:lpstr>Roles: “who”</vt:lpstr>
      <vt:lpstr>Capabilities: “what”</vt:lpstr>
      <vt:lpstr>Capabilities: “what”</vt:lpstr>
      <vt:lpstr>Benefit: “why?”</vt:lpstr>
      <vt:lpstr>Properties of a good user story</vt:lpstr>
      <vt:lpstr>Good Examples of User Stories</vt:lpstr>
      <vt:lpstr>Conditions of Satisfaction fill in details of the desired behavior</vt:lpstr>
      <vt:lpstr>Conditions of Satisfaction Have 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Bhutta, Adeel</cp:lastModifiedBy>
  <cp:revision>491</cp:revision>
  <cp:lastPrinted>2025-08-26T18:49:02Z</cp:lastPrinted>
  <dcterms:created xsi:type="dcterms:W3CDTF">2021-01-07T15:19:22Z</dcterms:created>
  <dcterms:modified xsi:type="dcterms:W3CDTF">2026-01-05T04:02:54Z</dcterms:modified>
</cp:coreProperties>
</file>