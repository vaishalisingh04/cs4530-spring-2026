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7"/>
  </p:notesMasterIdLst>
  <p:sldIdLst>
    <p:sldId id="485" r:id="rId2"/>
    <p:sldId id="575" r:id="rId3"/>
    <p:sldId id="576" r:id="rId4"/>
    <p:sldId id="548" r:id="rId5"/>
    <p:sldId id="550" r:id="rId6"/>
    <p:sldId id="578" r:id="rId7"/>
    <p:sldId id="579" r:id="rId8"/>
    <p:sldId id="570" r:id="rId9"/>
    <p:sldId id="552" r:id="rId10"/>
    <p:sldId id="537" r:id="rId11"/>
    <p:sldId id="536" r:id="rId12"/>
    <p:sldId id="535" r:id="rId13"/>
    <p:sldId id="580" r:id="rId14"/>
    <p:sldId id="569" r:id="rId15"/>
    <p:sldId id="559" r:id="rId16"/>
    <p:sldId id="560" r:id="rId17"/>
    <p:sldId id="561" r:id="rId18"/>
    <p:sldId id="562" r:id="rId19"/>
    <p:sldId id="563" r:id="rId20"/>
    <p:sldId id="581" r:id="rId21"/>
    <p:sldId id="495" r:id="rId22"/>
    <p:sldId id="585" r:id="rId23"/>
    <p:sldId id="494" r:id="rId24"/>
    <p:sldId id="539" r:id="rId25"/>
    <p:sldId id="586" r:id="rId26"/>
  </p:sldIdLst>
  <p:sldSz cx="12192000" cy="6858000"/>
  <p:notesSz cx="9240838" cy="6854825"/>
  <p:embeddedFontLst>
    <p:embeddedFont>
      <p:font typeface="Ink Free" panose="03080402000500000000" pitchFamily="66" charset="0"/>
      <p:regular r:id="rId28"/>
    </p:embeddedFont>
    <p:embeddedFont>
      <p:font typeface="Verdana" panose="020B0604030504040204" pitchFamily="34" charset="0"/>
      <p:regular r:id="rId29"/>
      <p:bold r:id="rId30"/>
      <p:italic r:id="rId31"/>
      <p:boldItalic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75"/>
            <p14:sldId id="576"/>
            <p14:sldId id="548"/>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01" autoAdjust="0"/>
    <p:restoredTop sz="72653" autoAdjust="0"/>
  </p:normalViewPr>
  <p:slideViewPr>
    <p:cSldViewPr snapToGrid="0">
      <p:cViewPr varScale="1">
        <p:scale>
          <a:sx n="91" d="100"/>
          <a:sy n="91" d="100"/>
        </p:scale>
        <p:origin x="1872" y="184"/>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12/29/25</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talk more about requirements gathering and where user stories actually come from in the next module.</a:t>
            </a:r>
          </a:p>
          <a:p>
            <a:endParaRPr lang="en-US" dirty="0"/>
          </a:p>
          <a:p>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endParaRPr lang="en-US" dirty="0"/>
          </a:p>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r>
              <a:rPr lang="en-US"/>
              <a:t>User stories — and conditions of satisfaction — live at the “organizing” level of our chart, right at the heart of software engineering (and this class). They tie together the people and processes that plan what organizations do with the actual implementation work of software development.</a:t>
            </a:r>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feature that can fit on a 3x5” card, written in the user’s language.</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a:t>
            </a:r>
            <a:r>
              <a:rPr lang="en-US"/>
              <a:t>laser cutter?)</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a:p>
            <a:endParaRPr lang="en-US" dirty="0"/>
          </a:p>
          <a:p>
            <a:r>
              <a:rPr lang="en-US" dirty="0"/>
              <a:t>Example of multiple options: “As a social media user, I want to not have to see posts that are offensive so that I can be confident reading my account in public” — do we do this via algorithmic filtering/banning/deletion, or tagging posts with offensive material?</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User stories and COSs must be prioritized as Essential, Desirable or Extension.</a:t>
            </a:r>
          </a:p>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this is desirable, maybe it's essential.</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On the project you get 100 points for delivering your MVP (the selected user stories and their essential COSs). The remaining 50 points come from implementing the desirable conditions of satisfaction for your selected user stories (or, possibly, from implementing an MVP for user stories on your </a:t>
            </a:r>
            <a:r>
              <a:rPr lang="en-US" i="1" dirty="0"/>
              <a:t>backlog</a:t>
            </a:r>
            <a:r>
              <a:rPr lang="en-US" dirty="0"/>
              <a:t>).</a:t>
            </a:r>
          </a:p>
          <a:p>
            <a:endParaRPr lang="en-US" dirty="0"/>
          </a:p>
          <a:p>
            <a:r>
              <a:rPr lang="en-US" dirty="0"/>
              <a:t>OTOH, 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25</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12/29/25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12/29/25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12/29/25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12/29/25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12/29/25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12/29/25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12/29/25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12/29/25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12/29/25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12/29/25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12/29/25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12/29/25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12/29/25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3.xml"/><Relationship Id="rId16" Type="http://schemas.openxmlformats.org/officeDocument/2006/relationships/image" Target="../media/image14.svg"/><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Mitch Wand, and Rob Simmons</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tool to keep our designs focused on the goal of meeting needs of people</a:t>
            </a:r>
          </a:p>
          <a:p>
            <a:r>
              <a:rPr lang="en-US" dirty="0"/>
              <a:t>…a tool for keeping large collaborative teams on the same page</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a:xfrm>
            <a:off x="838200" y="18255"/>
            <a:ext cx="10515600" cy="1325563"/>
          </a:xfrm>
        </p:spPr>
        <p:txBody>
          <a:bodyPr>
            <a:noAutofit/>
          </a:bodyPr>
          <a:lstStyle/>
          <a:p>
            <a:r>
              <a:rPr lang="en-US"/>
              <a:t>Where do user stories fit in?</a:t>
            </a: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87110" y="4432325"/>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131965" y="3785605"/>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5123242" y="518217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409594" y="5148142"/>
            <a:ext cx="914400" cy="914400"/>
          </a:xfrm>
          <a:prstGeom prst="rect">
            <a:avLst/>
          </a:prstGeom>
        </p:spPr>
      </p:pic>
      <p:pic>
        <p:nvPicPr>
          <p:cNvPr id="18" name="Graphic 17" descr="Link with solid fill">
            <a:extLst>
              <a:ext uri="{FF2B5EF4-FFF2-40B4-BE49-F238E27FC236}">
                <a16:creationId xmlns:a16="http://schemas.microsoft.com/office/drawing/2014/main" id="{8B559705-5B32-26B0-1CFD-537715CDDC08}"/>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858832" y="5029129"/>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506822" y="3768643"/>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9446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whether a given condition of satisfaction actually relates to a given user story</a:t>
            </a:r>
          </a:p>
          <a:p>
            <a:pPr lvl="1"/>
            <a:r>
              <a:rPr lang="en-US" dirty="0"/>
              <a:t>Propose new conditions of satisfaction for new user stories</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Roles are positions or functions that people inhabit!</a:t>
            </a:r>
          </a:p>
          <a:p>
            <a:pPr lvl="1"/>
            <a:r>
              <a:rPr lang="en-US"/>
              <a:t>“As a web server…” is not a user story!</a:t>
            </a:r>
          </a:p>
          <a:p>
            <a:pPr lvl="1"/>
            <a:r>
              <a:rPr lang="en-US"/>
              <a:t>“As a human being…” is better, but that’s still not a role</a:t>
            </a:r>
          </a:p>
          <a:p>
            <a:pPr lvl="1"/>
            <a:r>
              <a:rPr lang="en-US"/>
              <a:t>“As a user…” is almost always a cop-out</a:t>
            </a:r>
          </a:p>
          <a:p>
            <a:r>
              <a:rPr lang="en-US"/>
              <a:t>The person is not you!</a:t>
            </a:r>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9653792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a specific benefit</a:t>
            </a:r>
          </a:p>
          <a:p>
            <a:pPr lvl="1"/>
            <a:r>
              <a:rPr lang="en-US" dirty="0"/>
              <a:t>Because we’re building software, this is usually a benefit we can provide by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not a product</a:t>
            </a:r>
          </a:p>
          <a:p>
            <a:pPr lvl="1"/>
            <a:r>
              <a:rPr lang="en-US" dirty="0"/>
              <a:t>“As a College Administrator, I want a web application that does &lt;this&gt; and &lt;that&gt; so that I can…” is not a user story!</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8</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7301883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23023310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Examples: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11</a:t>
            </a:fld>
            <a:endParaRPr lang="en-US"/>
          </a:p>
        </p:txBody>
      </p:sp>
    </p:spTree>
    <p:extLst>
      <p:ext uri="{BB962C8B-B14F-4D97-AF65-F5344CB8AC3E}">
        <p14:creationId xmlns:p14="http://schemas.microsoft.com/office/powerpoint/2010/main" val="15402357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59"/>
            <a:ext cx="5668926" cy="5055385"/>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r>
              <a:rPr lang="en-US" dirty="0"/>
              <a:t>There may be </a:t>
            </a:r>
            <a:r>
              <a:rPr lang="en-US" i="1" dirty="0"/>
              <a:t>multiple</a:t>
            </a:r>
            <a:r>
              <a:rPr lang="en-US" dirty="0"/>
              <a:t> options for filling in the details with conditions of satisfaction: this is a design problem!</a:t>
            </a:r>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12</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a:t>Priorities</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7887346" cy="4351338"/>
          </a:xfrm>
        </p:spPr>
        <p:txBody>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14</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2" y="365125"/>
            <a:ext cx="3822700" cy="1900238"/>
          </a:xfrm>
        </p:spPr>
        <p:txBody>
          <a:bodyPr>
            <a:normAutofit/>
          </a:bodyPr>
          <a:lstStyle/>
          <a:p>
            <a:r>
              <a:rPr lang="en-US" sz="310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2" y="2433638"/>
            <a:ext cx="3822700" cy="3743325"/>
          </a:xfrm>
        </p:spPr>
        <p:txBody>
          <a:bodyPr>
            <a:normAutofit/>
          </a:bodyPr>
          <a:lstStyle/>
          <a:p>
            <a:pPr marL="0" indent="0">
              <a:buNone/>
            </a:pPr>
            <a:r>
              <a:rPr lang="en-US" sz="200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199" y="1500160"/>
            <a:ext cx="9557825" cy="4351338"/>
          </a:xfrm>
        </p:spPr>
        <p:txBody>
          <a:bodyPr/>
          <a:lstStyle/>
          <a:p>
            <a:r>
              <a:rPr lang="en-US" dirty="0"/>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59"/>
            <a:ext cx="9740705" cy="5027249"/>
          </a:xfrm>
        </p:spPr>
        <p:txBody>
          <a:bodyPr>
            <a:normAutofit/>
          </a:bodyPr>
          <a:lstStyle/>
          <a:p>
            <a:r>
              <a:rPr lang="en-US" dirty="0"/>
              <a:t>As a car commuter, I want to be able to report potholes to the city so that the town can more quickly act to keep me safe.</a:t>
            </a:r>
          </a:p>
          <a:p>
            <a:pPr lvl="1"/>
            <a:r>
              <a:rPr lang="en-US" dirty="0"/>
              <a:t>1.1 I should be able to report the location of a pothole to the system (E)</a:t>
            </a:r>
          </a:p>
          <a:p>
            <a:pPr lvl="1"/>
            <a:r>
              <a:rPr lang="en-US" dirty="0"/>
              <a:t>1.2 I should be able to see whether the pothole I report has been repaired (E)</a:t>
            </a:r>
          </a:p>
          <a:p>
            <a:pPr lvl="1"/>
            <a:r>
              <a:rPr lang="en-US" dirty="0"/>
              <a:t>1.3 I should be able to see whether others have reported potholes near me (D)</a:t>
            </a:r>
          </a:p>
          <a:p>
            <a:pPr lvl="1"/>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9403080" cy="4351338"/>
          </a:xfrm>
        </p:spPr>
        <p:txBody>
          <a:bodyPr/>
          <a:lstStyle/>
          <a:p>
            <a:r>
              <a:rPr lang="en-US" dirty="0"/>
              <a:t>As a pothole-repair-truck driver, I want the system to display the potholes I should be working on today.</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199" y="1500160"/>
            <a:ext cx="9177997" cy="4351338"/>
          </a:xfrm>
        </p:spPr>
        <p:txBody>
          <a:bodyPr>
            <a:normAutofit/>
          </a:bodyPr>
          <a:lstStyle/>
          <a:p>
            <a:r>
              <a:rPr lang="en-US" dirty="0"/>
              <a:t>As a pothole-repair-truck driver, I want the system to display the potholes I should be working on today.</a:t>
            </a:r>
          </a:p>
          <a:p>
            <a:pPr lvl="1"/>
            <a:r>
              <a:rPr lang="en-US" dirty="0"/>
              <a:t>2.1 I should be able to see my list of potholes for today (E)</a:t>
            </a:r>
          </a:p>
          <a:p>
            <a:pPr lvl="1"/>
            <a:r>
              <a:rPr lang="en-US" dirty="0"/>
              <a:t>2.2 I should be able to report that I repaired a given pothole (E)</a:t>
            </a:r>
          </a:p>
          <a:p>
            <a:pPr lvl="1"/>
            <a:r>
              <a:rPr lang="en-US" dirty="0"/>
              <a:t>2.3 I should be able to report that I was unable to repair a given pothole, and to supply a reason (E)</a:t>
            </a:r>
          </a:p>
          <a:p>
            <a:pPr lvl="1"/>
            <a:r>
              <a:rPr lang="en-US" dirty="0"/>
              <a:t>2.4 My daily list of potholes should be listed in an order that cuts down the time I spend driving from job to job (D)</a:t>
            </a:r>
          </a:p>
          <a:p>
            <a:endParaRPr lang="en-US" dirty="0"/>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9389012" cy="4351338"/>
          </a:xfrm>
        </p:spPr>
        <p:txBody>
          <a:bodyPr/>
          <a:lstStyle/>
          <a:p>
            <a:r>
              <a:rPr lang="en-US" dirty="0"/>
              <a:t>As a maintenance supervisor, I want to be able to control the order in which potholes are repaired</a:t>
            </a:r>
          </a:p>
          <a:p>
            <a:endParaRPr lang="en-US" dirty="0"/>
          </a:p>
          <a:p>
            <a:endParaRPr lang="en-US" dirty="0"/>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199" y="1500160"/>
            <a:ext cx="9993923" cy="4351338"/>
          </a:xfrm>
        </p:spPr>
        <p:txBody>
          <a:bodyPr>
            <a:normAutofit/>
          </a:bodyPr>
          <a:lstStyle/>
          <a:p>
            <a:r>
              <a:rPr lang="en-US" dirty="0"/>
              <a:t>As a maintenance supervisor, I want to be able to control the order in which potholes are repaired</a:t>
            </a:r>
          </a:p>
          <a:p>
            <a:pPr lvl="1"/>
            <a:r>
              <a:rPr lang="en-US" dirty="0"/>
              <a:t>3.1 I should be able to give a higher priority to potholes on a particular street (E)</a:t>
            </a:r>
          </a:p>
          <a:p>
            <a:pPr lvl="1"/>
            <a:r>
              <a:rPr lang="en-US" dirty="0"/>
              <a:t>3.2 I should be able to give a higher priority potholes in a particular neighborhood (E)</a:t>
            </a:r>
          </a:p>
          <a:p>
            <a:pPr lvl="1"/>
            <a:r>
              <a:rPr lang="en-US" dirty="0"/>
              <a:t>3.3 Anyone not a maintenance supervisor </a:t>
            </a:r>
            <a:r>
              <a:rPr lang="en-US" b="1" dirty="0"/>
              <a:t>should not</a:t>
            </a:r>
            <a:r>
              <a:rPr lang="en-US" dirty="0"/>
              <a:t> be able to change pothole priority (E)</a:t>
            </a:r>
          </a:p>
          <a:p>
            <a:pPr lvl="1"/>
            <a:r>
              <a:rPr lang="en-US" dirty="0"/>
              <a:t>3.4 I should be able to see on a map where there are a lot of potholes (D)</a:t>
            </a:r>
          </a:p>
          <a:p>
            <a:pPr lvl="1"/>
            <a:r>
              <a:rPr lang="en-US" dirty="0"/>
              <a:t>3.5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5626395" cy="4351338"/>
          </a:xfrm>
        </p:spPr>
        <p:txBody>
          <a:bodyPr>
            <a:normAutofit/>
          </a:bodyPr>
          <a:lstStyle/>
          <a:p>
            <a:r>
              <a:rPr lang="en-US" dirty="0"/>
              <a:t>Independent</a:t>
            </a:r>
          </a:p>
          <a:p>
            <a:r>
              <a:rPr lang="en-US" dirty="0"/>
              <a:t>Negotiable</a:t>
            </a:r>
          </a:p>
          <a:p>
            <a:r>
              <a:rPr lang="en-US" dirty="0"/>
              <a:t>Valuable (has value to client)</a:t>
            </a:r>
          </a:p>
          <a:p>
            <a:r>
              <a:rPr lang="en-US" dirty="0"/>
              <a:t>Estimable (able to estimate development effort)</a:t>
            </a:r>
          </a:p>
          <a:p>
            <a:r>
              <a:rPr lang="en-US" dirty="0"/>
              <a:t>Small</a:t>
            </a:r>
          </a:p>
          <a:p>
            <a:r>
              <a:rPr lang="en-US" dirty="0"/>
              <a:t>Testable</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21</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Tree>
    <p:extLst>
      <p:ext uri="{BB962C8B-B14F-4D97-AF65-F5344CB8AC3E}">
        <p14:creationId xmlns:p14="http://schemas.microsoft.com/office/powerpoint/2010/main" val="26075975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22</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other stakeholders?</a:t>
            </a:r>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23</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t>Security</a:t>
            </a:r>
          </a:p>
          <a:p>
            <a:r>
              <a:rPr lang="en-US" dirty="0"/>
              <a:t>Supportability</a:t>
            </a:r>
          </a:p>
          <a:p>
            <a:r>
              <a:rPr lang="en-US" dirty="0"/>
              <a:t>Testability</a:t>
            </a:r>
          </a:p>
          <a:p>
            <a:r>
              <a:rPr lang="en-US" dirty="0"/>
              <a:t>Usability</a:t>
            </a:r>
          </a:p>
        </p:txBody>
      </p:sp>
    </p:spTree>
    <p:extLst>
      <p:ext uri="{BB962C8B-B14F-4D97-AF65-F5344CB8AC3E}">
        <p14:creationId xmlns:p14="http://schemas.microsoft.com/office/powerpoint/2010/main" val="27092849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p:txBody>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24</a:t>
            </a:fld>
            <a:endParaRPr lang="en-US"/>
          </a:p>
        </p:txBody>
      </p:sp>
    </p:spTree>
    <p:extLst>
      <p:ext uri="{BB962C8B-B14F-4D97-AF65-F5344CB8AC3E}">
        <p14:creationId xmlns:p14="http://schemas.microsoft.com/office/powerpoint/2010/main" val="14671865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It’s the end of the lesson, so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whether a given condition of satisfaction actually relates to a given user story</a:t>
            </a:r>
          </a:p>
          <a:p>
            <a:pPr lvl="1"/>
            <a:r>
              <a:rPr lang="en-US" dirty="0"/>
              <a:t>Propose new conditions of satisfaction for new user stories</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25</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14542</TotalTime>
  <Words>3360</Words>
  <Application>Microsoft Macintosh PowerPoint</Application>
  <PresentationFormat>Widescreen</PresentationFormat>
  <Paragraphs>267</Paragraphs>
  <Slides>25</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Ink Free</vt:lpstr>
      <vt:lpstr>Arial</vt:lpstr>
      <vt:lpstr>Verdana</vt:lpstr>
      <vt:lpstr>Calibri</vt:lpstr>
      <vt:lpstr>Helvetica Neue</vt:lpstr>
      <vt:lpstr>Office Theme</vt:lpstr>
      <vt:lpstr>CS 4530: Fundamentals of Software Engineering Module 1.2: User Stories</vt:lpstr>
      <vt:lpstr>What are user stories?</vt:lpstr>
      <vt:lpstr>Where do user stories fit in?</vt:lpstr>
      <vt:lpstr>Learning Goals for this Lesson</vt:lpstr>
      <vt:lpstr>Components of a user story</vt:lpstr>
      <vt:lpstr>Roles: “who”</vt:lpstr>
      <vt:lpstr>Capabilities: “what”</vt:lpstr>
      <vt:lpstr>Capabilities: “what”</vt:lpstr>
      <vt:lpstr>Benefit: “why?”</vt:lpstr>
      <vt:lpstr>Properties of a good user story</vt:lpstr>
      <vt:lpstr>Examples:</vt:lpstr>
      <vt:lpstr>Conditions of Satisfaction fill in details of the desired behavior</vt:lpstr>
      <vt:lpstr>Priorities</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Simmons, Rob</cp:lastModifiedBy>
  <cp:revision>484</cp:revision>
  <cp:lastPrinted>2025-08-26T18:49:02Z</cp:lastPrinted>
  <dcterms:created xsi:type="dcterms:W3CDTF">2021-01-07T15:19:22Z</dcterms:created>
  <dcterms:modified xsi:type="dcterms:W3CDTF">2025-12-29T16:11:09Z</dcterms:modified>
</cp:coreProperties>
</file>