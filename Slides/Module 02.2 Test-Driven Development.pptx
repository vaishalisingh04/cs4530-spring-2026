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485" r:id="rId2"/>
    <p:sldId id="396" r:id="rId3"/>
    <p:sldId id="523" r:id="rId4"/>
    <p:sldId id="587" r:id="rId5"/>
    <p:sldId id="590" r:id="rId6"/>
    <p:sldId id="591" r:id="rId7"/>
    <p:sldId id="592" r:id="rId8"/>
    <p:sldId id="593" r:id="rId9"/>
    <p:sldId id="596" r:id="rId10"/>
    <p:sldId id="565" r:id="rId11"/>
    <p:sldId id="598" r:id="rId12"/>
    <p:sldId id="569" r:id="rId13"/>
    <p:sldId id="568" r:id="rId14"/>
    <p:sldId id="570" r:id="rId15"/>
    <p:sldId id="571" r:id="rId16"/>
    <p:sldId id="572" r:id="rId17"/>
    <p:sldId id="573" r:id="rId18"/>
    <p:sldId id="574" r:id="rId19"/>
    <p:sldId id="602" r:id="rId20"/>
    <p:sldId id="600" r:id="rId21"/>
    <p:sldId id="549" r:id="rId22"/>
    <p:sldId id="599" r:id="rId23"/>
    <p:sldId id="577" r:id="rId24"/>
  </p:sldIdLst>
  <p:sldSz cx="12192000" cy="6858000"/>
  <p:notesSz cx="6858000" cy="9144000"/>
  <p:embeddedFontLst>
    <p:embeddedFont>
      <p:font typeface="Consolas" panose="020B0609020204030204" pitchFamily="49" charset="0"/>
      <p:regular r:id="rId26"/>
      <p:bold r:id="rId27"/>
      <p:italic r:id="rId28"/>
      <p:boldItalic r:id="rId29"/>
    </p:embeddedFon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96"/>
            <p14:sldId id="565"/>
            <p14:sldId id="598"/>
            <p14:sldId id="569"/>
            <p14:sldId id="568"/>
            <p14:sldId id="570"/>
            <p14:sldId id="571"/>
            <p14:sldId id="572"/>
            <p14:sldId id="573"/>
            <p14:sldId id="574"/>
            <p14:sldId id="602"/>
            <p14:sldId id="600"/>
            <p14:sldId id="549"/>
            <p14:sldId id="599"/>
            <p14:sldId id="57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03" autoAdjust="0"/>
    <p:restoredTop sz="65652" autoAdjust="0"/>
  </p:normalViewPr>
  <p:slideViewPr>
    <p:cSldViewPr snapToGrid="0">
      <p:cViewPr varScale="1">
        <p:scale>
          <a:sx n="48" d="100"/>
          <a:sy n="48" d="100"/>
        </p:scale>
        <p:origin x="1132" y="44"/>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font" Target="fonts/font9.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7.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meet our conditions of satisfaction, the college administrator is going to need to be doing something like connecting to a secure web application with a password. Most large applications have many levels, and after a process of requirements gathering, prioritization, and design, you might have a plan for an application that looks like this. (We’re going to be returning to this view later! It’s also how the course project </a:t>
            </a:r>
            <a:r>
              <a:rPr lang="en-US"/>
              <a:t>is designed.)</a:t>
            </a:r>
            <a:endParaRPr lang="en-US" dirty="0"/>
          </a:p>
          <a:p>
            <a:endParaRPr lang="en-US" dirty="0"/>
          </a:p>
          <a:p>
            <a:r>
              <a:rPr lang="en-US" dirty="0"/>
              <a:t>Right now, we’ll focus on conditions of satisfaction relevant to the </a:t>
            </a:r>
            <a:r>
              <a:rPr lang="en-US" i="1" dirty="0"/>
              <a:t>service layer abstraction</a:t>
            </a:r>
            <a:r>
              <a:rPr lang="en-US" i="0" dirty="0"/>
              <a:t>. Practically, that means we won’t be thinking about authentication, which generally happens at the controller level.</a:t>
            </a:r>
            <a:r>
              <a:rPr lang="en-US" dirty="0"/>
              <a:t> A condition of satisfaction might be able to lead to tests at multiple levels in an application.</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1789845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typescript we’re looking at in this class; it describes the service level abstraction for a very simple transcript database.</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13912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writing out our testable behaviors in English starts letting us see where there might be ambiguity; once we’ve resolved that through negotiation — either with the programmers that are using this API to build other parts of the application, or with a client representing the ultimate users of the application — we can go a step further and start writing actual tests.</a:t>
            </a: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149170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testing frameworks are similar — we’ll be using </a:t>
            </a:r>
            <a:r>
              <a:rPr lang="en-US" dirty="0" err="1"/>
              <a:t>Vitest</a:t>
            </a:r>
            <a:r>
              <a:rPr lang="en-US" dirty="0"/>
              <a:t>, a modernized version of a popular JavaScript testing framework called Jest.</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251417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 how will we test “</a:t>
            </a:r>
            <a:r>
              <a:rPr lang="en-US" dirty="0" err="1"/>
              <a:t>addStudent</a:t>
            </a:r>
            <a:r>
              <a:rPr lang="en-US" dirty="0"/>
              <a:t> should permit adding a student with the same name as an existing student"</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implementation next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1/5/2026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1/5/2026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1/5/2026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1/5/2026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1/5/2026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1/5/2026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1/5/2026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1/5/2026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1/5/2026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1/5/2026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1/5/2026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2.2: </a:t>
            </a:r>
            <a:r>
              <a:rPr lang="en-US" altLang="en-US">
                <a:sym typeface="Helvetica Neue" charset="0"/>
              </a:rPr>
              <a:t>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sz="3600" dirty="0"/>
              <a:t>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199" y="1500188"/>
            <a:ext cx="8857129" cy="4351337"/>
          </a:xfrm>
        </p:spPr>
        <p:txBody>
          <a:bodyPr>
            <a:normAutofit/>
          </a:bodyPr>
          <a:lstStyle/>
          <a:p>
            <a:r>
              <a:rPr lang="en-US" dirty="0"/>
              <a:t>The college administrator can…</a:t>
            </a:r>
          </a:p>
          <a:p>
            <a:pPr lvl="1"/>
            <a:r>
              <a:rPr lang="en-US" dirty="0"/>
              <a:t>Access a persistent database of student records</a:t>
            </a:r>
          </a:p>
          <a:p>
            <a:pPr lvl="1"/>
            <a:r>
              <a:rPr lang="en-US" dirty="0"/>
              <a:t>Prevent unauthorized people from accessing or modifying the database</a:t>
            </a:r>
          </a:p>
          <a:p>
            <a:pPr lvl="1"/>
            <a:r>
              <a:rPr lang="en-US" dirty="0"/>
              <a:t>Add a new student to the database</a:t>
            </a:r>
          </a:p>
          <a:p>
            <a:pPr lvl="1"/>
            <a:r>
              <a:rPr lang="en-US" dirty="0"/>
              <a:t>Add a new student with the same name as an existing student.</a:t>
            </a:r>
          </a:p>
          <a:p>
            <a:pPr lvl="1"/>
            <a:r>
              <a:rPr lang="en-US" dirty="0"/>
              <a:t>Retrieve the transcript for a student</a:t>
            </a:r>
          </a:p>
          <a:p>
            <a:pPr lvl="1"/>
            <a:r>
              <a:rPr lang="en-US" dirty="0"/>
              <a:t>Delete a student from the database</a:t>
            </a:r>
          </a:p>
          <a:p>
            <a:pPr lvl="1"/>
            <a:r>
              <a:rPr lang="en-US" dirty="0"/>
              <a:t>Add a new grade for an existing student</a:t>
            </a:r>
          </a:p>
          <a:p>
            <a:pPr lvl="1"/>
            <a:r>
              <a:rPr lang="en-US" dirty="0"/>
              <a:t>Find out the grade that a student got in a course that they took</a:t>
            </a:r>
          </a:p>
          <a:p>
            <a:endParaRPr lang="en-US" dirty="0"/>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dirty="0"/>
              <a:t>Analyzing </a:t>
            </a:r>
            <a:r>
              <a:rPr lang="en-US" dirty="0" err="1"/>
              <a:t>CoS</a:t>
            </a:r>
            <a:r>
              <a:rPr lang="en-US" dirty="0"/>
              <a:t> to get testable behaviors</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9"/>
            <a:ext cx="7886700" cy="1128926"/>
          </a:xfrm>
        </p:spPr>
        <p:txBody>
          <a:bodyPr/>
          <a:lstStyle/>
          <a:p>
            <a:pPr marL="0" indent="0">
              <a:buNone/>
            </a:pPr>
            <a:r>
              <a:rPr lang="en-US" dirty="0"/>
              <a:t>A user story is about a person in a specific role, who will need to access a complex application</a:t>
            </a:r>
          </a:p>
          <a:p>
            <a:endParaRPr lang="en-US" dirty="0"/>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9</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2" name="TextBox 1">
            <a:extLst>
              <a:ext uri="{FF2B5EF4-FFF2-40B4-BE49-F238E27FC236}">
                <a16:creationId xmlns:a16="http://schemas.microsoft.com/office/drawing/2014/main" id="{2B95460E-29BC-A413-B6CC-C5D3D332CAD2}"/>
              </a:ext>
            </a:extLst>
          </p:cNvPr>
          <p:cNvSpPr txBox="1"/>
          <p:nvPr/>
        </p:nvSpPr>
        <p:spPr>
          <a:xfrm>
            <a:off x="2075935" y="7784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Left Brace 4">
            <a:extLst>
              <a:ext uri="{FF2B5EF4-FFF2-40B4-BE49-F238E27FC236}">
                <a16:creationId xmlns:a16="http://schemas.microsoft.com/office/drawing/2014/main" id="{AE46A944-6579-9B73-8430-D723475690AC}"/>
              </a:ext>
            </a:extLst>
          </p:cNvPr>
          <p:cNvSpPr/>
          <p:nvPr/>
        </p:nvSpPr>
        <p:spPr>
          <a:xfrm rot="16200000">
            <a:off x="4404064" y="3966517"/>
            <a:ext cx="533100" cy="1057840"/>
          </a:xfrm>
          <a:prstGeom prst="leftBrace">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Content Placeholder 17">
            <a:extLst>
              <a:ext uri="{FF2B5EF4-FFF2-40B4-BE49-F238E27FC236}">
                <a16:creationId xmlns:a16="http://schemas.microsoft.com/office/drawing/2014/main" id="{28A7A9F3-B907-3844-5DB2-5C97B53D72A2}"/>
              </a:ext>
            </a:extLst>
          </p:cNvPr>
          <p:cNvSpPr txBox="1">
            <a:spLocks/>
          </p:cNvSpPr>
          <p:nvPr/>
        </p:nvSpPr>
        <p:spPr>
          <a:xfrm>
            <a:off x="2152650" y="4793348"/>
            <a:ext cx="7886700" cy="1128926"/>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test specific parts of the application, still thinking about the user story and conditions of satisfaction</a:t>
            </a:r>
          </a:p>
          <a:p>
            <a:endParaRPr lang="en-US" dirty="0"/>
          </a:p>
        </p:txBody>
      </p:sp>
    </p:spTree>
    <p:extLst>
      <p:ext uri="{BB962C8B-B14F-4D97-AF65-F5344CB8AC3E}">
        <p14:creationId xmlns:p14="http://schemas.microsoft.com/office/powerpoint/2010/main" val="40341723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10</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normAutofit/>
          </a:bodyPr>
          <a:lstStyle/>
          <a:p>
            <a:r>
              <a:rPr lang="en-US" sz="3600" dirty="0"/>
              <a:t>Analyzing </a:t>
            </a:r>
            <a:r>
              <a:rPr lang="en-US" sz="3600" dirty="0" err="1"/>
              <a:t>CoS</a:t>
            </a:r>
            <a:r>
              <a:rPr lang="en-US" sz="3600" dirty="0"/>
              <a:t> to get testable behaviors</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Course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 Transcript</a:t>
            </a:r>
            <a:r>
              <a:rPr lang="en-US" b="0" dirty="0">
                <a:solidFill>
                  <a:srgbClr val="3B3B3B"/>
                </a:solidFill>
                <a:effectLst/>
                <a:latin typeface="Consolas" panose="020B0609020204030204" pitchFamily="49" charset="0"/>
                <a:cs typeface="Consolas" panose="020B0609020204030204" pitchFamily="49" charset="0"/>
              </a:rPr>
              <a:t> } </a:t>
            </a:r>
          </a:p>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types.ts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interface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getTranscript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Transcript</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deleteStudent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hmm, what to do about errors??</a:t>
            </a: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courseGrade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2602655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sz="3600" dirty="0"/>
              <a:t>Analyzing </a:t>
            </a:r>
            <a:r>
              <a:rPr lang="en-US" sz="3600" dirty="0" err="1"/>
              <a:t>CoS</a:t>
            </a:r>
            <a:r>
              <a:rPr lang="en-US" sz="3600" dirty="0"/>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br>
              <a:rPr lang="en-US" dirty="0">
                <a:solidFill>
                  <a:schemeClr val="bg1"/>
                </a:solidFill>
              </a:rPr>
            </a:br>
            <a:endParaRPr lang="en-US" dirty="0">
              <a:solidFill>
                <a:schemeClr val="bg1"/>
              </a:solidFill>
            </a:endParaRPr>
          </a:p>
          <a:p>
            <a:pPr lvl="1"/>
            <a:r>
              <a:rPr lang="en-US" dirty="0"/>
              <a:t>…add a new student with the same name as an existing student</a:t>
            </a:r>
            <a:br>
              <a:rPr lang="en-US" dirty="0"/>
            </a:br>
            <a:endParaRPr lang="en-US" dirty="0"/>
          </a:p>
          <a:p>
            <a:pPr lvl="1"/>
            <a:r>
              <a:rPr lang="en-US" dirty="0"/>
              <a:t>…retrieve the transcript for a student</a:t>
            </a:r>
          </a:p>
          <a:p>
            <a:pPr marL="0" indent="0">
              <a:buNone/>
            </a:pPr>
            <a:endParaRPr lang="en-US" dirty="0"/>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ED2B-C4CB-01DE-2FA2-56655F2FE30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046D1C2-BFC0-F917-D2FE-69F86DADF4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12</a:t>
            </a:fld>
            <a:endParaRPr lang="en-US"/>
          </a:p>
        </p:txBody>
      </p:sp>
      <p:sp>
        <p:nvSpPr>
          <p:cNvPr id="2" name="Title 1">
            <a:extLst>
              <a:ext uri="{FF2B5EF4-FFF2-40B4-BE49-F238E27FC236}">
                <a16:creationId xmlns:a16="http://schemas.microsoft.com/office/drawing/2014/main" id="{08C96DE2-72DE-5DAC-CED0-8E8905B867B7}"/>
              </a:ext>
            </a:extLst>
          </p:cNvPr>
          <p:cNvSpPr>
            <a:spLocks noGrp="1"/>
          </p:cNvSpPr>
          <p:nvPr>
            <p:ph type="title"/>
          </p:nvPr>
        </p:nvSpPr>
        <p:spPr>
          <a:xfrm>
            <a:off x="838200" y="18255"/>
            <a:ext cx="10515600" cy="1325563"/>
          </a:xfrm>
        </p:spPr>
        <p:txBody>
          <a:bodyPr>
            <a:normAutofit/>
          </a:bodyPr>
          <a:lstStyle/>
          <a:p>
            <a:r>
              <a:rPr lang="en-US" sz="3600" dirty="0"/>
              <a:t>The tiniest introduction to </a:t>
            </a:r>
            <a:r>
              <a:rPr lang="en-US" sz="3600" dirty="0" err="1"/>
              <a:t>Vitest</a:t>
            </a:r>
            <a:endParaRPr lang="en-US" sz="3600" dirty="0"/>
          </a:p>
        </p:txBody>
      </p:sp>
      <p:sp>
        <p:nvSpPr>
          <p:cNvPr id="5" name="TextBox 4">
            <a:extLst>
              <a:ext uri="{FF2B5EF4-FFF2-40B4-BE49-F238E27FC236}">
                <a16:creationId xmlns:a16="http://schemas.microsoft.com/office/drawing/2014/main" id="{7186BA39-8044-78B9-E113-8F6B857CD2C9}"/>
              </a:ext>
            </a:extLst>
          </p:cNvPr>
          <p:cNvSpPr txBox="1"/>
          <p:nvPr/>
        </p:nvSpPr>
        <p:spPr>
          <a:xfrm>
            <a:off x="-82062" y="370449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a:solidFill>
                <a:schemeClr val="tx1"/>
              </a:solidFill>
            </a:endParaRPr>
          </a:p>
        </p:txBody>
      </p:sp>
      <p:sp>
        <p:nvSpPr>
          <p:cNvPr id="9" name="TextBox 8">
            <a:extLst>
              <a:ext uri="{FF2B5EF4-FFF2-40B4-BE49-F238E27FC236}">
                <a16:creationId xmlns:a16="http://schemas.microsoft.com/office/drawing/2014/main" id="{F7B76826-48CB-DB5F-33DF-45C27E6763EB}"/>
              </a:ext>
            </a:extLst>
          </p:cNvPr>
          <p:cNvSpPr txBox="1"/>
          <p:nvPr/>
        </p:nvSpPr>
        <p:spPr>
          <a:xfrm>
            <a:off x="744069" y="1555036"/>
            <a:ext cx="10434919" cy="37217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dirty="0">
                <a:solidFill>
                  <a:srgbClr val="AF00DB"/>
                </a:solidFill>
                <a:latin typeface="Consolas" panose="020B0609020204030204" pitchFamily="49" charset="0"/>
                <a:cs typeface="Consolas" panose="020B0609020204030204" pitchFamily="49" charset="0"/>
              </a:rPr>
              <a:t>import</a:t>
            </a:r>
            <a:r>
              <a:rPr lang="en-US" dirty="0">
                <a:solidFill>
                  <a:srgbClr val="3B3B3B"/>
                </a:solidFill>
                <a:latin typeface="Consolas" panose="020B0609020204030204" pitchFamily="49" charset="0"/>
                <a:cs typeface="Consolas" panose="020B0609020204030204" pitchFamily="49" charset="0"/>
              </a:rPr>
              <a:t> {</a:t>
            </a:r>
            <a:r>
              <a:rPr lang="en-US" dirty="0">
                <a:solidFill>
                  <a:srgbClr val="001080"/>
                </a:solidFill>
                <a:latin typeface="Consolas" panose="020B0609020204030204" pitchFamily="49" charset="0"/>
                <a:cs typeface="Consolas" panose="020B0609020204030204" pitchFamily="49" charset="0"/>
              </a:rPr>
              <a:t> </a:t>
            </a:r>
            <a:r>
              <a:rPr lang="en-US" dirty="0" err="1">
                <a:solidFill>
                  <a:srgbClr val="001080"/>
                </a:solidFill>
                <a:latin typeface="Consolas" panose="020B0609020204030204" pitchFamily="49" charset="0"/>
                <a:cs typeface="Consolas" panose="020B0609020204030204" pitchFamily="49" charset="0"/>
              </a:rPr>
              <a:t>StudentID</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Student</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Course</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a:t>
            </a:r>
            <a:r>
              <a:rPr lang="en-US" dirty="0" err="1">
                <a:solidFill>
                  <a:srgbClr val="001080"/>
                </a:solidFill>
                <a:latin typeface="Consolas" panose="020B0609020204030204" pitchFamily="49" charset="0"/>
                <a:cs typeface="Consolas" panose="020B0609020204030204" pitchFamily="49" charset="0"/>
              </a:rPr>
              <a:t>CourseGrade</a:t>
            </a:r>
            <a:r>
              <a:rPr lang="en-US" dirty="0">
                <a:solidFill>
                  <a:srgbClr val="3B3B3B"/>
                </a:solidFill>
                <a:latin typeface="Consolas" panose="020B0609020204030204" pitchFamily="49" charset="0"/>
                <a:cs typeface="Consolas" panose="020B0609020204030204" pitchFamily="49" charset="0"/>
              </a:rPr>
              <a:t>,</a:t>
            </a:r>
            <a:r>
              <a:rPr lang="en-US" dirty="0">
                <a:solidFill>
                  <a:srgbClr val="001080"/>
                </a:solidFill>
                <a:latin typeface="Consolas" panose="020B0609020204030204" pitchFamily="49" charset="0"/>
                <a:cs typeface="Consolas" panose="020B0609020204030204" pitchFamily="49" charset="0"/>
              </a:rPr>
              <a:t> Transcript</a:t>
            </a:r>
            <a:r>
              <a:rPr lang="en-US" dirty="0">
                <a:solidFill>
                  <a:srgbClr val="3B3B3B"/>
                </a:solidFill>
                <a:latin typeface="Consolas" panose="020B0609020204030204" pitchFamily="49" charset="0"/>
                <a:cs typeface="Consolas" panose="020B0609020204030204" pitchFamily="49" charset="0"/>
              </a:rPr>
              <a:t> } </a:t>
            </a:r>
          </a:p>
          <a:p>
            <a:pPr>
              <a:lnSpc>
                <a:spcPct val="120000"/>
              </a:lnSpc>
              <a:buNone/>
            </a:pPr>
            <a:r>
              <a:rPr lang="en-US" dirty="0">
                <a:solidFill>
                  <a:srgbClr val="AF00DB"/>
                </a:solidFill>
                <a:latin typeface="Consolas" panose="020B0609020204030204" pitchFamily="49" charset="0"/>
                <a:cs typeface="Consolas" panose="020B0609020204030204" pitchFamily="49" charset="0"/>
              </a:rPr>
              <a:t>from</a:t>
            </a:r>
            <a:r>
              <a:rPr lang="en-US" dirty="0">
                <a:solidFill>
                  <a:srgbClr val="3B3B3B"/>
                </a:solidFill>
                <a:latin typeface="Consolas" panose="020B0609020204030204" pitchFamily="49" charset="0"/>
                <a:cs typeface="Consolas" panose="020B0609020204030204" pitchFamily="49" charset="0"/>
              </a:rPr>
              <a:t> </a:t>
            </a:r>
            <a:r>
              <a:rPr lang="en-US" dirty="0">
                <a:solidFill>
                  <a:srgbClr val="A31515"/>
                </a:solidFill>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types.ts</a:t>
            </a:r>
            <a:r>
              <a:rPr lang="en-US" dirty="0">
                <a:solidFill>
                  <a:srgbClr val="A31515"/>
                </a:solidFill>
                <a:latin typeface="Consolas" panose="020B0609020204030204" pitchFamily="49" charset="0"/>
                <a:cs typeface="Consolas" panose="020B0609020204030204" pitchFamily="49" charset="0"/>
              </a:rPr>
              <a:t>’</a:t>
            </a:r>
            <a:r>
              <a:rPr lang="en-US" dirty="0">
                <a:solidFill>
                  <a:srgbClr val="3B3B3B"/>
                </a:solidFill>
                <a:latin typeface="Consolas" panose="020B0609020204030204" pitchFamily="49" charset="0"/>
                <a:cs typeface="Consolas" panose="020B0609020204030204" pitchFamily="49" charset="0"/>
              </a:rPr>
              <a:t>;</a:t>
            </a:r>
          </a:p>
          <a:p>
            <a:pPr>
              <a:lnSpc>
                <a:spcPct val="120000"/>
              </a:lnSpc>
              <a:buNone/>
            </a:pPr>
            <a:endParaRPr lang="en-US" b="0" dirty="0">
              <a:solidFill>
                <a:srgbClr val="AF00D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interface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getTranscript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Transcript</a:t>
            </a:r>
            <a:r>
              <a:rPr lang="en-US" b="0" dirty="0">
                <a:solidFill>
                  <a:srgbClr val="3B3B3B"/>
                </a:solidFill>
                <a:effectLst/>
                <a:latin typeface="Consolas" panose="020B0609020204030204" pitchFamily="49" charset="0"/>
                <a:cs typeface="Consolas" panose="020B0609020204030204" pitchFamily="49" charset="0"/>
              </a:rPr>
              <a:t>; </a:t>
            </a:r>
            <a:r>
              <a:rPr lang="en-US" dirty="0">
                <a:solidFill>
                  <a:srgbClr val="008000"/>
                </a:solidFill>
                <a:latin typeface="Consolas" panose="020B0609020204030204" pitchFamily="49" charset="0"/>
                <a:cs typeface="Consolas" panose="020B0609020204030204" pitchFamily="49" charset="0"/>
              </a:rPr>
              <a:t>// throws error if ID invalid</a:t>
            </a: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deleteStudent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a:t>
            </a:r>
            <a:r>
              <a:rPr lang="en-US" dirty="0">
                <a:solidFill>
                  <a:srgbClr val="008000"/>
                </a:solidFill>
                <a:latin typeface="Consolas" panose="020B0609020204030204" pitchFamily="49" charset="0"/>
                <a:cs typeface="Consolas" panose="020B0609020204030204" pitchFamily="49" charset="0"/>
              </a:rPr>
              <a:t>throws error if ID invalid</a:t>
            </a:r>
            <a:endParaRPr lang="en-US"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addGrade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courseGrade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void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getGrade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1080"/>
                </a:solidFill>
                <a:effectLst/>
                <a:latin typeface="Consolas" panose="020B0609020204030204" pitchFamily="49" charset="0"/>
                <a:cs typeface="Consolas" panose="020B0609020204030204" pitchFamily="49" charset="0"/>
              </a:rPr>
              <a: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b="0" dirty="0">
                <a:solidFill>
                  <a:srgbClr val="795E26"/>
                </a:solidFill>
                <a:effectLst/>
                <a:latin typeface="Consolas" panose="020B0609020204030204" pitchFamily="49" charset="0"/>
                <a:cs typeface="Consolas" panose="020B0609020204030204" pitchFamily="49" charset="0"/>
              </a:rPr>
              <a:t>  </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p>
          <a:p>
            <a:pPr>
              <a:lnSpc>
                <a:spcPct val="120000"/>
              </a:lnSpc>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9167119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normAutofit/>
          </a:bodyPr>
          <a:lstStyle/>
          <a:p>
            <a:r>
              <a:rPr lang="en-US" sz="3600" dirty="0" err="1">
                <a:solidFill>
                  <a:srgbClr val="FF0000"/>
                </a:solidFill>
              </a:rPr>
              <a:t>types.ts</a:t>
            </a:r>
            <a:r>
              <a:rPr lang="en-US" sz="3600" dirty="0">
                <a:solidFill>
                  <a:srgbClr val="FF0000"/>
                </a:solidFill>
              </a:rPr>
              <a:t> </a:t>
            </a:r>
            <a:r>
              <a:rPr lang="en-US" sz="3600" dirty="0"/>
              <a:t>used to explain interface</a:t>
            </a:r>
          </a:p>
        </p:txBody>
      </p:sp>
      <p:sp>
        <p:nvSpPr>
          <p:cNvPr id="4" name="TextBox 3">
            <a:extLst>
              <a:ext uri="{FF2B5EF4-FFF2-40B4-BE49-F238E27FC236}">
                <a16:creationId xmlns:a16="http://schemas.microsoft.com/office/drawing/2014/main" id="{07AA5E5E-4768-9FD4-101A-5D84F2F97506}"/>
              </a:ext>
            </a:extLst>
          </p:cNvPr>
          <p:cNvSpPr txBox="1"/>
          <p:nvPr/>
        </p:nvSpPr>
        <p:spPr>
          <a:xfrm>
            <a:off x="744069" y="1555036"/>
            <a:ext cx="10434919" cy="281455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types.ts</a:t>
            </a:r>
            <a:r>
              <a:rPr lang="en-US" b="0" dirty="0">
                <a:solidFill>
                  <a:srgbClr val="008000"/>
                </a:solidFill>
                <a:effectLst/>
                <a:latin typeface="Consolas" panose="020B0609020204030204" pitchFamily="49" charset="0"/>
                <a:cs typeface="Consolas" panose="020B0609020204030204" pitchFamily="49" charset="0"/>
              </a:rPr>
              <a:t> - types for the transcript service</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course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Course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grade</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number</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Transcript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student</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grades</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CourseGrade</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export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string</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br>
              <a:rPr lang="en-US" b="0" dirty="0">
                <a:solidFill>
                  <a:srgbClr val="3B3B3B"/>
                </a:solidFill>
                <a:effectLst/>
                <a:latin typeface="Consolas" panose="020B0609020204030204" pitchFamily="49" charset="0"/>
                <a:cs typeface="Consolas" panose="020B0609020204030204" pitchFamily="49" charset="0"/>
              </a:rPr>
            </a:br>
            <a:endParaRPr lang="en-US" b="0" dirty="0">
              <a:solidFill>
                <a:srgbClr val="3B3B3B"/>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373759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14</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normAutofit/>
          </a:bodyPr>
          <a:lstStyle/>
          <a:p>
            <a:r>
              <a:rPr lang="en-US" sz="3600" dirty="0"/>
              <a:t>Now we can start writing tests</a:t>
            </a:r>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types.spec.ts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types.ts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bryn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'Bronwyn'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'the Student type'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795E26"/>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name'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Jazzhands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will fail</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TextBox 4">
            <a:extLst>
              <a:ext uri="{FF2B5EF4-FFF2-40B4-BE49-F238E27FC236}">
                <a16:creationId xmlns:a16="http://schemas.microsoft.com/office/drawing/2014/main" id="{0E5E2408-5919-913C-0642-027A8483122E}"/>
              </a:ext>
            </a:extLst>
          </p:cNvPr>
          <p:cNvSpPr txBox="1"/>
          <p:nvPr/>
        </p:nvSpPr>
        <p:spPr>
          <a:xfrm>
            <a:off x="6763871" y="7933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776921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normAutofit/>
          </a:bodyPr>
          <a:lstStyle/>
          <a:p>
            <a:r>
              <a:rPr lang="en-US" sz="3600" dirty="0"/>
              <a:t>Running tests on the command line</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npx</a:t>
            </a: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vitest</a:t>
            </a:r>
            <a:r>
              <a:rPr lang="en-US" sz="1200" dirty="0">
                <a:solidFill>
                  <a:srgbClr val="000000"/>
                </a:solidFill>
                <a:effectLst/>
                <a:latin typeface="Consolas" panose="020B0609020204030204" pitchFamily="49" charset="0"/>
                <a:cs typeface="Consolas" panose="020B0609020204030204" pitchFamily="49" charset="0"/>
              </a:rPr>
              <a:t> --run </a:t>
            </a:r>
            <a:r>
              <a:rPr lang="en-US" sz="1200" dirty="0" err="1">
                <a:solidFill>
                  <a:srgbClr val="000000"/>
                </a:solidFill>
                <a:effectLst/>
                <a:latin typeface="Consolas" panose="020B0609020204030204" pitchFamily="49" charset="0"/>
                <a:cs typeface="Consolas" panose="020B0609020204030204" pitchFamily="49" charset="0"/>
              </a:rPr>
              <a:t>src</a:t>
            </a:r>
            <a:r>
              <a:rPr lang="en-US" sz="1200" dirty="0">
                <a:solidFill>
                  <a:srgbClr val="000000"/>
                </a:solidFill>
                <a:effectLst/>
                <a:latin typeface="Consolas" panose="020B0609020204030204" pitchFamily="49" charset="0"/>
                <a:cs typeface="Consolas" panose="020B0609020204030204" pitchFamily="49" charset="0"/>
              </a:rPr>
              <a:t>/</a:t>
            </a:r>
            <a:r>
              <a:rPr lang="en-US" sz="1200" dirty="0" err="1">
                <a:solidFill>
                  <a:srgbClr val="000000"/>
                </a:solidFill>
                <a:effectLst/>
                <a:latin typeface="Consolas" panose="020B0609020204030204" pitchFamily="49" charset="0"/>
                <a:cs typeface="Consolas" panose="020B0609020204030204" pitchFamily="49" charset="0"/>
              </a:rPr>
              <a:t>types.spec.ts</a:t>
            </a:r>
            <a:endParaRPr lang="en-US" sz="1200" dirty="0">
              <a:solidFill>
                <a:srgbClr val="000000"/>
              </a:solidFill>
              <a:effectLst/>
              <a:latin typeface="Consolas" panose="020B0609020204030204" pitchFamily="49" charset="0"/>
              <a:cs typeface="Consolas" panose="020B0609020204030204" pitchFamily="49" charset="0"/>
            </a:endParaRPr>
          </a:p>
          <a:p>
            <a:pPr>
              <a:buNone/>
            </a:pPr>
            <a:endParaRPr lang="en-US" sz="1200" dirty="0">
              <a:solidFill>
                <a:srgbClr val="000000"/>
              </a:solidFill>
              <a:effectLst/>
              <a:latin typeface="Consolas" panose="020B0609020204030204" pitchFamily="49" charset="0"/>
              <a:cs typeface="Consolas" panose="020B0609020204030204" pitchFamily="49" charset="0"/>
            </a:endParaRPr>
          </a:p>
          <a:p>
            <a:pPr>
              <a:buNone/>
            </a:pP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chemeClr val="bg1"/>
                </a:solidFill>
                <a:highlight>
                  <a:srgbClr val="0000FF"/>
                </a:highlight>
                <a:latin typeface="Consolas" panose="020B0609020204030204" pitchFamily="49" charset="0"/>
                <a:cs typeface="Consolas" panose="020B0609020204030204" pitchFamily="49" charset="0"/>
              </a:rPr>
              <a:t>RUN</a:t>
            </a: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rgbClr val="000000"/>
                </a:solidFill>
                <a:latin typeface="Consolas" panose="020B0609020204030204" pitchFamily="49" charset="0"/>
                <a:cs typeface="Consolas" panose="020B0609020204030204" pitchFamily="49" charset="0"/>
              </a:rPr>
              <a:t> </a:t>
            </a:r>
            <a:r>
              <a:rPr lang="en-US" sz="1200" dirty="0">
                <a:solidFill>
                  <a:srgbClr val="0070C0"/>
                </a:solidFill>
                <a:latin typeface="Consolas" panose="020B0609020204030204" pitchFamily="49" charset="0"/>
                <a:cs typeface="Consolas" panose="020B0609020204030204" pitchFamily="49" charset="0"/>
              </a:rPr>
              <a:t>v4.0.16</a:t>
            </a:r>
            <a:r>
              <a:rPr lang="en-US" sz="1200" dirty="0">
                <a:solidFill>
                  <a:srgbClr val="000000"/>
                </a:solidFill>
                <a:latin typeface="Consolas" panose="020B0609020204030204" pitchFamily="49" charset="0"/>
                <a:cs typeface="Consolas" panose="020B0609020204030204" pitchFamily="49" charset="0"/>
              </a:rPr>
              <a:t> /Users/</a:t>
            </a:r>
            <a:r>
              <a:rPr lang="en-US" sz="1200" dirty="0" err="1">
                <a:solidFill>
                  <a:srgbClr val="000000"/>
                </a:solidFill>
                <a:latin typeface="Consolas" panose="020B0609020204030204" pitchFamily="49" charset="0"/>
                <a:cs typeface="Consolas" panose="020B0609020204030204" pitchFamily="49" charset="0"/>
              </a:rPr>
              <a:t>rjsimmon</a:t>
            </a:r>
            <a:r>
              <a:rPr lang="en-US" sz="1200" dirty="0">
                <a:solidFill>
                  <a:srgbClr val="000000"/>
                </a:solidFill>
                <a:latin typeface="Consolas" panose="020B0609020204030204" pitchFamily="49" charset="0"/>
                <a:cs typeface="Consolas" panose="020B0609020204030204" pitchFamily="49" charset="0"/>
              </a:rPr>
              <a:t>/r/transcript-server</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(2 tests | </a:t>
            </a:r>
            <a:r>
              <a:rPr lang="en-US" sz="1200" dirty="0">
                <a:solidFill>
                  <a:srgbClr val="C00000"/>
                </a:solidFill>
                <a:latin typeface="Consolas" panose="020B0609020204030204" pitchFamily="49" charset="0"/>
                <a:cs typeface="Consolas" panose="020B0609020204030204" pitchFamily="49" charset="0"/>
              </a:rPr>
              <a:t>1 failed</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4</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the Student type </a:t>
            </a:r>
            <a:r>
              <a:rPr lang="en-US" sz="1200" dirty="0">
                <a:solidFill>
                  <a:schemeClr val="bg1">
                    <a:lumMod val="50000"/>
                  </a:schemeClr>
                </a:solidFill>
                <a:latin typeface="Consolas" panose="020B0609020204030204" pitchFamily="49" charset="0"/>
                <a:cs typeface="Consolas" panose="020B0609020204030204" pitchFamily="49" charset="0"/>
              </a:rPr>
              <a:t>(2)</a:t>
            </a:r>
          </a:p>
          <a:p>
            <a:pPr>
              <a:buNone/>
            </a:pPr>
            <a:r>
              <a:rPr lang="en-US" sz="1200" dirty="0">
                <a:solidFill>
                  <a:srgbClr val="000000"/>
                </a:solidFill>
                <a:latin typeface="Consolas" panose="020B0609020204030204" pitchFamily="49" charset="0"/>
                <a:cs typeface="Consolas" panose="020B0609020204030204" pitchFamily="49" charset="0"/>
              </a:rPr>
              <a:t>     ✓ should allow extraction of id 1</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 should allow extraction of name </a:t>
            </a:r>
            <a:r>
              <a:rPr lang="en-US" sz="1200" dirty="0">
                <a:solidFill>
                  <a:srgbClr val="000000"/>
                </a:solidFill>
                <a:latin typeface="Consolas" panose="020B0609020204030204" pitchFamily="49" charset="0"/>
                <a:cs typeface="Consolas" panose="020B0609020204030204" pitchFamily="49" charset="0"/>
              </a:rPr>
              <a:t>3</a:t>
            </a:r>
            <a:r>
              <a:rPr lang="en-US" sz="1200" dirty="0">
                <a:solidFill>
                  <a:srgbClr val="0070C0"/>
                </a:solidFill>
                <a:latin typeface="Consolas" panose="020B0609020204030204" pitchFamily="49" charset="0"/>
                <a:cs typeface="Consolas" panose="020B0609020204030204" pitchFamily="49" charset="0"/>
              </a:rPr>
              <a:t>ms</a:t>
            </a:r>
          </a:p>
          <a:p>
            <a:pPr>
              <a:buNone/>
            </a:pPr>
            <a:endParaRPr lang="en-US" sz="1200" dirty="0">
              <a:solidFill>
                <a:srgbClr val="C00000"/>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Failed Tests 1</a:t>
            </a:r>
            <a:r>
              <a:rPr lang="en-US" sz="1200" b="1"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&gt; the Student type &gt; should allow extraction of name</a:t>
            </a:r>
          </a:p>
          <a:p>
            <a:pPr>
              <a:buNone/>
            </a:pPr>
            <a:r>
              <a:rPr lang="en-US" sz="1200" b="1" dirty="0" err="1">
                <a:solidFill>
                  <a:srgbClr val="C00000"/>
                </a:solidFill>
                <a:latin typeface="Consolas" panose="020B0609020204030204" pitchFamily="49" charset="0"/>
                <a:cs typeface="Consolas" panose="020B0609020204030204" pitchFamily="49" charset="0"/>
              </a:rPr>
              <a:t>AssertionError</a:t>
            </a:r>
            <a:r>
              <a:rPr lang="en-US" sz="1200" dirty="0">
                <a:solidFill>
                  <a:srgbClr val="C00000"/>
                </a:solidFill>
                <a:latin typeface="Consolas" panose="020B0609020204030204" pitchFamily="49" charset="0"/>
                <a:cs typeface="Consolas" panose="020B0609020204030204" pitchFamily="49" charset="0"/>
              </a:rPr>
              <a:t>: expected 'Bronwyn' to deeply equal '</a:t>
            </a:r>
            <a:r>
              <a:rPr lang="en-US" sz="1200" dirty="0" err="1">
                <a:solidFill>
                  <a:srgbClr val="C00000"/>
                </a:solidFill>
                <a:latin typeface="Consolas" panose="020B0609020204030204" pitchFamily="49" charset="0"/>
                <a:cs typeface="Consolas" panose="020B0609020204030204" pitchFamily="49" charset="0"/>
              </a:rPr>
              <a:t>Jazzhands</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Expected: </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Received: </a:t>
            </a:r>
            <a:r>
              <a:rPr lang="en-US" sz="1200" dirty="0">
                <a:solidFill>
                  <a:srgbClr val="C00000"/>
                </a:solidFill>
                <a:latin typeface="Consolas" panose="020B0609020204030204" pitchFamily="49" charset="0"/>
                <a:cs typeface="Consolas" panose="020B0609020204030204" pitchFamily="49" charset="0"/>
              </a:rPr>
              <a:t>"Bronwyn"</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src</a:t>
            </a:r>
            <a:r>
              <a:rPr lang="en-US" sz="1200" dirty="0">
                <a:solidFill>
                  <a:srgbClr val="0070C0"/>
                </a:solidFill>
                <a:latin typeface="Consolas" panose="020B0609020204030204" pitchFamily="49" charset="0"/>
                <a:cs typeface="Consolas" panose="020B0609020204030204" pitchFamily="49" charset="0"/>
              </a:rPr>
              <a:t>/types.spec.ts:13:30</a:t>
            </a:r>
          </a:p>
          <a:p>
            <a:pPr>
              <a:buNone/>
            </a:pPr>
            <a:r>
              <a:rPr lang="en-US" sz="1200" dirty="0">
                <a:solidFill>
                  <a:srgbClr val="000000"/>
                </a:solidFill>
                <a:latin typeface="Consolas" panose="020B0609020204030204" pitchFamily="49" charset="0"/>
                <a:cs typeface="Consolas" panose="020B0609020204030204" pitchFamily="49" charset="0"/>
              </a:rPr>
              <a:t>     11|   it(</a:t>
            </a:r>
            <a:r>
              <a:rPr lang="en-US" sz="1200" dirty="0">
                <a:solidFill>
                  <a:schemeClr val="accent6">
                    <a:lumMod val="75000"/>
                  </a:schemeClr>
                </a:solidFill>
                <a:latin typeface="Consolas" panose="020B0609020204030204" pitchFamily="49" charset="0"/>
                <a:cs typeface="Consolas" panose="020B0609020204030204" pitchFamily="49" charset="0"/>
              </a:rPr>
              <a:t>'should allow extraction of name'</a:t>
            </a:r>
            <a:r>
              <a:rPr lang="en-US" sz="1200" dirty="0">
                <a:solidFill>
                  <a:srgbClr val="000000"/>
                </a:solidFill>
                <a:latin typeface="Consolas" panose="020B0609020204030204" pitchFamily="49" charset="0"/>
                <a:cs typeface="Consolas" panose="020B0609020204030204" pitchFamily="49" charset="0"/>
              </a:rPr>
              <a:t>, () =&gt; {</a:t>
            </a:r>
          </a:p>
          <a:p>
            <a:pPr>
              <a:buNone/>
            </a:pPr>
            <a:r>
              <a:rPr lang="en-US" sz="1200" dirty="0">
                <a:solidFill>
                  <a:srgbClr val="000000"/>
                </a:solidFill>
                <a:latin typeface="Consolas" panose="020B0609020204030204" pitchFamily="49" charset="0"/>
                <a:cs typeface="Consolas" panose="020B0609020204030204" pitchFamily="49" charset="0"/>
              </a:rPr>
              <a:t>     12|     expect(</a:t>
            </a:r>
            <a:r>
              <a:rPr lang="en-US" sz="1200" dirty="0" err="1">
                <a:solidFill>
                  <a:srgbClr val="000000"/>
                </a:solidFill>
                <a:latin typeface="Consolas" panose="020B0609020204030204" pitchFamily="49" charset="0"/>
                <a:cs typeface="Consolas" panose="020B0609020204030204" pitchFamily="49" charset="0"/>
              </a:rPr>
              <a:t>alvin.studentName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'Alvin'</a:t>
            </a:r>
            <a:r>
              <a:rPr lang="en-US" sz="1200" dirty="0">
                <a:solidFill>
                  <a:srgbClr val="000000"/>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     13|     expect(</a:t>
            </a:r>
            <a:r>
              <a:rPr lang="en-US" sz="1200" dirty="0" err="1">
                <a:solidFill>
                  <a:srgbClr val="000000"/>
                </a:solidFill>
                <a:latin typeface="Consolas" panose="020B0609020204030204" pitchFamily="49" charset="0"/>
                <a:cs typeface="Consolas" panose="020B0609020204030204" pitchFamily="49" charset="0"/>
              </a:rPr>
              <a:t>bryn.studentName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 will fail</a:t>
            </a:r>
          </a:p>
          <a:p>
            <a:pPr>
              <a:buNone/>
            </a:pPr>
            <a:r>
              <a:rPr lang="en-US" sz="1200" dirty="0">
                <a:solidFill>
                  <a:srgbClr val="000000"/>
                </a:solidFill>
                <a:latin typeface="Consolas" panose="020B0609020204030204" pitchFamily="49" charset="0"/>
                <a:cs typeface="Consolas" panose="020B0609020204030204" pitchFamily="49" charset="0"/>
              </a:rPr>
              <a:t>       |                              ^</a:t>
            </a:r>
          </a:p>
          <a:p>
            <a:pPr>
              <a:buNone/>
            </a:pPr>
            <a:r>
              <a:rPr lang="en-US" sz="1200" dirty="0">
                <a:solidFill>
                  <a:srgbClr val="000000"/>
                </a:solidFill>
                <a:latin typeface="Consolas" panose="020B0609020204030204" pitchFamily="49" charset="0"/>
                <a:cs typeface="Consolas" panose="020B0609020204030204" pitchFamily="49" charset="0"/>
              </a:rPr>
              <a:t>     14|   });</a:t>
            </a:r>
          </a:p>
          <a:p>
            <a:pPr>
              <a:buNone/>
            </a:pPr>
            <a:r>
              <a:rPr lang="en-US" sz="1200" dirty="0">
                <a:solidFill>
                  <a:srgbClr val="000000"/>
                </a:solidFill>
                <a:latin typeface="Consolas" panose="020B0609020204030204" pitchFamily="49" charset="0"/>
                <a:cs typeface="Consolas" panose="020B0609020204030204" pitchFamily="49" charset="0"/>
              </a:rPr>
              <a:t>     15| });</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 Files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(1)</a:t>
            </a: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Tests</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chemeClr val="accent6">
                    <a:lumMod val="75000"/>
                  </a:schemeClr>
                </a:solidFill>
                <a:latin typeface="Consolas" panose="020B0609020204030204" pitchFamily="49" charset="0"/>
                <a:cs typeface="Consolas" panose="020B0609020204030204" pitchFamily="49" charset="0"/>
              </a:rPr>
              <a:t>1 passed</a:t>
            </a:r>
            <a:r>
              <a:rPr lang="en-US" sz="1200" dirty="0">
                <a:solidFill>
                  <a:srgbClr val="000000"/>
                </a:solidFill>
                <a:latin typeface="Consolas" panose="020B0609020204030204" pitchFamily="49" charset="0"/>
                <a:cs typeface="Consolas" panose="020B0609020204030204" pitchFamily="49" charset="0"/>
              </a:rPr>
              <a:t> (2)</a:t>
            </a:r>
            <a:endParaRPr lang="en-US" sz="1200" dirty="0">
              <a:solidFill>
                <a:srgbClr val="999999"/>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28134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normAutofit/>
          </a:bodyPr>
          <a:lstStyle/>
          <a:p>
            <a:r>
              <a:rPr lang="en-US" sz="3600" dirty="0"/>
              <a:t>Tests from testable behaviors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transcript.service.spec.ts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transcript.service</a:t>
            </a:r>
            <a:r>
              <a:rPr lang="en-US" b="0" dirty="0" err="1">
                <a:solidFill>
                  <a:srgbClr val="A31515"/>
                </a:solidFill>
                <a:effectLst/>
                <a:latin typeface="Consolas" panose="020B0609020204030204" pitchFamily="49" charset="0"/>
                <a:cs typeface="Consolas" panose="020B0609020204030204" pitchFamily="49" charset="0"/>
              </a:rPr>
              <a:t>.ts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17</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normAutofit/>
          </a:bodyPr>
          <a:lstStyle/>
          <a:p>
            <a:r>
              <a:rPr lang="en-US" sz="3600" dirty="0"/>
              <a:t>Assemble/Act/Assess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0000FF"/>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0000FF"/>
              </a:solidFill>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normAutofit/>
          </a:bodyPr>
          <a:lstStyle/>
          <a:p>
            <a:r>
              <a:rPr lang="en-US" sz="3600" dirty="0"/>
              <a:t>Tests from testable behaviors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return an ID distinct from any ID in the database'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 we'll add 3 students and check to see that their IDs are all different.</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corey</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id3</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'del’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id3</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id3</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normAutofit/>
          </a:bodyPr>
          <a:lstStyle/>
          <a:p>
            <a:r>
              <a:rPr lang="en-US" sz="3600" dirty="0"/>
              <a:t>Tests from testable behaviors</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1834794"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permit adding a student w/ same name as an existing student’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not</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id2</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72850-973D-8EAB-83F6-FA8C0303B79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81B332F-7D57-99F6-0353-6C1BD1948AF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C7511F12-D9AC-6766-82BE-1123401E4011}"/>
              </a:ext>
            </a:extLst>
          </p:cNvPr>
          <p:cNvSpPr>
            <a:spLocks noGrp="1"/>
          </p:cNvSpPr>
          <p:nvPr>
            <p:ph type="title"/>
          </p:nvPr>
        </p:nvSpPr>
        <p:spPr>
          <a:xfrm>
            <a:off x="838200" y="18255"/>
            <a:ext cx="10515600" cy="1325563"/>
          </a:xfrm>
        </p:spPr>
        <p:txBody>
          <a:bodyPr>
            <a:normAutofit/>
          </a:bodyPr>
          <a:lstStyle/>
          <a:p>
            <a:r>
              <a:rPr lang="en-US" sz="3600" dirty="0"/>
              <a:t>Tests from testable behaviors</a:t>
            </a:r>
          </a:p>
        </p:txBody>
      </p:sp>
      <p:sp>
        <p:nvSpPr>
          <p:cNvPr id="4" name="TextBox 3">
            <a:extLst>
              <a:ext uri="{FF2B5EF4-FFF2-40B4-BE49-F238E27FC236}">
                <a16:creationId xmlns:a16="http://schemas.microsoft.com/office/drawing/2014/main" id="{5489491B-3E78-75A6-E256-C5789A1C7D37}"/>
              </a:ext>
            </a:extLst>
          </p:cNvPr>
          <p:cNvSpPr txBox="1"/>
          <p:nvPr/>
        </p:nvSpPr>
        <p:spPr>
          <a:xfrm>
            <a:off x="744068" y="1555036"/>
            <a:ext cx="11834794" cy="51614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r>
              <a:rPr lang="en-US" dirty="0">
                <a:solidFill>
                  <a:srgbClr val="795E26"/>
                </a:solidFill>
                <a:latin typeface="Consolas" panose="020B0609020204030204" pitchFamily="49" charset="0"/>
                <a:cs typeface="Consolas" panose="020B0609020204030204" pitchFamily="49" charset="0"/>
              </a:rPr>
              <a:t>describe</a:t>
            </a:r>
            <a:r>
              <a:rPr lang="en-US" dirty="0">
                <a:solidFill>
                  <a:srgbClr val="3B3B3B"/>
                </a:solidFill>
                <a:latin typeface="Consolas" panose="020B0609020204030204" pitchFamily="49" charset="0"/>
                <a:cs typeface="Consolas" panose="020B0609020204030204" pitchFamily="49" charset="0"/>
              </a:rPr>
              <a:t>(</a:t>
            </a:r>
            <a:r>
              <a:rPr lang="en-US" dirty="0">
                <a:solidFill>
                  <a:srgbClr val="A31515"/>
                </a:solidFill>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getTranscript</a:t>
            </a:r>
            <a:r>
              <a:rPr lang="en-US" dirty="0">
                <a:solidFill>
                  <a:srgbClr val="A31515"/>
                </a:solidFill>
                <a:latin typeface="Consolas" panose="020B0609020204030204" pitchFamily="49" charset="0"/>
                <a:cs typeface="Consolas" panose="020B0609020204030204" pitchFamily="49" charset="0"/>
              </a:rPr>
              <a:t>'</a:t>
            </a:r>
            <a:r>
              <a:rPr lang="en-US" dirty="0">
                <a:solidFill>
                  <a:srgbClr val="3B3B3B"/>
                </a:solidFill>
                <a:latin typeface="Consolas" panose="020B0609020204030204" pitchFamily="49" charset="0"/>
                <a:cs typeface="Consolas" panose="020B0609020204030204" pitchFamily="49" charset="0"/>
              </a:rPr>
              <a:t>, () </a:t>
            </a:r>
            <a:r>
              <a:rPr lang="en-US" dirty="0">
                <a:solidFill>
                  <a:srgbClr val="0000FF"/>
                </a:solidFill>
                <a:latin typeface="Consolas" panose="020B0609020204030204" pitchFamily="49" charset="0"/>
                <a:cs typeface="Consolas" panose="020B0609020204030204" pitchFamily="49" charset="0"/>
              </a:rPr>
              <a:t>=&gt;</a:t>
            </a:r>
            <a:r>
              <a:rPr lang="en-US" dirty="0">
                <a:solidFill>
                  <a:srgbClr val="3B3B3B"/>
                </a:solidFill>
                <a:latin typeface="Consolas" panose="020B0609020204030204" pitchFamily="49" charset="0"/>
                <a:cs typeface="Consolas" panose="020B0609020204030204" pitchFamily="49" charset="0"/>
              </a:rPr>
              <a:t> {</a:t>
            </a:r>
          </a:p>
          <a:p>
            <a:r>
              <a:rPr lang="en-US" dirty="0">
                <a:solidFill>
                  <a:schemeClr val="tx1"/>
                </a:solidFill>
                <a:latin typeface="Consolas" panose="020B0609020204030204" pitchFamily="49" charset="0"/>
                <a:cs typeface="Consolas" panose="020B0609020204030204" pitchFamily="49" charset="0"/>
              </a:rPr>
              <a:t>  </a:t>
            </a:r>
            <a:r>
              <a:rPr lang="en-US" dirty="0">
                <a:solidFill>
                  <a:srgbClr val="795E26"/>
                </a:solidFill>
                <a:latin typeface="Consolas" panose="020B0609020204030204" pitchFamily="49" charset="0"/>
                <a:cs typeface="Consolas" panose="020B0609020204030204" pitchFamily="49" charset="0"/>
              </a:rPr>
              <a:t>it</a:t>
            </a:r>
            <a:r>
              <a:rPr lang="en-US" dirty="0">
                <a:solidFill>
                  <a:schemeClr val="tx1"/>
                </a:solidFill>
                <a:latin typeface="Consolas" panose="020B0609020204030204" pitchFamily="49" charset="0"/>
                <a:cs typeface="Consolas" panose="020B0609020204030204" pitchFamily="49" charset="0"/>
              </a:rPr>
              <a:t>(</a:t>
            </a:r>
            <a:r>
              <a:rPr lang="en-US" dirty="0">
                <a:solidFill>
                  <a:srgbClr val="C00000"/>
                </a:solidFill>
                <a:latin typeface="Consolas" panose="020B0609020204030204" pitchFamily="49" charset="0"/>
                <a:cs typeface="Consolas" panose="020B0609020204030204" pitchFamily="49" charset="0"/>
              </a:rPr>
              <a:t>'should permit adding a student w/ same name as an existing student’</a:t>
            </a:r>
            <a:r>
              <a:rPr lang="en-US" dirty="0">
                <a:solidFill>
                  <a:schemeClr val="tx1"/>
                </a:solidFill>
                <a:latin typeface="Consolas" panose="020B0609020204030204" pitchFamily="49" charset="0"/>
                <a:cs typeface="Consolas" panose="020B0609020204030204" pitchFamily="49" charset="0"/>
              </a:rPr>
              <a:t>, () =&gt; { </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cs typeface="Consolas" panose="020B0609020204030204" pitchFamily="49" charset="0"/>
              </a:rPr>
              <a:t>const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70C1"/>
                </a:solidFill>
                <a:latin typeface="Consolas" panose="020B0609020204030204" pitchFamily="49" charset="0"/>
                <a:cs typeface="Consolas" panose="020B0609020204030204" pitchFamily="49" charset="0"/>
              </a:rPr>
              <a:t>id1</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db.addStudent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rgbClr val="C00000"/>
                </a:solidFill>
                <a:latin typeface="Consolas" panose="020B0609020204030204" pitchFamily="49" charset="0"/>
                <a:ea typeface="Menlo" panose="020B0609030804020204" pitchFamily="49" charset="0"/>
                <a:cs typeface="Consolas" panose="020B0609020204030204" pitchFamily="49" charset="0"/>
              </a:rPr>
              <a:t>blair</a:t>
            </a:r>
            <a:r>
              <a:rPr lang="en-US"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expect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db.getTranscript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0070C1"/>
                </a:solidFill>
                <a:latin typeface="Consolas" panose="020B0609020204030204" pitchFamily="49" charset="0"/>
                <a:cs typeface="Consolas" panose="020B0609020204030204" pitchFamily="49" charset="0"/>
              </a:rPr>
              <a:t>id1</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not.toBeNull</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b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r>
              <a:rPr lang="en-US" dirty="0">
                <a:solidFill>
                  <a:schemeClr val="tx1"/>
                </a:solidFill>
                <a:latin typeface="Consolas" panose="020B0609020204030204" pitchFamily="49" charset="0"/>
                <a:cs typeface="Consolas" panose="020B0609020204030204" pitchFamily="49" charset="0"/>
              </a:rPr>
              <a:t>  </a:t>
            </a:r>
            <a:r>
              <a:rPr lang="en-US" dirty="0">
                <a:solidFill>
                  <a:srgbClr val="795E26"/>
                </a:solidFill>
                <a:latin typeface="Consolas" panose="020B0609020204030204" pitchFamily="49" charset="0"/>
                <a:cs typeface="Consolas" panose="020B0609020204030204" pitchFamily="49" charset="0"/>
              </a:rPr>
              <a:t>it</a:t>
            </a:r>
            <a:r>
              <a:rPr lang="en-US" dirty="0">
                <a:solidFill>
                  <a:schemeClr val="tx1"/>
                </a:solidFill>
                <a:latin typeface="Consolas" panose="020B0609020204030204" pitchFamily="49" charset="0"/>
                <a:cs typeface="Consolas" panose="020B0609020204030204" pitchFamily="49" charset="0"/>
              </a:rPr>
              <a:t>(</a:t>
            </a:r>
            <a:r>
              <a:rPr lang="en-US" dirty="0">
                <a:solidFill>
                  <a:srgbClr val="C00000"/>
                </a:solidFill>
                <a:latin typeface="Consolas" panose="020B0609020204030204" pitchFamily="49" charset="0"/>
                <a:cs typeface="Consolas" panose="020B0609020204030204" pitchFamily="49" charset="0"/>
              </a:rPr>
              <a:t>'should permit adding a student w/ same name as an existing student’</a:t>
            </a:r>
            <a:r>
              <a:rPr lang="en-US" dirty="0">
                <a:solidFill>
                  <a:schemeClr val="tx1"/>
                </a:solidFill>
                <a:latin typeface="Consolas" panose="020B0609020204030204" pitchFamily="49" charset="0"/>
                <a:cs typeface="Consolas" panose="020B0609020204030204" pitchFamily="49" charset="0"/>
              </a:rPr>
              <a:t>, () =&gt; {</a:t>
            </a:r>
          </a:p>
          <a:p>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in an empty database, all IDs are bad :)</a:t>
            </a:r>
          </a:p>
          <a:p>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Note: the expression you expect to throw</a:t>
            </a:r>
          </a:p>
          <a:p>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must be wrapped in a (() =&gt; ...)</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expect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=&gt; </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db.getTranscript</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1</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dirty="0" err="1">
                <a:solidFill>
                  <a:schemeClr val="tx1"/>
                </a:solidFill>
                <a:latin typeface="Consolas" panose="020B0609020204030204" pitchFamily="49" charset="0"/>
                <a:ea typeface="Menlo" panose="020B0609030804020204" pitchFamily="49" charset="0"/>
                <a:cs typeface="Consolas" panose="020B0609020204030204" pitchFamily="49" charset="0"/>
              </a:rPr>
              <a:t>toThrowError</a:t>
            </a:r>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br>
            <a:endParaRPr lang="en-US"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endParaRPr>
          </a:p>
        </p:txBody>
      </p:sp>
    </p:spTree>
    <p:extLst>
      <p:ext uri="{BB962C8B-B14F-4D97-AF65-F5344CB8AC3E}">
        <p14:creationId xmlns:p14="http://schemas.microsoft.com/office/powerpoint/2010/main" val="2383690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let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TranscriptService</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beforeAll</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p>
          <a:p>
            <a:pPr>
              <a:lnSpc>
                <a:spcPct val="110000"/>
              </a:lnSpc>
              <a:buNone/>
            </a:pPr>
            <a:r>
              <a:rPr lang="en-US" dirty="0">
                <a:solidFill>
                  <a:srgbClr val="00108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new</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endParaRPr lang="en-US"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beforeEach</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0000"/>
                </a:solidFill>
                <a:latin typeface="Consolas" panose="020B0609020204030204" pitchFamily="49" charset="0"/>
                <a:ea typeface="Menlo" panose="020B0609030804020204" pitchFamily="49" charset="0"/>
                <a:cs typeface="Consolas" panose="020B0609020204030204" pitchFamily="49" charset="0"/>
              </a:rPr>
              <a:t>db.clear</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endParaRPr lang="en-US" b="0" dirty="0">
              <a:solidFill>
                <a:srgbClr val="000000"/>
              </a:solidFill>
              <a:effectLst/>
              <a:latin typeface="Consolas" panose="020B0609020204030204" pitchFamily="49" charset="0"/>
              <a:ea typeface="Menlo" panose="020B0609030804020204" pitchFamily="49" charset="0"/>
              <a:cs typeface="Consolas" panose="020B060902020403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21</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dirty="0"/>
              <a:t>…now TDD lets us implement </a:t>
            </a:r>
            <a:r>
              <a:rPr lang="en-US" dirty="0" err="1"/>
              <a:t>addStudent</a:t>
            </a:r>
            <a:r>
              <a:rPr lang="en-US" dirty="0"/>
              <a:t>!</a:t>
            </a:r>
          </a:p>
        </p:txBody>
      </p:sp>
      <p:sp>
        <p:nvSpPr>
          <p:cNvPr id="5" name="Content Placeholder 4">
            <a:extLst>
              <a:ext uri="{FF2B5EF4-FFF2-40B4-BE49-F238E27FC236}">
                <a16:creationId xmlns:a16="http://schemas.microsoft.com/office/drawing/2014/main" id="{2CC0F007-BB9D-7A51-F58C-1EA9644E83F3}"/>
              </a:ext>
            </a:extLst>
          </p:cNvPr>
          <p:cNvSpPr>
            <a:spLocks noGrp="1"/>
          </p:cNvSpPr>
          <p:nvPr>
            <p:ph idx="1"/>
          </p:nvPr>
        </p:nvSpPr>
        <p:spPr>
          <a:xfrm>
            <a:off x="838199" y="1500159"/>
            <a:ext cx="10322169" cy="1688517"/>
          </a:xfrm>
        </p:spPr>
        <p:txBody>
          <a:bodyPr>
            <a:normAutofit/>
          </a:bodyPr>
          <a:lstStyle/>
          <a:p>
            <a:pPr marL="0" indent="0">
              <a:buNone/>
            </a:pPr>
            <a:r>
              <a:rPr lang="en-US"/>
              <a:t>Implementing the </a:t>
            </a:r>
            <a:r>
              <a:rPr lang="en-US" err="1"/>
              <a:t>TranscriptDB</a:t>
            </a:r>
            <a:r>
              <a:rPr lang="en-US"/>
              <a:t> according to the </a:t>
            </a:r>
            <a:r>
              <a:rPr lang="en-US" err="1"/>
              <a:t>TranscriptService</a:t>
            </a:r>
            <a:r>
              <a:rPr lang="en-US"/>
              <a:t> spec will let us turn our testable behaviors into fully executable tests.</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22</a:t>
            </a:fld>
            <a:endParaRPr lang="en-US"/>
          </a:p>
        </p:txBody>
      </p:sp>
      <p:grpSp>
        <p:nvGrpSpPr>
          <p:cNvPr id="6" name="Group 5">
            <a:extLst>
              <a:ext uri="{FF2B5EF4-FFF2-40B4-BE49-F238E27FC236}">
                <a16:creationId xmlns:a16="http://schemas.microsoft.com/office/drawing/2014/main" id="{699F15D9-00BA-F146-965A-3D5E61FB4703}"/>
              </a:ext>
            </a:extLst>
          </p:cNvPr>
          <p:cNvGrpSpPr/>
          <p:nvPr/>
        </p:nvGrpSpPr>
        <p:grpSpPr>
          <a:xfrm>
            <a:off x="435253" y="2610651"/>
            <a:ext cx="11321493" cy="4110824"/>
            <a:chOff x="133350" y="1786330"/>
            <a:chExt cx="11321493" cy="4110824"/>
          </a:xfrm>
        </p:grpSpPr>
        <p:sp>
          <p:nvSpPr>
            <p:cNvPr id="7" name="Rectangle: Rounded Corners 8">
              <a:extLst>
                <a:ext uri="{FF2B5EF4-FFF2-40B4-BE49-F238E27FC236}">
                  <a16:creationId xmlns:a16="http://schemas.microsoft.com/office/drawing/2014/main" id="{37D04995-0B29-D574-44D6-1C1347C7A3F1}"/>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Satisfaction Conditions</a:t>
              </a:r>
            </a:p>
          </p:txBody>
        </p:sp>
        <p:sp>
          <p:nvSpPr>
            <p:cNvPr id="8" name="Rectangle: Rounded Corners 9">
              <a:extLst>
                <a:ext uri="{FF2B5EF4-FFF2-40B4-BE49-F238E27FC236}">
                  <a16:creationId xmlns:a16="http://schemas.microsoft.com/office/drawing/2014/main" id="{B1BFD337-6AA2-B07D-05F3-02949B505BD2}"/>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Executable Tests</a:t>
              </a:r>
            </a:p>
          </p:txBody>
        </p:sp>
        <p:sp>
          <p:nvSpPr>
            <p:cNvPr id="9" name="Rectangle: Rounded Corners 10">
              <a:extLst>
                <a:ext uri="{FF2B5EF4-FFF2-40B4-BE49-F238E27FC236}">
                  <a16:creationId xmlns:a16="http://schemas.microsoft.com/office/drawing/2014/main" id="{65FF3A29-047C-BCB2-3409-D935F1458029}"/>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Testable Behaviors</a:t>
              </a:r>
            </a:p>
          </p:txBody>
        </p:sp>
        <p:sp>
          <p:nvSpPr>
            <p:cNvPr id="10" name="Rectangle: Rounded Corners 11">
              <a:extLst>
                <a:ext uri="{FF2B5EF4-FFF2-40B4-BE49-F238E27FC236}">
                  <a16:creationId xmlns:a16="http://schemas.microsoft.com/office/drawing/2014/main" id="{0A5EA2C0-21C5-A177-B818-3F5288A8414F}"/>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a:solidFill>
                    <a:schemeClr val="tx1"/>
                  </a:solidFill>
                </a:rPr>
                <a:t>Executing Code</a:t>
              </a:r>
            </a:p>
          </p:txBody>
        </p:sp>
        <p:sp>
          <p:nvSpPr>
            <p:cNvPr id="11" name="Isosceles Triangle 13">
              <a:extLst>
                <a:ext uri="{FF2B5EF4-FFF2-40B4-BE49-F238E27FC236}">
                  <a16:creationId xmlns:a16="http://schemas.microsoft.com/office/drawing/2014/main" id="{2ACAF0E2-4772-7950-1F0F-4183B101134D}"/>
                </a:ext>
              </a:extLst>
            </p:cNvPr>
            <p:cNvSpPr/>
            <p:nvPr/>
          </p:nvSpPr>
          <p:spPr>
            <a:xfrm rot="5400000">
              <a:off x="227364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2" name="Isosceles Triangle 14">
              <a:extLst>
                <a:ext uri="{FF2B5EF4-FFF2-40B4-BE49-F238E27FC236}">
                  <a16:creationId xmlns:a16="http://schemas.microsoft.com/office/drawing/2014/main" id="{6942D7D3-34AC-8A7A-5E55-5B03E9DD4068}"/>
                </a:ext>
              </a:extLst>
            </p:cNvPr>
            <p:cNvSpPr/>
            <p:nvPr/>
          </p:nvSpPr>
          <p:spPr>
            <a:xfrm rot="5400000">
              <a:off x="537213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3" name="Isosceles Triangle 15">
              <a:extLst>
                <a:ext uri="{FF2B5EF4-FFF2-40B4-BE49-F238E27FC236}">
                  <a16:creationId xmlns:a16="http://schemas.microsoft.com/office/drawing/2014/main" id="{CD688A54-81A6-4752-D593-1DAE613F4C6B}"/>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solidFill>
                  <a:schemeClr val="tx1"/>
                </a:solidFill>
              </a:endParaRPr>
            </a:p>
          </p:txBody>
        </p:sp>
        <p:sp>
          <p:nvSpPr>
            <p:cNvPr id="14" name="TextBox 13">
              <a:extLst>
                <a:ext uri="{FF2B5EF4-FFF2-40B4-BE49-F238E27FC236}">
                  <a16:creationId xmlns:a16="http://schemas.microsoft.com/office/drawing/2014/main" id="{8F9C8517-35C9-604B-2A9C-F6D7519C4AE5}"/>
                </a:ext>
              </a:extLst>
            </p:cNvPr>
            <p:cNvSpPr txBox="1"/>
            <p:nvPr/>
          </p:nvSpPr>
          <p:spPr>
            <a:xfrm>
              <a:off x="1600232" y="1821455"/>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Analyze</a:t>
              </a:r>
            </a:p>
          </p:txBody>
        </p:sp>
        <p:sp>
          <p:nvSpPr>
            <p:cNvPr id="15" name="TextBox 14">
              <a:extLst>
                <a:ext uri="{FF2B5EF4-FFF2-40B4-BE49-F238E27FC236}">
                  <a16:creationId xmlns:a16="http://schemas.microsoft.com/office/drawing/2014/main" id="{C5C74A3D-107C-A976-8FBC-38494CD8F27E}"/>
                </a:ext>
              </a:extLst>
            </p:cNvPr>
            <p:cNvSpPr txBox="1"/>
            <p:nvPr/>
          </p:nvSpPr>
          <p:spPr>
            <a:xfrm>
              <a:off x="4694927"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Design</a:t>
              </a:r>
            </a:p>
          </p:txBody>
        </p:sp>
        <p:sp>
          <p:nvSpPr>
            <p:cNvPr id="16" name="TextBox 15">
              <a:extLst>
                <a:ext uri="{FF2B5EF4-FFF2-40B4-BE49-F238E27FC236}">
                  <a16:creationId xmlns:a16="http://schemas.microsoft.com/office/drawing/2014/main" id="{0AF3C444-3E10-AB01-92CB-6DD7B9D74DD4}"/>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a:solidFill>
                    <a:schemeClr val="tx1"/>
                  </a:solidFill>
                </a:rPr>
                <a:t>Code</a:t>
              </a:r>
            </a:p>
          </p:txBody>
        </p:sp>
        <p:sp>
          <p:nvSpPr>
            <p:cNvPr id="17" name="Arrow: Curved Left 19">
              <a:extLst>
                <a:ext uri="{FF2B5EF4-FFF2-40B4-BE49-F238E27FC236}">
                  <a16:creationId xmlns:a16="http://schemas.microsoft.com/office/drawing/2014/main" id="{AB7C0D20-D749-EC73-6E8B-CB49056A9F50}"/>
                </a:ext>
              </a:extLst>
            </p:cNvPr>
            <p:cNvSpPr/>
            <p:nvPr/>
          </p:nvSpPr>
          <p:spPr>
            <a:xfrm rot="5400000">
              <a:off x="8696614" y="2651423"/>
              <a:ext cx="576654" cy="2815637"/>
            </a:xfrm>
            <a:prstGeom prst="curvedLeftArrow">
              <a:avLst>
                <a:gd name="adj1" fmla="val 25001"/>
                <a:gd name="adj2" fmla="val 50000"/>
                <a:gd name="adj3" fmla="val 38214"/>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8" name="Arrow: Curved Left 20">
              <a:extLst>
                <a:ext uri="{FF2B5EF4-FFF2-40B4-BE49-F238E27FC236}">
                  <a16:creationId xmlns:a16="http://schemas.microsoft.com/office/drawing/2014/main" id="{40078796-E590-1AF2-7A37-3AE2581B0C77}"/>
                </a:ext>
              </a:extLst>
            </p:cNvPr>
            <p:cNvSpPr/>
            <p:nvPr/>
          </p:nvSpPr>
          <p:spPr>
            <a:xfrm rot="5400000">
              <a:off x="6769522" y="1163813"/>
              <a:ext cx="1367579" cy="6581775"/>
            </a:xfrm>
            <a:prstGeom prst="curvedLeftArrow">
              <a:avLst>
                <a:gd name="adj1" fmla="val 25000"/>
                <a:gd name="adj2" fmla="val 50000"/>
                <a:gd name="adj3" fmla="val 25000"/>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sp>
          <p:nvSpPr>
            <p:cNvPr id="19" name="Arrow: Curved Left 21">
              <a:extLst>
                <a:ext uri="{FF2B5EF4-FFF2-40B4-BE49-F238E27FC236}">
                  <a16:creationId xmlns:a16="http://schemas.microsoft.com/office/drawing/2014/main" id="{C6790096-E3C0-2B73-9081-85A5C1003C25}"/>
                </a:ext>
              </a:extLst>
            </p:cNvPr>
            <p:cNvSpPr/>
            <p:nvPr/>
          </p:nvSpPr>
          <p:spPr>
            <a:xfrm rot="5400000">
              <a:off x="5032879" y="-135194"/>
              <a:ext cx="2126243" cy="9938454"/>
            </a:xfrm>
            <a:prstGeom prst="curvedLeftArrow">
              <a:avLst>
                <a:gd name="adj1" fmla="val 14986"/>
                <a:gd name="adj2" fmla="val 50000"/>
                <a:gd name="adj3" fmla="val 13801"/>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a:solidFill>
                  <a:schemeClr val="tx1"/>
                </a:solidFill>
              </a:endParaRPr>
            </a:p>
          </p:txBody>
        </p:sp>
      </p:grpSp>
    </p:spTree>
    <p:extLst>
      <p:ext uri="{BB962C8B-B14F-4D97-AF65-F5344CB8AC3E}">
        <p14:creationId xmlns:p14="http://schemas.microsoft.com/office/powerpoint/2010/main" val="16093796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A791031-BA3D-EBE8-7CD5-FBCD72D24023}"/>
              </a:ext>
            </a:extLst>
          </p:cNvPr>
          <p:cNvSpPr/>
          <p:nvPr/>
        </p:nvSpPr>
        <p:spPr>
          <a:xfrm>
            <a:off x="313765" y="1665288"/>
            <a:ext cx="11438964" cy="202265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dirty="0"/>
              <a:t>Review: </a:t>
            </a:r>
            <a:r>
              <a:rPr lang="en-US" dirty="0" err="1"/>
              <a:t>CoS</a:t>
            </a:r>
            <a:r>
              <a:rPr lang="en-US" dirty="0"/>
              <a:t> to testable behaviors to TDD</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4155141"/>
            <a:ext cx="8429368" cy="2566333"/>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Content Placeholder 2">
            <a:extLst>
              <a:ext uri="{FF2B5EF4-FFF2-40B4-BE49-F238E27FC236}">
                <a16:creationId xmlns:a16="http://schemas.microsoft.com/office/drawing/2014/main" id="{ED25EF93-E31D-BF97-CD4C-B6E354FFAA0F}"/>
              </a:ext>
            </a:extLst>
          </p:cNvPr>
          <p:cNvSpPr txBox="1">
            <a:spLocks/>
          </p:cNvSpPr>
          <p:nvPr/>
        </p:nvSpPr>
        <p:spPr>
          <a:xfrm>
            <a:off x="313765" y="1665288"/>
            <a:ext cx="5782235" cy="20226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endParaRPr lang="en-US" dirty="0"/>
          </a:p>
        </p:txBody>
      </p:sp>
      <p:sp>
        <p:nvSpPr>
          <p:cNvPr id="6" name="Content Placeholder 2">
            <a:extLst>
              <a:ext uri="{FF2B5EF4-FFF2-40B4-BE49-F238E27FC236}">
                <a16:creationId xmlns:a16="http://schemas.microsoft.com/office/drawing/2014/main" id="{2B7E7856-FFA9-4A23-A3E0-530E7F7B6573}"/>
              </a:ext>
            </a:extLst>
          </p:cNvPr>
          <p:cNvSpPr txBox="1">
            <a:spLocks/>
          </p:cNvSpPr>
          <p:nvPr/>
        </p:nvSpPr>
        <p:spPr>
          <a:xfrm>
            <a:off x="5834427" y="1665288"/>
            <a:ext cx="5782235" cy="21805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endParaRPr lang="en-US" i="1" dirty="0"/>
          </a:p>
        </p:txBody>
      </p:sp>
      <p:sp>
        <p:nvSpPr>
          <p:cNvPr id="7" name="TextBox 6">
            <a:extLst>
              <a:ext uri="{FF2B5EF4-FFF2-40B4-BE49-F238E27FC236}">
                <a16:creationId xmlns:a16="http://schemas.microsoft.com/office/drawing/2014/main" id="{83F499D7-2037-7DEA-76DD-DFA79044BE0F}"/>
              </a:ext>
            </a:extLst>
          </p:cNvPr>
          <p:cNvSpPr txBox="1"/>
          <p:nvPr/>
        </p:nvSpPr>
        <p:spPr>
          <a:xfrm>
            <a:off x="215153" y="1546412"/>
            <a:ext cx="11537576" cy="21415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23063</TotalTime>
  <Words>3110</Words>
  <Application>Microsoft Office PowerPoint</Application>
  <PresentationFormat>Widescreen</PresentationFormat>
  <Paragraphs>353</Paragraphs>
  <Slides>23</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Calibri</vt:lpstr>
      <vt:lpstr>Ink Free</vt:lpstr>
      <vt:lpstr>Arial</vt:lpstr>
      <vt:lpstr>Verdana</vt:lpstr>
      <vt:lpstr>Helvetica Neue</vt:lpstr>
      <vt:lpstr>Consolas</vt:lpstr>
      <vt:lpstr>Office Theme</vt:lpstr>
      <vt:lpstr>CS 4530: Fundamentals of Software Engineering Module 2.2: Test-Driven Development</vt:lpstr>
      <vt:lpstr>Learning Goals for this Lesson</vt:lpstr>
      <vt:lpstr>Non-Goals for this Lesson</vt:lpstr>
      <vt:lpstr>Test-Driven Development</vt:lpstr>
      <vt:lpstr>Review: User Stories</vt:lpstr>
      <vt:lpstr>Review: Conditions of Satisfaction</vt:lpstr>
      <vt:lpstr>Test Driven Development (TDD)</vt:lpstr>
      <vt:lpstr>The TDD Cycle</vt:lpstr>
      <vt:lpstr>Analyzing CoS to get testable behaviors</vt:lpstr>
      <vt:lpstr>Analyzing CoS to get testable behaviors</vt:lpstr>
      <vt:lpstr>Analyzing CoS to get testable behaviors</vt:lpstr>
      <vt:lpstr>The tiniest introduction to Vitest</vt:lpstr>
      <vt:lpstr>types.ts used to explain interface</vt:lpstr>
      <vt:lpstr>Now we can start writing tests</vt:lpstr>
      <vt:lpstr>Running tests on the command line</vt:lpstr>
      <vt:lpstr>Tests from testable behaviors</vt:lpstr>
      <vt:lpstr>Assemble/Act/Assess</vt:lpstr>
      <vt:lpstr>Tests from testable behaviors</vt:lpstr>
      <vt:lpstr>Tests from testable behaviors</vt:lpstr>
      <vt:lpstr>Tests from testable behaviors</vt:lpstr>
      <vt:lpstr>A quick word about cleanup</vt:lpstr>
      <vt:lpstr>…now TDD lets us implement addStudent!</vt:lpstr>
      <vt:lpstr>Review: CoS to testable behaviors to TDD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Bhutta, Adeel</cp:lastModifiedBy>
  <cp:revision>235</cp:revision>
  <dcterms:created xsi:type="dcterms:W3CDTF">2021-01-07T15:19:22Z</dcterms:created>
  <dcterms:modified xsi:type="dcterms:W3CDTF">2026-01-05T16:25:32Z</dcterms:modified>
</cp:coreProperties>
</file>