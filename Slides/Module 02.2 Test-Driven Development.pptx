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7"/>
  </p:notesMasterIdLst>
  <p:sldIdLst>
    <p:sldId id="485" r:id="rId2"/>
    <p:sldId id="396" r:id="rId3"/>
    <p:sldId id="523" r:id="rId4"/>
    <p:sldId id="587" r:id="rId5"/>
    <p:sldId id="590" r:id="rId6"/>
    <p:sldId id="591" r:id="rId7"/>
    <p:sldId id="592" r:id="rId8"/>
    <p:sldId id="593" r:id="rId9"/>
    <p:sldId id="596" r:id="rId10"/>
    <p:sldId id="597" r:id="rId11"/>
    <p:sldId id="565" r:id="rId12"/>
    <p:sldId id="598" r:id="rId13"/>
    <p:sldId id="569" r:id="rId14"/>
    <p:sldId id="568" r:id="rId15"/>
    <p:sldId id="570" r:id="rId16"/>
    <p:sldId id="571" r:id="rId17"/>
    <p:sldId id="572" r:id="rId18"/>
    <p:sldId id="573" r:id="rId19"/>
    <p:sldId id="574" r:id="rId20"/>
    <p:sldId id="575" r:id="rId21"/>
    <p:sldId id="602" r:id="rId22"/>
    <p:sldId id="600" r:id="rId23"/>
    <p:sldId id="549" r:id="rId24"/>
    <p:sldId id="599" r:id="rId25"/>
    <p:sldId id="577" r:id="rId26"/>
  </p:sldIdLst>
  <p:sldSz cx="12192000" cy="6858000"/>
  <p:notesSz cx="6858000" cy="9144000"/>
  <p:embeddedFontLst>
    <p:embeddedFont>
      <p:font typeface="Consolas" panose="020B0609020204030204" pitchFamily="49" charset="0"/>
      <p:regular r:id="rId28"/>
      <p:bold r:id="rId29"/>
      <p:italic r:id="rId30"/>
      <p:boldItalic r:id="rId31"/>
    </p:embeddedFont>
    <p:embeddedFont>
      <p:font typeface="Ink Free" panose="03080402000500000000" pitchFamily="66" charset="0"/>
      <p:regular r:id="rId32"/>
    </p:embeddedFont>
    <p:embeddedFont>
      <p:font typeface="Verdana" panose="020B0604030504040204" pitchFamily="34" charset="0"/>
      <p:regular r:id="rId33"/>
      <p:bold r:id="rId34"/>
      <p:italic r:id="rId35"/>
      <p:boldItalic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402DCAB-7EC0-4111-9861-E7B0CB1DC221}">
          <p14:sldIdLst>
            <p14:sldId id="485"/>
            <p14:sldId id="396"/>
            <p14:sldId id="523"/>
            <p14:sldId id="587"/>
            <p14:sldId id="590"/>
            <p14:sldId id="591"/>
            <p14:sldId id="592"/>
            <p14:sldId id="593"/>
            <p14:sldId id="596"/>
            <p14:sldId id="597"/>
            <p14:sldId id="565"/>
            <p14:sldId id="598"/>
            <p14:sldId id="569"/>
            <p14:sldId id="568"/>
            <p14:sldId id="570"/>
            <p14:sldId id="571"/>
            <p14:sldId id="572"/>
            <p14:sldId id="573"/>
            <p14:sldId id="574"/>
            <p14:sldId id="575"/>
            <p14:sldId id="602"/>
            <p14:sldId id="600"/>
            <p14:sldId id="549"/>
            <p14:sldId id="599"/>
            <p14:sldId id="577"/>
          </p14:sldIdLst>
        </p14:section>
        <p14:section name="Default Section" id="{8798EF7B-FA91-3F42-BBDB-C5DCFDEAEC0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03" autoAdjust="0"/>
    <p:restoredTop sz="65677" autoAdjust="0"/>
  </p:normalViewPr>
  <p:slideViewPr>
    <p:cSldViewPr snapToGrid="0">
      <p:cViewPr varScale="1">
        <p:scale>
          <a:sx n="103" d="100"/>
          <a:sy n="103" d="100"/>
        </p:scale>
        <p:origin x="1096" y="168"/>
      </p:cViewPr>
      <p:guideLst/>
    </p:cSldViewPr>
  </p:slideViewPr>
  <p:outlineViewPr>
    <p:cViewPr>
      <p:scale>
        <a:sx n="33" d="100"/>
        <a:sy n="33" d="100"/>
      </p:scale>
      <p:origin x="0" y="-956"/>
    </p:cViewPr>
  </p:outlineViewPr>
  <p:notesTextViewPr>
    <p:cViewPr>
      <p:scale>
        <a:sx n="150" d="100"/>
        <a:sy n="150" d="100"/>
      </p:scale>
      <p:origin x="0" y="0"/>
    </p:cViewPr>
  </p:notesTextViewPr>
  <p:sorterViewPr>
    <p:cViewPr>
      <p:scale>
        <a:sx n="120" d="100"/>
        <a:sy n="120" d="100"/>
      </p:scale>
      <p:origin x="0" y="-12560"/>
    </p:cViewPr>
  </p:sorterViewPr>
  <p:notesViewPr>
    <p:cSldViewPr snapToGrid="0">
      <p:cViewPr varScale="1">
        <p:scale>
          <a:sx n="53" d="100"/>
          <a:sy n="53" d="100"/>
        </p:scale>
        <p:origin x="2236" y="2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7E5181-6CF5-45F7-A87A-E0E0B1FD7549}" type="datetimeFigureOut">
              <a:rPr lang="en-US" smtClean="0"/>
              <a:t>12/26/25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937F07-1250-4CCE-B198-1B2887014F41}" type="slidenum">
              <a:rPr lang="en-US" smtClean="0"/>
              <a:t>‹#›</a:t>
            </a:fld>
            <a:endParaRPr lang="en-US"/>
          </a:p>
        </p:txBody>
      </p:sp>
    </p:spTree>
    <p:extLst>
      <p:ext uri="{BB962C8B-B14F-4D97-AF65-F5344CB8AC3E}">
        <p14:creationId xmlns:p14="http://schemas.microsoft.com/office/powerpoint/2010/main" val="2793470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1624675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of our overall metaphor of you (the student) learning what it’s like to be a software developer on a new team.  As a new team member, you will be expected to learn a lot of new stuff in a hurry, by yourself: new languages, new development environments, etc.</a:t>
            </a:r>
          </a:p>
          <a:p>
            <a:endParaRPr lang="en-US" dirty="0"/>
          </a:p>
          <a:p>
            <a:r>
              <a:rPr lang="en-US" dirty="0"/>
              <a:t>We’ll have tutorials and other training materials, but we won’t be spending a lot of class time on them.   </a:t>
            </a:r>
          </a:p>
        </p:txBody>
      </p:sp>
      <p:sp>
        <p:nvSpPr>
          <p:cNvPr id="4" name="Slide Number Placeholder 3"/>
          <p:cNvSpPr>
            <a:spLocks noGrp="1"/>
          </p:cNvSpPr>
          <p:nvPr>
            <p:ph type="sldNum" sz="quarter" idx="5"/>
          </p:nvPr>
        </p:nvSpPr>
        <p:spPr/>
        <p:txBody>
          <a:bodyPr/>
          <a:lstStyle/>
          <a:p>
            <a:fld id="{07937F07-1250-4CCE-B198-1B2887014F41}" type="slidenum">
              <a:rPr lang="en-US" smtClean="0"/>
              <a:t>3</a:t>
            </a:fld>
            <a:endParaRPr lang="en-US"/>
          </a:p>
        </p:txBody>
      </p:sp>
    </p:spTree>
    <p:extLst>
      <p:ext uri="{BB962C8B-B14F-4D97-AF65-F5344CB8AC3E}">
        <p14:creationId xmlns:p14="http://schemas.microsoft.com/office/powerpoint/2010/main" val="26882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729D-1605-C359-768F-A6AF7BF33C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F3395-911A-E931-B7F2-827B80BA6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FA79B1-4A6C-156B-37E8-7EF8ADB04374}"/>
              </a:ext>
            </a:extLst>
          </p:cNvPr>
          <p:cNvSpPr>
            <a:spLocks noGrp="1"/>
          </p:cNvSpPr>
          <p:nvPr>
            <p:ph type="body" idx="1"/>
          </p:nvPr>
        </p:nvSpPr>
        <p:spPr/>
        <p:txBody>
          <a:bodyPr/>
          <a:lstStyle/>
          <a:p>
            <a:r>
              <a:rPr lang="en-US" i="0" dirty="0"/>
              <a:t>Requirements analysis mostly deals with user stories — but it will also inform conditions of satisfaction.</a:t>
            </a:r>
          </a:p>
          <a:p>
            <a:endParaRPr lang="en-US" i="0" dirty="0"/>
          </a:p>
          <a:p>
            <a:r>
              <a:rPr lang="en-US" i="0" dirty="0"/>
              <a:t>This lecture is about an “other side” of user stories: test-driven development is primarily about the relationship between conditions of satisfaction and code — though it is also informed by what the user stories are.</a:t>
            </a:r>
            <a:endParaRPr lang="en-US" dirty="0"/>
          </a:p>
        </p:txBody>
      </p:sp>
      <p:sp>
        <p:nvSpPr>
          <p:cNvPr id="4" name="Slide Number Placeholder 3">
            <a:extLst>
              <a:ext uri="{FF2B5EF4-FFF2-40B4-BE49-F238E27FC236}">
                <a16:creationId xmlns:a16="http://schemas.microsoft.com/office/drawing/2014/main" id="{D1BCD3B5-D904-BC9A-0B69-70B6F2EBDD39}"/>
              </a:ext>
            </a:extLst>
          </p:cNvPr>
          <p:cNvSpPr>
            <a:spLocks noGrp="1"/>
          </p:cNvSpPr>
          <p:nvPr>
            <p:ph type="sldNum" sz="quarter" idx="5"/>
          </p:nvPr>
        </p:nvSpPr>
        <p:spPr/>
        <p:txBody>
          <a:bodyPr/>
          <a:lstStyle/>
          <a:p>
            <a:fld id="{07937F07-1250-4CCE-B198-1B2887014F41}" type="slidenum">
              <a:rPr lang="en-US" smtClean="0"/>
              <a:t>4</a:t>
            </a:fld>
            <a:endParaRPr lang="en-US"/>
          </a:p>
        </p:txBody>
      </p:sp>
    </p:spTree>
    <p:extLst>
      <p:ext uri="{BB962C8B-B14F-4D97-AF65-F5344CB8AC3E}">
        <p14:creationId xmlns:p14="http://schemas.microsoft.com/office/powerpoint/2010/main" val="10207602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23134776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fontAlgn="base"/>
            <a:r>
              <a:rPr lang="en-US" sz="1600" b="0" i="0" u="none" strike="noStrike" kern="1200" dirty="0">
                <a:solidFill>
                  <a:schemeClr val="tx1"/>
                </a:solidFill>
                <a:effectLst/>
                <a:latin typeface="+mn-lt"/>
                <a:ea typeface="+mn-ea"/>
                <a:cs typeface="+mn-cs"/>
              </a:rPr>
              <a:t>As we saw in the preceding lecture, is a whole alphabet soup of paradigms to structure your design and/or development activities, be they in agile or not. Behavior driven design, model driven development, feature driven development, and more.</a:t>
            </a:r>
          </a:p>
          <a:p>
            <a:pPr rtl="0" fontAlgn="base"/>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we also said last time, we are going to focus on one of these methodologies that is most strongly embraced by agile, and which we encourage you to use in your project: Test driven development (TDD). </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The key idea behind TDD is to develop your design based on your tests. Given that you have collected user stories and conditions of satisfaction, the expected behavior of your code should be apparent. So, codify that expected behavior into tests, before proceeding with your development.</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As you define your tests, use your tests to influence your overall software design.</a:t>
            </a:r>
          </a:p>
          <a:p>
            <a:pPr marL="0" marR="0" lvl="0" indent="0" algn="l" defTabSz="914400" rtl="0" eaLnBrk="1" fontAlgn="base" latinLnBrk="0" hangingPunct="1">
              <a:lnSpc>
                <a:spcPct val="100000"/>
              </a:lnSpc>
              <a:spcBef>
                <a:spcPts val="0"/>
              </a:spcBef>
              <a:spcAft>
                <a:spcPts val="0"/>
              </a:spcAft>
              <a:buClrTx/>
              <a:buSzTx/>
              <a:buFontTx/>
              <a:buNone/>
              <a:tabLst/>
              <a:defRPr/>
            </a:pPr>
            <a:endParaRPr lang="en-US" sz="1600" b="0" i="0" u="none" strike="noStrike"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lang="en-US" sz="1600" b="0" i="0" u="none" strike="noStrike" kern="1200" dirty="0">
                <a:solidFill>
                  <a:schemeClr val="tx1"/>
                </a:solidFill>
                <a:effectLst/>
                <a:latin typeface="+mn-lt"/>
                <a:ea typeface="+mn-ea"/>
                <a:cs typeface="+mn-cs"/>
              </a:rPr>
              <a:t>With tests defined first, there should be no more guesswork of “whether you are done”</a:t>
            </a:r>
            <a:endParaRPr lang="en-US" sz="1600" dirty="0"/>
          </a:p>
        </p:txBody>
      </p:sp>
      <p:sp>
        <p:nvSpPr>
          <p:cNvPr id="4" name="Slide Number Placeholder 3"/>
          <p:cNvSpPr>
            <a:spLocks noGrp="1"/>
          </p:cNvSpPr>
          <p:nvPr>
            <p:ph type="sldNum" sz="quarter" idx="5"/>
          </p:nvPr>
        </p:nvSpPr>
        <p:spPr/>
        <p:txBody>
          <a:bodyPr/>
          <a:lstStyle/>
          <a:p>
            <a:fld id="{07937F07-1250-4CCE-B198-1B2887014F41}" type="slidenum">
              <a:rPr lang="en-US" smtClean="0"/>
              <a:t>7</a:t>
            </a:fld>
            <a:endParaRPr lang="en-US"/>
          </a:p>
        </p:txBody>
      </p:sp>
    </p:spTree>
    <p:extLst>
      <p:ext uri="{BB962C8B-B14F-4D97-AF65-F5344CB8AC3E}">
        <p14:creationId xmlns:p14="http://schemas.microsoft.com/office/powerpoint/2010/main" val="2980638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depiction of the TDD cycle. It may be a little different from what you’ve seen before.  </a:t>
            </a:r>
          </a:p>
          <a:p>
            <a:endParaRPr lang="en-US" dirty="0"/>
          </a:p>
          <a:p>
            <a:r>
              <a:rPr lang="en-US" dirty="0"/>
              <a:t>To see what all this means, we’ll work through a small example.   Along the way, we’ll learn a little Typescript and a little Jest, just enough to do the example.</a:t>
            </a:r>
          </a:p>
          <a:p>
            <a:endParaRPr lang="en-US" dirty="0"/>
          </a:p>
          <a:p>
            <a:r>
              <a:rPr lang="en-US" dirty="0"/>
              <a:t>We start with the user’s satisfaction conditions.   We first refine those to come up with testable behaviors– concrete, testable things that our system should do.  Along the way, we may discover some design decisions that we need to make. We resolve these by negotiating with the client.</a:t>
            </a:r>
          </a:p>
          <a:p>
            <a:endParaRPr lang="en-US" dirty="0"/>
          </a:p>
          <a:p>
            <a:r>
              <a:rPr lang="en-US" dirty="0"/>
              <a:t>Our next step is to turn these testable behaviors into executable tests.  To do this, we will need to design some of our program– at the very least, we will have to decide on the names of the things we will test.  We may discover more decisions that we resolve in negotiation with the client.</a:t>
            </a:r>
          </a:p>
          <a:p>
            <a:endParaRPr lang="en-US" dirty="0"/>
          </a:p>
          <a:p>
            <a:r>
              <a:rPr lang="en-US" dirty="0"/>
              <a:t>Finally, we write some code that will pass our tests.</a:t>
            </a:r>
          </a:p>
          <a:p>
            <a:endParaRPr lang="en-US" dirty="0"/>
          </a:p>
          <a:p>
            <a:r>
              <a:rPr lang="en-US" dirty="0"/>
              <a:t>We probably do this one user story or one condition of satisfaction at a time.   </a:t>
            </a:r>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1466546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connect conditions of satisfaction with tests at almost any level, and it’s relatively common to write tests at service, controller, and web application layers. But easiest, for this gentle introduction, to write executable tests checking testable behaviors at the </a:t>
            </a:r>
            <a:r>
              <a:rPr lang="en-US" b="1" dirty="0"/>
              <a:t>service</a:t>
            </a:r>
            <a:r>
              <a:rPr lang="en-US" dirty="0"/>
              <a:t> later.</a:t>
            </a:r>
          </a:p>
        </p:txBody>
      </p:sp>
      <p:sp>
        <p:nvSpPr>
          <p:cNvPr id="4" name="Slide Number Placeholder 3"/>
          <p:cNvSpPr>
            <a:spLocks noGrp="1"/>
          </p:cNvSpPr>
          <p:nvPr>
            <p:ph type="sldNum" sz="quarter" idx="5"/>
          </p:nvPr>
        </p:nvSpPr>
        <p:spPr/>
        <p:txBody>
          <a:bodyPr/>
          <a:lstStyle/>
          <a:p>
            <a:fld id="{3927C2FE-14BE-B74D-96F0-2A5DC4BF0069}" type="slidenum">
              <a:rPr lang="en-US" smtClean="0"/>
              <a:t>10</a:t>
            </a:fld>
            <a:endParaRPr lang="en-US"/>
          </a:p>
        </p:txBody>
      </p:sp>
    </p:spTree>
    <p:extLst>
      <p:ext uri="{BB962C8B-B14F-4D97-AF65-F5344CB8AC3E}">
        <p14:creationId xmlns:p14="http://schemas.microsoft.com/office/powerpoint/2010/main" val="16735878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Ideally, your conditions of satisfaction are specific enough that they can be linked to the behavior of individual functions.</a:t>
            </a:r>
          </a:p>
          <a:p>
            <a:endParaRPr lang="en-US" dirty="0"/>
          </a:p>
          <a:p>
            <a:r>
              <a:rPr lang="en-US" dirty="0"/>
              <a:t>Often, turning testable behaviors into conditions of satisfaction leads to points where the user story or initial conditions of satisfaction weren’t clear enough. This can require negotiation within your team or with your users.</a:t>
            </a:r>
          </a:p>
        </p:txBody>
      </p:sp>
      <p:sp>
        <p:nvSpPr>
          <p:cNvPr id="4" name="Slide Number Placeholder 3"/>
          <p:cNvSpPr>
            <a:spLocks noGrp="1"/>
          </p:cNvSpPr>
          <p:nvPr>
            <p:ph type="sldNum" sz="quarter" idx="5"/>
          </p:nvPr>
        </p:nvSpPr>
        <p:spPr/>
        <p:txBody>
          <a:bodyPr/>
          <a:lstStyle/>
          <a:p>
            <a:fld id="{07937F07-1250-4CCE-B198-1B2887014F41}" type="slidenum">
              <a:rPr lang="en-US" smtClean="0"/>
              <a:t>12</a:t>
            </a:fld>
            <a:endParaRPr lang="en-US"/>
          </a:p>
        </p:txBody>
      </p:sp>
    </p:spTree>
    <p:extLst>
      <p:ext uri="{BB962C8B-B14F-4D97-AF65-F5344CB8AC3E}">
        <p14:creationId xmlns:p14="http://schemas.microsoft.com/office/powerpoint/2010/main" val="14676610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16</a:t>
            </a:fld>
            <a:endParaRPr lang="en-US"/>
          </a:p>
        </p:txBody>
      </p:sp>
    </p:spTree>
    <p:extLst>
      <p:ext uri="{BB962C8B-B14F-4D97-AF65-F5344CB8AC3E}">
        <p14:creationId xmlns:p14="http://schemas.microsoft.com/office/powerpoint/2010/main" val="2151239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5C5962"/>
                </a:solidFill>
                <a:effectLst/>
                <a:latin typeface="Calibri" panose="020F0502020204030204" pitchFamily="34" charset="0"/>
              </a:rPr>
              <a:t>In order to run a test, we need to first ASSEMBLE it. This may include creating instances of classes/variables, setting up test data for inputs, etc.  We should always check to see that we’ve set it up correctly.  Here most of the work has already been done in the </a:t>
            </a:r>
            <a:r>
              <a:rPr lang="en-US" b="0" i="0" dirty="0" err="1">
                <a:solidFill>
                  <a:srgbClr val="5C5962"/>
                </a:solidFill>
                <a:effectLst/>
                <a:latin typeface="Calibri" panose="020F0502020204030204" pitchFamily="34" charset="0"/>
              </a:rPr>
              <a:t>beforeEach</a:t>
            </a:r>
            <a:r>
              <a:rPr lang="en-US" b="0" i="0" dirty="0">
                <a:solidFill>
                  <a:srgbClr val="5C5962"/>
                </a:solidFill>
                <a:effectLst/>
                <a:latin typeface="Calibri" panose="020F0502020204030204" pitchFamily="34" charset="0"/>
              </a:rPr>
              <a:t> block.</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Then we ACT: we do the action under test.</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Last, we ASSESS: we check to see that the response was acceptable.  In </a:t>
            </a:r>
            <a:r>
              <a:rPr lang="en-US" b="0" i="0" dirty="0" err="1">
                <a:solidFill>
                  <a:srgbClr val="5C5962"/>
                </a:solidFill>
                <a:effectLst/>
                <a:latin typeface="Calibri" panose="020F0502020204030204" pitchFamily="34" charset="0"/>
              </a:rPr>
              <a:t>Vitest</a:t>
            </a:r>
            <a:r>
              <a:rPr lang="en-US" b="0" i="0" dirty="0">
                <a:solidFill>
                  <a:srgbClr val="5C5962"/>
                </a:solidFill>
                <a:effectLst/>
                <a:latin typeface="Calibri" panose="020F0502020204030204" pitchFamily="34" charset="0"/>
              </a:rPr>
              <a:t>, this is done by the </a:t>
            </a:r>
            <a:r>
              <a:rPr lang="en-US" b="1" i="0" dirty="0">
                <a:solidFill>
                  <a:srgbClr val="5C5962"/>
                </a:solidFill>
                <a:effectLst/>
                <a:latin typeface="Calibri" panose="020F0502020204030204" pitchFamily="34" charset="0"/>
              </a:rPr>
              <a:t>expect</a:t>
            </a:r>
            <a:r>
              <a:rPr lang="en-US" b="0" i="0" dirty="0">
                <a:solidFill>
                  <a:srgbClr val="5C5962"/>
                </a:solidFill>
                <a:effectLst/>
                <a:latin typeface="Calibri" panose="020F0502020204030204" pitchFamily="34" charset="0"/>
              </a:rPr>
              <a:t> function; in other testing frameworks this is called </a:t>
            </a:r>
            <a:r>
              <a:rPr lang="en-US" b="1" i="0" dirty="0">
                <a:solidFill>
                  <a:srgbClr val="5C5962"/>
                </a:solidFill>
                <a:effectLst/>
                <a:latin typeface="Calibri" panose="020F0502020204030204" pitchFamily="34" charset="0"/>
              </a:rPr>
              <a:t>assert</a:t>
            </a:r>
            <a:r>
              <a:rPr lang="en-US" b="0" i="0" dirty="0">
                <a:solidFill>
                  <a:srgbClr val="5C5962"/>
                </a:solidFill>
                <a:effectLst/>
                <a:latin typeface="Calibri" panose="020F0502020204030204" pitchFamily="34" charset="0"/>
              </a:rPr>
              <a:t>.  Note that the test uses some methods other than the one we’re testing; we’ll write tests for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separately.</a:t>
            </a:r>
          </a:p>
          <a:p>
            <a:endParaRPr lang="en-US" b="0" i="0" dirty="0">
              <a:solidFill>
                <a:srgbClr val="5C5962"/>
              </a:solidFill>
              <a:effectLst/>
              <a:latin typeface="Calibri" panose="020F0502020204030204" pitchFamily="34" charset="0"/>
            </a:endParaRPr>
          </a:p>
          <a:p>
            <a:r>
              <a:rPr lang="en-US" b="0" i="0" dirty="0">
                <a:solidFill>
                  <a:srgbClr val="5C5962"/>
                </a:solidFill>
                <a:effectLst/>
                <a:latin typeface="Calibri" panose="020F0502020204030204" pitchFamily="34" charset="0"/>
              </a:rPr>
              <a:t>Another way of looking at this is that this test is not just about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it’s making sure that </a:t>
            </a:r>
            <a:r>
              <a:rPr lang="en-US" b="1" i="0" dirty="0" err="1">
                <a:solidFill>
                  <a:srgbClr val="5C5962"/>
                </a:solidFill>
                <a:effectLst/>
                <a:latin typeface="Calibri" panose="020F0502020204030204" pitchFamily="34" charset="0"/>
              </a:rPr>
              <a:t>addStudent</a:t>
            </a:r>
            <a:r>
              <a:rPr lang="en-US" b="0" i="0" dirty="0">
                <a:solidFill>
                  <a:srgbClr val="5C5962"/>
                </a:solidFill>
                <a:effectLst/>
                <a:latin typeface="Calibri" panose="020F0502020204030204" pitchFamily="34" charset="0"/>
              </a:rPr>
              <a:t> and </a:t>
            </a:r>
            <a:r>
              <a:rPr lang="en-US" b="1" i="0" dirty="0" err="1">
                <a:solidFill>
                  <a:srgbClr val="5C5962"/>
                </a:solidFill>
                <a:effectLst/>
                <a:latin typeface="Calibri" panose="020F0502020204030204" pitchFamily="34" charset="0"/>
              </a:rPr>
              <a:t>nameToIds</a:t>
            </a:r>
            <a:r>
              <a:rPr lang="en-US" b="0" i="0" dirty="0">
                <a:solidFill>
                  <a:srgbClr val="5C5962"/>
                </a:solidFill>
                <a:effectLst/>
                <a:latin typeface="Calibri" panose="020F0502020204030204" pitchFamily="34" charset="0"/>
              </a:rPr>
              <a:t> cooperate (or conspire) together to produce the desired behavior.</a:t>
            </a:r>
          </a:p>
          <a:p>
            <a:endParaRPr lang="en-US" b="0" i="0" dirty="0">
              <a:solidFill>
                <a:srgbClr val="5C5962"/>
              </a:solidFill>
              <a:effectLst/>
              <a:latin typeface="Calibri" panose="020F0502020204030204" pitchFamily="34" charset="0"/>
            </a:endParaRPr>
          </a:p>
          <a:p>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18</a:t>
            </a:fld>
            <a:endParaRPr lang="en-US"/>
          </a:p>
        </p:txBody>
      </p:sp>
    </p:spTree>
    <p:extLst>
      <p:ext uri="{BB962C8B-B14F-4D97-AF65-F5344CB8AC3E}">
        <p14:creationId xmlns:p14="http://schemas.microsoft.com/office/powerpoint/2010/main" val="2767224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(review Assemble-Act-Assess)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 how will we test “</a:t>
            </a:r>
            <a:r>
              <a:rPr lang="en-US" dirty="0" err="1"/>
              <a:t>addStudent</a:t>
            </a:r>
            <a:r>
              <a:rPr lang="en-US" dirty="0"/>
              <a:t> should permit adding a student with the same name as an existing student"</a:t>
            </a:r>
          </a:p>
        </p:txBody>
      </p:sp>
      <p:sp>
        <p:nvSpPr>
          <p:cNvPr id="4" name="Slide Number Placeholder 3"/>
          <p:cNvSpPr>
            <a:spLocks noGrp="1"/>
          </p:cNvSpPr>
          <p:nvPr>
            <p:ph type="sldNum" sz="quarter" idx="5"/>
          </p:nvPr>
        </p:nvSpPr>
        <p:spPr/>
        <p:txBody>
          <a:bodyPr/>
          <a:lstStyle/>
          <a:p>
            <a:fld id="{07937F07-1250-4CCE-B198-1B2887014F41}" type="slidenum">
              <a:rPr lang="en-US" smtClean="0"/>
              <a:t>19</a:t>
            </a:fld>
            <a:endParaRPr lang="en-US"/>
          </a:p>
        </p:txBody>
      </p:sp>
    </p:spTree>
    <p:extLst>
      <p:ext uri="{BB962C8B-B14F-4D97-AF65-F5344CB8AC3E}">
        <p14:creationId xmlns:p14="http://schemas.microsoft.com/office/powerpoint/2010/main" val="41422522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actually testing a more specific behavior here, that </a:t>
            </a:r>
          </a:p>
        </p:txBody>
      </p:sp>
      <p:sp>
        <p:nvSpPr>
          <p:cNvPr id="4" name="Slide Number Placeholder 3"/>
          <p:cNvSpPr>
            <a:spLocks noGrp="1"/>
          </p:cNvSpPr>
          <p:nvPr>
            <p:ph type="sldNum" sz="quarter" idx="5"/>
          </p:nvPr>
        </p:nvSpPr>
        <p:spPr/>
        <p:txBody>
          <a:bodyPr/>
          <a:lstStyle/>
          <a:p>
            <a:fld id="{07937F07-1250-4CCE-B198-1B2887014F41}" type="slidenum">
              <a:rPr lang="en-US" smtClean="0"/>
              <a:t>20</a:t>
            </a:fld>
            <a:endParaRPr lang="en-US"/>
          </a:p>
        </p:txBody>
      </p:sp>
    </p:spTree>
    <p:extLst>
      <p:ext uri="{BB962C8B-B14F-4D97-AF65-F5344CB8AC3E}">
        <p14:creationId xmlns:p14="http://schemas.microsoft.com/office/powerpoint/2010/main" val="24223114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D55D9-585D-200E-A12E-75C1E192E1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DC6DE-A9E1-57EB-E463-726F24806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239D23-1985-0CE8-E315-9B52783742F2}"/>
              </a:ext>
            </a:extLst>
          </p:cNvPr>
          <p:cNvSpPr>
            <a:spLocks noGrp="1"/>
          </p:cNvSpPr>
          <p:nvPr>
            <p:ph type="body" idx="1"/>
          </p:nvPr>
        </p:nvSpPr>
        <p:spPr/>
        <p:txBody>
          <a:bodyPr/>
          <a:lstStyle/>
          <a:p>
            <a:r>
              <a:rPr lang="en-US" dirty="0"/>
              <a:t>We’re actually testing a more specific behavior here than even the testable behavior spec asked for — we’re checking that the two students are mapped to different IDs, which is practically necessary for adding two students with the same name.</a:t>
            </a:r>
          </a:p>
        </p:txBody>
      </p:sp>
      <p:sp>
        <p:nvSpPr>
          <p:cNvPr id="4" name="Slide Number Placeholder 3">
            <a:extLst>
              <a:ext uri="{FF2B5EF4-FFF2-40B4-BE49-F238E27FC236}">
                <a16:creationId xmlns:a16="http://schemas.microsoft.com/office/drawing/2014/main" id="{46CED3C9-EB5D-EF3A-3DB5-902B4DD9F8BA}"/>
              </a:ext>
            </a:extLst>
          </p:cNvPr>
          <p:cNvSpPr>
            <a:spLocks noGrp="1"/>
          </p:cNvSpPr>
          <p:nvPr>
            <p:ph type="sldNum" sz="quarter" idx="5"/>
          </p:nvPr>
        </p:nvSpPr>
        <p:spPr/>
        <p:txBody>
          <a:bodyPr/>
          <a:lstStyle/>
          <a:p>
            <a:fld id="{07937F07-1250-4CCE-B198-1B2887014F41}" type="slidenum">
              <a:rPr lang="en-US" smtClean="0"/>
              <a:t>21</a:t>
            </a:fld>
            <a:endParaRPr lang="en-US"/>
          </a:p>
        </p:txBody>
      </p:sp>
    </p:spTree>
    <p:extLst>
      <p:ext uri="{BB962C8B-B14F-4D97-AF65-F5344CB8AC3E}">
        <p14:creationId xmlns:p14="http://schemas.microsoft.com/office/powerpoint/2010/main" val="17222426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Sometimes you want to make sure that the system under test is in a particular state before you start the test.  </a:t>
            </a:r>
            <a:r>
              <a:rPr lang="en-US" dirty="0" err="1"/>
              <a:t>Vitest</a:t>
            </a:r>
            <a:r>
              <a:rPr lang="en-US" dirty="0"/>
              <a:t>, and most other frameworks, allow you to do that by writing a </a:t>
            </a:r>
            <a:r>
              <a:rPr lang="en-US" b="1" dirty="0" err="1"/>
              <a:t>beforeEach</a:t>
            </a:r>
            <a:r>
              <a:rPr lang="en-US" b="0" dirty="0"/>
              <a:t> block. </a:t>
            </a:r>
          </a:p>
          <a:p>
            <a:endParaRPr lang="en-US" b="0" dirty="0"/>
          </a:p>
          <a:p>
            <a:r>
              <a:rPr lang="en-US" b="0" dirty="0"/>
              <a:t>Our tests do, in fact, make changes to the database, but we avoid this problem by throwing away the database every time and starting with a brand new one. In some settings, this would make the test too slow, in which case we can create a database once and reset its contents undo those changes in the </a:t>
            </a:r>
            <a:r>
              <a:rPr lang="en-US" b="0" dirty="0" err="1"/>
              <a:t>beforeEach</a:t>
            </a:r>
            <a:r>
              <a:rPr lang="en-US" b="0" dirty="0"/>
              <a:t> block.</a:t>
            </a:r>
          </a:p>
          <a:p>
            <a:endParaRPr lang="en-US" b="0" dirty="0"/>
          </a:p>
          <a:p>
            <a:r>
              <a:rPr lang="en-US" b="0" dirty="0"/>
              <a:t>If our tests did other things, like connect to an external data source, then we'd need to disconnect at the end of each test; this can be done by an </a:t>
            </a:r>
            <a:r>
              <a:rPr lang="en-US" b="1" dirty="0" err="1"/>
              <a:t>afterEach</a:t>
            </a:r>
            <a:r>
              <a:rPr lang="en-US" b="0" dirty="0"/>
              <a:t> (or </a:t>
            </a:r>
            <a:r>
              <a:rPr lang="en-US" b="1" dirty="0" err="1"/>
              <a:t>afterAll</a:t>
            </a:r>
            <a:r>
              <a:rPr lang="en-US" b="0" dirty="0"/>
              <a:t> to do cleanup once, at the very end).</a:t>
            </a:r>
            <a:endParaRPr lang="en-US" dirty="0"/>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23</a:t>
            </a:fld>
            <a:endParaRPr lang="en-US"/>
          </a:p>
        </p:txBody>
      </p:sp>
    </p:spTree>
    <p:extLst>
      <p:ext uri="{BB962C8B-B14F-4D97-AF65-F5344CB8AC3E}">
        <p14:creationId xmlns:p14="http://schemas.microsoft.com/office/powerpoint/2010/main" val="36462133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discuss implementation next time!</a:t>
            </a:r>
          </a:p>
        </p:txBody>
      </p:sp>
      <p:sp>
        <p:nvSpPr>
          <p:cNvPr id="4" name="Slide Number Placeholder 3"/>
          <p:cNvSpPr>
            <a:spLocks noGrp="1"/>
          </p:cNvSpPr>
          <p:nvPr>
            <p:ph type="sldNum" sz="quarter" idx="5"/>
          </p:nvPr>
        </p:nvSpPr>
        <p:spPr/>
        <p:txBody>
          <a:bodyPr/>
          <a:lstStyle/>
          <a:p>
            <a:fld id="{07937F07-1250-4CCE-B198-1B2887014F41}" type="slidenum">
              <a:rPr lang="en-US" smtClean="0"/>
              <a:t>24</a:t>
            </a:fld>
            <a:endParaRPr lang="en-US"/>
          </a:p>
        </p:txBody>
      </p:sp>
    </p:spTree>
    <p:extLst>
      <p:ext uri="{BB962C8B-B14F-4D97-AF65-F5344CB8AC3E}">
        <p14:creationId xmlns:p14="http://schemas.microsoft.com/office/powerpoint/2010/main" val="5026710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7937F07-1250-4CCE-B198-1B2887014F41}" type="slidenum">
              <a:rPr lang="en-US" smtClean="0"/>
              <a:t>25</a:t>
            </a:fld>
            <a:endParaRPr lang="en-US"/>
          </a:p>
        </p:txBody>
      </p:sp>
    </p:spTree>
    <p:extLst>
      <p:ext uri="{BB962C8B-B14F-4D97-AF65-F5344CB8AC3E}">
        <p14:creationId xmlns:p14="http://schemas.microsoft.com/office/powerpoint/2010/main" val="999585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fld id="{5D2A64DE-480B-420F-9649-4F8E696E08E0}" type="datetime1">
              <a:rPr lang="en-US" smtClean="0"/>
              <a:t>12/26/25</a:t>
            </a:fld>
            <a:endParaRPr lang="en-US"/>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17948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12/26/25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330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12/26/25</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8719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fld id="{109E55A0-C911-4F03-82FC-7E5926047D46}" type="datetime1">
              <a:rPr lang="en-US" smtClean="0"/>
              <a:t>12/26/25</a:t>
            </a:fld>
            <a:endParaRPr lang="en-US"/>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5907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fld id="{A533CBE2-D5BE-47AC-ADC2-9CDFC1D0CF90}" type="datetime1">
              <a:rPr lang="en-US" smtClean="0"/>
              <a:t>12/26/25</a:t>
            </a:fld>
            <a:endParaRPr lang="en-US"/>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69088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fld id="{39B7EDB1-CE74-4951-85A2-0B01C2128E28}" type="datetime1">
              <a:rPr lang="en-US" smtClean="0"/>
              <a:t>12/26/25</a:t>
            </a:fld>
            <a:endParaRPr lang="en-US"/>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fld id="{20F37917-FD3A-4669-9018-DA04BCDD3D75}" type="slidenum">
              <a:rPr lang="en-US" smtClean="0"/>
              <a:t>‹#›</a:t>
            </a:fld>
            <a:endParaRPr lang="en-US"/>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7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fld id="{2BC7EB92-A5C2-4807-A9DC-9EDE6CBFB241}" type="datetime1">
              <a:rPr lang="en-US" smtClean="0"/>
              <a:t>12/26/25</a:t>
            </a:fld>
            <a:endParaRPr lang="en-US"/>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07761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fld id="{2B7B7EE0-7771-4CD5-9B2B-3550753A54A1}" type="datetime1">
              <a:rPr lang="en-US" smtClean="0"/>
              <a:t>12/26/25</a:t>
            </a:fld>
            <a:endParaRPr lang="en-US"/>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79463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fld id="{F8B318B3-0E87-4416-A9B8-D891968C2727}" type="datetime1">
              <a:rPr lang="en-US" smtClean="0"/>
              <a:t>12/26/25</a:t>
            </a:fld>
            <a:endParaRPr lang="en-US"/>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2397843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fld id="{EA476A42-A091-4468-A075-64A31BE59948}" type="datetime1">
              <a:rPr lang="en-US" smtClean="0"/>
              <a:t>12/26/25</a:t>
            </a:fld>
            <a:endParaRPr lang="en-US"/>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84739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fld id="{0D3616D0-8311-4107-9726-6B805E7D05BA}" type="datetime1">
              <a:rPr lang="en-US" smtClean="0"/>
              <a:t>12/26/25</a:t>
            </a:fld>
            <a:endParaRPr lang="en-US"/>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0382564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fld id="{3BC2557A-5C88-417A-A763-5AC779462A5F}" type="datetime1">
              <a:rPr lang="en-US" smtClean="0"/>
              <a:t>12/26/25</a:t>
            </a:fld>
            <a:endParaRPr lang="en-US"/>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fld id="{20F37917-FD3A-4669-9018-DA04BCDD3D75}" type="slidenum">
              <a:rPr lang="en-US" smtClean="0"/>
              <a:t>‹#›</a:t>
            </a:fld>
            <a:endParaRPr lang="en-US"/>
          </a:p>
        </p:txBody>
      </p:sp>
    </p:spTree>
    <p:extLst>
      <p:ext uri="{BB962C8B-B14F-4D97-AF65-F5344CB8AC3E}">
        <p14:creationId xmlns:p14="http://schemas.microsoft.com/office/powerpoint/2010/main" val="1528428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defTabSz="547695">
              <a:defRPr/>
            </a:pPr>
            <a:fld id="{86CB4B4D-7CA3-9044-876B-883B54F8677D}" type="slidenum">
              <a:rPr lang="en-US" smtClean="0"/>
              <a:pPr defTabSz="547695">
                <a:defRPr/>
              </a:pPr>
              <a:t>‹#›</a:t>
            </a:fld>
            <a:endParaRPr lang="en-US"/>
          </a:p>
        </p:txBody>
      </p:sp>
    </p:spTree>
    <p:extLst>
      <p:ext uri="{BB962C8B-B14F-4D97-AF65-F5344CB8AC3E}">
        <p14:creationId xmlns:p14="http://schemas.microsoft.com/office/powerpoint/2010/main" val="278759803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D997E8-DDEE-43F1-8D9B-F8A1E11DE488}" type="datetime1">
              <a:rPr lang="en-US" smtClean="0"/>
              <a:t>12/26/25</a:t>
            </a:fld>
            <a:endParaRPr lang="en-US"/>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F37917-FD3A-4669-9018-DA04BCDD3D75}" type="slidenum">
              <a:rPr lang="en-US" smtClean="0"/>
              <a:t>‹#›</a:t>
            </a:fld>
            <a:endParaRPr lang="en-US"/>
          </a:p>
        </p:txBody>
      </p:sp>
    </p:spTree>
    <p:extLst>
      <p:ext uri="{BB962C8B-B14F-4D97-AF65-F5344CB8AC3E}">
        <p14:creationId xmlns:p14="http://schemas.microsoft.com/office/powerpoint/2010/main" val="2223476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4" r:id="rId4"/>
    <p:sldLayoutId id="2147483651" r:id="rId5"/>
    <p:sldLayoutId id="2147483652" r:id="rId6"/>
    <p:sldLayoutId id="2147483653" r:id="rId7"/>
    <p:sldLayoutId id="2147483655" r:id="rId8"/>
    <p:sldLayoutId id="2147483656" r:id="rId9"/>
    <p:sldLayoutId id="2147483657" r:id="rId10"/>
    <p:sldLayoutId id="2147483658" r:id="rId11"/>
    <p:sldLayoutId id="2147483659" r:id="rId12"/>
    <p:sldLayoutId id="2147483661" r:id="rId13"/>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 Id="rId14" Type="http://schemas.openxmlformats.org/officeDocument/2006/relationships/image" Target="../media/image12.svg"/></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r>
              <a:rPr lang="en-US" altLang="en-US" dirty="0">
                <a:sym typeface="Helvetica Neue" charset="0"/>
              </a:rPr>
              <a:t>Module 2.2: </a:t>
            </a:r>
            <a:r>
              <a:rPr lang="en-US" altLang="en-US">
                <a:sym typeface="Helvetica Neue" charset="0"/>
              </a:rPr>
              <a:t>Test-Driven Development</a:t>
            </a:r>
            <a:endParaRPr lang="en-US" sz="3200"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Mitch Wand, Rob Simmons</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369332"/>
          </a:xfrm>
          <a:prstGeom prst="rect">
            <a:avLst/>
          </a:prstGeom>
        </p:spPr>
        <p:txBody>
          <a:bodyPr>
            <a:spAutoFit/>
          </a:bodyPr>
          <a:lstStyle/>
          <a:p>
            <a:r>
              <a:rPr lang="en-US" dirty="0">
                <a:solidFill>
                  <a:srgbClr val="5C5962"/>
                </a:solidFill>
              </a:rPr>
              <a:t>© 2025 Released under the </a:t>
            </a:r>
            <a:r>
              <a:rPr lang="en-US" dirty="0">
                <a:solidFill>
                  <a:srgbClr val="D41B2C"/>
                </a:solidFill>
                <a:hlinkClick r:id="rId3"/>
              </a:rPr>
              <a:t>CC BY-SA</a:t>
            </a:r>
            <a:r>
              <a:rPr lang="en-US" dirty="0">
                <a:solidFill>
                  <a:srgbClr val="5C5962"/>
                </a:solidFill>
              </a:rPr>
              <a:t> license</a:t>
            </a:r>
            <a:endParaRPr lang="en-US" dirty="0"/>
          </a:p>
        </p:txBody>
      </p:sp>
      <p:sp>
        <p:nvSpPr>
          <p:cNvPr id="5" name="TextBox 4">
            <a:extLst>
              <a:ext uri="{FF2B5EF4-FFF2-40B4-BE49-F238E27FC236}">
                <a16:creationId xmlns:a16="http://schemas.microsoft.com/office/drawing/2014/main" id="{E2CC67B2-D054-4205-15E3-D9ECBB15CFBA}"/>
              </a:ext>
            </a:extLst>
          </p:cNvPr>
          <p:cNvSpPr txBox="1"/>
          <p:nvPr/>
        </p:nvSpPr>
        <p:spPr>
          <a:xfrm>
            <a:off x="-3002692" y="4003589"/>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dirty="0">
              <a:solidFill>
                <a:schemeClr val="tx1"/>
              </a:solidFill>
            </a:endParaRPr>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200" y="1500159"/>
            <a:ext cx="7887346" cy="4752359"/>
          </a:xfrm>
        </p:spPr>
        <p:txBody>
          <a:bodyPr>
            <a:normAutofit/>
          </a:bodyPr>
          <a:lstStyle/>
          <a:p>
            <a:r>
              <a:rPr lang="en-US" dirty="0"/>
              <a:t>At the end of this lesson, you should be prepared to </a:t>
            </a:r>
          </a:p>
          <a:p>
            <a:pPr lvl="1"/>
            <a:r>
              <a:rPr lang="en-US" dirty="0"/>
              <a:t>Explain the basics of Test-Driven Development</a:t>
            </a:r>
          </a:p>
          <a:p>
            <a:pPr lvl="1"/>
            <a:r>
              <a:rPr lang="en-US" dirty="0"/>
              <a:t>Explain the connection between conditions of satisfaction and testable behaviors</a:t>
            </a:r>
          </a:p>
          <a:p>
            <a:pPr lvl="1"/>
            <a:r>
              <a:rPr lang="en-US" dirty="0"/>
              <a:t>Begin developing simple applications using TypeScript and </a:t>
            </a:r>
            <a:r>
              <a:rPr lang="en-US" dirty="0" err="1"/>
              <a:t>Vitest</a:t>
            </a:r>
            <a:endParaRPr lang="en-US" dirty="0"/>
          </a:p>
          <a:p>
            <a:pPr lvl="1"/>
            <a:endParaRPr lang="en-US" dirty="0"/>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3019279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2D55-F83A-C4B4-2822-377090D44BE5}"/>
              </a:ext>
            </a:extLst>
          </p:cNvPr>
          <p:cNvSpPr>
            <a:spLocks noGrp="1"/>
          </p:cNvSpPr>
          <p:nvPr>
            <p:ph type="title"/>
          </p:nvPr>
        </p:nvSpPr>
        <p:spPr/>
        <p:txBody>
          <a:bodyPr/>
          <a:lstStyle/>
          <a:p>
            <a:r>
              <a:rPr lang="en-US" dirty="0"/>
              <a:t>Non-Goals for this Lesson</a:t>
            </a:r>
          </a:p>
        </p:txBody>
      </p:sp>
      <p:sp>
        <p:nvSpPr>
          <p:cNvPr id="3" name="Content Placeholder 2">
            <a:extLst>
              <a:ext uri="{FF2B5EF4-FFF2-40B4-BE49-F238E27FC236}">
                <a16:creationId xmlns:a16="http://schemas.microsoft.com/office/drawing/2014/main" id="{5A27A268-7384-7F49-BC11-648CDD92A35C}"/>
              </a:ext>
            </a:extLst>
          </p:cNvPr>
          <p:cNvSpPr>
            <a:spLocks noGrp="1"/>
          </p:cNvSpPr>
          <p:nvPr>
            <p:ph idx="1"/>
          </p:nvPr>
        </p:nvSpPr>
        <p:spPr/>
        <p:txBody>
          <a:bodyPr/>
          <a:lstStyle/>
          <a:p>
            <a:r>
              <a:rPr lang="en-US" dirty="0"/>
              <a:t>This is *not* a tutorial for Typescript or for </a:t>
            </a:r>
            <a:r>
              <a:rPr lang="en-US" dirty="0" err="1"/>
              <a:t>Vitest</a:t>
            </a:r>
            <a:endParaRPr lang="en-US" dirty="0"/>
          </a:p>
          <a:p>
            <a:r>
              <a:rPr lang="en-US" dirty="0"/>
              <a:t>We will show you simple examples, but you will need to go through the tutorials to learn the details.</a:t>
            </a:r>
          </a:p>
        </p:txBody>
      </p:sp>
      <p:sp>
        <p:nvSpPr>
          <p:cNvPr id="4" name="Slide Number Placeholder 3">
            <a:extLst>
              <a:ext uri="{FF2B5EF4-FFF2-40B4-BE49-F238E27FC236}">
                <a16:creationId xmlns:a16="http://schemas.microsoft.com/office/drawing/2014/main" id="{764DF1A0-F55D-929B-6CDC-C8FCCFD2BA2B}"/>
              </a:ext>
            </a:extLst>
          </p:cNvPr>
          <p:cNvSpPr>
            <a:spLocks noGrp="1"/>
          </p:cNvSpPr>
          <p:nvPr>
            <p:ph type="sldNum" sz="quarter" idx="12"/>
          </p:nvPr>
        </p:nvSpPr>
        <p:spPr/>
        <p:txBody>
          <a:bodyPr/>
          <a:lstStyle/>
          <a:p>
            <a:fld id="{20F37917-FD3A-4669-9018-DA04BCDD3D75}" type="slidenum">
              <a:rPr lang="en-US" smtClean="0"/>
              <a:t>3</a:t>
            </a:fld>
            <a:endParaRPr lang="en-US"/>
          </a:p>
        </p:txBody>
      </p:sp>
    </p:spTree>
    <p:extLst>
      <p:ext uri="{BB962C8B-B14F-4D97-AF65-F5344CB8AC3E}">
        <p14:creationId xmlns:p14="http://schemas.microsoft.com/office/powerpoint/2010/main" val="1339494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D9ED5-EC8A-5B6F-2AC3-C1B6C9D26B5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0549E56-1CAD-DE0E-70E8-DE9831C2E46F}"/>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4</a:t>
            </a:fld>
            <a:endParaRPr lang="en-US"/>
          </a:p>
        </p:txBody>
      </p:sp>
      <p:sp>
        <p:nvSpPr>
          <p:cNvPr id="2" name="Title 1">
            <a:extLst>
              <a:ext uri="{FF2B5EF4-FFF2-40B4-BE49-F238E27FC236}">
                <a16:creationId xmlns:a16="http://schemas.microsoft.com/office/drawing/2014/main" id="{78D10A9E-DF09-9E7F-36E9-8E8841D64618}"/>
              </a:ext>
            </a:extLst>
          </p:cNvPr>
          <p:cNvSpPr>
            <a:spLocks noGrp="1"/>
          </p:cNvSpPr>
          <p:nvPr>
            <p:ph type="title"/>
          </p:nvPr>
        </p:nvSpPr>
        <p:spPr>
          <a:xfrm>
            <a:off x="838200" y="18255"/>
            <a:ext cx="10515600" cy="1325563"/>
          </a:xfrm>
        </p:spPr>
        <p:txBody>
          <a:bodyPr>
            <a:noAutofit/>
          </a:bodyPr>
          <a:lstStyle/>
          <a:p>
            <a:r>
              <a:rPr lang="en-US" dirty="0"/>
              <a:t>Part 3: Test-Driven Development</a:t>
            </a:r>
          </a:p>
        </p:txBody>
      </p:sp>
      <p:grpSp>
        <p:nvGrpSpPr>
          <p:cNvPr id="25" name="Group 24">
            <a:extLst>
              <a:ext uri="{FF2B5EF4-FFF2-40B4-BE49-F238E27FC236}">
                <a16:creationId xmlns:a16="http://schemas.microsoft.com/office/drawing/2014/main" id="{47129DF8-CB8D-4C3B-F24E-A15C19983A85}"/>
              </a:ext>
            </a:extLst>
          </p:cNvPr>
          <p:cNvGrpSpPr/>
          <p:nvPr/>
        </p:nvGrpSpPr>
        <p:grpSpPr>
          <a:xfrm>
            <a:off x="4319921" y="1533426"/>
            <a:ext cx="974268" cy="974268"/>
            <a:chOff x="7949361" y="2403792"/>
            <a:chExt cx="1887188" cy="1887188"/>
          </a:xfrm>
        </p:grpSpPr>
        <p:sp>
          <p:nvSpPr>
            <p:cNvPr id="26" name="Rectangle: Diagonal Corners Rounded 13">
              <a:extLst>
                <a:ext uri="{FF2B5EF4-FFF2-40B4-BE49-F238E27FC236}">
                  <a16:creationId xmlns:a16="http://schemas.microsoft.com/office/drawing/2014/main" id="{1F784C7D-C16C-230F-6028-DA49A718655A}"/>
                </a:ext>
              </a:extLst>
            </p:cNvPr>
            <p:cNvSpPr/>
            <p:nvPr/>
          </p:nvSpPr>
          <p:spPr>
            <a:xfrm>
              <a:off x="7949362"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sp>
          <p:nvSpPr>
            <p:cNvPr id="27" name="Rectangle 26" descr="Group">
              <a:extLst>
                <a:ext uri="{FF2B5EF4-FFF2-40B4-BE49-F238E27FC236}">
                  <a16:creationId xmlns:a16="http://schemas.microsoft.com/office/drawing/2014/main" id="{5CCD0D6B-A492-3D3F-D306-AFD2D2034D6B}"/>
                </a:ext>
              </a:extLst>
            </p:cNvPr>
            <p:cNvSpPr/>
            <p:nvPr/>
          </p:nvSpPr>
          <p:spPr>
            <a:xfrm>
              <a:off x="7949361" y="2403792"/>
              <a:ext cx="1887188" cy="188718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28" name="Group 27">
            <a:extLst>
              <a:ext uri="{FF2B5EF4-FFF2-40B4-BE49-F238E27FC236}">
                <a16:creationId xmlns:a16="http://schemas.microsoft.com/office/drawing/2014/main" id="{0E11AE50-5FB0-2C84-C39F-A682A09379AF}"/>
              </a:ext>
            </a:extLst>
          </p:cNvPr>
          <p:cNvGrpSpPr/>
          <p:nvPr/>
        </p:nvGrpSpPr>
        <p:grpSpPr>
          <a:xfrm>
            <a:off x="6892528" y="1533426"/>
            <a:ext cx="974268" cy="974267"/>
            <a:chOff x="679049" y="2403793"/>
            <a:chExt cx="1887188" cy="1887187"/>
          </a:xfrm>
        </p:grpSpPr>
        <p:sp>
          <p:nvSpPr>
            <p:cNvPr id="29" name="Rectangle: Diagonal Corners Rounded 6">
              <a:extLst>
                <a:ext uri="{FF2B5EF4-FFF2-40B4-BE49-F238E27FC236}">
                  <a16:creationId xmlns:a16="http://schemas.microsoft.com/office/drawing/2014/main" id="{CB2E636A-157E-4B2F-AF1C-8BD44CDA117B}"/>
                </a:ext>
              </a:extLst>
            </p:cNvPr>
            <p:cNvSpPr/>
            <p:nvPr/>
          </p:nvSpPr>
          <p:spPr>
            <a:xfrm>
              <a:off x="679050"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30" name="Rectangle 29" descr="Gears">
              <a:extLst>
                <a:ext uri="{FF2B5EF4-FFF2-40B4-BE49-F238E27FC236}">
                  <a16:creationId xmlns:a16="http://schemas.microsoft.com/office/drawing/2014/main" id="{8D33BD8B-1511-D15F-28FF-3E8E1EF7A45D}"/>
                </a:ext>
              </a:extLst>
            </p:cNvPr>
            <p:cNvSpPr/>
            <p:nvPr/>
          </p:nvSpPr>
          <p:spPr>
            <a:xfrm>
              <a:off x="679049" y="2403793"/>
              <a:ext cx="1887187" cy="18871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grpSp>
        <p:nvGrpSpPr>
          <p:cNvPr id="31" name="Group 30">
            <a:extLst>
              <a:ext uri="{FF2B5EF4-FFF2-40B4-BE49-F238E27FC236}">
                <a16:creationId xmlns:a16="http://schemas.microsoft.com/office/drawing/2014/main" id="{D24252AE-78BD-235F-55D0-8C427EB0FCDD}"/>
              </a:ext>
            </a:extLst>
          </p:cNvPr>
          <p:cNvGrpSpPr/>
          <p:nvPr/>
        </p:nvGrpSpPr>
        <p:grpSpPr>
          <a:xfrm>
            <a:off x="9465135" y="1533426"/>
            <a:ext cx="974267" cy="974267"/>
            <a:chOff x="4314206" y="2403793"/>
            <a:chExt cx="1887187" cy="1887187"/>
          </a:xfrm>
        </p:grpSpPr>
        <p:sp>
          <p:nvSpPr>
            <p:cNvPr id="32" name="Rectangle: Diagonal Corners Rounded 10">
              <a:extLst>
                <a:ext uri="{FF2B5EF4-FFF2-40B4-BE49-F238E27FC236}">
                  <a16:creationId xmlns:a16="http://schemas.microsoft.com/office/drawing/2014/main" id="{437E74D3-AF29-F578-71FA-B7D348074C13}"/>
                </a:ext>
              </a:extLst>
            </p:cNvPr>
            <p:cNvSpPr/>
            <p:nvPr/>
          </p:nvSpPr>
          <p:spPr>
            <a:xfrm>
              <a:off x="4314206" y="2403793"/>
              <a:ext cx="1887187" cy="1887187"/>
            </a:xfrm>
            <a:prstGeom prst="round2DiagRect">
              <a:avLst>
                <a:gd name="adj1" fmla="val 29727"/>
                <a:gd name="adj2" fmla="val 0"/>
              </a:avLst>
            </a:prstGeom>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33" name="Rectangle 32" descr="Illustrator with solid fill">
              <a:extLst>
                <a:ext uri="{FF2B5EF4-FFF2-40B4-BE49-F238E27FC236}">
                  <a16:creationId xmlns:a16="http://schemas.microsoft.com/office/drawing/2014/main" id="{331E30FE-7DE5-4E3F-FB80-B408F77D879A}"/>
                </a:ext>
              </a:extLst>
            </p:cNvPr>
            <p:cNvSpPr/>
            <p:nvPr/>
          </p:nvSpPr>
          <p:spPr>
            <a:xfrm>
              <a:off x="4314206" y="2403794"/>
              <a:ext cx="1887186" cy="1887186"/>
            </a:xfrm>
            <a:prstGeom prst="rect">
              <a:avLst/>
            </a:prstGeom>
            <a:blipFill>
              <a:blip r:embed="rId7">
                <a:extLst>
                  <a:ext uri="{96DAC541-7B7A-43D3-8B79-37D633B846F1}">
                    <asvg:svgBlip xmlns:asvg="http://schemas.microsoft.com/office/drawing/2016/SVG/main" r:embed="rId8"/>
                  </a:ext>
                </a:extLst>
              </a:blip>
              <a:srcRect/>
              <a:stretch>
                <a:fillRect/>
              </a:stretch>
            </a:blipFill>
            <a:ln>
              <a:noFill/>
            </a:ln>
          </p:spPr>
          <p:style>
            <a:lnRef idx="2">
              <a:scrgbClr r="0" g="0" b="0"/>
            </a:lnRef>
            <a:fillRef idx="1">
              <a:scrgbClr r="0" g="0" b="0"/>
            </a:fillRef>
            <a:effectRef idx="0">
              <a:schemeClr val="bg1">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3" name="Rectangle: Diagonal Corners Rounded 6">
            <a:extLst>
              <a:ext uri="{FF2B5EF4-FFF2-40B4-BE49-F238E27FC236}">
                <a16:creationId xmlns:a16="http://schemas.microsoft.com/office/drawing/2014/main" id="{115E6A29-0834-813B-A102-7A252175C39C}"/>
              </a:ext>
            </a:extLst>
          </p:cNvPr>
          <p:cNvSpPr/>
          <p:nvPr/>
        </p:nvSpPr>
        <p:spPr>
          <a:xfrm>
            <a:off x="3094269" y="4395624"/>
            <a:ext cx="974268" cy="974268"/>
          </a:xfrm>
          <a:prstGeom prst="round2DiagRect">
            <a:avLst>
              <a:gd name="adj1" fmla="val 29727"/>
              <a:gd name="adj2" fmla="val 0"/>
            </a:avLst>
          </a:prstGeom>
          <a:solidFill>
            <a:srgbClr val="00B0F0"/>
          </a:solidFill>
        </p:spPr>
        <p:style>
          <a:lnRef idx="0">
            <a:schemeClr val="lt1">
              <a:alpha val="0"/>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p:style>
        <p:txBody>
          <a:bodyPr/>
          <a:lstStyle/>
          <a:p>
            <a:endParaRPr lang="en-US"/>
          </a:p>
        </p:txBody>
      </p:sp>
      <p:sp>
        <p:nvSpPr>
          <p:cNvPr id="5" name="Rectangle: Diagonal Corners Rounded 10">
            <a:extLst>
              <a:ext uri="{FF2B5EF4-FFF2-40B4-BE49-F238E27FC236}">
                <a16:creationId xmlns:a16="http://schemas.microsoft.com/office/drawing/2014/main" id="{92ABE6BA-F07F-C6D5-83EF-9E7A1078BF48}"/>
              </a:ext>
            </a:extLst>
          </p:cNvPr>
          <p:cNvSpPr/>
          <p:nvPr/>
        </p:nvSpPr>
        <p:spPr>
          <a:xfrm>
            <a:off x="3071193" y="5639377"/>
            <a:ext cx="974267" cy="974267"/>
          </a:xfrm>
          <a:prstGeom prst="round2DiagRect">
            <a:avLst>
              <a:gd name="adj1" fmla="val 29727"/>
              <a:gd name="adj2" fmla="val 0"/>
            </a:avLst>
          </a:prstGeom>
          <a:solidFill>
            <a:srgbClr val="00B050"/>
          </a:solidFill>
        </p:spPr>
        <p:style>
          <a:lnRef idx="0">
            <a:schemeClr val="lt1">
              <a:alpha val="0"/>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p:style>
        <p:txBody>
          <a:bodyPr/>
          <a:lstStyle/>
          <a:p>
            <a:endParaRPr lang="en-US"/>
          </a:p>
        </p:txBody>
      </p:sp>
      <p:sp>
        <p:nvSpPr>
          <p:cNvPr id="6" name="Rectangle: Diagonal Corners Rounded 13">
            <a:extLst>
              <a:ext uri="{FF2B5EF4-FFF2-40B4-BE49-F238E27FC236}">
                <a16:creationId xmlns:a16="http://schemas.microsoft.com/office/drawing/2014/main" id="{4E513908-E9CE-056A-88C5-7F29B166CF08}"/>
              </a:ext>
            </a:extLst>
          </p:cNvPr>
          <p:cNvSpPr/>
          <p:nvPr/>
        </p:nvSpPr>
        <p:spPr>
          <a:xfrm>
            <a:off x="3094269" y="3151870"/>
            <a:ext cx="974267" cy="974267"/>
          </a:xfrm>
          <a:prstGeom prst="round2DiagRect">
            <a:avLst>
              <a:gd name="adj1" fmla="val 29727"/>
              <a:gd name="adj2" fmla="val 0"/>
            </a:avLst>
          </a:prstGeom>
          <a:solidFill>
            <a:srgbClr val="0070C0"/>
          </a:solidFill>
        </p:spPr>
        <p:style>
          <a:lnRef idx="0">
            <a:schemeClr val="lt1">
              <a:alpha val="0"/>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p:style>
        <p:txBody>
          <a:bodyPr/>
          <a:lstStyle/>
          <a:p>
            <a:endParaRPr lang="en-US"/>
          </a:p>
        </p:txBody>
      </p:sp>
      <p:pic>
        <p:nvPicPr>
          <p:cNvPr id="9" name="Graphic 8" descr="Thought bubble with solid fill">
            <a:extLst>
              <a:ext uri="{FF2B5EF4-FFF2-40B4-BE49-F238E27FC236}">
                <a16:creationId xmlns:a16="http://schemas.microsoft.com/office/drawing/2014/main" id="{6A0AD507-ED27-E88A-B7BB-709C69CAB94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62618" y="3220221"/>
            <a:ext cx="837566" cy="837566"/>
          </a:xfrm>
          <a:prstGeom prst="rect">
            <a:avLst/>
          </a:prstGeom>
        </p:spPr>
      </p:pic>
      <p:pic>
        <p:nvPicPr>
          <p:cNvPr id="10" name="Graphic 9" descr="Flowchart with solid fill">
            <a:extLst>
              <a:ext uri="{FF2B5EF4-FFF2-40B4-BE49-F238E27FC236}">
                <a16:creationId xmlns:a16="http://schemas.microsoft.com/office/drawing/2014/main" id="{BD2DDAA7-5FC3-027A-B6E1-C8A49B02622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30067" y="4425557"/>
            <a:ext cx="914400" cy="914400"/>
          </a:xfrm>
          <a:prstGeom prst="rect">
            <a:avLst/>
          </a:prstGeom>
        </p:spPr>
      </p:pic>
      <p:pic>
        <p:nvPicPr>
          <p:cNvPr id="13" name="Graphic 12" descr="Hammer1 with solid fill">
            <a:extLst>
              <a:ext uri="{FF2B5EF4-FFF2-40B4-BE49-F238E27FC236}">
                <a16:creationId xmlns:a16="http://schemas.microsoft.com/office/drawing/2014/main" id="{F41E4B03-6679-21F7-79FA-DD48ADF9E066}"/>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153974" y="5722158"/>
            <a:ext cx="808704" cy="808704"/>
          </a:xfrm>
          <a:prstGeom prst="rect">
            <a:avLst/>
          </a:prstGeom>
        </p:spPr>
      </p:pic>
      <p:sp>
        <p:nvSpPr>
          <p:cNvPr id="22" name="Freeform: Shape 15">
            <a:extLst>
              <a:ext uri="{FF2B5EF4-FFF2-40B4-BE49-F238E27FC236}">
                <a16:creationId xmlns:a16="http://schemas.microsoft.com/office/drawing/2014/main" id="{46738831-E2AB-A281-1472-D41169F1D243}"/>
              </a:ext>
            </a:extLst>
          </p:cNvPr>
          <p:cNvSpPr/>
          <p:nvPr/>
        </p:nvSpPr>
        <p:spPr>
          <a:xfrm>
            <a:off x="-96363" y="5766510"/>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implementing</a:t>
            </a:r>
          </a:p>
        </p:txBody>
      </p:sp>
      <p:sp>
        <p:nvSpPr>
          <p:cNvPr id="23" name="Freeform: Shape 15">
            <a:extLst>
              <a:ext uri="{FF2B5EF4-FFF2-40B4-BE49-F238E27FC236}">
                <a16:creationId xmlns:a16="http://schemas.microsoft.com/office/drawing/2014/main" id="{7866BB31-972B-D916-1999-519F7E4FEDF1}"/>
              </a:ext>
            </a:extLst>
          </p:cNvPr>
          <p:cNvSpPr/>
          <p:nvPr/>
        </p:nvSpPr>
        <p:spPr>
          <a:xfrm>
            <a:off x="-58857" y="4522757"/>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ORGANIZING</a:t>
            </a:r>
          </a:p>
        </p:txBody>
      </p:sp>
      <p:sp>
        <p:nvSpPr>
          <p:cNvPr id="24" name="Freeform: Shape 15">
            <a:extLst>
              <a:ext uri="{FF2B5EF4-FFF2-40B4-BE49-F238E27FC236}">
                <a16:creationId xmlns:a16="http://schemas.microsoft.com/office/drawing/2014/main" id="{B6831BBE-5C93-6424-4902-79AA9259A45F}"/>
              </a:ext>
            </a:extLst>
          </p:cNvPr>
          <p:cNvSpPr/>
          <p:nvPr/>
        </p:nvSpPr>
        <p:spPr>
          <a:xfrm>
            <a:off x="-58857" y="3275362"/>
            <a:ext cx="3084774"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algn="r" defTabSz="1778000">
              <a:lnSpc>
                <a:spcPct val="90000"/>
              </a:lnSpc>
              <a:spcBef>
                <a:spcPct val="0"/>
              </a:spcBef>
              <a:spcAft>
                <a:spcPct val="35000"/>
              </a:spcAft>
              <a:buNone/>
              <a:defRPr cap="all"/>
            </a:pPr>
            <a:r>
              <a:rPr lang="en-US" sz="3200" kern="1200"/>
              <a:t>PLANNING</a:t>
            </a:r>
          </a:p>
        </p:txBody>
      </p:sp>
      <p:sp>
        <p:nvSpPr>
          <p:cNvPr id="36" name="Freeform: Shape 15">
            <a:extLst>
              <a:ext uri="{FF2B5EF4-FFF2-40B4-BE49-F238E27FC236}">
                <a16:creationId xmlns:a16="http://schemas.microsoft.com/office/drawing/2014/main" id="{AE6CC204-B74D-D763-4D0C-73F95D5DF584}"/>
              </a:ext>
            </a:extLst>
          </p:cNvPr>
          <p:cNvSpPr/>
          <p:nvPr/>
        </p:nvSpPr>
        <p:spPr>
          <a:xfrm>
            <a:off x="4319921" y="2449319"/>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PEOPLE</a:t>
            </a:r>
          </a:p>
        </p:txBody>
      </p:sp>
      <p:sp>
        <p:nvSpPr>
          <p:cNvPr id="37" name="Freeform: Shape 15">
            <a:extLst>
              <a:ext uri="{FF2B5EF4-FFF2-40B4-BE49-F238E27FC236}">
                <a16:creationId xmlns:a16="http://schemas.microsoft.com/office/drawing/2014/main" id="{E1DE128E-A6A3-D0A1-1401-EEE5D8914F16}"/>
              </a:ext>
            </a:extLst>
          </p:cNvPr>
          <p:cNvSpPr/>
          <p:nvPr/>
        </p:nvSpPr>
        <p:spPr>
          <a:xfrm>
            <a:off x="6892528"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PROCESSES</a:t>
            </a:r>
          </a:p>
        </p:txBody>
      </p:sp>
      <p:sp>
        <p:nvSpPr>
          <p:cNvPr id="38" name="Freeform: Shape 15">
            <a:extLst>
              <a:ext uri="{FF2B5EF4-FFF2-40B4-BE49-F238E27FC236}">
                <a16:creationId xmlns:a16="http://schemas.microsoft.com/office/drawing/2014/main" id="{D5717001-0F52-8751-D852-D92AB0787A03}"/>
              </a:ext>
            </a:extLst>
          </p:cNvPr>
          <p:cNvSpPr/>
          <p:nvPr/>
        </p:nvSpPr>
        <p:spPr>
          <a:xfrm>
            <a:off x="9465135" y="2469097"/>
            <a:ext cx="2263562" cy="720000"/>
          </a:xfrm>
          <a:custGeom>
            <a:avLst/>
            <a:gdLst>
              <a:gd name="connsiteX0" fmla="*/ 0 w 3093750"/>
              <a:gd name="connsiteY0" fmla="*/ 0 h 720000"/>
              <a:gd name="connsiteX1" fmla="*/ 3093750 w 3093750"/>
              <a:gd name="connsiteY1" fmla="*/ 0 h 720000"/>
              <a:gd name="connsiteX2" fmla="*/ 3093750 w 3093750"/>
              <a:gd name="connsiteY2" fmla="*/ 720000 h 720000"/>
              <a:gd name="connsiteX3" fmla="*/ 0 w 3093750"/>
              <a:gd name="connsiteY3" fmla="*/ 720000 h 720000"/>
              <a:gd name="connsiteX4" fmla="*/ 0 w 3093750"/>
              <a:gd name="connsiteY4" fmla="*/ 0 h 72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3750" h="720000">
                <a:moveTo>
                  <a:pt x="0" y="0"/>
                </a:moveTo>
                <a:lnTo>
                  <a:pt x="3093750" y="0"/>
                </a:lnTo>
                <a:lnTo>
                  <a:pt x="3093750" y="720000"/>
                </a:lnTo>
                <a:lnTo>
                  <a:pt x="0" y="720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ctr" anchorCtr="0">
            <a:noAutofit/>
          </a:bodyPr>
          <a:lstStyle/>
          <a:p>
            <a:pPr marL="0" lvl="0" indent="0" defTabSz="1778000">
              <a:lnSpc>
                <a:spcPct val="90000"/>
              </a:lnSpc>
              <a:spcBef>
                <a:spcPct val="0"/>
              </a:spcBef>
              <a:spcAft>
                <a:spcPct val="35000"/>
              </a:spcAft>
              <a:buNone/>
              <a:defRPr cap="all"/>
            </a:pPr>
            <a:r>
              <a:rPr lang="en-US" sz="3200" kern="1200"/>
              <a:t>PROGRAMS</a:t>
            </a:r>
          </a:p>
        </p:txBody>
      </p:sp>
      <p:graphicFrame>
        <p:nvGraphicFramePr>
          <p:cNvPr id="40" name="Table 39">
            <a:extLst>
              <a:ext uri="{FF2B5EF4-FFF2-40B4-BE49-F238E27FC236}">
                <a16:creationId xmlns:a16="http://schemas.microsoft.com/office/drawing/2014/main" id="{9F794400-ECE7-C29A-017B-B258828E6D7A}"/>
              </a:ext>
            </a:extLst>
          </p:cNvPr>
          <p:cNvGraphicFramePr>
            <a:graphicFrameLocks noGrp="1"/>
          </p:cNvGraphicFramePr>
          <p:nvPr/>
        </p:nvGraphicFramePr>
        <p:xfrm>
          <a:off x="4319921" y="3065605"/>
          <a:ext cx="7636290" cy="3655869"/>
        </p:xfrm>
        <a:graphic>
          <a:graphicData uri="http://schemas.openxmlformats.org/drawingml/2006/table">
            <a:tbl>
              <a:tblPr firstRow="1" bandRow="1">
                <a:tableStyleId>{5940675A-B579-460E-94D1-54222C63F5DA}</a:tableStyleId>
              </a:tblPr>
              <a:tblGrid>
                <a:gridCol w="2545430">
                  <a:extLst>
                    <a:ext uri="{9D8B030D-6E8A-4147-A177-3AD203B41FA5}">
                      <a16:colId xmlns:a16="http://schemas.microsoft.com/office/drawing/2014/main" val="3480838859"/>
                    </a:ext>
                  </a:extLst>
                </a:gridCol>
                <a:gridCol w="2545430">
                  <a:extLst>
                    <a:ext uri="{9D8B030D-6E8A-4147-A177-3AD203B41FA5}">
                      <a16:colId xmlns:a16="http://schemas.microsoft.com/office/drawing/2014/main" val="732385373"/>
                    </a:ext>
                  </a:extLst>
                </a:gridCol>
                <a:gridCol w="2545430">
                  <a:extLst>
                    <a:ext uri="{9D8B030D-6E8A-4147-A177-3AD203B41FA5}">
                      <a16:colId xmlns:a16="http://schemas.microsoft.com/office/drawing/2014/main" val="59920267"/>
                    </a:ext>
                  </a:extLst>
                </a:gridCol>
              </a:tblGrid>
              <a:tr h="120744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152792755"/>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468450731"/>
                  </a:ext>
                </a:extLst>
              </a:tr>
              <a:tr h="1224213">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a:txBody>
                    <a:bodyPr/>
                    <a:lstStyle/>
                    <a:p>
                      <a:endParaRPr lang="en-US">
                        <a:solidFill>
                          <a:schemeClr val="accent1">
                            <a:lumMod val="60000"/>
                            <a:lumOff val="40000"/>
                          </a:schemeClr>
                        </a:solidFill>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839592428"/>
                  </a:ext>
                </a:extLst>
              </a:tr>
            </a:tbl>
          </a:graphicData>
        </a:graphic>
      </p:graphicFrame>
      <p:sp>
        <p:nvSpPr>
          <p:cNvPr id="19" name="TextBox 18">
            <a:extLst>
              <a:ext uri="{FF2B5EF4-FFF2-40B4-BE49-F238E27FC236}">
                <a16:creationId xmlns:a16="http://schemas.microsoft.com/office/drawing/2014/main" id="{60C6411A-6CAB-56C5-125E-06A026BA691D}"/>
              </a:ext>
            </a:extLst>
          </p:cNvPr>
          <p:cNvSpPr txBox="1"/>
          <p:nvPr/>
        </p:nvSpPr>
        <p:spPr>
          <a:xfrm>
            <a:off x="4319921" y="3842373"/>
            <a:ext cx="7768500" cy="2800767"/>
          </a:xfrm>
          <a:prstGeom prst="rect">
            <a:avLst/>
          </a:prstGeom>
          <a:noFill/>
        </p:spPr>
        <p:txBody>
          <a:bodyPr wrap="square" rtlCol="0">
            <a:spAutoFit/>
          </a:bodyPr>
          <a:lstStyle/>
          <a:p>
            <a:r>
              <a:rPr lang="en-US" sz="4400" dirty="0"/>
              <a:t>Requirements Analysis</a:t>
            </a:r>
          </a:p>
          <a:p>
            <a:r>
              <a:rPr lang="en-US" sz="4400" dirty="0"/>
              <a:t>User Stories</a:t>
            </a:r>
          </a:p>
          <a:p>
            <a:r>
              <a:rPr lang="en-US" sz="4400" dirty="0">
                <a:solidFill>
                  <a:srgbClr val="FF0000"/>
                </a:solidFill>
              </a:rPr>
              <a:t>Testing Conditions of Satisfaction</a:t>
            </a:r>
          </a:p>
          <a:p>
            <a:endParaRPr lang="en-US" sz="4400" dirty="0"/>
          </a:p>
        </p:txBody>
      </p:sp>
    </p:spTree>
    <p:extLst>
      <p:ext uri="{BB962C8B-B14F-4D97-AF65-F5344CB8AC3E}">
        <p14:creationId xmlns:p14="http://schemas.microsoft.com/office/powerpoint/2010/main" val="3628483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84ADF-FE0F-18D6-23B1-708E70C861E8}"/>
              </a:ext>
            </a:extLst>
          </p:cNvPr>
          <p:cNvSpPr>
            <a:spLocks noGrp="1"/>
          </p:cNvSpPr>
          <p:nvPr>
            <p:ph type="title"/>
          </p:nvPr>
        </p:nvSpPr>
        <p:spPr>
          <a:xfrm>
            <a:off x="838200" y="18255"/>
            <a:ext cx="10515600" cy="1325563"/>
          </a:xfrm>
        </p:spPr>
        <p:txBody>
          <a:bodyPr anchor="b">
            <a:normAutofit/>
          </a:bodyPr>
          <a:lstStyle/>
          <a:p>
            <a:r>
              <a:rPr lang="en-US"/>
              <a:t>Review: User Stories</a:t>
            </a:r>
          </a:p>
        </p:txBody>
      </p:sp>
      <p:sp>
        <p:nvSpPr>
          <p:cNvPr id="3" name="Content Placeholder 2">
            <a:extLst>
              <a:ext uri="{FF2B5EF4-FFF2-40B4-BE49-F238E27FC236}">
                <a16:creationId xmlns:a16="http://schemas.microsoft.com/office/drawing/2014/main" id="{37332AC8-CB08-5618-1BDB-C47109161E18}"/>
              </a:ext>
            </a:extLst>
          </p:cNvPr>
          <p:cNvSpPr>
            <a:spLocks noGrp="1"/>
          </p:cNvSpPr>
          <p:nvPr>
            <p:ph idx="1"/>
          </p:nvPr>
        </p:nvSpPr>
        <p:spPr>
          <a:xfrm>
            <a:off x="838200" y="1500188"/>
            <a:ext cx="5398477" cy="4351337"/>
          </a:xfrm>
        </p:spPr>
        <p:txBody>
          <a:bodyPr>
            <a:normAutofit/>
          </a:bodyPr>
          <a:lstStyle/>
          <a:p>
            <a:r>
              <a:rPr lang="en-US"/>
              <a:t>As a College Administrator, I want to keep track of students, the courses they have taken, and the grades they received in those courses, so that I can advise them on their studies. </a:t>
            </a:r>
          </a:p>
          <a:p>
            <a:endParaRPr lang="en-US"/>
          </a:p>
          <a:p>
            <a:endParaRPr lang="en-US"/>
          </a:p>
        </p:txBody>
      </p:sp>
      <p:sp>
        <p:nvSpPr>
          <p:cNvPr id="4" name="Slide Number Placeholder 3">
            <a:extLst>
              <a:ext uri="{FF2B5EF4-FFF2-40B4-BE49-F238E27FC236}">
                <a16:creationId xmlns:a16="http://schemas.microsoft.com/office/drawing/2014/main" id="{45D9D304-197D-D28C-47A3-F050ED4CFEFD}"/>
              </a:ext>
            </a:extLst>
          </p:cNvPr>
          <p:cNvSpPr>
            <a:spLocks noGrp="1"/>
          </p:cNvSpPr>
          <p:nvPr>
            <p:ph type="sldNum" sz="quarter" idx="12"/>
          </p:nvPr>
        </p:nvSpPr>
        <p:spPr>
          <a:xfrm>
            <a:off x="8610600" y="6356350"/>
            <a:ext cx="2743200" cy="365125"/>
          </a:xfrm>
        </p:spPr>
        <p:txBody>
          <a:bodyPr>
            <a:normAutofit/>
          </a:bodyPr>
          <a:lstStyle/>
          <a:p>
            <a:fld id="{20F37917-FD3A-4669-9018-DA04BCDD3D75}" type="slidenum">
              <a:rPr lang="en-US" smtClean="0"/>
              <a:pPr/>
              <a:t>5</a:t>
            </a:fld>
            <a:endParaRPr lang="en-US"/>
          </a:p>
        </p:txBody>
      </p:sp>
      <p:pic>
        <p:nvPicPr>
          <p:cNvPr id="6" name="Picture 5" descr="Desks in empty classroom">
            <a:extLst>
              <a:ext uri="{FF2B5EF4-FFF2-40B4-BE49-F238E27FC236}">
                <a16:creationId xmlns:a16="http://schemas.microsoft.com/office/drawing/2014/main" id="{A1D5F13B-85D3-6647-C620-963D1004D32F}"/>
              </a:ext>
            </a:extLst>
          </p:cNvPr>
          <p:cNvPicPr>
            <a:picLocks noChangeAspect="1"/>
          </p:cNvPicPr>
          <p:nvPr/>
        </p:nvPicPr>
        <p:blipFill>
          <a:blip r:embed="rId2"/>
          <a:srcRect l="14074" r="10698"/>
          <a:stretch/>
        </p:blipFill>
        <p:spPr>
          <a:xfrm>
            <a:off x="654281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
        <p:nvSpPr>
          <p:cNvPr id="17" name="TextBox 16">
            <a:extLst>
              <a:ext uri="{FF2B5EF4-FFF2-40B4-BE49-F238E27FC236}">
                <a16:creationId xmlns:a16="http://schemas.microsoft.com/office/drawing/2014/main" id="{16C2857B-8A36-A115-3BF1-056D7D339333}"/>
              </a:ext>
            </a:extLst>
          </p:cNvPr>
          <p:cNvSpPr txBox="1"/>
          <p:nvPr/>
        </p:nvSpPr>
        <p:spPr>
          <a:xfrm>
            <a:off x="248338" y="4388316"/>
            <a:ext cx="7981262" cy="156966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3200" b="1" i="1">
                <a:solidFill>
                  <a:srgbClr val="FF0000"/>
                </a:solidFill>
                <a:latin typeface="Ink Free" panose="03080402000500000000" pitchFamily="66" charset="0"/>
              </a:rPr>
              <a:t>As a &lt;role&gt; </a:t>
            </a:r>
            <a:br>
              <a:rPr lang="en-US" sz="3200" b="1" i="1">
                <a:solidFill>
                  <a:srgbClr val="FF0000"/>
                </a:solidFill>
                <a:latin typeface="Ink Free" panose="03080402000500000000" pitchFamily="66" charset="0"/>
              </a:rPr>
            </a:br>
            <a:r>
              <a:rPr lang="en-US" sz="3200" b="1" i="1">
                <a:solidFill>
                  <a:srgbClr val="FF0000"/>
                </a:solidFill>
                <a:latin typeface="Ink Free" panose="03080402000500000000" pitchFamily="66" charset="0"/>
              </a:rPr>
              <a:t>I want &lt;capability&gt; </a:t>
            </a:r>
          </a:p>
          <a:p>
            <a:r>
              <a:rPr lang="en-US" sz="3200" b="1" i="1">
                <a:solidFill>
                  <a:srgbClr val="FF0000"/>
                </a:solidFill>
                <a:latin typeface="Ink Free" panose="03080402000500000000" pitchFamily="66" charset="0"/>
              </a:rPr>
              <a:t>so that I can &lt;get some benefit&gt;</a:t>
            </a:r>
          </a:p>
        </p:txBody>
      </p:sp>
    </p:spTree>
    <p:extLst>
      <p:ext uri="{BB962C8B-B14F-4D97-AF65-F5344CB8AC3E}">
        <p14:creationId xmlns:p14="http://schemas.microsoft.com/office/powerpoint/2010/main" val="2373629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40A76719-B99C-FED3-AB8B-6CD70C81E060}"/>
              </a:ext>
            </a:extLst>
          </p:cNvPr>
          <p:cNvSpPr>
            <a:spLocks noGrp="1"/>
          </p:cNvSpPr>
          <p:nvPr>
            <p:ph type="title"/>
          </p:nvPr>
        </p:nvSpPr>
        <p:spPr>
          <a:xfrm>
            <a:off x="838200" y="18255"/>
            <a:ext cx="10515600" cy="1325563"/>
          </a:xfrm>
        </p:spPr>
        <p:txBody>
          <a:bodyPr/>
          <a:lstStyle/>
          <a:p>
            <a:r>
              <a:rPr lang="en-US" dirty="0"/>
              <a:t>Review: Conditions of Satisfaction</a:t>
            </a:r>
          </a:p>
        </p:txBody>
      </p:sp>
      <p:sp>
        <p:nvSpPr>
          <p:cNvPr id="3" name="Content Placeholder 2">
            <a:extLst>
              <a:ext uri="{FF2B5EF4-FFF2-40B4-BE49-F238E27FC236}">
                <a16:creationId xmlns:a16="http://schemas.microsoft.com/office/drawing/2014/main" id="{3C270DA0-CEDD-7D08-8774-EAEB8515E419}"/>
              </a:ext>
            </a:extLst>
          </p:cNvPr>
          <p:cNvSpPr>
            <a:spLocks noGrp="1"/>
          </p:cNvSpPr>
          <p:nvPr>
            <p:ph idx="1"/>
          </p:nvPr>
        </p:nvSpPr>
        <p:spPr>
          <a:xfrm>
            <a:off x="838200" y="1500188"/>
            <a:ext cx="7886700" cy="4351337"/>
          </a:xfrm>
        </p:spPr>
        <p:txBody>
          <a:bodyPr>
            <a:normAutofit lnSpcReduction="10000"/>
          </a:bodyPr>
          <a:lstStyle/>
          <a:p>
            <a:r>
              <a:rPr lang="en-US"/>
              <a:t>We will build a secure web application backed by a persistent database that allows an authenticated administrator to:</a:t>
            </a:r>
          </a:p>
          <a:p>
            <a:pPr lvl="1"/>
            <a:r>
              <a:rPr lang="en-US"/>
              <a:t>Add a new student to the database</a:t>
            </a:r>
          </a:p>
          <a:p>
            <a:pPr lvl="1"/>
            <a:r>
              <a:rPr lang="en-US"/>
              <a:t>Add a new student with the same name as an existing student.</a:t>
            </a:r>
          </a:p>
          <a:p>
            <a:pPr lvl="1"/>
            <a:r>
              <a:rPr lang="en-US"/>
              <a:t>Retrieve the transcript for a student</a:t>
            </a:r>
          </a:p>
          <a:p>
            <a:pPr lvl="1"/>
            <a:r>
              <a:rPr lang="en-US"/>
              <a:t>Delete a student from the database</a:t>
            </a:r>
          </a:p>
          <a:p>
            <a:pPr lvl="1"/>
            <a:r>
              <a:rPr lang="en-US"/>
              <a:t>Add a new grade for an existing student</a:t>
            </a:r>
          </a:p>
          <a:p>
            <a:pPr lvl="1"/>
            <a:r>
              <a:rPr lang="en-US"/>
              <a:t>Find out the grade that a student got in a course that they took</a:t>
            </a:r>
          </a:p>
          <a:p>
            <a:endParaRPr lang="en-US"/>
          </a:p>
        </p:txBody>
      </p:sp>
      <p:sp>
        <p:nvSpPr>
          <p:cNvPr id="4" name="Slide Number Placeholder 3">
            <a:extLst>
              <a:ext uri="{FF2B5EF4-FFF2-40B4-BE49-F238E27FC236}">
                <a16:creationId xmlns:a16="http://schemas.microsoft.com/office/drawing/2014/main" id="{78E266D1-9118-64E3-6ECA-ABE996CBECE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6</a:t>
            </a:fld>
            <a:endParaRPr lang="en-US"/>
          </a:p>
        </p:txBody>
      </p:sp>
    </p:spTree>
    <p:extLst>
      <p:ext uri="{BB962C8B-B14F-4D97-AF65-F5344CB8AC3E}">
        <p14:creationId xmlns:p14="http://schemas.microsoft.com/office/powerpoint/2010/main" val="1574217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58F72-C513-AC48-ADFF-E6E65E49D6DC}"/>
              </a:ext>
            </a:extLst>
          </p:cNvPr>
          <p:cNvSpPr>
            <a:spLocks noGrp="1"/>
          </p:cNvSpPr>
          <p:nvPr>
            <p:ph type="title"/>
          </p:nvPr>
        </p:nvSpPr>
        <p:spPr/>
        <p:txBody>
          <a:bodyPr>
            <a:normAutofit/>
          </a:bodyPr>
          <a:lstStyle/>
          <a:p>
            <a:r>
              <a:rPr lang="en-US" sz="3600" dirty="0"/>
              <a:t>Test Driven Development (TDD)</a:t>
            </a:r>
          </a:p>
        </p:txBody>
      </p:sp>
      <p:sp>
        <p:nvSpPr>
          <p:cNvPr id="3" name="Content Placeholder 2">
            <a:extLst>
              <a:ext uri="{FF2B5EF4-FFF2-40B4-BE49-F238E27FC236}">
                <a16:creationId xmlns:a16="http://schemas.microsoft.com/office/drawing/2014/main" id="{ADAB3463-9C3C-8346-A06A-BAD33DA43ABE}"/>
              </a:ext>
            </a:extLst>
          </p:cNvPr>
          <p:cNvSpPr>
            <a:spLocks noGrp="1"/>
          </p:cNvSpPr>
          <p:nvPr>
            <p:ph sz="half" idx="1"/>
          </p:nvPr>
        </p:nvSpPr>
        <p:spPr>
          <a:xfrm>
            <a:off x="838200" y="1825625"/>
            <a:ext cx="9284368" cy="4351338"/>
          </a:xfrm>
        </p:spPr>
        <p:txBody>
          <a:bodyPr>
            <a:normAutofit/>
          </a:bodyPr>
          <a:lstStyle/>
          <a:p>
            <a:r>
              <a:rPr lang="en-US" altLang="en-US" dirty="0"/>
              <a:t>Puts test specification as the critical design activity</a:t>
            </a:r>
          </a:p>
          <a:p>
            <a:pPr lvl="1"/>
            <a:r>
              <a:rPr lang="en-US" altLang="en-US" dirty="0"/>
              <a:t>Understands that deployment comes when the system passes testing </a:t>
            </a:r>
          </a:p>
          <a:p>
            <a:r>
              <a:rPr lang="en-US" altLang="en-US" dirty="0"/>
              <a:t>The act of defining tests requires a deep understanding of the problem</a:t>
            </a:r>
          </a:p>
          <a:p>
            <a:r>
              <a:rPr lang="en-US" altLang="en-US" dirty="0"/>
              <a:t>Clearly defines what success means</a:t>
            </a:r>
          </a:p>
          <a:p>
            <a:pPr lvl="1"/>
            <a:r>
              <a:rPr lang="en-US" altLang="en-US" dirty="0"/>
              <a:t>No more guesswork as to what “complete” means</a:t>
            </a:r>
          </a:p>
        </p:txBody>
      </p:sp>
      <p:sp>
        <p:nvSpPr>
          <p:cNvPr id="5" name="Slide Number Placeholder 4">
            <a:extLst>
              <a:ext uri="{FF2B5EF4-FFF2-40B4-BE49-F238E27FC236}">
                <a16:creationId xmlns:a16="http://schemas.microsoft.com/office/drawing/2014/main" id="{84BF218D-52FC-C947-8067-44F1E513C508}"/>
              </a:ext>
            </a:extLst>
          </p:cNvPr>
          <p:cNvSpPr>
            <a:spLocks noGrp="1"/>
          </p:cNvSpPr>
          <p:nvPr>
            <p:ph type="sldNum" sz="quarter" idx="12"/>
          </p:nvPr>
        </p:nvSpPr>
        <p:spPr/>
        <p:txBody>
          <a:bodyPr/>
          <a:lstStyle/>
          <a:p>
            <a:fld id="{20F37917-FD3A-4669-9018-DA04BCDD3D75}" type="slidenum">
              <a:rPr lang="en-US" smtClean="0"/>
              <a:t>7</a:t>
            </a:fld>
            <a:endParaRPr lang="en-US"/>
          </a:p>
        </p:txBody>
      </p:sp>
    </p:spTree>
    <p:extLst>
      <p:ext uri="{BB962C8B-B14F-4D97-AF65-F5344CB8AC3E}">
        <p14:creationId xmlns:p14="http://schemas.microsoft.com/office/powerpoint/2010/main" val="1104882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B319D2-A26F-0955-A1EA-5E20C6DE8B51}"/>
              </a:ext>
            </a:extLst>
          </p:cNvPr>
          <p:cNvSpPr>
            <a:spLocks noGrp="1"/>
          </p:cNvSpPr>
          <p:nvPr>
            <p:ph type="title"/>
          </p:nvPr>
        </p:nvSpPr>
        <p:spPr/>
        <p:txBody>
          <a:bodyPr>
            <a:normAutofit/>
          </a:bodyPr>
          <a:lstStyle/>
          <a:p>
            <a:r>
              <a:rPr lang="en-US" sz="3600" dirty="0"/>
              <a:t>The TDD Cycle</a:t>
            </a:r>
          </a:p>
        </p:txBody>
      </p:sp>
      <p:sp>
        <p:nvSpPr>
          <p:cNvPr id="5" name="Slide Number Placeholder 4">
            <a:extLst>
              <a:ext uri="{FF2B5EF4-FFF2-40B4-BE49-F238E27FC236}">
                <a16:creationId xmlns:a16="http://schemas.microsoft.com/office/drawing/2014/main" id="{3844B684-8FB0-46B8-407B-6DBE8B851CE4}"/>
              </a:ext>
            </a:extLst>
          </p:cNvPr>
          <p:cNvSpPr>
            <a:spLocks noGrp="1"/>
          </p:cNvSpPr>
          <p:nvPr>
            <p:ph type="sldNum" sz="quarter" idx="12"/>
          </p:nvPr>
        </p:nvSpPr>
        <p:spPr/>
        <p:txBody>
          <a:bodyPr/>
          <a:lstStyle/>
          <a:p>
            <a:fld id="{20F37917-FD3A-4669-9018-DA04BCDD3D75}" type="slidenum">
              <a:rPr lang="en-US" smtClean="0"/>
              <a:t>8</a:t>
            </a:fld>
            <a:endParaRPr lang="en-US"/>
          </a:p>
        </p:txBody>
      </p:sp>
      <p:grpSp>
        <p:nvGrpSpPr>
          <p:cNvPr id="23" name="Group 22">
            <a:extLst>
              <a:ext uri="{FF2B5EF4-FFF2-40B4-BE49-F238E27FC236}">
                <a16:creationId xmlns:a16="http://schemas.microsoft.com/office/drawing/2014/main" id="{2F116E24-F2B5-D4ED-24D3-6802E0F42725}"/>
              </a:ext>
            </a:extLst>
          </p:cNvPr>
          <p:cNvGrpSpPr/>
          <p:nvPr/>
        </p:nvGrpSpPr>
        <p:grpSpPr>
          <a:xfrm>
            <a:off x="156796" y="2293785"/>
            <a:ext cx="11321493" cy="1904613"/>
            <a:chOff x="133350" y="1652027"/>
            <a:chExt cx="11321493" cy="1904613"/>
          </a:xfrm>
        </p:grpSpPr>
        <p:sp>
          <p:nvSpPr>
            <p:cNvPr id="9" name="Rectangle: Rounded Corners 8">
              <a:extLst>
                <a:ext uri="{FF2B5EF4-FFF2-40B4-BE49-F238E27FC236}">
                  <a16:creationId xmlns:a16="http://schemas.microsoft.com/office/drawing/2014/main" id="{9B7831DA-7020-B7A2-42AA-385F63B61815}"/>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Satisfaction Conditions</a:t>
              </a:r>
            </a:p>
          </p:txBody>
        </p:sp>
        <p:sp>
          <p:nvSpPr>
            <p:cNvPr id="10" name="Rectangle: Rounded Corners 9">
              <a:extLst>
                <a:ext uri="{FF2B5EF4-FFF2-40B4-BE49-F238E27FC236}">
                  <a16:creationId xmlns:a16="http://schemas.microsoft.com/office/drawing/2014/main" id="{33196CED-8A44-EF6D-D876-156032EBBEE8}"/>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Executable Tests</a:t>
              </a:r>
            </a:p>
          </p:txBody>
        </p:sp>
        <p:sp>
          <p:nvSpPr>
            <p:cNvPr id="11" name="Rectangle: Rounded Corners 10">
              <a:extLst>
                <a:ext uri="{FF2B5EF4-FFF2-40B4-BE49-F238E27FC236}">
                  <a16:creationId xmlns:a16="http://schemas.microsoft.com/office/drawing/2014/main" id="{84F0FCC6-6459-4236-323A-E85C12EFE4DD}"/>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Testable Behaviors</a:t>
              </a:r>
            </a:p>
          </p:txBody>
        </p:sp>
        <p:sp>
          <p:nvSpPr>
            <p:cNvPr id="12" name="Rectangle: Rounded Corners 11">
              <a:extLst>
                <a:ext uri="{FF2B5EF4-FFF2-40B4-BE49-F238E27FC236}">
                  <a16:creationId xmlns:a16="http://schemas.microsoft.com/office/drawing/2014/main" id="{260C95F7-7FA1-4747-F1AD-CCDFD56F0AB7}"/>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solidFill>
                </a:rPr>
                <a:t>Executing Code</a:t>
              </a:r>
            </a:p>
          </p:txBody>
        </p:sp>
        <p:sp>
          <p:nvSpPr>
            <p:cNvPr id="14" name="Isosceles Triangle 13">
              <a:extLst>
                <a:ext uri="{FF2B5EF4-FFF2-40B4-BE49-F238E27FC236}">
                  <a16:creationId xmlns:a16="http://schemas.microsoft.com/office/drawing/2014/main" id="{3342E8EF-B25F-3293-0CA6-6FDD9F5C46F6}"/>
                </a:ext>
              </a:extLst>
            </p:cNvPr>
            <p:cNvSpPr/>
            <p:nvPr/>
          </p:nvSpPr>
          <p:spPr>
            <a:xfrm rot="5400000">
              <a:off x="2273639" y="2283026"/>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5" name="Isosceles Triangle 14">
              <a:extLst>
                <a:ext uri="{FF2B5EF4-FFF2-40B4-BE49-F238E27FC236}">
                  <a16:creationId xmlns:a16="http://schemas.microsoft.com/office/drawing/2014/main" id="{A83C0F02-4CC5-D865-60AE-8257CB593DD4}"/>
                </a:ext>
              </a:extLst>
            </p:cNvPr>
            <p:cNvSpPr/>
            <p:nvPr/>
          </p:nvSpPr>
          <p:spPr>
            <a:xfrm rot="5400000">
              <a:off x="5382134" y="2294750"/>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6" name="Isosceles Triangle 15">
              <a:extLst>
                <a:ext uri="{FF2B5EF4-FFF2-40B4-BE49-F238E27FC236}">
                  <a16:creationId xmlns:a16="http://schemas.microsoft.com/office/drawing/2014/main" id="{C6BA4CF9-F399-91D3-2918-527DA39DD679}"/>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7" name="TextBox 16">
              <a:extLst>
                <a:ext uri="{FF2B5EF4-FFF2-40B4-BE49-F238E27FC236}">
                  <a16:creationId xmlns:a16="http://schemas.microsoft.com/office/drawing/2014/main" id="{13D4DC05-CE8F-B921-4C9E-523FF6041D46}"/>
                </a:ext>
              </a:extLst>
            </p:cNvPr>
            <p:cNvSpPr txBox="1"/>
            <p:nvPr/>
          </p:nvSpPr>
          <p:spPr>
            <a:xfrm>
              <a:off x="1662890" y="167490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Analyze</a:t>
              </a:r>
            </a:p>
          </p:txBody>
        </p:sp>
        <p:sp>
          <p:nvSpPr>
            <p:cNvPr id="18" name="TextBox 17">
              <a:extLst>
                <a:ext uri="{FF2B5EF4-FFF2-40B4-BE49-F238E27FC236}">
                  <a16:creationId xmlns:a16="http://schemas.microsoft.com/office/drawing/2014/main" id="{DA422BAB-AEDC-38C5-4D18-19CA15FB1AA1}"/>
                </a:ext>
              </a:extLst>
            </p:cNvPr>
            <p:cNvSpPr txBox="1"/>
            <p:nvPr/>
          </p:nvSpPr>
          <p:spPr>
            <a:xfrm>
              <a:off x="4698722" y="1652027"/>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Design</a:t>
              </a:r>
            </a:p>
          </p:txBody>
        </p:sp>
        <p:sp>
          <p:nvSpPr>
            <p:cNvPr id="19" name="TextBox 18">
              <a:extLst>
                <a:ext uri="{FF2B5EF4-FFF2-40B4-BE49-F238E27FC236}">
                  <a16:creationId xmlns:a16="http://schemas.microsoft.com/office/drawing/2014/main" id="{86B8F8EC-EE8B-A7C1-6981-C99539FB2FFD}"/>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Code</a:t>
              </a:r>
            </a:p>
          </p:txBody>
        </p:sp>
      </p:grpSp>
      <p:grpSp>
        <p:nvGrpSpPr>
          <p:cNvPr id="4" name="Group 3">
            <a:extLst>
              <a:ext uri="{FF2B5EF4-FFF2-40B4-BE49-F238E27FC236}">
                <a16:creationId xmlns:a16="http://schemas.microsoft.com/office/drawing/2014/main" id="{C59F9F24-497B-1CE7-0A6F-C288F96138EF}"/>
              </a:ext>
            </a:extLst>
          </p:cNvPr>
          <p:cNvGrpSpPr/>
          <p:nvPr/>
        </p:nvGrpSpPr>
        <p:grpSpPr>
          <a:xfrm>
            <a:off x="1686135" y="3700308"/>
            <a:ext cx="2190750" cy="1620693"/>
            <a:chOff x="1694164" y="3678445"/>
            <a:chExt cx="2190750" cy="1620693"/>
          </a:xfrm>
        </p:grpSpPr>
        <p:sp>
          <p:nvSpPr>
            <p:cNvPr id="2" name="Isosceles Triangle 1">
              <a:extLst>
                <a:ext uri="{FF2B5EF4-FFF2-40B4-BE49-F238E27FC236}">
                  <a16:creationId xmlns:a16="http://schemas.microsoft.com/office/drawing/2014/main" id="{A33B838C-61F1-6E66-2C32-55F818AD0E10}"/>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3" name="TextBox 2">
              <a:extLst>
                <a:ext uri="{FF2B5EF4-FFF2-40B4-BE49-F238E27FC236}">
                  <a16:creationId xmlns:a16="http://schemas.microsoft.com/office/drawing/2014/main" id="{DD03D699-1893-08A9-0668-F007A4C01AB5}"/>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grpSp>
        <p:nvGrpSpPr>
          <p:cNvPr id="7" name="Group 6">
            <a:extLst>
              <a:ext uri="{FF2B5EF4-FFF2-40B4-BE49-F238E27FC236}">
                <a16:creationId xmlns:a16="http://schemas.microsoft.com/office/drawing/2014/main" id="{B592211C-69EF-1D54-C8A9-EEE08C02F687}"/>
              </a:ext>
            </a:extLst>
          </p:cNvPr>
          <p:cNvGrpSpPr/>
          <p:nvPr/>
        </p:nvGrpSpPr>
        <p:grpSpPr>
          <a:xfrm>
            <a:off x="4797844" y="3637260"/>
            <a:ext cx="2190750" cy="1620693"/>
            <a:chOff x="1694164" y="3678445"/>
            <a:chExt cx="2190750" cy="1620693"/>
          </a:xfrm>
        </p:grpSpPr>
        <p:sp>
          <p:nvSpPr>
            <p:cNvPr id="8" name="Isosceles Triangle 7">
              <a:extLst>
                <a:ext uri="{FF2B5EF4-FFF2-40B4-BE49-F238E27FC236}">
                  <a16:creationId xmlns:a16="http://schemas.microsoft.com/office/drawing/2014/main" id="{1B108B81-5762-9F41-4180-ADB169FF3D3E}"/>
                </a:ext>
              </a:extLst>
            </p:cNvPr>
            <p:cNvSpPr/>
            <p:nvPr/>
          </p:nvSpPr>
          <p:spPr>
            <a:xfrm rot="16200000">
              <a:off x="2295110" y="3768718"/>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3" name="TextBox 12">
              <a:extLst>
                <a:ext uri="{FF2B5EF4-FFF2-40B4-BE49-F238E27FC236}">
                  <a16:creationId xmlns:a16="http://schemas.microsoft.com/office/drawing/2014/main" id="{F979A1DA-6C9B-B2A8-7062-BAA4E6E12FD4}"/>
                </a:ext>
              </a:extLst>
            </p:cNvPr>
            <p:cNvSpPr txBox="1"/>
            <p:nvPr/>
          </p:nvSpPr>
          <p:spPr>
            <a:xfrm>
              <a:off x="1694164" y="4746688"/>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dirty="0">
                  <a:solidFill>
                    <a:schemeClr val="tx1"/>
                  </a:solidFill>
                </a:rPr>
                <a:t>Negotiate</a:t>
              </a:r>
            </a:p>
          </p:txBody>
        </p:sp>
      </p:grpSp>
    </p:spTree>
    <p:extLst>
      <p:ext uri="{BB962C8B-B14F-4D97-AF65-F5344CB8AC3E}">
        <p14:creationId xmlns:p14="http://schemas.microsoft.com/office/powerpoint/2010/main" val="3191328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491266FA-7D17-ED82-7BB7-8ACF5D3FE62D}"/>
              </a:ext>
            </a:extLst>
          </p:cNvPr>
          <p:cNvSpPr>
            <a:spLocks noGrp="1"/>
          </p:cNvSpPr>
          <p:nvPr>
            <p:ph type="title"/>
          </p:nvPr>
        </p:nvSpPr>
        <p:spPr>
          <a:xfrm>
            <a:off x="838200" y="18255"/>
            <a:ext cx="10515600" cy="1325563"/>
          </a:xfrm>
        </p:spPr>
        <p:txBody>
          <a:bodyPr/>
          <a:lstStyle/>
          <a:p>
            <a:r>
              <a:rPr lang="en-US" err="1"/>
              <a:t>CoS</a:t>
            </a:r>
            <a:r>
              <a:rPr lang="en-US"/>
              <a:t> are ultimately about the user</a:t>
            </a:r>
          </a:p>
        </p:txBody>
      </p:sp>
      <p:sp>
        <p:nvSpPr>
          <p:cNvPr id="18" name="Content Placeholder 17">
            <a:extLst>
              <a:ext uri="{FF2B5EF4-FFF2-40B4-BE49-F238E27FC236}">
                <a16:creationId xmlns:a16="http://schemas.microsoft.com/office/drawing/2014/main" id="{651784EA-5DAA-EEAF-EFC4-3B8F06F66181}"/>
              </a:ext>
            </a:extLst>
          </p:cNvPr>
          <p:cNvSpPr>
            <a:spLocks noGrp="1"/>
          </p:cNvSpPr>
          <p:nvPr>
            <p:ph idx="1"/>
          </p:nvPr>
        </p:nvSpPr>
        <p:spPr>
          <a:xfrm>
            <a:off x="838200" y="1500188"/>
            <a:ext cx="7886700" cy="4351337"/>
          </a:xfrm>
        </p:spPr>
        <p:txBody>
          <a:bodyPr/>
          <a:lstStyle/>
          <a:p>
            <a:pPr marL="0" indent="0">
              <a:buNone/>
            </a:pPr>
            <a:r>
              <a:rPr lang="en-US"/>
              <a:t>We will build a secure web application backed by a persistent database that allows an authenticated administrator to add a new student to the database</a:t>
            </a:r>
          </a:p>
          <a:p>
            <a:endParaRPr lang="en-US"/>
          </a:p>
        </p:txBody>
      </p:sp>
      <p:sp>
        <p:nvSpPr>
          <p:cNvPr id="4" name="Slide Number Placeholder 3">
            <a:extLst>
              <a:ext uri="{FF2B5EF4-FFF2-40B4-BE49-F238E27FC236}">
                <a16:creationId xmlns:a16="http://schemas.microsoft.com/office/drawing/2014/main" id="{5AB06B56-B6A5-3BB9-CFAF-C75C2A59EC0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9</a:t>
            </a:fld>
            <a:endParaRPr lang="en-US"/>
          </a:p>
        </p:txBody>
      </p:sp>
      <p:sp>
        <p:nvSpPr>
          <p:cNvPr id="7" name="Rectangle 6">
            <a:extLst>
              <a:ext uri="{FF2B5EF4-FFF2-40B4-BE49-F238E27FC236}">
                <a16:creationId xmlns:a16="http://schemas.microsoft.com/office/drawing/2014/main" id="{0ED49A40-295A-45A3-0DF8-CAF6341BECC6}"/>
              </a:ext>
            </a:extLst>
          </p:cNvPr>
          <p:cNvSpPr/>
          <p:nvPr/>
        </p:nvSpPr>
        <p:spPr>
          <a:xfrm>
            <a:off x="8225117"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Web Application</a:t>
            </a:r>
          </a:p>
        </p:txBody>
      </p:sp>
      <p:sp>
        <p:nvSpPr>
          <p:cNvPr id="8" name="Left-Right Arrow 7">
            <a:extLst>
              <a:ext uri="{FF2B5EF4-FFF2-40B4-BE49-F238E27FC236}">
                <a16:creationId xmlns:a16="http://schemas.microsoft.com/office/drawing/2014/main" id="{E7D8BBF6-B5F7-EFBB-18C2-C167C3BBDB3D}"/>
              </a:ext>
            </a:extLst>
          </p:cNvPr>
          <p:cNvSpPr/>
          <p:nvPr/>
        </p:nvSpPr>
        <p:spPr>
          <a:xfrm>
            <a:off x="9628091" y="3279141"/>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browser</a:t>
            </a:r>
          </a:p>
        </p:txBody>
      </p:sp>
      <p:sp>
        <p:nvSpPr>
          <p:cNvPr id="10" name="Rectangle 9">
            <a:extLst>
              <a:ext uri="{FF2B5EF4-FFF2-40B4-BE49-F238E27FC236}">
                <a16:creationId xmlns:a16="http://schemas.microsoft.com/office/drawing/2014/main" id="{85AA6A23-404B-1513-C107-53ED0D01A7F6}"/>
              </a:ext>
            </a:extLst>
          </p:cNvPr>
          <p:cNvSpPr/>
          <p:nvPr/>
        </p:nvSpPr>
        <p:spPr>
          <a:xfrm>
            <a:off x="11111749" y="3218629"/>
            <a:ext cx="954745"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User</a:t>
            </a:r>
          </a:p>
        </p:txBody>
      </p:sp>
      <p:sp>
        <p:nvSpPr>
          <p:cNvPr id="11" name="Left-Right Arrow 10">
            <a:extLst>
              <a:ext uri="{FF2B5EF4-FFF2-40B4-BE49-F238E27FC236}">
                <a16:creationId xmlns:a16="http://schemas.microsoft.com/office/drawing/2014/main" id="{B4AEA584-B421-89E2-9043-D9A619BE8D98}"/>
              </a:ext>
            </a:extLst>
          </p:cNvPr>
          <p:cNvSpPr/>
          <p:nvPr/>
        </p:nvSpPr>
        <p:spPr>
          <a:xfrm>
            <a:off x="6741459" y="3265694"/>
            <a:ext cx="1344707"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internet</a:t>
            </a:r>
          </a:p>
        </p:txBody>
      </p:sp>
      <p:sp>
        <p:nvSpPr>
          <p:cNvPr id="12" name="Rectangle 11">
            <a:extLst>
              <a:ext uri="{FF2B5EF4-FFF2-40B4-BE49-F238E27FC236}">
                <a16:creationId xmlns:a16="http://schemas.microsoft.com/office/drawing/2014/main" id="{A53A22EB-B4FA-07C1-2DF7-C027E82F30E8}"/>
              </a:ext>
            </a:extLst>
          </p:cNvPr>
          <p:cNvSpPr/>
          <p:nvPr/>
        </p:nvSpPr>
        <p:spPr>
          <a:xfrm>
            <a:off x="5338485"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Controller</a:t>
            </a:r>
          </a:p>
        </p:txBody>
      </p:sp>
      <p:sp>
        <p:nvSpPr>
          <p:cNvPr id="13" name="Left-Right Arrow 12">
            <a:extLst>
              <a:ext uri="{FF2B5EF4-FFF2-40B4-BE49-F238E27FC236}">
                <a16:creationId xmlns:a16="http://schemas.microsoft.com/office/drawing/2014/main" id="{BB3CAC0F-77D4-461B-D4FA-73CADE174C49}"/>
              </a:ext>
            </a:extLst>
          </p:cNvPr>
          <p:cNvSpPr/>
          <p:nvPr/>
        </p:nvSpPr>
        <p:spPr>
          <a:xfrm>
            <a:off x="4141694" y="3279141"/>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
        <p:nvSpPr>
          <p:cNvPr id="14" name="Rectangle 13">
            <a:extLst>
              <a:ext uri="{FF2B5EF4-FFF2-40B4-BE49-F238E27FC236}">
                <a16:creationId xmlns:a16="http://schemas.microsoft.com/office/drawing/2014/main" id="{FA14159E-C3BA-5A8C-0D6B-5BC12AB9E5E4}"/>
              </a:ext>
            </a:extLst>
          </p:cNvPr>
          <p:cNvSpPr/>
          <p:nvPr/>
        </p:nvSpPr>
        <p:spPr>
          <a:xfrm>
            <a:off x="2738720"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Service</a:t>
            </a:r>
          </a:p>
        </p:txBody>
      </p:sp>
      <p:sp>
        <p:nvSpPr>
          <p:cNvPr id="16" name="Rectangle 15">
            <a:extLst>
              <a:ext uri="{FF2B5EF4-FFF2-40B4-BE49-F238E27FC236}">
                <a16:creationId xmlns:a16="http://schemas.microsoft.com/office/drawing/2014/main" id="{9DC83E07-B879-9D36-DF3C-28362F1F27E3}"/>
              </a:ext>
            </a:extLst>
          </p:cNvPr>
          <p:cNvSpPr/>
          <p:nvPr/>
        </p:nvSpPr>
        <p:spPr>
          <a:xfrm>
            <a:off x="125506"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Database</a:t>
            </a:r>
          </a:p>
        </p:txBody>
      </p:sp>
      <p:sp>
        <p:nvSpPr>
          <p:cNvPr id="19" name="Left-Right Arrow 18">
            <a:extLst>
              <a:ext uri="{FF2B5EF4-FFF2-40B4-BE49-F238E27FC236}">
                <a16:creationId xmlns:a16="http://schemas.microsoft.com/office/drawing/2014/main" id="{E2AC018E-CD17-9541-D09A-5703FA932F29}"/>
              </a:ext>
            </a:extLst>
          </p:cNvPr>
          <p:cNvSpPr/>
          <p:nvPr/>
        </p:nvSpPr>
        <p:spPr>
          <a:xfrm>
            <a:off x="1541929" y="3265694"/>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Tree>
    <p:extLst>
      <p:ext uri="{BB962C8B-B14F-4D97-AF65-F5344CB8AC3E}">
        <p14:creationId xmlns:p14="http://schemas.microsoft.com/office/powerpoint/2010/main" val="4034172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EACA1-A09F-277B-02A0-6A94C20E95DF}"/>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FEDF6700-C283-C045-A0B8-0E2D89E171C4}"/>
              </a:ext>
            </a:extLst>
          </p:cNvPr>
          <p:cNvSpPr>
            <a:spLocks noGrp="1"/>
          </p:cNvSpPr>
          <p:nvPr>
            <p:ph type="title"/>
          </p:nvPr>
        </p:nvSpPr>
        <p:spPr>
          <a:xfrm>
            <a:off x="838200" y="18255"/>
            <a:ext cx="10515600" cy="1325563"/>
          </a:xfrm>
        </p:spPr>
        <p:txBody>
          <a:bodyPr/>
          <a:lstStyle/>
          <a:p>
            <a:r>
              <a:rPr lang="en-US" err="1"/>
              <a:t>CoS</a:t>
            </a:r>
            <a:r>
              <a:rPr lang="en-US"/>
              <a:t> are ultimately about the user</a:t>
            </a:r>
          </a:p>
        </p:txBody>
      </p:sp>
      <p:sp>
        <p:nvSpPr>
          <p:cNvPr id="18" name="Content Placeholder 17">
            <a:extLst>
              <a:ext uri="{FF2B5EF4-FFF2-40B4-BE49-F238E27FC236}">
                <a16:creationId xmlns:a16="http://schemas.microsoft.com/office/drawing/2014/main" id="{B7BCAE65-694B-6A12-6C4A-3ED711CDADAA}"/>
              </a:ext>
            </a:extLst>
          </p:cNvPr>
          <p:cNvSpPr>
            <a:spLocks noGrp="1"/>
          </p:cNvSpPr>
          <p:nvPr>
            <p:ph idx="1"/>
          </p:nvPr>
        </p:nvSpPr>
        <p:spPr>
          <a:xfrm>
            <a:off x="838200" y="1500188"/>
            <a:ext cx="7886700" cy="4351337"/>
          </a:xfrm>
        </p:spPr>
        <p:txBody>
          <a:bodyPr/>
          <a:lstStyle/>
          <a:p>
            <a:pPr marL="0" indent="0">
              <a:buNone/>
            </a:pPr>
            <a:r>
              <a:rPr lang="en-US"/>
              <a:t>We will build a secure web application backed by a persistent database that allows an authenticated administrator to add a new student to the database</a:t>
            </a:r>
          </a:p>
          <a:p>
            <a:endParaRPr lang="en-US"/>
          </a:p>
          <a:p>
            <a:endParaRPr lang="en-US"/>
          </a:p>
          <a:p>
            <a:endParaRPr lang="en-US"/>
          </a:p>
          <a:p>
            <a:pPr marL="0" indent="0">
              <a:buNone/>
            </a:pPr>
            <a:r>
              <a:rPr lang="en-US"/>
              <a:t>The </a:t>
            </a:r>
            <a:r>
              <a:rPr lang="en-US" err="1"/>
              <a:t>addStudent</a:t>
            </a:r>
            <a:r>
              <a:rPr lang="en-US"/>
              <a:t> service function should add a student to the database</a:t>
            </a:r>
          </a:p>
          <a:p>
            <a:endParaRPr lang="en-US"/>
          </a:p>
        </p:txBody>
      </p:sp>
      <p:sp>
        <p:nvSpPr>
          <p:cNvPr id="4" name="Slide Number Placeholder 3">
            <a:extLst>
              <a:ext uri="{FF2B5EF4-FFF2-40B4-BE49-F238E27FC236}">
                <a16:creationId xmlns:a16="http://schemas.microsoft.com/office/drawing/2014/main" id="{1A1AD88C-AA42-3162-9A5B-04976F0EA13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10</a:t>
            </a:fld>
            <a:endParaRPr lang="en-US"/>
          </a:p>
        </p:txBody>
      </p:sp>
      <p:sp>
        <p:nvSpPr>
          <p:cNvPr id="7" name="Rectangle 6">
            <a:extLst>
              <a:ext uri="{FF2B5EF4-FFF2-40B4-BE49-F238E27FC236}">
                <a16:creationId xmlns:a16="http://schemas.microsoft.com/office/drawing/2014/main" id="{39E6F9CF-31AE-797D-8D1C-3B0239CCD34E}"/>
              </a:ext>
            </a:extLst>
          </p:cNvPr>
          <p:cNvSpPr/>
          <p:nvPr/>
        </p:nvSpPr>
        <p:spPr>
          <a:xfrm>
            <a:off x="8225117" y="3205182"/>
            <a:ext cx="1264023"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Web Application</a:t>
            </a:r>
          </a:p>
        </p:txBody>
      </p:sp>
      <p:sp>
        <p:nvSpPr>
          <p:cNvPr id="8" name="Left-Right Arrow 7">
            <a:extLst>
              <a:ext uri="{FF2B5EF4-FFF2-40B4-BE49-F238E27FC236}">
                <a16:creationId xmlns:a16="http://schemas.microsoft.com/office/drawing/2014/main" id="{DAA07267-7A35-7E40-7B8A-F328AAC5A1B7}"/>
              </a:ext>
            </a:extLst>
          </p:cNvPr>
          <p:cNvSpPr/>
          <p:nvPr/>
        </p:nvSpPr>
        <p:spPr>
          <a:xfrm>
            <a:off x="9628091" y="3279141"/>
            <a:ext cx="1344707"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browser</a:t>
            </a:r>
          </a:p>
        </p:txBody>
      </p:sp>
      <p:sp>
        <p:nvSpPr>
          <p:cNvPr id="10" name="Rectangle 9">
            <a:extLst>
              <a:ext uri="{FF2B5EF4-FFF2-40B4-BE49-F238E27FC236}">
                <a16:creationId xmlns:a16="http://schemas.microsoft.com/office/drawing/2014/main" id="{0AA6C9C8-1623-2E5B-81AF-779FCC58967D}"/>
              </a:ext>
            </a:extLst>
          </p:cNvPr>
          <p:cNvSpPr/>
          <p:nvPr/>
        </p:nvSpPr>
        <p:spPr>
          <a:xfrm>
            <a:off x="11111749" y="3218629"/>
            <a:ext cx="954745"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User</a:t>
            </a:r>
          </a:p>
        </p:txBody>
      </p:sp>
      <p:sp>
        <p:nvSpPr>
          <p:cNvPr id="11" name="Left-Right Arrow 10">
            <a:extLst>
              <a:ext uri="{FF2B5EF4-FFF2-40B4-BE49-F238E27FC236}">
                <a16:creationId xmlns:a16="http://schemas.microsoft.com/office/drawing/2014/main" id="{983A3068-C59F-25DE-5090-51E01D946E51}"/>
              </a:ext>
            </a:extLst>
          </p:cNvPr>
          <p:cNvSpPr/>
          <p:nvPr/>
        </p:nvSpPr>
        <p:spPr>
          <a:xfrm>
            <a:off x="6741459" y="3265694"/>
            <a:ext cx="1344707"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internet</a:t>
            </a:r>
          </a:p>
        </p:txBody>
      </p:sp>
      <p:sp>
        <p:nvSpPr>
          <p:cNvPr id="12" name="Rectangle 11">
            <a:extLst>
              <a:ext uri="{FF2B5EF4-FFF2-40B4-BE49-F238E27FC236}">
                <a16:creationId xmlns:a16="http://schemas.microsoft.com/office/drawing/2014/main" id="{A669D640-8F74-F087-6757-D6C8D05A6F82}"/>
              </a:ext>
            </a:extLst>
          </p:cNvPr>
          <p:cNvSpPr/>
          <p:nvPr/>
        </p:nvSpPr>
        <p:spPr>
          <a:xfrm>
            <a:off x="5338485" y="3205182"/>
            <a:ext cx="1264023" cy="914400"/>
          </a:xfrm>
          <a:prstGeom prst="rect">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Controller</a:t>
            </a:r>
          </a:p>
        </p:txBody>
      </p:sp>
      <p:sp>
        <p:nvSpPr>
          <p:cNvPr id="13" name="Left-Right Arrow 12">
            <a:extLst>
              <a:ext uri="{FF2B5EF4-FFF2-40B4-BE49-F238E27FC236}">
                <a16:creationId xmlns:a16="http://schemas.microsoft.com/office/drawing/2014/main" id="{FA632119-4BBD-7F38-E7DC-E18CA4522192}"/>
              </a:ext>
            </a:extLst>
          </p:cNvPr>
          <p:cNvSpPr/>
          <p:nvPr/>
        </p:nvSpPr>
        <p:spPr>
          <a:xfrm>
            <a:off x="4141694" y="3279141"/>
            <a:ext cx="1057840" cy="793376"/>
          </a:xfrm>
          <a:prstGeom prst="leftRightArrow">
            <a:avLst/>
          </a:prstGeom>
          <a:solidFill>
            <a:schemeClr val="accent2">
              <a:lumMod val="20000"/>
              <a:lumOff val="80000"/>
              <a:alpha val="20000"/>
            </a:schemeClr>
          </a:solidFill>
          <a:ln>
            <a:solidFill>
              <a:srgbClr val="0070C0">
                <a:alpha val="2038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2">
                    <a:lumMod val="90000"/>
                  </a:schemeClr>
                </a:solidFill>
              </a:rPr>
              <a:t>API</a:t>
            </a:r>
          </a:p>
        </p:txBody>
      </p:sp>
      <p:sp>
        <p:nvSpPr>
          <p:cNvPr id="14" name="Rectangle 13">
            <a:extLst>
              <a:ext uri="{FF2B5EF4-FFF2-40B4-BE49-F238E27FC236}">
                <a16:creationId xmlns:a16="http://schemas.microsoft.com/office/drawing/2014/main" id="{4AA2E9E5-3B60-1E17-428B-A4E8328B6A0F}"/>
              </a:ext>
            </a:extLst>
          </p:cNvPr>
          <p:cNvSpPr/>
          <p:nvPr/>
        </p:nvSpPr>
        <p:spPr>
          <a:xfrm>
            <a:off x="2738720"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Service</a:t>
            </a:r>
          </a:p>
        </p:txBody>
      </p:sp>
      <p:sp>
        <p:nvSpPr>
          <p:cNvPr id="16" name="Rectangle 15">
            <a:extLst>
              <a:ext uri="{FF2B5EF4-FFF2-40B4-BE49-F238E27FC236}">
                <a16:creationId xmlns:a16="http://schemas.microsoft.com/office/drawing/2014/main" id="{8521B346-A6E3-0686-93CD-2D5703AE2E48}"/>
              </a:ext>
            </a:extLst>
          </p:cNvPr>
          <p:cNvSpPr/>
          <p:nvPr/>
        </p:nvSpPr>
        <p:spPr>
          <a:xfrm>
            <a:off x="125506" y="3205182"/>
            <a:ext cx="1264023" cy="914400"/>
          </a:xfrm>
          <a:prstGeom prst="rect">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Database</a:t>
            </a:r>
          </a:p>
        </p:txBody>
      </p:sp>
      <p:sp>
        <p:nvSpPr>
          <p:cNvPr id="19" name="Left-Right Arrow 18">
            <a:extLst>
              <a:ext uri="{FF2B5EF4-FFF2-40B4-BE49-F238E27FC236}">
                <a16:creationId xmlns:a16="http://schemas.microsoft.com/office/drawing/2014/main" id="{A405CBCC-A842-4D1A-A016-BE13B684EF32}"/>
              </a:ext>
            </a:extLst>
          </p:cNvPr>
          <p:cNvSpPr/>
          <p:nvPr/>
        </p:nvSpPr>
        <p:spPr>
          <a:xfrm>
            <a:off x="1541929" y="3265694"/>
            <a:ext cx="1057840" cy="793376"/>
          </a:xfrm>
          <a:prstGeom prst="lef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API</a:t>
            </a:r>
          </a:p>
        </p:txBody>
      </p:sp>
    </p:spTree>
    <p:extLst>
      <p:ext uri="{BB962C8B-B14F-4D97-AF65-F5344CB8AC3E}">
        <p14:creationId xmlns:p14="http://schemas.microsoft.com/office/powerpoint/2010/main" val="1227493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70C5AAA-DF9E-3336-7172-129340BB6661}"/>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11</a:t>
            </a:fld>
            <a:endParaRPr lang="en-US"/>
          </a:p>
        </p:txBody>
      </p:sp>
      <p:sp>
        <p:nvSpPr>
          <p:cNvPr id="2" name="Title 1">
            <a:extLst>
              <a:ext uri="{FF2B5EF4-FFF2-40B4-BE49-F238E27FC236}">
                <a16:creationId xmlns:a16="http://schemas.microsoft.com/office/drawing/2014/main" id="{B37B094C-06A4-3213-2B65-9BA91E12E6EF}"/>
              </a:ext>
            </a:extLst>
          </p:cNvPr>
          <p:cNvSpPr>
            <a:spLocks noGrp="1"/>
          </p:cNvSpPr>
          <p:nvPr>
            <p:ph type="title"/>
          </p:nvPr>
        </p:nvSpPr>
        <p:spPr>
          <a:xfrm>
            <a:off x="838200" y="18255"/>
            <a:ext cx="10515600" cy="1325563"/>
          </a:xfrm>
        </p:spPr>
        <p:txBody>
          <a:bodyPr/>
          <a:lstStyle/>
          <a:p>
            <a:r>
              <a:rPr lang="en-US"/>
              <a:t>Analyzing </a:t>
            </a:r>
            <a:r>
              <a:rPr lang="en-US" err="1"/>
              <a:t>CoS</a:t>
            </a:r>
            <a:r>
              <a:rPr lang="en-US"/>
              <a:t> to get testable behaviors</a:t>
            </a:r>
          </a:p>
        </p:txBody>
      </p:sp>
      <p:sp>
        <p:nvSpPr>
          <p:cNvPr id="4" name="TextBox 3">
            <a:extLst>
              <a:ext uri="{FF2B5EF4-FFF2-40B4-BE49-F238E27FC236}">
                <a16:creationId xmlns:a16="http://schemas.microsoft.com/office/drawing/2014/main" id="{C688DA8F-CCD3-7E6E-AAE4-8F998508A7D1}"/>
              </a:ext>
            </a:extLst>
          </p:cNvPr>
          <p:cNvSpPr txBox="1"/>
          <p:nvPr/>
        </p:nvSpPr>
        <p:spPr>
          <a:xfrm>
            <a:off x="744069" y="1555036"/>
            <a:ext cx="10434919" cy="505131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2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Student</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Course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Transcript</a:t>
            </a:r>
            <a:r>
              <a:rPr lang="en-US" b="0" dirty="0">
                <a:solidFill>
                  <a:srgbClr val="3B3B3B"/>
                </a:solidFill>
                <a:effectLst/>
                <a:latin typeface="Menlo" panose="020B0609030804020204" pitchFamily="49" charset="0"/>
              </a:rPr>
              <a:t>,</a:t>
            </a:r>
          </a:p>
          <a:p>
            <a:pPr>
              <a:lnSpc>
                <a:spcPct val="120000"/>
              </a:lnSpc>
              <a:buNone/>
            </a:pPr>
            <a:r>
              <a:rPr lang="en-US" b="0" dirty="0">
                <a:solidFill>
                  <a:srgbClr val="3B3B3B"/>
                </a:solidFill>
                <a:effectLst/>
                <a:latin typeface="Menlo" panose="020B0609030804020204" pitchFamily="49" charset="0"/>
              </a:rPr>
              <a:t>}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types.ts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2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interface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 {</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getTranscript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deleteStudent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hmm, what to do about errors??</a:t>
            </a:r>
            <a:endParaRPr lang="en-US" b="0" dirty="0">
              <a:solidFill>
                <a:srgbClr val="3B3B3B"/>
              </a:solidFill>
              <a:effectLst/>
              <a:latin typeface="Menlo" panose="020B0609030804020204" pitchFamily="49" charset="0"/>
            </a:endParaRP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4260265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A80716-FB8D-4FAF-7951-20C4DBBAE0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12</a:t>
            </a:fld>
            <a:endParaRPr lang="en-US"/>
          </a:p>
        </p:txBody>
      </p:sp>
      <p:sp>
        <p:nvSpPr>
          <p:cNvPr id="5" name="Title 4">
            <a:extLst>
              <a:ext uri="{FF2B5EF4-FFF2-40B4-BE49-F238E27FC236}">
                <a16:creationId xmlns:a16="http://schemas.microsoft.com/office/drawing/2014/main" id="{34F4B424-3DFD-61BF-9E87-1EAA62FAA4B8}"/>
              </a:ext>
            </a:extLst>
          </p:cNvPr>
          <p:cNvSpPr>
            <a:spLocks noGrp="1"/>
          </p:cNvSpPr>
          <p:nvPr>
            <p:ph type="title"/>
          </p:nvPr>
        </p:nvSpPr>
        <p:spPr>
          <a:xfrm>
            <a:off x="838200" y="18255"/>
            <a:ext cx="10515600" cy="1325563"/>
          </a:xfrm>
        </p:spPr>
        <p:txBody>
          <a:bodyPr>
            <a:normAutofit/>
          </a:bodyPr>
          <a:lstStyle/>
          <a:p>
            <a:r>
              <a:rPr lang="en-US"/>
              <a:t>Analyzing </a:t>
            </a:r>
            <a:r>
              <a:rPr lang="en-US" err="1"/>
              <a:t>CoS</a:t>
            </a:r>
            <a:r>
              <a:rPr lang="en-US"/>
              <a:t> to get testable behaviors</a:t>
            </a:r>
          </a:p>
        </p:txBody>
      </p:sp>
      <p:sp>
        <p:nvSpPr>
          <p:cNvPr id="2" name="Content Placeholder 2">
            <a:extLst>
              <a:ext uri="{FF2B5EF4-FFF2-40B4-BE49-F238E27FC236}">
                <a16:creationId xmlns:a16="http://schemas.microsoft.com/office/drawing/2014/main" id="{92C27DB9-CFD2-3B58-9A41-6B252BAAA8A7}"/>
              </a:ext>
            </a:extLst>
          </p:cNvPr>
          <p:cNvSpPr txBox="1">
            <a:spLocks/>
          </p:cNvSpPr>
          <p:nvPr/>
        </p:nvSpPr>
        <p:spPr>
          <a:xfrm>
            <a:off x="313765" y="1665288"/>
            <a:ext cx="5782235" cy="43513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err="1"/>
              <a:t>CoS</a:t>
            </a:r>
            <a:r>
              <a:rPr lang="en-US"/>
              <a:t>: The user can…</a:t>
            </a:r>
          </a:p>
          <a:p>
            <a:pPr lvl="1"/>
            <a:r>
              <a:rPr lang="en-US"/>
              <a:t>…add a new student to the database</a:t>
            </a:r>
            <a:br>
              <a:rPr lang="en-US"/>
            </a:br>
            <a:endParaRPr lang="en-US">
              <a:solidFill>
                <a:schemeClr val="bg1"/>
              </a:solidFill>
            </a:endParaRPr>
          </a:p>
          <a:p>
            <a:pPr lvl="1"/>
            <a:br>
              <a:rPr lang="en-US">
                <a:solidFill>
                  <a:schemeClr val="bg1"/>
                </a:solidFill>
              </a:rPr>
            </a:br>
            <a:endParaRPr lang="en-US">
              <a:solidFill>
                <a:schemeClr val="bg1"/>
              </a:solidFill>
            </a:endParaRPr>
          </a:p>
          <a:p>
            <a:pPr lvl="1"/>
            <a:r>
              <a:rPr lang="en-US"/>
              <a:t>…add a new student with the same name as an existing student</a:t>
            </a:r>
            <a:br>
              <a:rPr lang="en-US"/>
            </a:br>
            <a:endParaRPr lang="en-US"/>
          </a:p>
          <a:p>
            <a:pPr lvl="1"/>
            <a:r>
              <a:rPr lang="en-US"/>
              <a:t>…retrieve the transcript for a student</a:t>
            </a:r>
          </a:p>
          <a:p>
            <a:pPr marL="0" indent="0">
              <a:buNone/>
            </a:pPr>
            <a:endParaRPr lang="en-US"/>
          </a:p>
        </p:txBody>
      </p:sp>
      <p:sp>
        <p:nvSpPr>
          <p:cNvPr id="3" name="Content Placeholder 2">
            <a:extLst>
              <a:ext uri="{FF2B5EF4-FFF2-40B4-BE49-F238E27FC236}">
                <a16:creationId xmlns:a16="http://schemas.microsoft.com/office/drawing/2014/main" id="{56493FD9-D235-477F-5B3D-AD86352CBCBB}"/>
              </a:ext>
            </a:extLst>
          </p:cNvPr>
          <p:cNvSpPr txBox="1">
            <a:spLocks/>
          </p:cNvSpPr>
          <p:nvPr/>
        </p:nvSpPr>
        <p:spPr>
          <a:xfrm>
            <a:off x="5834427" y="1665288"/>
            <a:ext cx="5782235" cy="46910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Testable behaviors:</a:t>
            </a:r>
          </a:p>
          <a:p>
            <a:pPr lvl="1"/>
            <a:r>
              <a:rPr lang="en-US" dirty="0" err="1"/>
              <a:t>addStudent</a:t>
            </a:r>
            <a:r>
              <a:rPr lang="en-US" dirty="0"/>
              <a:t> should add a student to the database and return their ID</a:t>
            </a:r>
          </a:p>
          <a:p>
            <a:pPr lvl="1"/>
            <a:r>
              <a:rPr lang="en-US" dirty="0" err="1"/>
              <a:t>addStudent</a:t>
            </a:r>
            <a:r>
              <a:rPr lang="en-US" dirty="0"/>
              <a:t> should return an ID distinct from any ID in the database</a:t>
            </a:r>
          </a:p>
          <a:p>
            <a:pPr lvl="1"/>
            <a:r>
              <a:rPr lang="en-US" dirty="0" err="1"/>
              <a:t>addStudent</a:t>
            </a:r>
            <a:r>
              <a:rPr lang="en-US" dirty="0"/>
              <a:t> should permit adding a student with the same name as an existing student</a:t>
            </a:r>
          </a:p>
          <a:p>
            <a:pPr lvl="1"/>
            <a:r>
              <a:rPr lang="en-US" dirty="0" err="1"/>
              <a:t>getTranscript</a:t>
            </a:r>
            <a:r>
              <a:rPr lang="en-US" dirty="0"/>
              <a:t>, given the ID of a student, should return the student’s transcript.</a:t>
            </a:r>
          </a:p>
          <a:p>
            <a:pPr lvl="1"/>
            <a:r>
              <a:rPr lang="en-US" dirty="0" err="1"/>
              <a:t>getTranscript</a:t>
            </a:r>
            <a:r>
              <a:rPr lang="en-US" dirty="0"/>
              <a:t>, given an ID that is not the ID of any student, should</a:t>
            </a:r>
            <a:r>
              <a:rPr lang="en-US" i="1" dirty="0"/>
              <a:t> …????...</a:t>
            </a:r>
          </a:p>
        </p:txBody>
      </p:sp>
    </p:spTree>
    <p:extLst>
      <p:ext uri="{BB962C8B-B14F-4D97-AF65-F5344CB8AC3E}">
        <p14:creationId xmlns:p14="http://schemas.microsoft.com/office/powerpoint/2010/main" val="1400355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7ED2B-C4CB-01DE-2FA2-56655F2FE30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46D1C2-BFC0-F917-D2FE-69F86DADF4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13</a:t>
            </a:fld>
            <a:endParaRPr lang="en-US"/>
          </a:p>
        </p:txBody>
      </p:sp>
      <p:sp>
        <p:nvSpPr>
          <p:cNvPr id="2" name="Title 1">
            <a:extLst>
              <a:ext uri="{FF2B5EF4-FFF2-40B4-BE49-F238E27FC236}">
                <a16:creationId xmlns:a16="http://schemas.microsoft.com/office/drawing/2014/main" id="{08C96DE2-72DE-5DAC-CED0-8E8905B867B7}"/>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5" name="TextBox 4">
            <a:extLst>
              <a:ext uri="{FF2B5EF4-FFF2-40B4-BE49-F238E27FC236}">
                <a16:creationId xmlns:a16="http://schemas.microsoft.com/office/drawing/2014/main" id="{7186BA39-8044-78B9-E113-8F6B857CD2C9}"/>
              </a:ext>
            </a:extLst>
          </p:cNvPr>
          <p:cNvSpPr txBox="1"/>
          <p:nvPr/>
        </p:nvSpPr>
        <p:spPr>
          <a:xfrm>
            <a:off x="-82062" y="3704492"/>
            <a:ext cx="0" cy="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endParaRPr lang="en-US">
              <a:solidFill>
                <a:schemeClr val="tx1"/>
              </a:solidFill>
            </a:endParaRPr>
          </a:p>
        </p:txBody>
      </p:sp>
      <p:sp>
        <p:nvSpPr>
          <p:cNvPr id="9" name="TextBox 8">
            <a:extLst>
              <a:ext uri="{FF2B5EF4-FFF2-40B4-BE49-F238E27FC236}">
                <a16:creationId xmlns:a16="http://schemas.microsoft.com/office/drawing/2014/main" id="{F7B76826-48CB-DB5F-33DF-45C27E6763EB}"/>
              </a:ext>
            </a:extLst>
          </p:cNvPr>
          <p:cNvSpPr txBox="1"/>
          <p:nvPr/>
        </p:nvSpPr>
        <p:spPr>
          <a:xfrm>
            <a:off x="744069" y="1555036"/>
            <a:ext cx="10434919" cy="505131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2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Student</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Course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001080"/>
                </a:solidFill>
                <a:effectLst/>
                <a:latin typeface="Menlo" panose="020B0609030804020204" pitchFamily="49" charset="0"/>
              </a:rPr>
              <a:t>  Transcript</a:t>
            </a:r>
            <a:r>
              <a:rPr lang="en-US" b="0" dirty="0">
                <a:solidFill>
                  <a:srgbClr val="3B3B3B"/>
                </a:solidFill>
                <a:effectLst/>
                <a:latin typeface="Menlo" panose="020B0609030804020204" pitchFamily="49" charset="0"/>
              </a:rPr>
              <a:t>,</a:t>
            </a:r>
          </a:p>
          <a:p>
            <a:pPr>
              <a:lnSpc>
                <a:spcPct val="120000"/>
              </a:lnSpc>
              <a:buNone/>
            </a:pPr>
            <a:r>
              <a:rPr lang="en-US" b="0" dirty="0">
                <a:solidFill>
                  <a:srgbClr val="3B3B3B"/>
                </a:solidFill>
                <a:effectLst/>
                <a:latin typeface="Menlo" panose="020B0609030804020204" pitchFamily="49" charset="0"/>
              </a:rPr>
              <a:t>}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types.ts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2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interface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 {</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getTranscript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 </a:t>
            </a:r>
            <a:r>
              <a:rPr lang="en-US" dirty="0">
                <a:solidFill>
                  <a:srgbClr val="008000"/>
                </a:solidFill>
                <a:latin typeface="Menlo" panose="020B0609030804020204" pitchFamily="49" charset="0"/>
              </a:rPr>
              <a:t>// throws error if ID invalid</a:t>
            </a:r>
            <a:endParaRPr lang="en-US" b="0" dirty="0">
              <a:solidFill>
                <a:srgbClr val="3B3B3B"/>
              </a:solidFill>
              <a:effectLst/>
              <a:latin typeface="Menlo" panose="020B0609030804020204" pitchFamily="49" charset="0"/>
            </a:endParaRP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deleteStudent</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a:t>
            </a:r>
            <a:r>
              <a:rPr lang="en-US" dirty="0">
                <a:solidFill>
                  <a:srgbClr val="008000"/>
                </a:solidFill>
                <a:latin typeface="Menlo" panose="020B0609030804020204" pitchFamily="49" charset="0"/>
              </a:rPr>
              <a:t>throws error if ID invalid</a:t>
            </a:r>
            <a:endParaRPr lang="en-US" b="0" dirty="0">
              <a:solidFill>
                <a:srgbClr val="3B3B3B"/>
              </a:solidFill>
              <a:effectLst/>
              <a:latin typeface="Menlo" panose="020B0609030804020204" pitchFamily="49" charset="0"/>
            </a:endParaRP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addGrade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courseGrade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void</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getGrade</a:t>
            </a:r>
            <a:r>
              <a:rPr lang="en-US" b="0" dirty="0">
                <a:solidFill>
                  <a:srgbClr val="3B3B3B"/>
                </a:solidFill>
                <a:effectLst/>
                <a:latin typeface="Menlo" panose="020B0609030804020204" pitchFamily="49" charset="0"/>
              </a:rPr>
              <a:t>(</a:t>
            </a:r>
            <a:r>
              <a:rPr lang="en-US" b="0" dirty="0">
                <a:solidFill>
                  <a:srgbClr val="001080"/>
                </a:solidFill>
                <a:effectLst/>
                <a:latin typeface="Menlo" panose="020B0609030804020204" pitchFamily="49" charset="0"/>
              </a:rPr>
              <a: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a:t>
            </a:r>
          </a:p>
          <a:p>
            <a:pPr>
              <a:lnSpc>
                <a:spcPct val="120000"/>
              </a:lnSpc>
              <a:buNone/>
            </a:pPr>
            <a:r>
              <a:rPr lang="en-US" b="0" dirty="0">
                <a:solidFill>
                  <a:srgbClr val="795E26"/>
                </a:solidFill>
                <a:effectLst/>
                <a:latin typeface="Menlo" panose="020B0609030804020204" pitchFamily="49" charset="0"/>
              </a:rPr>
              <a:t>  </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p>
          <a:p>
            <a:pPr>
              <a:lnSpc>
                <a:spcPct val="120000"/>
              </a:lnSpc>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29167119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C2B13C-4117-4856-B1E7-C304217BF7F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90CF79-B1C9-E0D2-9606-39B38A8B4F95}"/>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t>14</a:t>
            </a:fld>
            <a:endParaRPr lang="en-US"/>
          </a:p>
        </p:txBody>
      </p:sp>
      <p:sp>
        <p:nvSpPr>
          <p:cNvPr id="2" name="Title 1">
            <a:extLst>
              <a:ext uri="{FF2B5EF4-FFF2-40B4-BE49-F238E27FC236}">
                <a16:creationId xmlns:a16="http://schemas.microsoft.com/office/drawing/2014/main" id="{CFBBC33F-030F-FF99-90E5-1E039D2ECD39}"/>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4" name="TextBox 3">
            <a:extLst>
              <a:ext uri="{FF2B5EF4-FFF2-40B4-BE49-F238E27FC236}">
                <a16:creationId xmlns:a16="http://schemas.microsoft.com/office/drawing/2014/main" id="{07AA5E5E-4768-9FD4-101A-5D84F2F97506}"/>
              </a:ext>
            </a:extLst>
          </p:cNvPr>
          <p:cNvSpPr txBox="1"/>
          <p:nvPr/>
        </p:nvSpPr>
        <p:spPr>
          <a:xfrm>
            <a:off x="744069" y="1555036"/>
            <a:ext cx="10434919" cy="281455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 </a:t>
            </a:r>
            <a:r>
              <a:rPr lang="en-US" b="0" dirty="0" err="1">
                <a:solidFill>
                  <a:srgbClr val="008000"/>
                </a:solidFill>
                <a:effectLst/>
                <a:latin typeface="Menlo" panose="020B0609030804020204" pitchFamily="49" charset="0"/>
              </a:rPr>
              <a:t>types.ts</a:t>
            </a:r>
            <a:r>
              <a:rPr lang="en-US" b="0" dirty="0">
                <a:solidFill>
                  <a:srgbClr val="008000"/>
                </a:solidFill>
                <a:effectLst/>
                <a:latin typeface="Menlo" panose="020B0609030804020204" pitchFamily="49" charset="0"/>
              </a:rPr>
              <a:t> - types for the transcript service</a:t>
            </a:r>
            <a:br>
              <a:rPr lang="en-US" b="0" dirty="0">
                <a:solidFill>
                  <a:srgbClr val="3B3B3B"/>
                </a:solidFill>
                <a:effectLst/>
                <a:latin typeface="Menlo" panose="020B0609030804020204" pitchFamily="49" charset="0"/>
              </a:rPr>
            </a:b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StudentID</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studentID</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studentName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StudentName</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1080"/>
                </a:solidFill>
                <a:effectLst/>
                <a:latin typeface="Menlo" panose="020B0609030804020204" pitchFamily="49" charset="0"/>
              </a:rPr>
              <a:t>course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Course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grade</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number</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Transcript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1080"/>
                </a:solidFill>
                <a:effectLst/>
                <a:latin typeface="Menlo" panose="020B0609030804020204" pitchFamily="49" charset="0"/>
              </a:rPr>
              <a:t>student</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grades</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CourseGrade</a:t>
            </a:r>
            <a:r>
              <a:rPr lang="en-US" b="0" dirty="0">
                <a:solidFill>
                  <a:srgbClr val="3B3B3B"/>
                </a:solidFill>
                <a:effectLst/>
                <a:latin typeface="Menlo" panose="020B0609030804020204" pitchFamily="49" charset="0"/>
              </a:rPr>
              <a:t>[] };</a:t>
            </a:r>
          </a:p>
          <a:p>
            <a:pPr>
              <a:lnSpc>
                <a:spcPct val="110000"/>
              </a:lnSpc>
              <a:buNone/>
            </a:pPr>
            <a:r>
              <a:rPr lang="en-US" b="0" dirty="0">
                <a:solidFill>
                  <a:srgbClr val="AF00DB"/>
                </a:solidFill>
                <a:effectLst/>
                <a:latin typeface="Menlo" panose="020B0609030804020204" pitchFamily="49" charset="0"/>
              </a:rPr>
              <a:t>export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StudentName</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string</a:t>
            </a:r>
            <a:r>
              <a:rPr lang="en-US" b="0" dirty="0">
                <a:solidFill>
                  <a:srgbClr val="3B3B3B"/>
                </a:solidFill>
                <a:effectLst/>
                <a:latin typeface="Menlo" panose="020B0609030804020204" pitchFamily="49" charset="0"/>
              </a:rPr>
              <a:t>;</a:t>
            </a:r>
          </a:p>
          <a:p>
            <a:pPr>
              <a:lnSpc>
                <a:spcPct val="110000"/>
              </a:lnSpc>
            </a:pPr>
            <a:br>
              <a:rPr lang="en-US" b="0" dirty="0">
                <a:solidFill>
                  <a:srgbClr val="3B3B3B"/>
                </a:solidFill>
                <a:effectLst/>
                <a:latin typeface="Menlo" panose="020B0609030804020204" pitchFamily="49" charset="0"/>
              </a:rPr>
            </a:br>
            <a:endParaRPr lang="en-US" b="0" dirty="0">
              <a:solidFill>
                <a:srgbClr val="3B3B3B"/>
              </a:solidFill>
              <a:effectLst/>
              <a:latin typeface="Menlo" panose="020B0609030804020204" pitchFamily="49" charset="0"/>
            </a:endParaRPr>
          </a:p>
        </p:txBody>
      </p:sp>
    </p:spTree>
    <p:extLst>
      <p:ext uri="{BB962C8B-B14F-4D97-AF65-F5344CB8AC3E}">
        <p14:creationId xmlns:p14="http://schemas.microsoft.com/office/powerpoint/2010/main" val="39373759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53D5E-33FF-33BD-1AF0-7B6DB2E77C1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BECCBE7-DDDC-7B31-B28A-C37D87008152}"/>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15</a:t>
            </a:fld>
            <a:endParaRPr lang="en-US"/>
          </a:p>
        </p:txBody>
      </p:sp>
      <p:sp>
        <p:nvSpPr>
          <p:cNvPr id="2" name="Title 1">
            <a:extLst>
              <a:ext uri="{FF2B5EF4-FFF2-40B4-BE49-F238E27FC236}">
                <a16:creationId xmlns:a16="http://schemas.microsoft.com/office/drawing/2014/main" id="{5BC76A8C-4CE0-B904-FA11-9C5E59DAC4A3}"/>
              </a:ext>
            </a:extLst>
          </p:cNvPr>
          <p:cNvSpPr>
            <a:spLocks noGrp="1"/>
          </p:cNvSpPr>
          <p:nvPr>
            <p:ph type="title"/>
          </p:nvPr>
        </p:nvSpPr>
        <p:spPr>
          <a:xfrm>
            <a:off x="838200" y="18255"/>
            <a:ext cx="10515600" cy="1325563"/>
          </a:xfrm>
        </p:spPr>
        <p:txBody>
          <a:bodyPr/>
          <a:lstStyle/>
          <a:p>
            <a:r>
              <a:rPr lang="en-US"/>
              <a:t>The tiniest introduction to Vitest</a:t>
            </a:r>
          </a:p>
        </p:txBody>
      </p:sp>
      <p:sp>
        <p:nvSpPr>
          <p:cNvPr id="4" name="TextBox 3">
            <a:extLst>
              <a:ext uri="{FF2B5EF4-FFF2-40B4-BE49-F238E27FC236}">
                <a16:creationId xmlns:a16="http://schemas.microsoft.com/office/drawing/2014/main" id="{DA2EC570-6EFB-36A9-D331-9B3FB6F10BCB}"/>
              </a:ext>
            </a:extLst>
          </p:cNvPr>
          <p:cNvSpPr txBox="1"/>
          <p:nvPr/>
        </p:nvSpPr>
        <p:spPr>
          <a:xfrm>
            <a:off x="744069" y="1555036"/>
            <a:ext cx="10434919" cy="525214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 </a:t>
            </a:r>
            <a:r>
              <a:rPr lang="en-US" b="0" dirty="0" err="1">
                <a:solidFill>
                  <a:srgbClr val="008000"/>
                </a:solidFill>
                <a:effectLst/>
                <a:latin typeface="Menlo" panose="020B0609030804020204" pitchFamily="49" charset="0"/>
              </a:rPr>
              <a:t>types.spec.ts</a:t>
            </a:r>
            <a:br>
              <a:rPr lang="en-US" b="0" dirty="0">
                <a:solidFill>
                  <a:srgbClr val="3B3B3B"/>
                </a:solidFill>
                <a:effectLst/>
                <a:latin typeface="Menlo" panose="020B0609030804020204" pitchFamily="49" charset="0"/>
              </a:rPr>
            </a:b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 </a:t>
            </a:r>
            <a:r>
              <a:rPr lang="en-US" b="0" dirty="0">
                <a:solidFill>
                  <a:srgbClr val="001080"/>
                </a:solidFill>
                <a:effectLst/>
                <a:latin typeface="Menlo" panose="020B0609030804020204" pitchFamily="49" charset="0"/>
              </a:rPr>
              <a:t>describe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expect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it</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vitest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Student</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types.ts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br>
              <a:rPr lang="en-US" b="0" dirty="0">
                <a:solidFill>
                  <a:srgbClr val="3B3B3B"/>
                </a:solidFill>
                <a:effectLst/>
                <a:latin typeface="Menlo" panose="020B0609030804020204" pitchFamily="49" charset="0"/>
              </a:rPr>
            </a:br>
            <a:r>
              <a:rPr lang="en-US" b="0" dirty="0">
                <a:solidFill>
                  <a:srgbClr val="0000FF"/>
                </a:solidFill>
                <a:effectLst/>
                <a:latin typeface="Menlo" panose="020B0609030804020204" pitchFamily="49" charset="0"/>
              </a:rPr>
              <a:t>const</a:t>
            </a:r>
            <a:r>
              <a:rPr lang="en-US" b="0" dirty="0">
                <a:solidFill>
                  <a:srgbClr val="3B3B3B"/>
                </a:solidFill>
                <a:effectLst/>
                <a:latin typeface="Menlo" panose="020B0609030804020204" pitchFamily="49" charset="0"/>
              </a:rPr>
              <a:t> </a:t>
            </a:r>
            <a:r>
              <a:rPr lang="en-US" b="0" dirty="0" err="1">
                <a:solidFill>
                  <a:srgbClr val="0070C1"/>
                </a:solidFill>
                <a:effectLst/>
                <a:latin typeface="Menlo" panose="020B0609030804020204" pitchFamily="49" charset="0"/>
              </a:rPr>
              <a:t>alvin</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studentID</a:t>
            </a:r>
            <a:r>
              <a:rPr lang="en-US" b="0" dirty="0">
                <a:solidFill>
                  <a:srgbClr val="00108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98658"/>
                </a:solidFill>
                <a:effectLst/>
                <a:latin typeface="Menlo" panose="020B0609030804020204" pitchFamily="49" charset="0"/>
              </a:rPr>
              <a:t>37</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studentName</a:t>
            </a:r>
            <a:r>
              <a:rPr lang="en-US" b="0" dirty="0">
                <a:solidFill>
                  <a:srgbClr val="00108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'Alvin'</a:t>
            </a:r>
            <a:r>
              <a:rPr lang="en-US" b="0" dirty="0">
                <a:solidFill>
                  <a:srgbClr val="3B3B3B"/>
                </a:solidFill>
                <a:effectLst/>
                <a:latin typeface="Menlo" panose="020B0609030804020204" pitchFamily="49" charset="0"/>
              </a:rPr>
              <a:t> };</a:t>
            </a:r>
          </a:p>
          <a:p>
            <a:pPr>
              <a:lnSpc>
                <a:spcPct val="110000"/>
              </a:lnSpc>
              <a:buNone/>
            </a:pPr>
            <a:r>
              <a:rPr lang="en-US" b="0" dirty="0">
                <a:solidFill>
                  <a:srgbClr val="0000FF"/>
                </a:solidFill>
                <a:effectLst/>
                <a:latin typeface="Menlo" panose="020B0609030804020204" pitchFamily="49" charset="0"/>
              </a:rPr>
              <a:t>const</a:t>
            </a:r>
            <a:r>
              <a:rPr lang="en-US" b="0" dirty="0">
                <a:solidFill>
                  <a:srgbClr val="3B3B3B"/>
                </a:solidFill>
                <a:effectLst/>
                <a:latin typeface="Menlo" panose="020B0609030804020204" pitchFamily="49" charset="0"/>
              </a:rPr>
              <a:t> </a:t>
            </a:r>
            <a:r>
              <a:rPr lang="en-US" b="0" dirty="0" err="1">
                <a:solidFill>
                  <a:srgbClr val="0070C1"/>
                </a:solidFill>
                <a:effectLst/>
                <a:latin typeface="Menlo" panose="020B0609030804020204" pitchFamily="49" charset="0"/>
              </a:rPr>
              <a:t>bryn</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267F99"/>
                </a:solidFill>
                <a:effectLst/>
                <a:latin typeface="Menlo" panose="020B0609030804020204" pitchFamily="49" charset="0"/>
              </a:rPr>
              <a:t>Student</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studentID</a:t>
            </a:r>
            <a:r>
              <a:rPr lang="en-US" b="0" dirty="0">
                <a:solidFill>
                  <a:srgbClr val="00108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98658"/>
                </a:solidFill>
                <a:effectLst/>
                <a:latin typeface="Menlo" panose="020B0609030804020204" pitchFamily="49" charset="0"/>
              </a:rPr>
              <a:t>38</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studentName</a:t>
            </a:r>
            <a:r>
              <a:rPr lang="en-US" b="0" dirty="0">
                <a:solidFill>
                  <a:srgbClr val="00108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'Bronwyn'</a:t>
            </a:r>
            <a:r>
              <a:rPr lang="en-US" b="0" dirty="0">
                <a:solidFill>
                  <a:srgbClr val="3B3B3B"/>
                </a:solidFill>
                <a:effectLst/>
                <a:latin typeface="Menlo" panose="020B0609030804020204" pitchFamily="49" charset="0"/>
              </a:rPr>
              <a:t> };</a:t>
            </a:r>
          </a:p>
          <a:p>
            <a:pPr>
              <a:lnSpc>
                <a:spcPct val="110000"/>
              </a:lnSpc>
              <a:buNone/>
            </a:pPr>
            <a:br>
              <a:rPr lang="en-US" b="0" dirty="0">
                <a:solidFill>
                  <a:srgbClr val="3B3B3B"/>
                </a:solidFill>
                <a:effectLst/>
                <a:latin typeface="Menlo" panose="020B0609030804020204" pitchFamily="49" charset="0"/>
              </a:rPr>
            </a:b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'the Student type'</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allow extraction of id'</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70C1"/>
                </a:solidFill>
                <a:effectLst/>
                <a:latin typeface="Menlo" panose="020B0609030804020204" pitchFamily="49" charset="0"/>
              </a:rPr>
              <a:t>alvin</a:t>
            </a:r>
            <a:r>
              <a:rPr lang="en-US" b="0" dirty="0" err="1">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98658"/>
                </a:solidFill>
                <a:effectLst/>
                <a:latin typeface="Menlo" panose="020B0609030804020204" pitchFamily="49" charset="0"/>
              </a:rPr>
              <a:t>37</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70C1"/>
                </a:solidFill>
                <a:effectLst/>
                <a:latin typeface="Menlo" panose="020B0609030804020204" pitchFamily="49" charset="0"/>
              </a:rPr>
              <a:t>bryn</a:t>
            </a:r>
            <a:r>
              <a:rPr lang="en-US" b="0" dirty="0" err="1">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studentID</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98658"/>
                </a:solidFill>
                <a:effectLst/>
                <a:latin typeface="Menlo" panose="020B0609030804020204" pitchFamily="49" charset="0"/>
              </a:rPr>
              <a:t>38</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  });</a:t>
            </a:r>
            <a:br>
              <a:rPr lang="en-US" b="0" dirty="0">
                <a:solidFill>
                  <a:srgbClr val="3B3B3B"/>
                </a:solidFill>
                <a:effectLst/>
                <a:latin typeface="Menlo" panose="020B0609030804020204" pitchFamily="49" charset="0"/>
              </a:rPr>
            </a:br>
            <a:r>
              <a:rPr lang="en-US" b="0" dirty="0">
                <a:solidFill>
                  <a:srgbClr val="3B3B3B"/>
                </a:solidFill>
                <a:effectLst/>
                <a:latin typeface="Menlo" panose="020B0609030804020204" pitchFamily="49" charset="0"/>
              </a:rPr>
              <a:t>  </a:t>
            </a:r>
            <a:r>
              <a:rPr lang="en-US" b="0" dirty="0">
                <a:solidFill>
                  <a:srgbClr val="795E26"/>
                </a:solidFill>
                <a:effectLst/>
                <a:latin typeface="Menlo" panose="020B0609030804020204" pitchFamily="49" charset="0"/>
              </a:rPr>
              <a:t>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allow extraction of name'</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70C1"/>
                </a:solidFill>
                <a:effectLst/>
                <a:latin typeface="Menlo" panose="020B0609030804020204" pitchFamily="49" charset="0"/>
              </a:rPr>
              <a:t>alvin</a:t>
            </a:r>
            <a:r>
              <a:rPr lang="en-US" b="0" dirty="0" err="1">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'Alvin’</a:t>
            </a:r>
            <a:r>
              <a:rPr lang="en-US" b="0" dirty="0">
                <a:solidFill>
                  <a:srgbClr val="3B3B3B"/>
                </a:solidFill>
                <a:effectLst/>
                <a:latin typeface="Menlo" panose="020B0609030804020204" pitchFamily="49" charset="0"/>
              </a:rPr>
              <a:t>);</a:t>
            </a:r>
          </a:p>
          <a:p>
            <a:pPr>
              <a:lnSpc>
                <a:spcPct val="110000"/>
              </a:lnSpc>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70C1"/>
                </a:solidFill>
                <a:effectLst/>
                <a:latin typeface="Menlo" panose="020B0609030804020204" pitchFamily="49" charset="0"/>
              </a:rPr>
              <a:t>bryn</a:t>
            </a:r>
            <a:r>
              <a:rPr lang="en-US" b="0" dirty="0" err="1">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studentName</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Jazzhands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08000"/>
                </a:solidFill>
                <a:effectLst/>
                <a:latin typeface="Menlo" panose="020B0609030804020204" pitchFamily="49" charset="0"/>
              </a:rPr>
              <a:t>// will fail</a:t>
            </a:r>
            <a:endParaRPr lang="en-US" b="0" dirty="0">
              <a:solidFill>
                <a:srgbClr val="3B3B3B"/>
              </a:solidFill>
              <a:effectLst/>
              <a:latin typeface="Menlo" panose="020B0609030804020204" pitchFamily="49" charset="0"/>
            </a:endParaRPr>
          </a:p>
          <a:p>
            <a:pPr>
              <a:lnSpc>
                <a:spcPct val="110000"/>
              </a:lnSpc>
              <a:buNone/>
            </a:pPr>
            <a:r>
              <a:rPr lang="en-US" b="0" dirty="0">
                <a:solidFill>
                  <a:srgbClr val="3B3B3B"/>
                </a:solidFill>
                <a:effectLst/>
                <a:latin typeface="Menlo" panose="020B0609030804020204" pitchFamily="49" charset="0"/>
              </a:rPr>
              <a:t>  });</a:t>
            </a:r>
          </a:p>
          <a:p>
            <a:pPr>
              <a:lnSpc>
                <a:spcPct val="110000"/>
              </a:lnSpc>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3577692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4EDC29-8187-C517-16E4-F0E0A06EFDD6}"/>
              </a:ext>
            </a:extLst>
          </p:cNvPr>
          <p:cNvSpPr>
            <a:spLocks noGrp="1"/>
          </p:cNvSpPr>
          <p:nvPr>
            <p:ph type="sldNum" sz="quarter" idx="12"/>
          </p:nvPr>
        </p:nvSpPr>
        <p:spPr/>
        <p:txBody>
          <a:bodyPr/>
          <a:lstStyle/>
          <a:p>
            <a:fld id="{20F37917-FD3A-4669-9018-DA04BCDD3D75}" type="slidenum">
              <a:rPr lang="en-US" smtClean="0"/>
              <a:t>16</a:t>
            </a:fld>
            <a:endParaRPr lang="en-US"/>
          </a:p>
        </p:txBody>
      </p:sp>
      <p:sp>
        <p:nvSpPr>
          <p:cNvPr id="3" name="Title 2">
            <a:extLst>
              <a:ext uri="{FF2B5EF4-FFF2-40B4-BE49-F238E27FC236}">
                <a16:creationId xmlns:a16="http://schemas.microsoft.com/office/drawing/2014/main" id="{37E08517-B269-8B9A-9E57-78D0D24BB9DE}"/>
              </a:ext>
            </a:extLst>
          </p:cNvPr>
          <p:cNvSpPr>
            <a:spLocks noGrp="1"/>
          </p:cNvSpPr>
          <p:nvPr>
            <p:ph type="title"/>
          </p:nvPr>
        </p:nvSpPr>
        <p:spPr/>
        <p:txBody>
          <a:bodyPr/>
          <a:lstStyle/>
          <a:p>
            <a:r>
              <a:rPr lang="en-US"/>
              <a:t>The tiniest introduction to Vitest</a:t>
            </a:r>
          </a:p>
        </p:txBody>
      </p:sp>
      <p:sp>
        <p:nvSpPr>
          <p:cNvPr id="6" name="TextBox 5">
            <a:extLst>
              <a:ext uri="{FF2B5EF4-FFF2-40B4-BE49-F238E27FC236}">
                <a16:creationId xmlns:a16="http://schemas.microsoft.com/office/drawing/2014/main" id="{7A9637F7-75C6-78DD-86A1-96D6EC789DA9}"/>
              </a:ext>
            </a:extLst>
          </p:cNvPr>
          <p:cNvSpPr txBox="1"/>
          <p:nvPr/>
        </p:nvSpPr>
        <p:spPr>
          <a:xfrm>
            <a:off x="744069" y="1555036"/>
            <a:ext cx="10434919" cy="54476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buNone/>
            </a:pPr>
            <a:r>
              <a:rPr lang="en-US" sz="1200" dirty="0">
                <a:solidFill>
                  <a:srgbClr val="000000"/>
                </a:solidFill>
                <a:effectLst/>
                <a:latin typeface="Menlo" panose="020B0609030804020204" pitchFamily="49" charset="0"/>
              </a:rPr>
              <a:t>% </a:t>
            </a:r>
            <a:r>
              <a:rPr lang="en-US" sz="1200" dirty="0" err="1">
                <a:solidFill>
                  <a:srgbClr val="000000"/>
                </a:solidFill>
                <a:effectLst/>
                <a:latin typeface="Menlo" panose="020B0609030804020204" pitchFamily="49" charset="0"/>
              </a:rPr>
              <a:t>npx</a:t>
            </a:r>
            <a:r>
              <a:rPr lang="en-US" sz="1200" dirty="0">
                <a:solidFill>
                  <a:srgbClr val="000000"/>
                </a:solidFill>
                <a:effectLst/>
                <a:latin typeface="Menlo" panose="020B0609030804020204" pitchFamily="49" charset="0"/>
              </a:rPr>
              <a:t> </a:t>
            </a:r>
            <a:r>
              <a:rPr lang="en-US" sz="1200" dirty="0" err="1">
                <a:solidFill>
                  <a:srgbClr val="000000"/>
                </a:solidFill>
                <a:effectLst/>
                <a:latin typeface="Menlo" panose="020B0609030804020204" pitchFamily="49" charset="0"/>
              </a:rPr>
              <a:t>vitest</a:t>
            </a:r>
            <a:r>
              <a:rPr lang="en-US" sz="1200" dirty="0">
                <a:solidFill>
                  <a:srgbClr val="000000"/>
                </a:solidFill>
                <a:effectLst/>
                <a:latin typeface="Menlo" panose="020B0609030804020204" pitchFamily="49" charset="0"/>
              </a:rPr>
              <a:t> --run </a:t>
            </a:r>
            <a:r>
              <a:rPr lang="en-US" sz="1200" dirty="0" err="1">
                <a:solidFill>
                  <a:srgbClr val="000000"/>
                </a:solidFill>
                <a:effectLst/>
                <a:latin typeface="Menlo" panose="020B0609030804020204" pitchFamily="49" charset="0"/>
              </a:rPr>
              <a:t>src</a:t>
            </a:r>
            <a:r>
              <a:rPr lang="en-US" sz="1200" dirty="0">
                <a:solidFill>
                  <a:srgbClr val="000000"/>
                </a:solidFill>
                <a:effectLst/>
                <a:latin typeface="Menlo" panose="020B0609030804020204" pitchFamily="49" charset="0"/>
              </a:rPr>
              <a:t>/</a:t>
            </a:r>
            <a:r>
              <a:rPr lang="en-US" sz="1200" dirty="0" err="1">
                <a:solidFill>
                  <a:srgbClr val="000000"/>
                </a:solidFill>
                <a:effectLst/>
                <a:latin typeface="Menlo" panose="020B0609030804020204" pitchFamily="49" charset="0"/>
              </a:rPr>
              <a:t>types.spec.ts</a:t>
            </a:r>
            <a:endParaRPr lang="en-US" sz="1200" dirty="0">
              <a:solidFill>
                <a:srgbClr val="000000"/>
              </a:solidFill>
              <a:effectLst/>
              <a:latin typeface="Menlo" panose="020B0609030804020204" pitchFamily="49" charset="0"/>
            </a:endParaRPr>
          </a:p>
          <a:p>
            <a:pPr>
              <a:buNone/>
            </a:pPr>
            <a:endParaRPr lang="en-US" sz="1200" dirty="0">
              <a:solidFill>
                <a:srgbClr val="000000"/>
              </a:solidFill>
              <a:effectLst/>
              <a:latin typeface="Menlo" panose="020B0609030804020204" pitchFamily="49" charset="0"/>
            </a:endParaRPr>
          </a:p>
          <a:p>
            <a:pPr>
              <a:buNone/>
            </a:pPr>
            <a:r>
              <a:rPr lang="en-US" sz="1200" b="1" dirty="0">
                <a:solidFill>
                  <a:srgbClr val="000000"/>
                </a:solidFill>
                <a:highlight>
                  <a:srgbClr val="0000FF"/>
                </a:highlight>
                <a:latin typeface="Menlo" panose="020B0609030804020204" pitchFamily="49" charset="0"/>
              </a:rPr>
              <a:t> </a:t>
            </a:r>
            <a:r>
              <a:rPr lang="en-US" sz="1200" b="1" dirty="0">
                <a:solidFill>
                  <a:schemeClr val="bg1"/>
                </a:solidFill>
                <a:highlight>
                  <a:srgbClr val="0000FF"/>
                </a:highlight>
                <a:latin typeface="Menlo" panose="020B0609030804020204" pitchFamily="49" charset="0"/>
              </a:rPr>
              <a:t>RUN</a:t>
            </a:r>
            <a:r>
              <a:rPr lang="en-US" sz="1200" b="1" dirty="0">
                <a:solidFill>
                  <a:srgbClr val="000000"/>
                </a:solidFill>
                <a:highlight>
                  <a:srgbClr val="0000FF"/>
                </a:highlight>
                <a:latin typeface="Menlo" panose="020B0609030804020204" pitchFamily="49" charset="0"/>
              </a:rPr>
              <a:t> </a:t>
            </a:r>
            <a:r>
              <a:rPr lang="en-US" sz="1200" b="1" dirty="0">
                <a:solidFill>
                  <a:srgbClr val="000000"/>
                </a:solidFill>
                <a:latin typeface="Menlo" panose="020B0609030804020204" pitchFamily="49" charset="0"/>
              </a:rPr>
              <a:t> </a:t>
            </a:r>
            <a:r>
              <a:rPr lang="en-US" sz="1200" dirty="0">
                <a:solidFill>
                  <a:srgbClr val="0070C0"/>
                </a:solidFill>
                <a:latin typeface="Menlo" panose="020B0609030804020204" pitchFamily="49" charset="0"/>
              </a:rPr>
              <a:t>v4.0.16</a:t>
            </a:r>
            <a:r>
              <a:rPr lang="en-US" sz="1200" dirty="0">
                <a:solidFill>
                  <a:srgbClr val="000000"/>
                </a:solidFill>
                <a:latin typeface="Menlo" panose="020B0609030804020204" pitchFamily="49" charset="0"/>
              </a:rPr>
              <a:t> /Users/</a:t>
            </a:r>
            <a:r>
              <a:rPr lang="en-US" sz="1200" dirty="0" err="1">
                <a:solidFill>
                  <a:srgbClr val="000000"/>
                </a:solidFill>
                <a:latin typeface="Menlo" panose="020B0609030804020204" pitchFamily="49" charset="0"/>
              </a:rPr>
              <a:t>rjsimmon</a:t>
            </a:r>
            <a:r>
              <a:rPr lang="en-US" sz="1200" dirty="0">
                <a:solidFill>
                  <a:srgbClr val="000000"/>
                </a:solidFill>
                <a:latin typeface="Menlo" panose="020B0609030804020204" pitchFamily="49" charset="0"/>
              </a:rPr>
              <a:t>/r/transcript-server</a:t>
            </a:r>
          </a:p>
          <a:p>
            <a:pPr>
              <a:buNone/>
            </a:pP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 </a:t>
            </a:r>
            <a:r>
              <a:rPr lang="en-US" sz="1200" dirty="0">
                <a:solidFill>
                  <a:srgbClr val="C00000"/>
                </a:solidFill>
                <a:latin typeface="Menlo" panose="020B0609030804020204" pitchFamily="49" charset="0"/>
              </a:rPr>
              <a:t>❯</a:t>
            </a:r>
            <a:r>
              <a:rPr lang="en-US" sz="1200" dirty="0">
                <a:solidFill>
                  <a:srgbClr val="000000"/>
                </a:solidFill>
                <a:latin typeface="Menlo" panose="020B0609030804020204" pitchFamily="49" charset="0"/>
              </a:rPr>
              <a:t> </a:t>
            </a:r>
            <a:r>
              <a:rPr lang="en-US" sz="1200" dirty="0" err="1">
                <a:solidFill>
                  <a:srgbClr val="000000"/>
                </a:solidFill>
                <a:latin typeface="Menlo" panose="020B0609030804020204" pitchFamily="49" charset="0"/>
              </a:rPr>
              <a:t>src</a:t>
            </a:r>
            <a:r>
              <a:rPr lang="en-US" sz="1200" dirty="0">
                <a:solidFill>
                  <a:srgbClr val="000000"/>
                </a:solidFill>
                <a:latin typeface="Menlo" panose="020B0609030804020204" pitchFamily="49" charset="0"/>
              </a:rPr>
              <a:t>/</a:t>
            </a:r>
            <a:r>
              <a:rPr lang="en-US" sz="1200" dirty="0" err="1">
                <a:solidFill>
                  <a:srgbClr val="000000"/>
                </a:solidFill>
                <a:latin typeface="Menlo" panose="020B0609030804020204" pitchFamily="49" charset="0"/>
              </a:rPr>
              <a:t>types.spec.ts</a:t>
            </a:r>
            <a:r>
              <a:rPr lang="en-US" sz="1200" dirty="0">
                <a:solidFill>
                  <a:srgbClr val="000000"/>
                </a:solidFill>
                <a:latin typeface="Menlo" panose="020B0609030804020204" pitchFamily="49" charset="0"/>
              </a:rPr>
              <a:t> </a:t>
            </a:r>
            <a:r>
              <a:rPr lang="en-US" sz="1200" dirty="0">
                <a:solidFill>
                  <a:schemeClr val="bg1">
                    <a:lumMod val="50000"/>
                  </a:schemeClr>
                </a:solidFill>
                <a:latin typeface="Menlo" panose="020B0609030804020204" pitchFamily="49" charset="0"/>
              </a:rPr>
              <a:t>(2 tests | </a:t>
            </a:r>
            <a:r>
              <a:rPr lang="en-US" sz="1200" dirty="0">
                <a:solidFill>
                  <a:srgbClr val="C00000"/>
                </a:solidFill>
                <a:latin typeface="Menlo" panose="020B0609030804020204" pitchFamily="49" charset="0"/>
              </a:rPr>
              <a:t>1 failed</a:t>
            </a:r>
            <a:r>
              <a:rPr lang="en-US" sz="1200" dirty="0">
                <a:solidFill>
                  <a:schemeClr val="bg1">
                    <a:lumMod val="50000"/>
                  </a:schemeClr>
                </a:solidFill>
                <a:latin typeface="Menlo" panose="020B0609030804020204" pitchFamily="49" charset="0"/>
              </a:rPr>
              <a:t>)</a:t>
            </a:r>
            <a:r>
              <a:rPr lang="en-US" sz="1200" dirty="0">
                <a:solidFill>
                  <a:srgbClr val="000000"/>
                </a:solidFill>
                <a:latin typeface="Menlo" panose="020B0609030804020204" pitchFamily="49" charset="0"/>
              </a:rPr>
              <a:t> 4</a:t>
            </a:r>
            <a:r>
              <a:rPr lang="en-US" sz="1200" dirty="0">
                <a:solidFill>
                  <a:srgbClr val="0070C0"/>
                </a:solidFill>
                <a:latin typeface="Menlo" panose="020B0609030804020204" pitchFamily="49" charset="0"/>
              </a:rPr>
              <a:t>ms</a:t>
            </a: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   </a:t>
            </a:r>
            <a:r>
              <a:rPr lang="en-US" sz="1200" dirty="0">
                <a:solidFill>
                  <a:srgbClr val="C00000"/>
                </a:solidFill>
                <a:latin typeface="Menlo" panose="020B0609030804020204" pitchFamily="49" charset="0"/>
              </a:rPr>
              <a:t>❯</a:t>
            </a:r>
            <a:r>
              <a:rPr lang="en-US" sz="1200" dirty="0">
                <a:solidFill>
                  <a:srgbClr val="000000"/>
                </a:solidFill>
                <a:latin typeface="Menlo" panose="020B0609030804020204" pitchFamily="49" charset="0"/>
              </a:rPr>
              <a:t> the Student type </a:t>
            </a:r>
            <a:r>
              <a:rPr lang="en-US" sz="1200" dirty="0">
                <a:solidFill>
                  <a:schemeClr val="bg1">
                    <a:lumMod val="50000"/>
                  </a:schemeClr>
                </a:solidFill>
                <a:latin typeface="Menlo" panose="020B0609030804020204" pitchFamily="49" charset="0"/>
              </a:rPr>
              <a:t>(2)</a:t>
            </a:r>
          </a:p>
          <a:p>
            <a:pPr>
              <a:buNone/>
            </a:pPr>
            <a:r>
              <a:rPr lang="en-US" sz="1200" dirty="0">
                <a:solidFill>
                  <a:srgbClr val="000000"/>
                </a:solidFill>
                <a:latin typeface="Menlo" panose="020B0609030804020204" pitchFamily="49" charset="0"/>
              </a:rPr>
              <a:t>     ✓ should allow extraction of id 1</a:t>
            </a:r>
            <a:r>
              <a:rPr lang="en-US" sz="1200" dirty="0">
                <a:solidFill>
                  <a:srgbClr val="0070C0"/>
                </a:solidFill>
                <a:latin typeface="Menlo" panose="020B0609030804020204" pitchFamily="49" charset="0"/>
              </a:rPr>
              <a:t>ms</a:t>
            </a: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     </a:t>
            </a:r>
            <a:r>
              <a:rPr lang="en-US" sz="1200" dirty="0">
                <a:solidFill>
                  <a:srgbClr val="C00000"/>
                </a:solidFill>
                <a:latin typeface="Menlo" panose="020B0609030804020204" pitchFamily="49" charset="0"/>
              </a:rPr>
              <a:t>× should allow extraction of name </a:t>
            </a:r>
            <a:r>
              <a:rPr lang="en-US" sz="1200" dirty="0">
                <a:solidFill>
                  <a:srgbClr val="000000"/>
                </a:solidFill>
                <a:latin typeface="Menlo" panose="020B0609030804020204" pitchFamily="49" charset="0"/>
              </a:rPr>
              <a:t>3</a:t>
            </a:r>
            <a:r>
              <a:rPr lang="en-US" sz="1200" dirty="0">
                <a:solidFill>
                  <a:srgbClr val="0070C0"/>
                </a:solidFill>
                <a:latin typeface="Menlo" panose="020B0609030804020204" pitchFamily="49" charset="0"/>
              </a:rPr>
              <a:t>ms</a:t>
            </a:r>
          </a:p>
          <a:p>
            <a:pPr>
              <a:buNone/>
            </a:pPr>
            <a:endParaRPr lang="en-US" sz="1200" dirty="0">
              <a:solidFill>
                <a:srgbClr val="C00000"/>
              </a:solidFill>
              <a:latin typeface="Menlo" panose="020B0609030804020204" pitchFamily="49" charset="0"/>
            </a:endParaRPr>
          </a:p>
          <a:p>
            <a:r>
              <a:rPr lang="en-US" sz="1200" dirty="0">
                <a:solidFill>
                  <a:srgbClr val="C00000"/>
                </a:solidFill>
                <a:latin typeface="Menlo" panose="020B0609030804020204" pitchFamily="49" charset="0"/>
              </a:rPr>
              <a:t>⎯⎯⎯⎯⎯⎯⎯⎯⎯⎯⎯⎯⎯⎯⎯⎯⎯⎯⎯⎯⎯⎯⎯⎯⎯⎯⎯⎯⎯⎯⎯⎯⎯⎯⎯⎯⎯⎯⎯⎯</a:t>
            </a:r>
            <a:r>
              <a:rPr lang="en-US" sz="1200" dirty="0">
                <a:solidFill>
                  <a:srgbClr val="000000"/>
                </a:solidFill>
                <a:highlight>
                  <a:srgbClr val="800000"/>
                </a:highlight>
                <a:latin typeface="Menlo" panose="020B0609030804020204" pitchFamily="49" charset="0"/>
              </a:rPr>
              <a:t> </a:t>
            </a:r>
            <a:r>
              <a:rPr lang="en-US" sz="1200" b="1" dirty="0">
                <a:solidFill>
                  <a:schemeClr val="bg1"/>
                </a:solidFill>
                <a:highlight>
                  <a:srgbClr val="800000"/>
                </a:highlight>
                <a:latin typeface="Menlo" panose="020B0609030804020204" pitchFamily="49" charset="0"/>
              </a:rPr>
              <a:t>Failed Tests 1</a:t>
            </a:r>
            <a:r>
              <a:rPr lang="en-US" sz="1200" b="1" dirty="0">
                <a:solidFill>
                  <a:srgbClr val="000000"/>
                </a:solidFill>
                <a:highlight>
                  <a:srgbClr val="800000"/>
                </a:highlight>
                <a:latin typeface="Menlo" panose="020B0609030804020204" pitchFamily="49" charset="0"/>
              </a:rPr>
              <a:t> </a:t>
            </a:r>
            <a:r>
              <a:rPr lang="en-US" sz="1200" dirty="0">
                <a:solidFill>
                  <a:srgbClr val="C00000"/>
                </a:solidFill>
                <a:latin typeface="Menlo" panose="020B0609030804020204" pitchFamily="49" charset="0"/>
              </a:rPr>
              <a:t>⎯⎯⎯⎯⎯⎯⎯⎯⎯⎯⎯⎯⎯⎯⎯⎯⎯⎯⎯⎯⎯⎯⎯⎯⎯⎯⎯⎯⎯⎯⎯⎯⎯⎯⎯⎯⎯⎯⎯⎯⎯⎯⎯⎯⎯⎯⎯⎯⎯⎯⎯⎯⎯⎯⎯⎯⎯⎯⎯⎯⎯⎯⎯⎯⎯⎯</a:t>
            </a:r>
          </a:p>
          <a:p>
            <a:pPr>
              <a:buNone/>
            </a:pPr>
            <a:endParaRPr lang="en-US" sz="1200" dirty="0">
              <a:solidFill>
                <a:srgbClr val="000000"/>
              </a:solidFill>
              <a:latin typeface="Menlo" panose="020B0609030804020204" pitchFamily="49" charset="0"/>
            </a:endParaRPr>
          </a:p>
          <a:p>
            <a:pPr>
              <a:buNone/>
            </a:pPr>
            <a:r>
              <a:rPr lang="en-US" sz="1200" dirty="0">
                <a:solidFill>
                  <a:srgbClr val="000000"/>
                </a:solidFill>
                <a:highlight>
                  <a:srgbClr val="800000"/>
                </a:highlight>
                <a:latin typeface="Menlo" panose="020B0609030804020204" pitchFamily="49" charset="0"/>
              </a:rPr>
              <a:t> </a:t>
            </a:r>
            <a:r>
              <a:rPr lang="en-US" sz="1200" b="1" dirty="0">
                <a:solidFill>
                  <a:schemeClr val="bg1"/>
                </a:solidFill>
                <a:highlight>
                  <a:srgbClr val="800000"/>
                </a:highlight>
                <a:latin typeface="Menlo" panose="020B0609030804020204" pitchFamily="49" charset="0"/>
              </a:rPr>
              <a:t>FAIL</a:t>
            </a:r>
            <a:r>
              <a:rPr lang="en-US" sz="1200" dirty="0">
                <a:solidFill>
                  <a:srgbClr val="000000"/>
                </a:solidFill>
                <a:highlight>
                  <a:srgbClr val="800000"/>
                </a:highlight>
                <a:latin typeface="Menlo" panose="020B0609030804020204" pitchFamily="49" charset="0"/>
              </a:rPr>
              <a:t>  </a:t>
            </a:r>
            <a:r>
              <a:rPr lang="en-US" sz="1200" dirty="0" err="1">
                <a:solidFill>
                  <a:srgbClr val="000000"/>
                </a:solidFill>
                <a:latin typeface="Menlo" panose="020B0609030804020204" pitchFamily="49" charset="0"/>
              </a:rPr>
              <a:t>src</a:t>
            </a:r>
            <a:r>
              <a:rPr lang="en-US" sz="1200" dirty="0">
                <a:solidFill>
                  <a:srgbClr val="000000"/>
                </a:solidFill>
                <a:latin typeface="Menlo" panose="020B0609030804020204" pitchFamily="49" charset="0"/>
              </a:rPr>
              <a:t>/</a:t>
            </a:r>
            <a:r>
              <a:rPr lang="en-US" sz="1200" dirty="0" err="1">
                <a:solidFill>
                  <a:srgbClr val="000000"/>
                </a:solidFill>
                <a:latin typeface="Menlo" panose="020B0609030804020204" pitchFamily="49" charset="0"/>
              </a:rPr>
              <a:t>types.spec.ts</a:t>
            </a:r>
            <a:r>
              <a:rPr lang="en-US" sz="1200" dirty="0">
                <a:solidFill>
                  <a:srgbClr val="000000"/>
                </a:solidFill>
                <a:latin typeface="Menlo" panose="020B0609030804020204" pitchFamily="49" charset="0"/>
              </a:rPr>
              <a:t> &gt; the Student type &gt; should allow extraction of name</a:t>
            </a:r>
          </a:p>
          <a:p>
            <a:pPr>
              <a:buNone/>
            </a:pPr>
            <a:r>
              <a:rPr lang="en-US" sz="1200" b="1" dirty="0" err="1">
                <a:solidFill>
                  <a:srgbClr val="C00000"/>
                </a:solidFill>
                <a:latin typeface="Menlo" panose="020B0609030804020204" pitchFamily="49" charset="0"/>
              </a:rPr>
              <a:t>AssertionError</a:t>
            </a:r>
            <a:r>
              <a:rPr lang="en-US" sz="1200" dirty="0">
                <a:solidFill>
                  <a:srgbClr val="C00000"/>
                </a:solidFill>
                <a:latin typeface="Menlo" panose="020B0609030804020204" pitchFamily="49" charset="0"/>
              </a:rPr>
              <a:t>: expected 'Bronwyn' to deeply equal '</a:t>
            </a:r>
            <a:r>
              <a:rPr lang="en-US" sz="1200" dirty="0" err="1">
                <a:solidFill>
                  <a:srgbClr val="C00000"/>
                </a:solidFill>
                <a:latin typeface="Menlo" panose="020B0609030804020204" pitchFamily="49" charset="0"/>
              </a:rPr>
              <a:t>Jazzhands</a:t>
            </a:r>
            <a:r>
              <a:rPr lang="en-US" sz="1200" dirty="0">
                <a:solidFill>
                  <a:srgbClr val="C00000"/>
                </a:solidFill>
                <a:latin typeface="Menlo" panose="020B0609030804020204" pitchFamily="49" charset="0"/>
              </a:rPr>
              <a:t>'</a:t>
            </a:r>
          </a:p>
          <a:p>
            <a:pPr>
              <a:buNone/>
            </a:pP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Expected: </a:t>
            </a:r>
            <a:r>
              <a:rPr lang="en-US" sz="1200" dirty="0">
                <a:solidFill>
                  <a:schemeClr val="accent6">
                    <a:lumMod val="75000"/>
                  </a:schemeClr>
                </a:solidFill>
                <a:latin typeface="Menlo" panose="020B0609030804020204" pitchFamily="49" charset="0"/>
              </a:rPr>
              <a:t>"</a:t>
            </a:r>
            <a:r>
              <a:rPr lang="en-US" sz="1200" dirty="0" err="1">
                <a:solidFill>
                  <a:schemeClr val="accent6">
                    <a:lumMod val="75000"/>
                  </a:schemeClr>
                </a:solidFill>
                <a:latin typeface="Menlo" panose="020B0609030804020204" pitchFamily="49" charset="0"/>
              </a:rPr>
              <a:t>Jazzhands</a:t>
            </a:r>
            <a:r>
              <a:rPr lang="en-US" sz="1200" dirty="0">
                <a:solidFill>
                  <a:schemeClr val="accent6">
                    <a:lumMod val="75000"/>
                  </a:schemeClr>
                </a:solidFill>
                <a:latin typeface="Menlo" panose="020B0609030804020204" pitchFamily="49" charset="0"/>
              </a:rPr>
              <a:t>"</a:t>
            </a:r>
          </a:p>
          <a:p>
            <a:pPr>
              <a:buNone/>
            </a:pPr>
            <a:r>
              <a:rPr lang="en-US" sz="1200" dirty="0">
                <a:solidFill>
                  <a:srgbClr val="000000"/>
                </a:solidFill>
                <a:latin typeface="Menlo" panose="020B0609030804020204" pitchFamily="49" charset="0"/>
              </a:rPr>
              <a:t>Received: </a:t>
            </a:r>
            <a:r>
              <a:rPr lang="en-US" sz="1200" dirty="0">
                <a:solidFill>
                  <a:srgbClr val="C00000"/>
                </a:solidFill>
                <a:latin typeface="Menlo" panose="020B0609030804020204" pitchFamily="49" charset="0"/>
              </a:rPr>
              <a:t>"Bronwyn"</a:t>
            </a:r>
          </a:p>
          <a:p>
            <a:pPr>
              <a:buNone/>
            </a:pPr>
            <a:endParaRPr lang="en-US" sz="1200" dirty="0">
              <a:solidFill>
                <a:srgbClr val="000000"/>
              </a:solidFill>
              <a:latin typeface="Menlo" panose="020B0609030804020204" pitchFamily="49" charset="0"/>
            </a:endParaRPr>
          </a:p>
          <a:p>
            <a:pPr>
              <a:buNone/>
            </a:pPr>
            <a:r>
              <a:rPr lang="en-US" sz="1200" dirty="0">
                <a:solidFill>
                  <a:srgbClr val="0070C0"/>
                </a:solidFill>
                <a:latin typeface="Menlo" panose="020B0609030804020204" pitchFamily="49" charset="0"/>
              </a:rPr>
              <a:t> ❯ </a:t>
            </a:r>
            <a:r>
              <a:rPr lang="en-US" sz="1200" dirty="0" err="1">
                <a:solidFill>
                  <a:srgbClr val="0070C0"/>
                </a:solidFill>
                <a:latin typeface="Menlo" panose="020B0609030804020204" pitchFamily="49" charset="0"/>
              </a:rPr>
              <a:t>src</a:t>
            </a:r>
            <a:r>
              <a:rPr lang="en-US" sz="1200" dirty="0">
                <a:solidFill>
                  <a:srgbClr val="0070C0"/>
                </a:solidFill>
                <a:latin typeface="Menlo" panose="020B0609030804020204" pitchFamily="49" charset="0"/>
              </a:rPr>
              <a:t>/types.spec.ts:13:30</a:t>
            </a:r>
          </a:p>
          <a:p>
            <a:pPr>
              <a:buNone/>
            </a:pPr>
            <a:r>
              <a:rPr lang="en-US" sz="1200" dirty="0">
                <a:solidFill>
                  <a:srgbClr val="000000"/>
                </a:solidFill>
                <a:latin typeface="Menlo" panose="020B0609030804020204" pitchFamily="49" charset="0"/>
              </a:rPr>
              <a:t>     11|   it(</a:t>
            </a:r>
            <a:r>
              <a:rPr lang="en-US" sz="1200" dirty="0">
                <a:solidFill>
                  <a:schemeClr val="accent6">
                    <a:lumMod val="75000"/>
                  </a:schemeClr>
                </a:solidFill>
                <a:latin typeface="Menlo" panose="020B0609030804020204" pitchFamily="49" charset="0"/>
              </a:rPr>
              <a:t>'should allow extraction of name'</a:t>
            </a:r>
            <a:r>
              <a:rPr lang="en-US" sz="1200" dirty="0">
                <a:solidFill>
                  <a:srgbClr val="000000"/>
                </a:solidFill>
                <a:latin typeface="Menlo" panose="020B0609030804020204" pitchFamily="49" charset="0"/>
              </a:rPr>
              <a:t>, () =&gt; {</a:t>
            </a:r>
          </a:p>
          <a:p>
            <a:pPr>
              <a:buNone/>
            </a:pPr>
            <a:r>
              <a:rPr lang="en-US" sz="1200" dirty="0">
                <a:solidFill>
                  <a:srgbClr val="000000"/>
                </a:solidFill>
                <a:latin typeface="Menlo" panose="020B0609030804020204" pitchFamily="49" charset="0"/>
              </a:rPr>
              <a:t>     12|     expect(</a:t>
            </a:r>
            <a:r>
              <a:rPr lang="en-US" sz="1200" dirty="0" err="1">
                <a:solidFill>
                  <a:srgbClr val="000000"/>
                </a:solidFill>
                <a:latin typeface="Menlo" panose="020B0609030804020204" pitchFamily="49" charset="0"/>
              </a:rPr>
              <a:t>alvin.studentName</a:t>
            </a:r>
            <a:r>
              <a:rPr lang="en-US" sz="1200" dirty="0">
                <a:solidFill>
                  <a:srgbClr val="000000"/>
                </a:solidFill>
                <a:latin typeface="Menlo" panose="020B0609030804020204" pitchFamily="49" charset="0"/>
              </a:rPr>
              <a:t>).</a:t>
            </a:r>
            <a:r>
              <a:rPr lang="en-US" sz="1200" dirty="0" err="1">
                <a:solidFill>
                  <a:srgbClr val="000000"/>
                </a:solidFill>
                <a:latin typeface="Menlo" panose="020B0609030804020204" pitchFamily="49" charset="0"/>
              </a:rPr>
              <a:t>toEqual</a:t>
            </a:r>
            <a:r>
              <a:rPr lang="en-US" sz="1200" dirty="0">
                <a:solidFill>
                  <a:srgbClr val="000000"/>
                </a:solidFill>
                <a:latin typeface="Menlo" panose="020B0609030804020204" pitchFamily="49" charset="0"/>
              </a:rPr>
              <a:t>(</a:t>
            </a:r>
            <a:r>
              <a:rPr lang="en-US" sz="1200" dirty="0">
                <a:solidFill>
                  <a:schemeClr val="accent6">
                    <a:lumMod val="75000"/>
                  </a:schemeClr>
                </a:solidFill>
                <a:latin typeface="Menlo" panose="020B0609030804020204" pitchFamily="49" charset="0"/>
              </a:rPr>
              <a:t>'Alvin'</a:t>
            </a:r>
            <a:r>
              <a:rPr lang="en-US" sz="1200" dirty="0">
                <a:solidFill>
                  <a:srgbClr val="000000"/>
                </a:solidFill>
                <a:latin typeface="Menlo" panose="020B0609030804020204" pitchFamily="49" charset="0"/>
              </a:rPr>
              <a:t>);</a:t>
            </a:r>
          </a:p>
          <a:p>
            <a:pPr>
              <a:buNone/>
            </a:pPr>
            <a:r>
              <a:rPr lang="en-US" sz="1200" dirty="0">
                <a:solidFill>
                  <a:srgbClr val="000000"/>
                </a:solidFill>
                <a:latin typeface="Menlo" panose="020B0609030804020204" pitchFamily="49" charset="0"/>
              </a:rPr>
              <a:t>     13|     expect(</a:t>
            </a:r>
            <a:r>
              <a:rPr lang="en-US" sz="1200" dirty="0" err="1">
                <a:solidFill>
                  <a:srgbClr val="000000"/>
                </a:solidFill>
                <a:latin typeface="Menlo" panose="020B0609030804020204" pitchFamily="49" charset="0"/>
              </a:rPr>
              <a:t>bryn.studentName</a:t>
            </a:r>
            <a:r>
              <a:rPr lang="en-US" sz="1200" dirty="0">
                <a:solidFill>
                  <a:srgbClr val="000000"/>
                </a:solidFill>
                <a:latin typeface="Menlo" panose="020B0609030804020204" pitchFamily="49" charset="0"/>
              </a:rPr>
              <a:t>).</a:t>
            </a:r>
            <a:r>
              <a:rPr lang="en-US" sz="1200" dirty="0" err="1">
                <a:solidFill>
                  <a:srgbClr val="000000"/>
                </a:solidFill>
                <a:latin typeface="Menlo" panose="020B0609030804020204" pitchFamily="49" charset="0"/>
              </a:rPr>
              <a:t>toEqual</a:t>
            </a:r>
            <a:r>
              <a:rPr lang="en-US" sz="1200" dirty="0">
                <a:solidFill>
                  <a:srgbClr val="000000"/>
                </a:solidFill>
                <a:latin typeface="Menlo" panose="020B0609030804020204" pitchFamily="49" charset="0"/>
              </a:rPr>
              <a:t>(</a:t>
            </a:r>
            <a:r>
              <a:rPr lang="en-US" sz="1200" dirty="0">
                <a:solidFill>
                  <a:schemeClr val="accent6">
                    <a:lumMod val="75000"/>
                  </a:schemeClr>
                </a:solidFill>
                <a:latin typeface="Menlo" panose="020B0609030804020204" pitchFamily="49" charset="0"/>
              </a:rPr>
              <a:t>'</a:t>
            </a:r>
            <a:r>
              <a:rPr lang="en-US" sz="1200" dirty="0" err="1">
                <a:solidFill>
                  <a:schemeClr val="accent6">
                    <a:lumMod val="75000"/>
                  </a:schemeClr>
                </a:solidFill>
                <a:latin typeface="Menlo" panose="020B0609030804020204" pitchFamily="49" charset="0"/>
              </a:rPr>
              <a:t>Jazzhands</a:t>
            </a:r>
            <a:r>
              <a:rPr lang="en-US" sz="1200" dirty="0">
                <a:solidFill>
                  <a:schemeClr val="accent6">
                    <a:lumMod val="75000"/>
                  </a:schemeClr>
                </a:solidFill>
                <a:latin typeface="Menlo" panose="020B0609030804020204" pitchFamily="49" charset="0"/>
              </a:rPr>
              <a:t>'</a:t>
            </a:r>
            <a:r>
              <a:rPr lang="en-US" sz="1200" dirty="0">
                <a:solidFill>
                  <a:srgbClr val="000000"/>
                </a:solidFill>
                <a:latin typeface="Menlo" panose="020B0609030804020204" pitchFamily="49" charset="0"/>
              </a:rPr>
              <a:t>); // will fail</a:t>
            </a:r>
          </a:p>
          <a:p>
            <a:pPr>
              <a:buNone/>
            </a:pPr>
            <a:r>
              <a:rPr lang="en-US" sz="1200" dirty="0">
                <a:solidFill>
                  <a:srgbClr val="000000"/>
                </a:solidFill>
                <a:latin typeface="Menlo" panose="020B0609030804020204" pitchFamily="49" charset="0"/>
              </a:rPr>
              <a:t>       |                              ^</a:t>
            </a:r>
          </a:p>
          <a:p>
            <a:pPr>
              <a:buNone/>
            </a:pPr>
            <a:r>
              <a:rPr lang="en-US" sz="1200" dirty="0">
                <a:solidFill>
                  <a:srgbClr val="000000"/>
                </a:solidFill>
                <a:latin typeface="Menlo" panose="020B0609030804020204" pitchFamily="49" charset="0"/>
              </a:rPr>
              <a:t>     14|   });</a:t>
            </a:r>
          </a:p>
          <a:p>
            <a:pPr>
              <a:buNone/>
            </a:pPr>
            <a:r>
              <a:rPr lang="en-US" sz="1200" dirty="0">
                <a:solidFill>
                  <a:srgbClr val="000000"/>
                </a:solidFill>
                <a:latin typeface="Menlo" panose="020B0609030804020204" pitchFamily="49" charset="0"/>
              </a:rPr>
              <a:t>     15| });</a:t>
            </a:r>
          </a:p>
          <a:p>
            <a:pPr>
              <a:buNone/>
            </a:pPr>
            <a:endParaRPr lang="en-US" sz="1200" dirty="0">
              <a:solidFill>
                <a:srgbClr val="000000"/>
              </a:solidFill>
              <a:latin typeface="Menlo" panose="020B0609030804020204" pitchFamily="49" charset="0"/>
            </a:endParaRPr>
          </a:p>
          <a:p>
            <a:pPr>
              <a:buNone/>
            </a:pPr>
            <a:endParaRPr lang="en-US" sz="1200" dirty="0">
              <a:solidFill>
                <a:srgbClr val="000000"/>
              </a:solidFill>
              <a:latin typeface="Menlo" panose="020B0609030804020204" pitchFamily="49" charset="0"/>
            </a:endParaRPr>
          </a:p>
          <a:p>
            <a:pPr>
              <a:buNone/>
            </a:pPr>
            <a:r>
              <a:rPr lang="en-US" sz="1200" dirty="0">
                <a:solidFill>
                  <a:srgbClr val="000000"/>
                </a:solidFill>
                <a:latin typeface="Menlo" panose="020B0609030804020204" pitchFamily="49" charset="0"/>
              </a:rPr>
              <a:t> </a:t>
            </a:r>
            <a:r>
              <a:rPr lang="en-US" sz="1200" dirty="0">
                <a:solidFill>
                  <a:schemeClr val="bg1">
                    <a:lumMod val="50000"/>
                  </a:schemeClr>
                </a:solidFill>
                <a:latin typeface="Menlo" panose="020B0609030804020204" pitchFamily="49" charset="0"/>
              </a:rPr>
              <a:t>Test Files  </a:t>
            </a:r>
            <a:r>
              <a:rPr lang="en-US" sz="1200" b="1" dirty="0">
                <a:solidFill>
                  <a:srgbClr val="C00000"/>
                </a:solidFill>
                <a:latin typeface="Menlo" panose="020B0609030804020204" pitchFamily="49" charset="0"/>
              </a:rPr>
              <a:t>1 failed </a:t>
            </a:r>
            <a:r>
              <a:rPr lang="en-US" sz="1200" dirty="0">
                <a:solidFill>
                  <a:srgbClr val="000000"/>
                </a:solidFill>
                <a:latin typeface="Menlo" panose="020B0609030804020204" pitchFamily="49" charset="0"/>
              </a:rPr>
              <a:t>(1)</a:t>
            </a:r>
          </a:p>
          <a:p>
            <a:pPr>
              <a:buNone/>
            </a:pPr>
            <a:r>
              <a:rPr lang="en-US" sz="1200" dirty="0">
                <a:solidFill>
                  <a:srgbClr val="000000"/>
                </a:solidFill>
                <a:latin typeface="Menlo" panose="020B0609030804020204" pitchFamily="49" charset="0"/>
              </a:rPr>
              <a:t>      </a:t>
            </a:r>
            <a:r>
              <a:rPr lang="en-US" sz="1200" dirty="0">
                <a:solidFill>
                  <a:schemeClr val="bg1">
                    <a:lumMod val="50000"/>
                  </a:schemeClr>
                </a:solidFill>
                <a:latin typeface="Menlo" panose="020B0609030804020204" pitchFamily="49" charset="0"/>
              </a:rPr>
              <a:t>Tests</a:t>
            </a:r>
            <a:r>
              <a:rPr lang="en-US" sz="1200" dirty="0">
                <a:solidFill>
                  <a:srgbClr val="000000"/>
                </a:solidFill>
                <a:latin typeface="Menlo" panose="020B0609030804020204" pitchFamily="49" charset="0"/>
              </a:rPr>
              <a:t>  </a:t>
            </a:r>
            <a:r>
              <a:rPr lang="en-US" sz="1200" b="1" dirty="0">
                <a:solidFill>
                  <a:srgbClr val="C00000"/>
                </a:solidFill>
                <a:latin typeface="Menlo" panose="020B0609030804020204" pitchFamily="49" charset="0"/>
              </a:rPr>
              <a:t>1 failed </a:t>
            </a:r>
            <a:r>
              <a:rPr lang="en-US" sz="1200" dirty="0">
                <a:solidFill>
                  <a:srgbClr val="000000"/>
                </a:solidFill>
                <a:latin typeface="Menlo" panose="020B0609030804020204" pitchFamily="49" charset="0"/>
              </a:rPr>
              <a:t>| </a:t>
            </a:r>
            <a:r>
              <a:rPr lang="en-US" sz="1200" b="1" dirty="0">
                <a:solidFill>
                  <a:schemeClr val="accent6">
                    <a:lumMod val="75000"/>
                  </a:schemeClr>
                </a:solidFill>
                <a:latin typeface="Menlo" panose="020B0609030804020204" pitchFamily="49" charset="0"/>
              </a:rPr>
              <a:t>1 passed</a:t>
            </a:r>
            <a:r>
              <a:rPr lang="en-US" sz="1200" dirty="0">
                <a:solidFill>
                  <a:srgbClr val="000000"/>
                </a:solidFill>
                <a:latin typeface="Menlo" panose="020B0609030804020204" pitchFamily="49" charset="0"/>
              </a:rPr>
              <a:t> (2)</a:t>
            </a:r>
            <a:endParaRPr lang="en-US" sz="1200" dirty="0">
              <a:solidFill>
                <a:srgbClr val="999999"/>
              </a:solidFill>
              <a:effectLst/>
              <a:latin typeface="Menlo" panose="020B0609030804020204" pitchFamily="49" charset="0"/>
            </a:endParaRPr>
          </a:p>
        </p:txBody>
      </p:sp>
    </p:spTree>
    <p:extLst>
      <p:ext uri="{BB962C8B-B14F-4D97-AF65-F5344CB8AC3E}">
        <p14:creationId xmlns:p14="http://schemas.microsoft.com/office/powerpoint/2010/main" val="128134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577E8-90B5-3697-A8A6-4F0A446EB3F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4D413A-20B5-6C0A-8184-6065C0BB8744}"/>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17</a:t>
            </a:fld>
            <a:endParaRPr lang="en-US"/>
          </a:p>
        </p:txBody>
      </p:sp>
      <p:sp>
        <p:nvSpPr>
          <p:cNvPr id="2" name="Title 1">
            <a:extLst>
              <a:ext uri="{FF2B5EF4-FFF2-40B4-BE49-F238E27FC236}">
                <a16:creationId xmlns:a16="http://schemas.microsoft.com/office/drawing/2014/main" id="{468F4111-AE52-650B-F77E-28250437E96E}"/>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15F69F3D-8FDB-1D9B-990F-CD188B64AA49}"/>
              </a:ext>
            </a:extLst>
          </p:cNvPr>
          <p:cNvSpPr txBox="1"/>
          <p:nvPr/>
        </p:nvSpPr>
        <p:spPr>
          <a:xfrm>
            <a:off x="744069" y="1555036"/>
            <a:ext cx="11354146" cy="494744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8000"/>
                </a:solidFill>
                <a:effectLst/>
                <a:latin typeface="Menlo" panose="020B0609030804020204" pitchFamily="49" charset="0"/>
              </a:rPr>
              <a:t>// </a:t>
            </a:r>
            <a:r>
              <a:rPr lang="en-US" b="0" dirty="0" err="1">
                <a:solidFill>
                  <a:srgbClr val="008000"/>
                </a:solidFill>
                <a:effectLst/>
                <a:latin typeface="Menlo" panose="020B0609030804020204" pitchFamily="49" charset="0"/>
              </a:rPr>
              <a:t>transcript.service.spec.ts</a:t>
            </a:r>
            <a:br>
              <a:rPr lang="en-US" b="0" dirty="0">
                <a:solidFill>
                  <a:srgbClr val="3B3B3B"/>
                </a:solidFill>
                <a:effectLst/>
                <a:latin typeface="Menlo" panose="020B0609030804020204" pitchFamily="49" charset="0"/>
              </a:rPr>
            </a:b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beforeEach</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describe</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expect</a:t>
            </a:r>
            <a:r>
              <a:rPr lang="en-US" b="0" dirty="0">
                <a:solidFill>
                  <a:srgbClr val="3B3B3B"/>
                </a:solidFill>
                <a:effectLst/>
                <a:latin typeface="Menlo" panose="020B0609030804020204" pitchFamily="49" charset="0"/>
              </a:rPr>
              <a:t>, </a:t>
            </a:r>
            <a:r>
              <a:rPr lang="en-US" b="0" dirty="0">
                <a:solidFill>
                  <a:srgbClr val="001080"/>
                </a:solidFill>
                <a:effectLst/>
                <a:latin typeface="Menlo" panose="020B0609030804020204" pitchFamily="49" charset="0"/>
              </a:rPr>
              <a:t>it</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vitest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AF00DB"/>
                </a:solidFill>
                <a:effectLst/>
                <a:latin typeface="Menlo" panose="020B0609030804020204" pitchFamily="49" charset="0"/>
              </a:rPr>
              <a:t>import</a:t>
            </a:r>
            <a:r>
              <a:rPr lang="en-US" b="0" dirty="0">
                <a:solidFill>
                  <a:srgbClr val="3B3B3B"/>
                </a:solidFill>
                <a:effectLst/>
                <a:latin typeface="Menlo" panose="020B0609030804020204" pitchFamily="49" charset="0"/>
              </a:rPr>
              <a:t> { </a:t>
            </a:r>
            <a:r>
              <a:rPr lang="en-US" b="0" dirty="0" err="1">
                <a:solidFill>
                  <a:srgbClr val="001080"/>
                </a:solidFill>
                <a:effectLst/>
                <a:latin typeface="Menlo" panose="020B0609030804020204" pitchFamily="49" charset="0"/>
              </a:rPr>
              <a:t>TranscriptDB</a:t>
            </a:r>
            <a:r>
              <a:rPr lang="en-US" b="0" dirty="0">
                <a:solidFill>
                  <a:srgbClr val="3B3B3B"/>
                </a:solidFill>
                <a:effectLst/>
                <a:latin typeface="Menlo" panose="020B0609030804020204" pitchFamily="49" charset="0"/>
              </a:rPr>
              <a:t>, </a:t>
            </a:r>
            <a:r>
              <a:rPr lang="en-US" b="0" dirty="0">
                <a:solidFill>
                  <a:srgbClr val="AF00DB"/>
                </a:solidFill>
                <a:effectLst/>
                <a:latin typeface="Menlo" panose="020B0609030804020204" pitchFamily="49" charset="0"/>
              </a:rPr>
              <a:t>type</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 } </a:t>
            </a:r>
            <a:r>
              <a:rPr lang="en-US" b="0" dirty="0">
                <a:solidFill>
                  <a:srgbClr val="AF00DB"/>
                </a:solidFill>
                <a:effectLst/>
                <a:latin typeface="Menlo" panose="020B0609030804020204" pitchFamily="49" charset="0"/>
              </a:rPr>
              <a:t>from</a:t>
            </a:r>
            <a:r>
              <a:rPr lang="en-US" b="0" dirty="0">
                <a:solidFill>
                  <a:srgbClr val="3B3B3B"/>
                </a:solidFill>
                <a:effectLst/>
                <a:latin typeface="Menlo" panose="020B0609030804020204" pitchFamily="49" charset="0"/>
              </a:rPr>
              <a:t> </a:t>
            </a:r>
            <a:r>
              <a:rPr lang="en-US" b="0" dirty="0">
                <a:solidFill>
                  <a:srgbClr val="A31515"/>
                </a:solidFill>
                <a:effectLst/>
                <a:latin typeface="Menlo" panose="020B0609030804020204" pitchFamily="49" charset="0"/>
              </a:rPr>
              <a:t>‘./</a:t>
            </a:r>
            <a:r>
              <a:rPr lang="en-US" dirty="0" err="1">
                <a:solidFill>
                  <a:srgbClr val="A31515"/>
                </a:solidFill>
                <a:latin typeface="Menlo" panose="020B0609030804020204" pitchFamily="49" charset="0"/>
              </a:rPr>
              <a:t>transcript.service</a:t>
            </a:r>
            <a:r>
              <a:rPr lang="en-US" b="0" dirty="0" err="1">
                <a:solidFill>
                  <a:srgbClr val="A31515"/>
                </a:solidFill>
                <a:effectLst/>
                <a:latin typeface="Menlo" panose="020B0609030804020204" pitchFamily="49" charset="0"/>
              </a:rPr>
              <a:t>.ts</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br>
              <a:rPr lang="en-US" b="0" dirty="0">
                <a:solidFill>
                  <a:srgbClr val="3B3B3B"/>
                </a:solidFill>
                <a:effectLst/>
                <a:latin typeface="Menlo" panose="020B0609030804020204" pitchFamily="49" charset="0"/>
              </a:rPr>
            </a:br>
            <a:r>
              <a:rPr lang="en-US" b="0" dirty="0">
                <a:solidFill>
                  <a:srgbClr val="0000FF"/>
                </a:solidFill>
                <a:effectLst/>
                <a:latin typeface="Menlo" panose="020B0609030804020204" pitchFamily="49" charset="0"/>
              </a:rPr>
              <a:t>let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a:t>
            </a:r>
          </a:p>
          <a:p>
            <a:pPr>
              <a:lnSpc>
                <a:spcPct val="110000"/>
              </a:lnSpc>
              <a:buNone/>
            </a:pPr>
            <a:r>
              <a:rPr lang="en-US" b="0" dirty="0" err="1">
                <a:solidFill>
                  <a:srgbClr val="795E26"/>
                </a:solidFill>
                <a:effectLst/>
                <a:latin typeface="Menlo" panose="020B0609030804020204" pitchFamily="49" charset="0"/>
              </a:rPr>
              <a:t>beforeEach</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new</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TranscriptDB</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a:t>
            </a:r>
          </a:p>
          <a:p>
            <a:pPr>
              <a:lnSpc>
                <a:spcPct val="110000"/>
              </a:lnSpc>
              <a:buNone/>
            </a:pPr>
            <a:br>
              <a:rPr lang="en-US" b="0" dirty="0">
                <a:solidFill>
                  <a:srgbClr val="3B3B3B"/>
                </a:solidFill>
                <a:effectLst/>
                <a:latin typeface="Menlo" panose="020B0609030804020204" pitchFamily="49" charset="0"/>
              </a:rPr>
            </a:b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add a student to the database and return their id'</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toStrictEqual</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toStrictEqual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
        <p:nvSpPr>
          <p:cNvPr id="5" name="AutoShape 9">
            <a:extLst>
              <a:ext uri="{FF2B5EF4-FFF2-40B4-BE49-F238E27FC236}">
                <a16:creationId xmlns:a16="http://schemas.microsoft.com/office/drawing/2014/main" id="{AF85B16A-04D9-DF0C-509D-4D79C136B30D}"/>
              </a:ext>
            </a:extLst>
          </p:cNvPr>
          <p:cNvSpPr>
            <a:spLocks/>
          </p:cNvSpPr>
          <p:nvPr/>
        </p:nvSpPr>
        <p:spPr bwMode="auto">
          <a:xfrm>
            <a:off x="6096000" y="2886542"/>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6" name="Straight Arrow Connector 5">
            <a:extLst>
              <a:ext uri="{FF2B5EF4-FFF2-40B4-BE49-F238E27FC236}">
                <a16:creationId xmlns:a16="http://schemas.microsoft.com/office/drawing/2014/main" id="{9F6157C4-D706-A6A4-F33D-2D9F2577A066}"/>
              </a:ext>
            </a:extLst>
          </p:cNvPr>
          <p:cNvCxnSpPr>
            <a:stCxn id="5" idx="1"/>
          </p:cNvCxnSpPr>
          <p:nvPr/>
        </p:nvCxnSpPr>
        <p:spPr>
          <a:xfrm flipH="1">
            <a:off x="4480234" y="3529053"/>
            <a:ext cx="1615766" cy="16118"/>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304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73353-024C-E387-571D-EAE75A42044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66049A3-05AC-0B86-FBAE-C17E03090360}"/>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18</a:t>
            </a:fld>
            <a:endParaRPr lang="en-US"/>
          </a:p>
        </p:txBody>
      </p:sp>
      <p:sp>
        <p:nvSpPr>
          <p:cNvPr id="2" name="Title 1">
            <a:extLst>
              <a:ext uri="{FF2B5EF4-FFF2-40B4-BE49-F238E27FC236}">
                <a16:creationId xmlns:a16="http://schemas.microsoft.com/office/drawing/2014/main" id="{F9D72F16-CE3C-BB5F-5775-5727645FEA41}"/>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1AAB4B6B-8610-4740-EFD8-C8B60EA4EE8E}"/>
              </a:ext>
            </a:extLst>
          </p:cNvPr>
          <p:cNvSpPr txBox="1"/>
          <p:nvPr/>
        </p:nvSpPr>
        <p:spPr>
          <a:xfrm>
            <a:off x="744069" y="1555036"/>
            <a:ext cx="11354146" cy="403334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add a student to the database and return their id'</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endParaRPr lang="en-US" b="0" dirty="0">
              <a:solidFill>
                <a:srgbClr val="795E26"/>
              </a:solidFill>
              <a:effectLst/>
              <a:latin typeface="Menlo" panose="020B0609030804020204" pitchFamily="49" charset="0"/>
            </a:endParaRPr>
          </a:p>
          <a:p>
            <a:pPr>
              <a:lnSpc>
                <a:spcPct val="110000"/>
              </a:lnSpc>
              <a:buNone/>
            </a:pPr>
            <a:endParaRPr lang="en-US" b="0" dirty="0">
              <a:solidFill>
                <a:srgbClr val="795E26"/>
              </a:solidFill>
              <a:effectLst/>
              <a:latin typeface="Menlo" panose="020B0609030804020204" pitchFamily="49" charset="0"/>
            </a:endParaRP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toStrictEqual</a:t>
            </a:r>
            <a:r>
              <a:rPr lang="en-US" b="0" dirty="0">
                <a:solidFill>
                  <a:srgbClr val="3B3B3B"/>
                </a:solidFill>
                <a:effectLst/>
                <a:latin typeface="Menlo" panose="020B0609030804020204" pitchFamily="49" charset="0"/>
              </a:rPr>
              <a:t>([]);</a:t>
            </a:r>
          </a:p>
          <a:p>
            <a:pPr>
              <a:lnSpc>
                <a:spcPct val="110000"/>
              </a:lnSpc>
              <a:buNone/>
            </a:pPr>
            <a:endParaRPr lang="en-US" b="0" dirty="0">
              <a:solidFill>
                <a:srgbClr val="0000FF"/>
              </a:solidFill>
              <a:effectLst/>
              <a:latin typeface="Menlo" panose="020B0609030804020204" pitchFamily="49" charset="0"/>
            </a:endParaRPr>
          </a:p>
          <a:p>
            <a:pPr>
              <a:lnSpc>
                <a:spcPct val="110000"/>
              </a:lnSpc>
              <a:buNone/>
            </a:pPr>
            <a:endParaRPr lang="en-US" dirty="0">
              <a:solidFill>
                <a:srgbClr val="0000FF"/>
              </a:solidFill>
              <a:latin typeface="Menlo" panose="020B0609030804020204" pitchFamily="49" charset="0"/>
            </a:endParaRP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endParaRPr lang="en-US" b="0" dirty="0">
              <a:solidFill>
                <a:srgbClr val="795E26"/>
              </a:solidFill>
              <a:effectLst/>
              <a:latin typeface="Menlo" panose="020B0609030804020204" pitchFamily="49" charset="0"/>
            </a:endParaRPr>
          </a:p>
          <a:p>
            <a:pPr>
              <a:lnSpc>
                <a:spcPct val="110000"/>
              </a:lnSpc>
              <a:buNone/>
            </a:pPr>
            <a:endParaRPr lang="en-US" dirty="0">
              <a:solidFill>
                <a:srgbClr val="795E26"/>
              </a:solidFill>
              <a:latin typeface="Menlo" panose="020B0609030804020204" pitchFamily="49" charset="0"/>
            </a:endParaRP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nameToIDs</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toStrictEqual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p>
          <a:p>
            <a:pPr>
              <a:lnSpc>
                <a:spcPct val="110000"/>
              </a:lnSpc>
              <a:buNone/>
            </a:pPr>
            <a:endParaRPr lang="en-US" b="0" dirty="0">
              <a:solidFill>
                <a:srgbClr val="3B3B3B"/>
              </a:solidFill>
              <a:effectLst/>
              <a:latin typeface="Menlo" panose="020B0609030804020204" pitchFamily="49" charset="0"/>
            </a:endParaRPr>
          </a:p>
          <a:p>
            <a:pPr>
              <a:lnSpc>
                <a:spcPct val="110000"/>
              </a:lnSpc>
              <a:buNone/>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
        <p:nvSpPr>
          <p:cNvPr id="5" name="AutoShape 9">
            <a:extLst>
              <a:ext uri="{FF2B5EF4-FFF2-40B4-BE49-F238E27FC236}">
                <a16:creationId xmlns:a16="http://schemas.microsoft.com/office/drawing/2014/main" id="{6298A618-1292-DDF1-02AF-101CB3FFD8A8}"/>
              </a:ext>
            </a:extLst>
          </p:cNvPr>
          <p:cNvSpPr>
            <a:spLocks/>
          </p:cNvSpPr>
          <p:nvPr/>
        </p:nvSpPr>
        <p:spPr bwMode="auto">
          <a:xfrm>
            <a:off x="8610600" y="2251669"/>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Assemble (and verify)</a:t>
            </a:r>
          </a:p>
        </p:txBody>
      </p:sp>
      <p:cxnSp>
        <p:nvCxnSpPr>
          <p:cNvPr id="6" name="Straight Arrow Connector 5">
            <a:extLst>
              <a:ext uri="{FF2B5EF4-FFF2-40B4-BE49-F238E27FC236}">
                <a16:creationId xmlns:a16="http://schemas.microsoft.com/office/drawing/2014/main" id="{2DB4ABBD-97D1-C096-474C-852FC03376FB}"/>
              </a:ext>
            </a:extLst>
          </p:cNvPr>
          <p:cNvCxnSpPr>
            <a:cxnSpLocks/>
            <a:stCxn id="5" idx="1"/>
          </p:cNvCxnSpPr>
          <p:nvPr/>
        </p:nvCxnSpPr>
        <p:spPr>
          <a:xfrm flipH="1">
            <a:off x="8059615" y="2649835"/>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AutoShape 9">
            <a:extLst>
              <a:ext uri="{FF2B5EF4-FFF2-40B4-BE49-F238E27FC236}">
                <a16:creationId xmlns:a16="http://schemas.microsoft.com/office/drawing/2014/main" id="{E7E69513-27BB-856D-C3D2-6FC0847A087F}"/>
              </a:ext>
            </a:extLst>
          </p:cNvPr>
          <p:cNvSpPr>
            <a:spLocks/>
          </p:cNvSpPr>
          <p:nvPr/>
        </p:nvSpPr>
        <p:spPr bwMode="auto">
          <a:xfrm>
            <a:off x="8610600" y="3205808"/>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Act</a:t>
            </a:r>
          </a:p>
        </p:txBody>
      </p:sp>
      <p:cxnSp>
        <p:nvCxnSpPr>
          <p:cNvPr id="11" name="Straight Arrow Connector 10">
            <a:extLst>
              <a:ext uri="{FF2B5EF4-FFF2-40B4-BE49-F238E27FC236}">
                <a16:creationId xmlns:a16="http://schemas.microsoft.com/office/drawing/2014/main" id="{653CE71B-6C2A-B1C8-70FC-E72681DCBB3E}"/>
              </a:ext>
            </a:extLst>
          </p:cNvPr>
          <p:cNvCxnSpPr>
            <a:cxnSpLocks/>
            <a:stCxn id="10" idx="1"/>
          </p:cNvCxnSpPr>
          <p:nvPr/>
        </p:nvCxnSpPr>
        <p:spPr>
          <a:xfrm flipH="1">
            <a:off x="6359769" y="3603974"/>
            <a:ext cx="2250831"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AutoShape 9">
            <a:extLst>
              <a:ext uri="{FF2B5EF4-FFF2-40B4-BE49-F238E27FC236}">
                <a16:creationId xmlns:a16="http://schemas.microsoft.com/office/drawing/2014/main" id="{6DC10A29-E4CB-D706-2A7D-493CD6C764FA}"/>
              </a:ext>
            </a:extLst>
          </p:cNvPr>
          <p:cNvSpPr>
            <a:spLocks/>
          </p:cNvSpPr>
          <p:nvPr/>
        </p:nvSpPr>
        <p:spPr bwMode="auto">
          <a:xfrm>
            <a:off x="8610600" y="4126176"/>
            <a:ext cx="3496061" cy="796332"/>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Assess</a:t>
            </a:r>
          </a:p>
        </p:txBody>
      </p:sp>
      <p:cxnSp>
        <p:nvCxnSpPr>
          <p:cNvPr id="14" name="Straight Arrow Connector 13">
            <a:extLst>
              <a:ext uri="{FF2B5EF4-FFF2-40B4-BE49-F238E27FC236}">
                <a16:creationId xmlns:a16="http://schemas.microsoft.com/office/drawing/2014/main" id="{8BE86B85-1CEB-78C2-A223-E8AA258E9936}"/>
              </a:ext>
            </a:extLst>
          </p:cNvPr>
          <p:cNvCxnSpPr>
            <a:cxnSpLocks/>
            <a:stCxn id="13" idx="1"/>
          </p:cNvCxnSpPr>
          <p:nvPr/>
        </p:nvCxnSpPr>
        <p:spPr>
          <a:xfrm flipH="1">
            <a:off x="8059615" y="4524342"/>
            <a:ext cx="550985" cy="0"/>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68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D3ED-EB28-C90D-F454-85BBD3F8B49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186BEA1-3FE5-822E-8442-D5BE3D693547}"/>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19</a:t>
            </a:fld>
            <a:endParaRPr lang="en-US"/>
          </a:p>
        </p:txBody>
      </p:sp>
      <p:sp>
        <p:nvSpPr>
          <p:cNvPr id="2" name="Title 1">
            <a:extLst>
              <a:ext uri="{FF2B5EF4-FFF2-40B4-BE49-F238E27FC236}">
                <a16:creationId xmlns:a16="http://schemas.microsoft.com/office/drawing/2014/main" id="{28BAB9EE-A165-8787-43BA-A5D4F5AAA894}"/>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F610B0FB-ADBF-4939-C2F7-A320A490E1F4}"/>
              </a:ext>
            </a:extLst>
          </p:cNvPr>
          <p:cNvSpPr txBox="1"/>
          <p:nvPr/>
        </p:nvSpPr>
        <p:spPr>
          <a:xfrm>
            <a:off x="744069" y="1555036"/>
            <a:ext cx="11354146" cy="342395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return an ID distinct from any ID in the database'</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endParaRPr lang="en-US" b="0" dirty="0">
              <a:solidFill>
                <a:srgbClr val="795E26"/>
              </a:solidFill>
              <a:effectLst/>
              <a:latin typeface="Menlo" panose="020B0609030804020204" pitchFamily="49" charset="0"/>
            </a:endParaRPr>
          </a:p>
          <a:p>
            <a:pPr>
              <a:lnSpc>
                <a:spcPct val="110000"/>
              </a:lnSpc>
              <a:buNone/>
            </a:pPr>
            <a:r>
              <a:rPr lang="en-US" b="0" dirty="0">
                <a:solidFill>
                  <a:srgbClr val="008000"/>
                </a:solidFill>
                <a:effectLst/>
                <a:latin typeface="Menlo" panose="020B0609030804020204" pitchFamily="49" charset="0"/>
              </a:rPr>
              <a:t>    // we'll add 3 students and check to see that their IDs are all different.</a:t>
            </a:r>
            <a:endParaRPr lang="en-US" b="0" dirty="0">
              <a:solidFill>
                <a:srgbClr val="3B3B3B"/>
              </a:solidFill>
              <a:effectLst/>
              <a:latin typeface="Menlo" panose="020B0609030804020204" pitchFamily="49" charset="0"/>
            </a:endParaRP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corey</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id3</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'del’</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id3</a:t>
            </a:r>
            <a:r>
              <a:rPr lang="en-US" b="0" dirty="0">
                <a:solidFill>
                  <a:srgbClr val="3B3B3B"/>
                </a:solidFill>
                <a:effectLst/>
                <a:latin typeface="Menlo" panose="020B0609030804020204" pitchFamily="49" charset="0"/>
              </a:rPr>
              <a:t>);</a:t>
            </a:r>
          </a:p>
          <a:p>
            <a:pPr>
              <a:lnSpc>
                <a:spcPct val="110000"/>
              </a:lnSpc>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id3</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715072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7A9CB-D4E5-3428-E8C6-F320EB6E41C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2032A9C-7FE0-542E-D328-1DA19D34993F}"/>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20</a:t>
            </a:fld>
            <a:endParaRPr lang="en-US"/>
          </a:p>
        </p:txBody>
      </p:sp>
      <p:sp>
        <p:nvSpPr>
          <p:cNvPr id="2" name="Title 1">
            <a:extLst>
              <a:ext uri="{FF2B5EF4-FFF2-40B4-BE49-F238E27FC236}">
                <a16:creationId xmlns:a16="http://schemas.microsoft.com/office/drawing/2014/main" id="{09145ACD-D6E4-774F-523F-2678FC0960C8}"/>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AA9B8750-ED62-4345-DF6D-792748ADE401}"/>
              </a:ext>
            </a:extLst>
          </p:cNvPr>
          <p:cNvSpPr txBox="1"/>
          <p:nvPr/>
        </p:nvSpPr>
        <p:spPr>
          <a:xfrm>
            <a:off x="744068" y="1555036"/>
            <a:ext cx="11834794"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permit adding a student w/ same name as an existing student’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a:t>
            </a:r>
          </a:p>
          <a:p>
            <a:pPr>
              <a:lnSpc>
                <a:spcPct val="110000"/>
              </a:lnSpc>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10135689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AFB3A-DAA2-5584-DF93-087D3777FC3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6D48085-8699-0B5A-DF92-276263AAD90D}"/>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21</a:t>
            </a:fld>
            <a:endParaRPr lang="en-US"/>
          </a:p>
        </p:txBody>
      </p:sp>
      <p:sp>
        <p:nvSpPr>
          <p:cNvPr id="2" name="Title 1">
            <a:extLst>
              <a:ext uri="{FF2B5EF4-FFF2-40B4-BE49-F238E27FC236}">
                <a16:creationId xmlns:a16="http://schemas.microsoft.com/office/drawing/2014/main" id="{8245A881-534A-9D72-6712-D15F82776E55}"/>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3AA5BC1E-8DE4-4274-1060-7E98282B1305}"/>
              </a:ext>
            </a:extLst>
          </p:cNvPr>
          <p:cNvSpPr txBox="1"/>
          <p:nvPr/>
        </p:nvSpPr>
        <p:spPr>
          <a:xfrm>
            <a:off x="744068" y="1555036"/>
            <a:ext cx="11834794" cy="220515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795E26"/>
                </a:solidFill>
                <a:effectLst/>
                <a:latin typeface="Menlo" panose="020B0609030804020204" pitchFamily="49" charset="0"/>
              </a:rPr>
              <a:t>describe</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addStudent</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795E26"/>
                </a:solidFill>
                <a:effectLst/>
                <a:latin typeface="Menlo" panose="020B0609030804020204" pitchFamily="49" charset="0"/>
              </a:rPr>
              <a:t>  it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'should permit adding a student w/ same name as an existing student’</a:t>
            </a:r>
            <a:r>
              <a:rPr lang="en-US" b="0" dirty="0">
                <a:solidFill>
                  <a:srgbClr val="3B3B3B"/>
                </a:solidFill>
                <a:effectLst/>
                <a:latin typeface="Menlo" panose="020B0609030804020204" pitchFamily="49" charset="0"/>
              </a:rPr>
              <a:t>, ()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0000FF"/>
                </a:solidFill>
                <a:effectLst/>
                <a:latin typeface="Menlo" panose="020B0609030804020204" pitchFamily="49" charset="0"/>
              </a:rPr>
              <a:t>    const</a:t>
            </a:r>
            <a:r>
              <a:rPr lang="en-US" b="0" dirty="0">
                <a:solidFill>
                  <a:srgbClr val="3B3B3B"/>
                </a:solidFill>
                <a:effectLst/>
                <a:latin typeface="Menlo" panose="020B0609030804020204" pitchFamily="49" charset="0"/>
              </a:rPr>
              <a:t> </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addStudent</a:t>
            </a:r>
            <a:r>
              <a:rPr lang="en-US" b="0" dirty="0">
                <a:solidFill>
                  <a:srgbClr val="3B3B3B"/>
                </a:solidFill>
                <a:effectLst/>
                <a:latin typeface="Menlo" panose="020B0609030804020204" pitchFamily="49" charset="0"/>
              </a:rPr>
              <a:t>(</a:t>
            </a:r>
            <a:r>
              <a:rPr lang="en-US" b="0" dirty="0">
                <a:solidFill>
                  <a:srgbClr val="A31515"/>
                </a:solidFill>
                <a:effectLst/>
                <a:latin typeface="Menlo" panose="020B0609030804020204" pitchFamily="49" charset="0"/>
              </a:rPr>
              <a:t>'</a:t>
            </a:r>
            <a:r>
              <a:rPr lang="en-US" b="0" dirty="0" err="1">
                <a:solidFill>
                  <a:srgbClr val="A31515"/>
                </a:solidFill>
                <a:effectLst/>
                <a:latin typeface="Menlo" panose="020B0609030804020204" pitchFamily="49" charset="0"/>
              </a:rPr>
              <a:t>blair</a:t>
            </a:r>
            <a:r>
              <a:rPr lang="en-US" b="0" dirty="0">
                <a:solidFill>
                  <a:srgbClr val="A31515"/>
                </a:solidFill>
                <a:effectLst/>
                <a:latin typeface="Menlo" panose="020B0609030804020204" pitchFamily="49" charset="0"/>
              </a:rPr>
              <a:t>’</a:t>
            </a:r>
            <a:r>
              <a:rPr lang="en-US" b="0" dirty="0">
                <a:solidFill>
                  <a:srgbClr val="3B3B3B"/>
                </a:solidFill>
                <a:effectLst/>
                <a:latin typeface="Menlo" panose="020B0609030804020204" pitchFamily="49" charset="0"/>
              </a:rPr>
              <a:t>);</a:t>
            </a:r>
          </a:p>
          <a:p>
            <a:pPr>
              <a:lnSpc>
                <a:spcPct val="110000"/>
              </a:lnSpc>
              <a:buNone/>
            </a:pPr>
            <a:r>
              <a:rPr lang="en-US" b="0" dirty="0">
                <a:solidFill>
                  <a:srgbClr val="795E26"/>
                </a:solidFill>
                <a:effectLst/>
                <a:latin typeface="Menlo" panose="020B0609030804020204" pitchFamily="49" charset="0"/>
              </a:rPr>
              <a:t>    expect</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id1</a:t>
            </a:r>
            <a:r>
              <a:rPr lang="en-US" b="0" dirty="0">
                <a:solidFill>
                  <a:srgbClr val="3B3B3B"/>
                </a:solidFill>
                <a:effectLst/>
                <a:latin typeface="Menlo" panose="020B0609030804020204" pitchFamily="49" charset="0"/>
              </a:rPr>
              <a:t>).</a:t>
            </a:r>
            <a:r>
              <a:rPr lang="en-US" b="0" dirty="0" err="1">
                <a:solidFill>
                  <a:srgbClr val="001080"/>
                </a:solidFill>
                <a:effectLst/>
                <a:latin typeface="Menlo" panose="020B0609030804020204" pitchFamily="49" charset="0"/>
              </a:rPr>
              <a:t>not</a:t>
            </a:r>
            <a:r>
              <a:rPr lang="en-US" b="0" dirty="0" err="1">
                <a:solidFill>
                  <a:srgbClr val="3B3B3B"/>
                </a:solidFill>
                <a:effectLst/>
                <a:latin typeface="Menlo" panose="020B0609030804020204" pitchFamily="49" charset="0"/>
              </a:rPr>
              <a:t>.</a:t>
            </a:r>
            <a:r>
              <a:rPr lang="en-US" b="0" dirty="0" err="1">
                <a:solidFill>
                  <a:srgbClr val="795E26"/>
                </a:solidFill>
                <a:effectLst/>
                <a:latin typeface="Menlo" panose="020B0609030804020204" pitchFamily="49" charset="0"/>
              </a:rPr>
              <a:t>toEqual</a:t>
            </a:r>
            <a:r>
              <a:rPr lang="en-US" b="0" dirty="0">
                <a:solidFill>
                  <a:srgbClr val="3B3B3B"/>
                </a:solidFill>
                <a:effectLst/>
                <a:latin typeface="Menlo" panose="020B0609030804020204" pitchFamily="49" charset="0"/>
              </a:rPr>
              <a:t>(</a:t>
            </a:r>
            <a:r>
              <a:rPr lang="en-US" b="0" dirty="0">
                <a:solidFill>
                  <a:srgbClr val="0070C1"/>
                </a:solidFill>
                <a:effectLst/>
                <a:latin typeface="Menlo" panose="020B0609030804020204" pitchFamily="49" charset="0"/>
              </a:rPr>
              <a:t>id2</a:t>
            </a:r>
            <a:r>
              <a:rPr lang="en-US" b="0" dirty="0">
                <a:solidFill>
                  <a:srgbClr val="3B3B3B"/>
                </a:solidFill>
                <a:effectLst/>
                <a:latin typeface="Menlo" panose="020B0609030804020204" pitchFamily="49" charset="0"/>
              </a:rPr>
              <a:t>);</a:t>
            </a:r>
          </a:p>
          <a:p>
            <a:pPr>
              <a:lnSpc>
                <a:spcPct val="110000"/>
              </a:lnSpc>
            </a:pPr>
            <a:r>
              <a:rPr lang="en-US" b="0" dirty="0">
                <a:solidFill>
                  <a:srgbClr val="3B3B3B"/>
                </a:solidFill>
                <a:effectLst/>
                <a:latin typeface="Menlo" panose="020B0609030804020204" pitchFamily="49" charset="0"/>
              </a:rPr>
              <a:t>  });</a:t>
            </a:r>
          </a:p>
          <a:p>
            <a:pPr>
              <a:lnSpc>
                <a:spcPct val="110000"/>
              </a:lnSpc>
              <a:buNone/>
            </a:pPr>
            <a:r>
              <a:rPr lang="en-US"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915558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72850-973D-8EAB-83F6-FA8C0303B796}"/>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81B332F-7D57-99F6-0353-6C1BD1948AF6}"/>
              </a:ext>
            </a:extLst>
          </p:cNvPr>
          <p:cNvSpPr>
            <a:spLocks noGrp="1"/>
          </p:cNvSpPr>
          <p:nvPr>
            <p:ph type="sldNum" sz="quarter" idx="12"/>
          </p:nvPr>
        </p:nvSpPr>
        <p:spPr>
          <a:xfrm>
            <a:off x="8610600" y="6356350"/>
            <a:ext cx="2743200" cy="365125"/>
          </a:xfrm>
        </p:spPr>
        <p:txBody>
          <a:bodyPr/>
          <a:lstStyle/>
          <a:p>
            <a:fld id="{20F37917-FD3A-4669-9018-DA04BCDD3D75}" type="slidenum">
              <a:rPr lang="en-US" smtClean="0"/>
              <a:pPr/>
              <a:t>22</a:t>
            </a:fld>
            <a:endParaRPr lang="en-US"/>
          </a:p>
        </p:txBody>
      </p:sp>
      <p:sp>
        <p:nvSpPr>
          <p:cNvPr id="2" name="Title 1">
            <a:extLst>
              <a:ext uri="{FF2B5EF4-FFF2-40B4-BE49-F238E27FC236}">
                <a16:creationId xmlns:a16="http://schemas.microsoft.com/office/drawing/2014/main" id="{C7511F12-D9AC-6766-82BE-1123401E4011}"/>
              </a:ext>
            </a:extLst>
          </p:cNvPr>
          <p:cNvSpPr>
            <a:spLocks noGrp="1"/>
          </p:cNvSpPr>
          <p:nvPr>
            <p:ph type="title"/>
          </p:nvPr>
        </p:nvSpPr>
        <p:spPr>
          <a:xfrm>
            <a:off x="838200" y="18255"/>
            <a:ext cx="10515600" cy="1325563"/>
          </a:xfrm>
        </p:spPr>
        <p:txBody>
          <a:bodyPr/>
          <a:lstStyle/>
          <a:p>
            <a:r>
              <a:rPr lang="en-US"/>
              <a:t>Turning testable behaviors into </a:t>
            </a:r>
            <a:r>
              <a:rPr lang="en-US" err="1"/>
              <a:t>Vitest</a:t>
            </a:r>
            <a:r>
              <a:rPr lang="en-US"/>
              <a:t> tests</a:t>
            </a:r>
          </a:p>
        </p:txBody>
      </p:sp>
      <p:sp>
        <p:nvSpPr>
          <p:cNvPr id="4" name="TextBox 3">
            <a:extLst>
              <a:ext uri="{FF2B5EF4-FFF2-40B4-BE49-F238E27FC236}">
                <a16:creationId xmlns:a16="http://schemas.microsoft.com/office/drawing/2014/main" id="{5489491B-3E78-75A6-E256-C5789A1C7D37}"/>
              </a:ext>
            </a:extLst>
          </p:cNvPr>
          <p:cNvSpPr txBox="1"/>
          <p:nvPr/>
        </p:nvSpPr>
        <p:spPr>
          <a:xfrm>
            <a:off x="744068" y="1555036"/>
            <a:ext cx="11834794" cy="45520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dirty="0">
                <a:solidFill>
                  <a:srgbClr val="795E26"/>
                </a:solidFill>
                <a:latin typeface="Menlo" panose="020B0609030804020204" pitchFamily="49" charset="0"/>
              </a:rPr>
              <a:t>describe</a:t>
            </a:r>
            <a:r>
              <a:rPr lang="en-US" dirty="0">
                <a:solidFill>
                  <a:srgbClr val="3B3B3B"/>
                </a:solidFill>
                <a:latin typeface="Menlo" panose="020B0609030804020204" pitchFamily="49" charset="0"/>
              </a:rPr>
              <a:t>(</a:t>
            </a:r>
            <a:r>
              <a:rPr lang="en-US" dirty="0">
                <a:solidFill>
                  <a:srgbClr val="A31515"/>
                </a:solidFill>
                <a:latin typeface="Menlo" panose="020B0609030804020204" pitchFamily="49" charset="0"/>
              </a:rPr>
              <a:t>'</a:t>
            </a:r>
            <a:r>
              <a:rPr lang="en-US" dirty="0" err="1">
                <a:solidFill>
                  <a:srgbClr val="A31515"/>
                </a:solidFill>
                <a:latin typeface="Menlo" panose="020B0609030804020204" pitchFamily="49" charset="0"/>
              </a:rPr>
              <a:t>getTranscript</a:t>
            </a:r>
            <a:r>
              <a:rPr lang="en-US" dirty="0">
                <a:solidFill>
                  <a:srgbClr val="A31515"/>
                </a:solidFill>
                <a:latin typeface="Menlo" panose="020B0609030804020204" pitchFamily="49" charset="0"/>
              </a:rPr>
              <a:t>'</a:t>
            </a:r>
            <a:r>
              <a:rPr lang="en-US" dirty="0">
                <a:solidFill>
                  <a:srgbClr val="3B3B3B"/>
                </a:solidFill>
                <a:latin typeface="Menlo" panose="020B0609030804020204" pitchFamily="49" charset="0"/>
              </a:rPr>
              <a:t>, () </a:t>
            </a:r>
            <a:r>
              <a:rPr lang="en-US" dirty="0">
                <a:solidFill>
                  <a:srgbClr val="0000FF"/>
                </a:solidFill>
                <a:latin typeface="Menlo" panose="020B0609030804020204" pitchFamily="49" charset="0"/>
              </a:rPr>
              <a:t>=&gt;</a:t>
            </a:r>
            <a:r>
              <a:rPr lang="en-US" dirty="0">
                <a:solidFill>
                  <a:srgbClr val="3B3B3B"/>
                </a:solidFill>
                <a:latin typeface="Menlo" panose="020B0609030804020204" pitchFamily="49" charset="0"/>
              </a:rPr>
              <a:t> {</a:t>
            </a:r>
          </a:p>
          <a:p>
            <a:r>
              <a:rPr lang="en-US" dirty="0">
                <a:solidFill>
                  <a:schemeClr val="tx1"/>
                </a:solidFill>
                <a:latin typeface="Menlo" panose="020B0609030804020204" pitchFamily="49" charset="0"/>
              </a:rPr>
              <a:t>  </a:t>
            </a:r>
            <a:r>
              <a:rPr lang="en-US" dirty="0">
                <a:solidFill>
                  <a:srgbClr val="795E26"/>
                </a:solidFill>
                <a:latin typeface="Menlo" panose="020B0609030804020204" pitchFamily="49" charset="0"/>
              </a:rPr>
              <a:t>it</a:t>
            </a:r>
            <a:r>
              <a:rPr lang="en-US" dirty="0">
                <a:solidFill>
                  <a:schemeClr val="tx1"/>
                </a:solidFill>
                <a:latin typeface="Menlo" panose="020B0609030804020204" pitchFamily="49" charset="0"/>
              </a:rPr>
              <a:t>(</a:t>
            </a:r>
            <a:r>
              <a:rPr lang="en-US" dirty="0">
                <a:solidFill>
                  <a:srgbClr val="C00000"/>
                </a:solidFill>
                <a:latin typeface="Menlo" panose="020B0609030804020204" pitchFamily="49" charset="0"/>
              </a:rPr>
              <a:t>'should permit adding a student w/ same name as an existing student’</a:t>
            </a:r>
            <a:r>
              <a:rPr lang="en-US" dirty="0">
                <a:solidFill>
                  <a:schemeClr val="tx1"/>
                </a:solidFill>
                <a:latin typeface="Menlo" panose="020B0609030804020204" pitchFamily="49" charset="0"/>
              </a:rPr>
              <a:t>, () =&gt; { </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FF"/>
                </a:solidFill>
                <a:latin typeface="Menlo" panose="020B0609030804020204" pitchFamily="49" charset="0"/>
              </a:rPr>
              <a:t>const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70C1"/>
                </a:solidFill>
                <a:latin typeface="Menlo" panose="020B0609030804020204" pitchFamily="49" charset="0"/>
              </a:rPr>
              <a:t>id1</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 </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db.addStudent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dirty="0" err="1">
                <a:solidFill>
                  <a:srgbClr val="C00000"/>
                </a:solidFill>
                <a:latin typeface="Menlo" panose="020B0609030804020204" pitchFamily="49" charset="0"/>
                <a:ea typeface="Menlo" panose="020B0609030804020204" pitchFamily="49" charset="0"/>
                <a:cs typeface="Menlo" panose="020B0609030804020204" pitchFamily="49" charset="0"/>
              </a:rPr>
              <a:t>blair</a:t>
            </a:r>
            <a:r>
              <a:rPr lang="en-US"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expect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db.getTranscript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a:solidFill>
                  <a:srgbClr val="0070C1"/>
                </a:solidFill>
                <a:latin typeface="Menlo" panose="020B0609030804020204" pitchFamily="49" charset="0"/>
              </a:rPr>
              <a:t>id1</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not.toBeNull</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p>
          <a:p>
            <a:br>
              <a:rPr lang="en-US" dirty="0">
                <a:solidFill>
                  <a:schemeClr val="tx1"/>
                </a:solidFill>
                <a:latin typeface="Menlo" panose="020B0609030804020204" pitchFamily="49" charset="0"/>
                <a:ea typeface="Menlo" panose="020B0609030804020204" pitchFamily="49" charset="0"/>
                <a:cs typeface="Menlo" panose="020B0609030804020204" pitchFamily="49" charset="0"/>
              </a:rPr>
            </a:br>
            <a:endParaRPr lang="en-US" dirty="0">
              <a:solidFill>
                <a:schemeClr val="tx1"/>
              </a:solidFill>
              <a:latin typeface="Menlo" panose="020B0609030804020204" pitchFamily="49" charset="0"/>
              <a:ea typeface="Menlo" panose="020B0609030804020204" pitchFamily="49" charset="0"/>
              <a:cs typeface="Menlo" panose="020B0609030804020204" pitchFamily="49" charset="0"/>
            </a:endParaRPr>
          </a:p>
          <a:p>
            <a:r>
              <a:rPr lang="en-US" dirty="0">
                <a:solidFill>
                  <a:schemeClr val="tx1"/>
                </a:solidFill>
                <a:latin typeface="Menlo" panose="020B0609030804020204" pitchFamily="49" charset="0"/>
              </a:rPr>
              <a:t>  </a:t>
            </a:r>
            <a:r>
              <a:rPr lang="en-US" dirty="0">
                <a:solidFill>
                  <a:srgbClr val="795E26"/>
                </a:solidFill>
                <a:latin typeface="Menlo" panose="020B0609030804020204" pitchFamily="49" charset="0"/>
              </a:rPr>
              <a:t>it</a:t>
            </a:r>
            <a:r>
              <a:rPr lang="en-US" dirty="0">
                <a:solidFill>
                  <a:schemeClr val="tx1"/>
                </a:solidFill>
                <a:latin typeface="Menlo" panose="020B0609030804020204" pitchFamily="49" charset="0"/>
              </a:rPr>
              <a:t>(</a:t>
            </a:r>
            <a:r>
              <a:rPr lang="en-US" dirty="0">
                <a:solidFill>
                  <a:srgbClr val="C00000"/>
                </a:solidFill>
                <a:latin typeface="Menlo" panose="020B0609030804020204" pitchFamily="49" charset="0"/>
              </a:rPr>
              <a:t>'should permit adding a student w/ same name as an existing student’</a:t>
            </a:r>
            <a:r>
              <a:rPr lang="en-US" dirty="0">
                <a:solidFill>
                  <a:schemeClr val="tx1"/>
                </a:solidFill>
                <a:latin typeface="Menlo" panose="020B0609030804020204" pitchFamily="49" charset="0"/>
              </a:rPr>
              <a:t>, () =&gt; {</a:t>
            </a:r>
          </a:p>
          <a:p>
            <a:r>
              <a:rPr lang="en-US"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    // in an empty database, all IDs are bad :)</a:t>
            </a:r>
          </a:p>
          <a:p>
            <a:r>
              <a:rPr lang="en-US"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    // Note: the expression you expect to throw</a:t>
            </a:r>
          </a:p>
          <a:p>
            <a:r>
              <a:rPr lang="en-US"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    // must be wrapped in a (() =&gt; ...)</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r>
              <a:rPr lang="en-US"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t>expect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=&gt; </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db.getTranscript</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a:solidFill>
                  <a:schemeClr val="accent6">
                    <a:lumMod val="75000"/>
                  </a:schemeClr>
                </a:solidFill>
                <a:latin typeface="Menlo" panose="020B0609030804020204" pitchFamily="49" charset="0"/>
                <a:ea typeface="Menlo" panose="020B0609030804020204" pitchFamily="49" charset="0"/>
                <a:cs typeface="Menlo" panose="020B0609030804020204" pitchFamily="49" charset="0"/>
              </a:rPr>
              <a:t>1</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r>
              <a:rPr lang="en-US" dirty="0" err="1">
                <a:solidFill>
                  <a:schemeClr val="tx1"/>
                </a:solidFill>
                <a:latin typeface="Menlo" panose="020B0609030804020204" pitchFamily="49" charset="0"/>
                <a:ea typeface="Menlo" panose="020B0609030804020204" pitchFamily="49" charset="0"/>
                <a:cs typeface="Menlo" panose="020B0609030804020204" pitchFamily="49" charset="0"/>
              </a:rPr>
              <a:t>toThrowError</a:t>
            </a:r>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  });</a:t>
            </a:r>
          </a:p>
          <a:p>
            <a:r>
              <a:rPr lang="en-US" dirty="0">
                <a:solidFill>
                  <a:schemeClr val="tx1"/>
                </a:solidFill>
                <a:latin typeface="Menlo" panose="020B0609030804020204" pitchFamily="49" charset="0"/>
                <a:ea typeface="Menlo" panose="020B0609030804020204" pitchFamily="49" charset="0"/>
                <a:cs typeface="Menlo" panose="020B0609030804020204" pitchFamily="49" charset="0"/>
              </a:rPr>
              <a:t>});</a:t>
            </a:r>
          </a:p>
          <a:p>
            <a:br>
              <a:rPr lang="en-US"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rPr>
            </a:br>
            <a:endParaRPr lang="en-US" dirty="0">
              <a:solidFill>
                <a:schemeClr val="accent4">
                  <a:lumMod val="50000"/>
                </a:schemeClr>
              </a:solidFill>
              <a:latin typeface="Menlo" panose="020B0609030804020204" pitchFamily="49" charset="0"/>
              <a:ea typeface="Menlo" panose="020B0609030804020204" pitchFamily="49" charset="0"/>
              <a:cs typeface="Menlo" panose="020B0609030804020204" pitchFamily="49" charset="0"/>
            </a:endParaRPr>
          </a:p>
        </p:txBody>
      </p:sp>
    </p:spTree>
    <p:extLst>
      <p:ext uri="{BB962C8B-B14F-4D97-AF65-F5344CB8AC3E}">
        <p14:creationId xmlns:p14="http://schemas.microsoft.com/office/powerpoint/2010/main" val="2383690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67C5B6E-6AE0-F544-0A66-BA1917FA6AB2}"/>
              </a:ext>
            </a:extLst>
          </p:cNvPr>
          <p:cNvSpPr txBox="1"/>
          <p:nvPr/>
        </p:nvSpPr>
        <p:spPr>
          <a:xfrm>
            <a:off x="838199" y="3370356"/>
            <a:ext cx="10773578" cy="272382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dirty="0">
                <a:solidFill>
                  <a:srgbClr val="0000FF"/>
                </a:solidFill>
                <a:latin typeface="Menlo" panose="020B0609030804020204" pitchFamily="49" charset="0"/>
                <a:ea typeface="Menlo" panose="020B0609030804020204" pitchFamily="49" charset="0"/>
                <a:cs typeface="Menlo" panose="020B0609030804020204" pitchFamily="49" charset="0"/>
              </a:rPr>
              <a:t>let</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001080"/>
                </a:solidFill>
                <a:latin typeface="Menlo" panose="020B0609030804020204" pitchFamily="49" charset="0"/>
                <a:ea typeface="Menlo" panose="020B0609030804020204" pitchFamily="49" charset="0"/>
                <a:cs typeface="Menlo" panose="020B0609030804020204" pitchFamily="49" charset="0"/>
              </a:rPr>
              <a:t>db</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267F99"/>
                </a:solidFill>
                <a:latin typeface="Menlo" panose="020B0609030804020204" pitchFamily="49" charset="0"/>
                <a:ea typeface="Menlo" panose="020B0609030804020204" pitchFamily="49" charset="0"/>
                <a:cs typeface="Menlo" panose="020B0609030804020204" pitchFamily="49" charset="0"/>
              </a:rPr>
              <a:t>TranscriptService</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a:t>
            </a:r>
          </a:p>
          <a:p>
            <a:pPr>
              <a:lnSpc>
                <a:spcPct val="110000"/>
              </a:lnSpc>
              <a:buNone/>
            </a:pPr>
            <a:r>
              <a:rPr lang="en-US" dirty="0" err="1">
                <a:solidFill>
                  <a:srgbClr val="795E26"/>
                </a:solidFill>
                <a:latin typeface="Menlo" panose="020B0609030804020204" pitchFamily="49" charset="0"/>
                <a:ea typeface="Menlo" panose="020B0609030804020204" pitchFamily="49" charset="0"/>
                <a:cs typeface="Menlo" panose="020B0609030804020204" pitchFamily="49" charset="0"/>
              </a:rPr>
              <a:t>beforeAll</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FF"/>
                </a:solidFill>
                <a:latin typeface="Menlo" panose="020B0609030804020204" pitchFamily="49" charset="0"/>
                <a:ea typeface="Menlo" panose="020B0609030804020204" pitchFamily="49" charset="0"/>
                <a:cs typeface="Menlo" panose="020B0609030804020204" pitchFamily="49" charset="0"/>
              </a:rPr>
              <a:t>=&gt;</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p>
          <a:p>
            <a:pPr>
              <a:lnSpc>
                <a:spcPct val="110000"/>
              </a:lnSpc>
              <a:buNone/>
            </a:pPr>
            <a:r>
              <a:rPr lang="en-US" dirty="0">
                <a:solidFill>
                  <a:srgbClr val="001080"/>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001080"/>
                </a:solidFill>
                <a:latin typeface="Menlo" panose="020B0609030804020204" pitchFamily="49" charset="0"/>
                <a:ea typeface="Menlo" panose="020B0609030804020204" pitchFamily="49" charset="0"/>
                <a:cs typeface="Menlo" panose="020B0609030804020204" pitchFamily="49" charset="0"/>
              </a:rPr>
              <a:t>db</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FF"/>
                </a:solidFill>
                <a:latin typeface="Menlo" panose="020B0609030804020204" pitchFamily="49" charset="0"/>
                <a:ea typeface="Menlo" panose="020B0609030804020204" pitchFamily="49" charset="0"/>
                <a:cs typeface="Menlo" panose="020B0609030804020204" pitchFamily="49" charset="0"/>
              </a:rPr>
              <a:t>new</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267F99"/>
                </a:solidFill>
                <a:latin typeface="Menlo" panose="020B0609030804020204" pitchFamily="49" charset="0"/>
                <a:ea typeface="Menlo" panose="020B0609030804020204" pitchFamily="49" charset="0"/>
                <a:cs typeface="Menlo" panose="020B0609030804020204" pitchFamily="49" charset="0"/>
              </a:rPr>
              <a:t>TranscriptDB</a:t>
            </a: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a:t>
            </a:r>
          </a:p>
          <a:p>
            <a:pPr>
              <a:lnSpc>
                <a:spcPct val="110000"/>
              </a:lnSpc>
              <a:buNone/>
            </a:pPr>
            <a:r>
              <a:rPr lang="en-US" dirty="0">
                <a:solidFill>
                  <a:srgbClr val="3B3B3B"/>
                </a:solidFill>
                <a:latin typeface="Menlo" panose="020B0609030804020204" pitchFamily="49" charset="0"/>
                <a:ea typeface="Menlo" panose="020B0609030804020204" pitchFamily="49" charset="0"/>
                <a:cs typeface="Menlo" panose="020B0609030804020204" pitchFamily="49" charset="0"/>
              </a:rPr>
              <a:t>});</a:t>
            </a:r>
          </a:p>
          <a:p>
            <a:pPr>
              <a:lnSpc>
                <a:spcPct val="110000"/>
              </a:lnSpc>
              <a:buNone/>
            </a:pPr>
            <a:endParaRPr lang="en-US" dirty="0">
              <a:solidFill>
                <a:srgbClr val="3B3B3B"/>
              </a:solidFill>
              <a:latin typeface="Menlo" panose="020B0609030804020204" pitchFamily="49" charset="0"/>
              <a:ea typeface="Menlo" panose="020B0609030804020204" pitchFamily="49" charset="0"/>
              <a:cs typeface="Menlo" panose="020B0609030804020204" pitchFamily="49" charset="0"/>
            </a:endParaRPr>
          </a:p>
          <a:p>
            <a:r>
              <a:rPr lang="en-US" dirty="0" err="1">
                <a:solidFill>
                  <a:srgbClr val="795E26"/>
                </a:solidFill>
                <a:latin typeface="Menlo" panose="020B0609030804020204" pitchFamily="49" charset="0"/>
                <a:ea typeface="Menlo" panose="020B0609030804020204" pitchFamily="49" charset="0"/>
                <a:cs typeface="Menlo" panose="020B0609030804020204" pitchFamily="49" charset="0"/>
              </a:rPr>
              <a:t>beforeEach</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 </a:t>
            </a:r>
            <a:r>
              <a:rPr lang="en-US" dirty="0">
                <a:solidFill>
                  <a:srgbClr val="0000FF"/>
                </a:solidFill>
                <a:latin typeface="Menlo" panose="020B0609030804020204" pitchFamily="49" charset="0"/>
                <a:ea typeface="Menlo" panose="020B0609030804020204" pitchFamily="49" charset="0"/>
                <a:cs typeface="Menlo" panose="020B0609030804020204" pitchFamily="49" charset="0"/>
              </a:rPr>
              <a:t>=&gt;</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 {</a:t>
            </a:r>
          </a:p>
          <a:p>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 </a:t>
            </a:r>
            <a:r>
              <a:rPr lang="en-US" dirty="0" err="1">
                <a:solidFill>
                  <a:srgbClr val="000000"/>
                </a:solidFill>
                <a:latin typeface="Menlo" panose="020B0609030804020204" pitchFamily="49" charset="0"/>
                <a:ea typeface="Menlo" panose="020B0609030804020204" pitchFamily="49" charset="0"/>
                <a:cs typeface="Menlo" panose="020B0609030804020204" pitchFamily="49" charset="0"/>
              </a:rPr>
              <a:t>db.clear</a:t>
            </a:r>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a:t>
            </a:r>
          </a:p>
          <a:p>
            <a:r>
              <a:rPr lang="en-US" dirty="0">
                <a:solidFill>
                  <a:srgbClr val="000000"/>
                </a:solidFill>
                <a:latin typeface="Menlo" panose="020B0609030804020204" pitchFamily="49" charset="0"/>
                <a:ea typeface="Menlo" panose="020B0609030804020204" pitchFamily="49" charset="0"/>
                <a:cs typeface="Menlo" panose="020B0609030804020204" pitchFamily="49" charset="0"/>
              </a:rPr>
              <a:t>});</a:t>
            </a:r>
          </a:p>
          <a:p>
            <a:endParaRPr lang="en-US" b="0" dirty="0">
              <a:solidFill>
                <a:srgbClr val="000000"/>
              </a:solidFill>
              <a:effectLst/>
              <a:latin typeface="Menlo" panose="020B0609030804020204" pitchFamily="49" charset="0"/>
              <a:ea typeface="Menlo" panose="020B0609030804020204" pitchFamily="49" charset="0"/>
              <a:cs typeface="Menlo" panose="020B0609030804020204" pitchFamily="49" charset="0"/>
            </a:endParaRPr>
          </a:p>
        </p:txBody>
      </p:sp>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A quick word about cleanup</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p:txBody>
          <a:bodyPr/>
          <a:lstStyle/>
          <a:p>
            <a:fld id="{20F37917-FD3A-4669-9018-DA04BCDD3D75}" type="slidenum">
              <a:rPr lang="en-US" smtClean="0"/>
              <a:t>23</a:t>
            </a:fld>
            <a:endParaRPr lang="en-US"/>
          </a:p>
        </p:txBody>
      </p:sp>
      <p:grpSp>
        <p:nvGrpSpPr>
          <p:cNvPr id="12" name="Group 11">
            <a:extLst>
              <a:ext uri="{FF2B5EF4-FFF2-40B4-BE49-F238E27FC236}">
                <a16:creationId xmlns:a16="http://schemas.microsoft.com/office/drawing/2014/main" id="{02B43628-5357-48D9-C1AB-02F58DD23665}"/>
              </a:ext>
            </a:extLst>
          </p:cNvPr>
          <p:cNvGrpSpPr/>
          <p:nvPr/>
        </p:nvGrpSpPr>
        <p:grpSpPr>
          <a:xfrm>
            <a:off x="3769834" y="1751917"/>
            <a:ext cx="4537010" cy="1285021"/>
            <a:chOff x="3450031" y="3450931"/>
            <a:chExt cx="4537010" cy="1285021"/>
          </a:xfrm>
        </p:grpSpPr>
        <p:sp>
          <p:nvSpPr>
            <p:cNvPr id="9" name="AutoShape 9">
              <a:extLst>
                <a:ext uri="{FF2B5EF4-FFF2-40B4-BE49-F238E27FC236}">
                  <a16:creationId xmlns:a16="http://schemas.microsoft.com/office/drawing/2014/main" id="{0976A1DB-D28F-DDD7-CED8-58403B21C0BF}"/>
                </a:ext>
              </a:extLst>
            </p:cNvPr>
            <p:cNvSpPr>
              <a:spLocks/>
            </p:cNvSpPr>
            <p:nvPr/>
          </p:nvSpPr>
          <p:spPr bwMode="auto">
            <a:xfrm>
              <a:off x="3450031" y="3450931"/>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each test with a new empty database</a:t>
              </a:r>
            </a:p>
          </p:txBody>
        </p:sp>
        <p:cxnSp>
          <p:nvCxnSpPr>
            <p:cNvPr id="11" name="Straight Arrow Connector 10">
              <a:extLst>
                <a:ext uri="{FF2B5EF4-FFF2-40B4-BE49-F238E27FC236}">
                  <a16:creationId xmlns:a16="http://schemas.microsoft.com/office/drawing/2014/main" id="{69684802-571C-8FA9-DA3E-C90BC10CB80A}"/>
                </a:ext>
              </a:extLst>
            </p:cNvPr>
            <p:cNvCxnSpPr>
              <a:cxnSpLocks/>
            </p:cNvCxnSpPr>
            <p:nvPr/>
          </p:nvCxnSpPr>
          <p:spPr>
            <a:xfrm flipV="1">
              <a:off x="6946092" y="3916121"/>
              <a:ext cx="1040949" cy="174301"/>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Content Placeholder 2">
            <a:extLst>
              <a:ext uri="{FF2B5EF4-FFF2-40B4-BE49-F238E27FC236}">
                <a16:creationId xmlns:a16="http://schemas.microsoft.com/office/drawing/2014/main" id="{88C922C3-603E-D6F0-750E-B27F16097F24}"/>
              </a:ext>
            </a:extLst>
          </p:cNvPr>
          <p:cNvSpPr>
            <a:spLocks noGrp="1"/>
          </p:cNvSpPr>
          <p:nvPr>
            <p:ph idx="1"/>
          </p:nvPr>
        </p:nvSpPr>
        <p:spPr>
          <a:xfrm>
            <a:off x="838199" y="6109500"/>
            <a:ext cx="9648463" cy="1290558"/>
          </a:xfrm>
        </p:spPr>
        <p:txBody>
          <a:bodyPr>
            <a:normAutofit/>
          </a:bodyPr>
          <a:lstStyle/>
          <a:p>
            <a:r>
              <a:rPr lang="en-US" dirty="0"/>
              <a:t>Use </a:t>
            </a:r>
            <a:r>
              <a:rPr lang="en-US" b="0" dirty="0" err="1">
                <a:solidFill>
                  <a:srgbClr val="795E26"/>
                </a:solidFill>
                <a:effectLst/>
                <a:latin typeface="Consolas" panose="020B0609020204030204" pitchFamily="49" charset="0"/>
              </a:rPr>
              <a:t>afterEach</a:t>
            </a:r>
            <a:r>
              <a:rPr lang="en-US" dirty="0"/>
              <a:t>() if needed. </a:t>
            </a:r>
          </a:p>
        </p:txBody>
      </p:sp>
      <p:sp>
        <p:nvSpPr>
          <p:cNvPr id="14" name="TextBox 13">
            <a:extLst>
              <a:ext uri="{FF2B5EF4-FFF2-40B4-BE49-F238E27FC236}">
                <a16:creationId xmlns:a16="http://schemas.microsoft.com/office/drawing/2014/main" id="{D8B4F2AF-392F-EFFE-EAEB-17EF3C6D9405}"/>
              </a:ext>
            </a:extLst>
          </p:cNvPr>
          <p:cNvSpPr txBox="1"/>
          <p:nvPr/>
        </p:nvSpPr>
        <p:spPr>
          <a:xfrm>
            <a:off x="8306844" y="1745879"/>
            <a:ext cx="6093912" cy="1291059"/>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nSpc>
                <a:spcPct val="110000"/>
              </a:lnSpc>
              <a:buNone/>
            </a:pPr>
            <a:r>
              <a:rPr lang="en-US" b="0" dirty="0">
                <a:solidFill>
                  <a:srgbClr val="0000FF"/>
                </a:solidFill>
                <a:effectLst/>
                <a:latin typeface="Menlo" panose="020B0609030804020204" pitchFamily="49" charset="0"/>
              </a:rPr>
              <a:t>let</a:t>
            </a:r>
            <a:r>
              <a:rPr lang="en-US" b="0" dirty="0">
                <a:solidFill>
                  <a:srgbClr val="3B3B3B"/>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TranscriptService</a:t>
            </a:r>
            <a:r>
              <a:rPr lang="en-US" b="0" dirty="0">
                <a:solidFill>
                  <a:srgbClr val="3B3B3B"/>
                </a:solidFill>
                <a:effectLst/>
                <a:latin typeface="Menlo" panose="020B0609030804020204" pitchFamily="49" charset="0"/>
              </a:rPr>
              <a:t>;</a:t>
            </a:r>
          </a:p>
          <a:p>
            <a:pPr>
              <a:lnSpc>
                <a:spcPct val="110000"/>
              </a:lnSpc>
              <a:buNone/>
            </a:pPr>
            <a:r>
              <a:rPr lang="en-US" b="0" dirty="0" err="1">
                <a:solidFill>
                  <a:srgbClr val="795E26"/>
                </a:solidFill>
                <a:effectLst/>
                <a:latin typeface="Menlo" panose="020B0609030804020204" pitchFamily="49" charset="0"/>
              </a:rPr>
              <a:t>beforeEach</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=&gt;</a:t>
            </a:r>
            <a:r>
              <a:rPr lang="en-US" b="0" dirty="0">
                <a:solidFill>
                  <a:srgbClr val="3B3B3B"/>
                </a:solidFill>
                <a:effectLst/>
                <a:latin typeface="Menlo" panose="020B0609030804020204" pitchFamily="49" charset="0"/>
              </a:rPr>
              <a:t> {</a:t>
            </a:r>
          </a:p>
          <a:p>
            <a:pPr>
              <a:lnSpc>
                <a:spcPct val="110000"/>
              </a:lnSpc>
              <a:buNone/>
            </a:pPr>
            <a:r>
              <a:rPr lang="en-US" b="0" dirty="0">
                <a:solidFill>
                  <a:srgbClr val="001080"/>
                </a:solidFill>
                <a:effectLst/>
                <a:latin typeface="Menlo" panose="020B0609030804020204" pitchFamily="49" charset="0"/>
              </a:rPr>
              <a:t>  </a:t>
            </a:r>
            <a:r>
              <a:rPr lang="en-US" b="0" dirty="0" err="1">
                <a:solidFill>
                  <a:srgbClr val="001080"/>
                </a:solidFill>
                <a:effectLst/>
                <a:latin typeface="Menlo" panose="020B0609030804020204" pitchFamily="49" charset="0"/>
              </a:rPr>
              <a:t>db</a:t>
            </a:r>
            <a:r>
              <a:rPr lang="en-US" b="0" dirty="0">
                <a:solidFill>
                  <a:srgbClr val="3B3B3B"/>
                </a:solidFill>
                <a:effectLst/>
                <a:latin typeface="Menlo" panose="020B0609030804020204" pitchFamily="49" charset="0"/>
              </a:rPr>
              <a:t> </a:t>
            </a:r>
            <a:r>
              <a:rPr lang="en-US" b="0" dirty="0">
                <a:solidFill>
                  <a:srgbClr val="000000"/>
                </a:solidFill>
                <a:effectLst/>
                <a:latin typeface="Menlo" panose="020B0609030804020204" pitchFamily="49" charset="0"/>
              </a:rPr>
              <a:t>=</a:t>
            </a:r>
            <a:r>
              <a:rPr lang="en-US" b="0" dirty="0">
                <a:solidFill>
                  <a:srgbClr val="3B3B3B"/>
                </a:solidFill>
                <a:effectLst/>
                <a:latin typeface="Menlo" panose="020B0609030804020204" pitchFamily="49" charset="0"/>
              </a:rPr>
              <a:t> </a:t>
            </a:r>
            <a:r>
              <a:rPr lang="en-US" b="0" dirty="0">
                <a:solidFill>
                  <a:srgbClr val="0000FF"/>
                </a:solidFill>
                <a:effectLst/>
                <a:latin typeface="Menlo" panose="020B0609030804020204" pitchFamily="49" charset="0"/>
              </a:rPr>
              <a:t>new</a:t>
            </a:r>
            <a:r>
              <a:rPr lang="en-US" b="0" dirty="0">
                <a:solidFill>
                  <a:srgbClr val="3B3B3B"/>
                </a:solidFill>
                <a:effectLst/>
                <a:latin typeface="Menlo" panose="020B0609030804020204" pitchFamily="49" charset="0"/>
              </a:rPr>
              <a:t> </a:t>
            </a:r>
            <a:r>
              <a:rPr lang="en-US" b="0" dirty="0" err="1">
                <a:solidFill>
                  <a:srgbClr val="267F99"/>
                </a:solidFill>
                <a:effectLst/>
                <a:latin typeface="Menlo" panose="020B0609030804020204" pitchFamily="49" charset="0"/>
              </a:rPr>
              <a:t>TranscriptDB</a:t>
            </a:r>
            <a:r>
              <a:rPr lang="en-US" b="0" dirty="0">
                <a:solidFill>
                  <a:srgbClr val="3B3B3B"/>
                </a:solidFill>
                <a:effectLst/>
                <a:latin typeface="Menlo" panose="020B0609030804020204" pitchFamily="49" charset="0"/>
              </a:rPr>
              <a:t>();</a:t>
            </a:r>
          </a:p>
          <a:p>
            <a:pPr>
              <a:lnSpc>
                <a:spcPct val="110000"/>
              </a:lnSpc>
              <a:buNone/>
            </a:pPr>
            <a:r>
              <a:rPr lang="en-US" b="0" dirty="0">
                <a:solidFill>
                  <a:srgbClr val="3B3B3B"/>
                </a:solidFill>
                <a:effectLst/>
                <a:latin typeface="Menlo" panose="020B0609030804020204" pitchFamily="49" charset="0"/>
              </a:rPr>
              <a:t>});</a:t>
            </a:r>
          </a:p>
        </p:txBody>
      </p:sp>
      <p:sp>
        <p:nvSpPr>
          <p:cNvPr id="16" name="AutoShape 9">
            <a:extLst>
              <a:ext uri="{FF2B5EF4-FFF2-40B4-BE49-F238E27FC236}">
                <a16:creationId xmlns:a16="http://schemas.microsoft.com/office/drawing/2014/main" id="{E98ACB89-BF47-7599-0F67-ECB3FA9661C4}"/>
              </a:ext>
            </a:extLst>
          </p:cNvPr>
          <p:cNvSpPr>
            <a:spLocks/>
          </p:cNvSpPr>
          <p:nvPr/>
        </p:nvSpPr>
        <p:spPr bwMode="auto">
          <a:xfrm>
            <a:off x="6776581" y="3551530"/>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Create one database at the very start</a:t>
            </a:r>
          </a:p>
        </p:txBody>
      </p:sp>
      <p:cxnSp>
        <p:nvCxnSpPr>
          <p:cNvPr id="17" name="Straight Arrow Connector 16">
            <a:extLst>
              <a:ext uri="{FF2B5EF4-FFF2-40B4-BE49-F238E27FC236}">
                <a16:creationId xmlns:a16="http://schemas.microsoft.com/office/drawing/2014/main" id="{F2B0B95B-D5BE-3373-4E06-5C16ECD42DE6}"/>
              </a:ext>
            </a:extLst>
          </p:cNvPr>
          <p:cNvCxnSpPr>
            <a:cxnSpLocks/>
          </p:cNvCxnSpPr>
          <p:nvPr/>
        </p:nvCxnSpPr>
        <p:spPr>
          <a:xfrm flipH="1" flipV="1">
            <a:off x="4672208" y="3980262"/>
            <a:ext cx="2104373" cy="16585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AutoShape 9">
            <a:extLst>
              <a:ext uri="{FF2B5EF4-FFF2-40B4-BE49-F238E27FC236}">
                <a16:creationId xmlns:a16="http://schemas.microsoft.com/office/drawing/2014/main" id="{532574F9-A234-1B72-AD38-C5DCDB44B582}"/>
              </a:ext>
            </a:extLst>
          </p:cNvPr>
          <p:cNvSpPr>
            <a:spLocks/>
          </p:cNvSpPr>
          <p:nvPr/>
        </p:nvSpPr>
        <p:spPr bwMode="auto">
          <a:xfrm>
            <a:off x="6096000" y="4990332"/>
            <a:ext cx="3496061" cy="1285021"/>
          </a:xfrm>
          <a:prstGeom prst="roundRect">
            <a:avLst>
              <a:gd name="adj" fmla="val 16667"/>
            </a:avLst>
          </a:prstGeom>
          <a:solidFill>
            <a:srgbClr val="00B050"/>
          </a:solidFill>
          <a:ln w="9525" cap="flat" cmpd="sng">
            <a:solidFill>
              <a:srgbClr val="C70000"/>
            </a:solidFill>
            <a:prstDash val="solid"/>
            <a:round/>
            <a:headEnd type="none" w="med" len="med"/>
            <a:tailEnd type="triangle" w="med" len="med"/>
          </a:ln>
          <a:effectLst>
            <a:outerShdw blurRad="38100" dist="23000" dir="5400000" algn="ctr" rotWithShape="0">
              <a:srgbClr val="000000">
                <a:alpha val="34999"/>
              </a:srgbClr>
            </a:outerShdw>
          </a:effectLst>
        </p:spPr>
        <p:txBody>
          <a:bodyPr lIns="32146" tIns="32146" rIns="32146" bIns="32146" anchor="ctr"/>
          <a:lstStyle>
            <a:lvl1pPr defTabSz="457200">
              <a:defRPr sz="3600">
                <a:solidFill>
                  <a:srgbClr val="000000"/>
                </a:solidFill>
                <a:latin typeface="Helvetica Neue Light" charset="0"/>
                <a:ea typeface="Helvetica Neue Light" charset="0"/>
                <a:cs typeface="Helvetica Neue Light" charset="0"/>
                <a:sym typeface="Helvetica Neue Light" charset="0"/>
              </a:defRPr>
            </a:lvl1pPr>
            <a:lvl2pPr defTabSz="457200">
              <a:defRPr sz="3600">
                <a:solidFill>
                  <a:srgbClr val="000000"/>
                </a:solidFill>
                <a:latin typeface="Helvetica Neue Light" charset="0"/>
                <a:ea typeface="Helvetica Neue Light" charset="0"/>
                <a:cs typeface="Helvetica Neue Light" charset="0"/>
                <a:sym typeface="Helvetica Neue Light" charset="0"/>
              </a:defRPr>
            </a:lvl2pPr>
            <a:lvl3pPr defTabSz="457200">
              <a:defRPr sz="3600">
                <a:solidFill>
                  <a:srgbClr val="000000"/>
                </a:solidFill>
                <a:latin typeface="Helvetica Neue Light" charset="0"/>
                <a:ea typeface="Helvetica Neue Light" charset="0"/>
                <a:cs typeface="Helvetica Neue Light" charset="0"/>
                <a:sym typeface="Helvetica Neue Light" charset="0"/>
              </a:defRPr>
            </a:lvl3pPr>
            <a:lvl4pPr defTabSz="457200">
              <a:defRPr sz="3600">
                <a:solidFill>
                  <a:srgbClr val="000000"/>
                </a:solidFill>
                <a:latin typeface="Helvetica Neue Light" charset="0"/>
                <a:ea typeface="Helvetica Neue Light" charset="0"/>
                <a:cs typeface="Helvetica Neue Light" charset="0"/>
                <a:sym typeface="Helvetica Neue Light" charset="0"/>
              </a:defRPr>
            </a:lvl4pPr>
            <a:lvl5pPr defTabSz="457200">
              <a:defRPr sz="3600">
                <a:solidFill>
                  <a:srgbClr val="000000"/>
                </a:solidFill>
                <a:latin typeface="Helvetica Neue Light" charset="0"/>
                <a:ea typeface="Helvetica Neue Light" charset="0"/>
                <a:cs typeface="Helvetica Neue Light" charset="0"/>
                <a:sym typeface="Helvetica Neue Light" charset="0"/>
              </a:defRPr>
            </a:lvl5pPr>
            <a:lvl6pPr marL="4572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6pPr>
            <a:lvl7pPr marL="9144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7pPr>
            <a:lvl8pPr marL="13716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8pPr>
            <a:lvl9pPr marL="1828800" algn="ctr" defTabSz="457200" fontAlgn="base" hangingPunct="0">
              <a:spcBef>
                <a:spcPct val="0"/>
              </a:spcBef>
              <a:spcAft>
                <a:spcPct val="0"/>
              </a:spcAft>
              <a:defRPr sz="3600">
                <a:solidFill>
                  <a:srgbClr val="000000"/>
                </a:solidFill>
                <a:latin typeface="Helvetica Neue Light" charset="0"/>
                <a:ea typeface="Helvetica Neue Light" charset="0"/>
                <a:cs typeface="Helvetica Neue Light" charset="0"/>
                <a:sym typeface="Helvetica Neue Light" charset="0"/>
              </a:defRPr>
            </a:lvl9pPr>
          </a:lstStyle>
          <a:p>
            <a:r>
              <a:rPr lang="en-US" altLang="en-US" sz="2400" dirty="0">
                <a:solidFill>
                  <a:srgbClr val="FFFFFF"/>
                </a:solidFill>
                <a:latin typeface="Calibri" panose="020F0502020204030204" pitchFamily="34" charset="0"/>
                <a:ea typeface="Helvetica" panose="020B0604020202020204" pitchFamily="34" charset="0"/>
                <a:cs typeface="Calibri" panose="020F0502020204030204" pitchFamily="34" charset="0"/>
                <a:sym typeface="Helvetica" panose="020B0604020202020204" pitchFamily="34" charset="0"/>
              </a:rPr>
              <a:t>Start every test with the database cleared out</a:t>
            </a:r>
          </a:p>
        </p:txBody>
      </p:sp>
      <p:cxnSp>
        <p:nvCxnSpPr>
          <p:cNvPr id="21" name="Straight Arrow Connector 20">
            <a:extLst>
              <a:ext uri="{FF2B5EF4-FFF2-40B4-BE49-F238E27FC236}">
                <a16:creationId xmlns:a16="http://schemas.microsoft.com/office/drawing/2014/main" id="{F93ED01A-F0A8-648F-DE72-400FB752ABEE}"/>
              </a:ext>
            </a:extLst>
          </p:cNvPr>
          <p:cNvCxnSpPr>
            <a:cxnSpLocks/>
          </p:cNvCxnSpPr>
          <p:nvPr/>
        </p:nvCxnSpPr>
        <p:spPr>
          <a:xfrm flipH="1" flipV="1">
            <a:off x="3991627" y="5419064"/>
            <a:ext cx="2104373" cy="165853"/>
          </a:xfrm>
          <a:prstGeom prst="straightConnector1">
            <a:avLst/>
          </a:prstGeom>
          <a:ln w="1270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7617698-7E77-E099-D2CD-6C7B237E2B50}"/>
              </a:ext>
            </a:extLst>
          </p:cNvPr>
          <p:cNvSpPr txBox="1"/>
          <p:nvPr/>
        </p:nvSpPr>
        <p:spPr>
          <a:xfrm>
            <a:off x="5437446" y="3094330"/>
            <a:ext cx="914400"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4800" dirty="0">
                <a:solidFill>
                  <a:srgbClr val="FFC000"/>
                </a:solidFill>
              </a:rPr>
              <a:t>OR</a:t>
            </a:r>
          </a:p>
        </p:txBody>
      </p:sp>
    </p:spTree>
    <p:extLst>
      <p:ext uri="{BB962C8B-B14F-4D97-AF65-F5344CB8AC3E}">
        <p14:creationId xmlns:p14="http://schemas.microsoft.com/office/powerpoint/2010/main" val="9395548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7D45D-23B0-E21E-9A9E-E8F200F1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25755-ACA7-3890-35A1-7DD1E9CF3CBE}"/>
              </a:ext>
            </a:extLst>
          </p:cNvPr>
          <p:cNvSpPr>
            <a:spLocks noGrp="1"/>
          </p:cNvSpPr>
          <p:nvPr>
            <p:ph type="title"/>
          </p:nvPr>
        </p:nvSpPr>
        <p:spPr/>
        <p:txBody>
          <a:bodyPr/>
          <a:lstStyle/>
          <a:p>
            <a:r>
              <a:rPr lang="en-US"/>
              <a:t>…now TDD lets us implement </a:t>
            </a:r>
            <a:r>
              <a:rPr lang="en-US" err="1"/>
              <a:t>addStudent</a:t>
            </a:r>
            <a:r>
              <a:rPr lang="en-US"/>
              <a:t>!</a:t>
            </a:r>
          </a:p>
        </p:txBody>
      </p:sp>
      <p:sp>
        <p:nvSpPr>
          <p:cNvPr id="5" name="Content Placeholder 4">
            <a:extLst>
              <a:ext uri="{FF2B5EF4-FFF2-40B4-BE49-F238E27FC236}">
                <a16:creationId xmlns:a16="http://schemas.microsoft.com/office/drawing/2014/main" id="{2CC0F007-BB9D-7A51-F58C-1EA9644E83F3}"/>
              </a:ext>
            </a:extLst>
          </p:cNvPr>
          <p:cNvSpPr>
            <a:spLocks noGrp="1"/>
          </p:cNvSpPr>
          <p:nvPr>
            <p:ph idx="1"/>
          </p:nvPr>
        </p:nvSpPr>
        <p:spPr>
          <a:xfrm>
            <a:off x="838199" y="1500159"/>
            <a:ext cx="10322169" cy="1688517"/>
          </a:xfrm>
        </p:spPr>
        <p:txBody>
          <a:bodyPr>
            <a:normAutofit/>
          </a:bodyPr>
          <a:lstStyle/>
          <a:p>
            <a:pPr marL="0" indent="0">
              <a:buNone/>
            </a:pPr>
            <a:r>
              <a:rPr lang="en-US"/>
              <a:t>Implementing the </a:t>
            </a:r>
            <a:r>
              <a:rPr lang="en-US" err="1"/>
              <a:t>TranscriptDB</a:t>
            </a:r>
            <a:r>
              <a:rPr lang="en-US"/>
              <a:t> according to the </a:t>
            </a:r>
            <a:r>
              <a:rPr lang="en-US" err="1"/>
              <a:t>TranscriptService</a:t>
            </a:r>
            <a:r>
              <a:rPr lang="en-US"/>
              <a:t> spec will let us turn our testable behaviors into fully executable tests.</a:t>
            </a:r>
          </a:p>
        </p:txBody>
      </p:sp>
      <p:sp>
        <p:nvSpPr>
          <p:cNvPr id="3" name="Slide Number Placeholder 2">
            <a:extLst>
              <a:ext uri="{FF2B5EF4-FFF2-40B4-BE49-F238E27FC236}">
                <a16:creationId xmlns:a16="http://schemas.microsoft.com/office/drawing/2014/main" id="{5E92E3A7-C02D-703B-56BD-94FA6F071027}"/>
              </a:ext>
            </a:extLst>
          </p:cNvPr>
          <p:cNvSpPr>
            <a:spLocks noGrp="1"/>
          </p:cNvSpPr>
          <p:nvPr>
            <p:ph type="sldNum" sz="quarter" idx="12"/>
          </p:nvPr>
        </p:nvSpPr>
        <p:spPr/>
        <p:txBody>
          <a:bodyPr/>
          <a:lstStyle/>
          <a:p>
            <a:fld id="{20F37917-FD3A-4669-9018-DA04BCDD3D75}" type="slidenum">
              <a:rPr lang="en-US" smtClean="0"/>
              <a:pPr/>
              <a:t>24</a:t>
            </a:fld>
            <a:endParaRPr lang="en-US"/>
          </a:p>
        </p:txBody>
      </p:sp>
      <p:grpSp>
        <p:nvGrpSpPr>
          <p:cNvPr id="6" name="Group 5">
            <a:extLst>
              <a:ext uri="{FF2B5EF4-FFF2-40B4-BE49-F238E27FC236}">
                <a16:creationId xmlns:a16="http://schemas.microsoft.com/office/drawing/2014/main" id="{699F15D9-00BA-F146-965A-3D5E61FB4703}"/>
              </a:ext>
            </a:extLst>
          </p:cNvPr>
          <p:cNvGrpSpPr/>
          <p:nvPr/>
        </p:nvGrpSpPr>
        <p:grpSpPr>
          <a:xfrm>
            <a:off x="435253" y="2610651"/>
            <a:ext cx="11321493" cy="4110824"/>
            <a:chOff x="133350" y="1786330"/>
            <a:chExt cx="11321493" cy="4110824"/>
          </a:xfrm>
        </p:grpSpPr>
        <p:sp>
          <p:nvSpPr>
            <p:cNvPr id="7" name="Rectangle: Rounded Corners 8">
              <a:extLst>
                <a:ext uri="{FF2B5EF4-FFF2-40B4-BE49-F238E27FC236}">
                  <a16:creationId xmlns:a16="http://schemas.microsoft.com/office/drawing/2014/main" id="{37D04995-0B29-D574-44D6-1C1347C7A3F1}"/>
                </a:ext>
              </a:extLst>
            </p:cNvPr>
            <p:cNvSpPr/>
            <p:nvPr/>
          </p:nvSpPr>
          <p:spPr>
            <a:xfrm>
              <a:off x="133350" y="2516734"/>
              <a:ext cx="2026024" cy="1039906"/>
            </a:xfrm>
            <a:prstGeom prst="roundRect">
              <a:avLst/>
            </a:prstGeom>
            <a:solidFill>
              <a:schemeClr val="bg2">
                <a:lumMod val="7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Satisfaction Conditions</a:t>
              </a:r>
            </a:p>
          </p:txBody>
        </p:sp>
        <p:sp>
          <p:nvSpPr>
            <p:cNvPr id="8" name="Rectangle: Rounded Corners 9">
              <a:extLst>
                <a:ext uri="{FF2B5EF4-FFF2-40B4-BE49-F238E27FC236}">
                  <a16:creationId xmlns:a16="http://schemas.microsoft.com/office/drawing/2014/main" id="{B1BFD337-6AA2-B07D-05F3-02949B505BD2}"/>
                </a:ext>
              </a:extLst>
            </p:cNvPr>
            <p:cNvSpPr/>
            <p:nvPr/>
          </p:nvSpPr>
          <p:spPr>
            <a:xfrm>
              <a:off x="6330330" y="2516734"/>
              <a:ext cx="2026024" cy="1039906"/>
            </a:xfrm>
            <a:prstGeom prst="roundRect">
              <a:avLst/>
            </a:prstGeom>
            <a:solidFill>
              <a:schemeClr val="accent6">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Executable Tests</a:t>
              </a:r>
            </a:p>
          </p:txBody>
        </p:sp>
        <p:sp>
          <p:nvSpPr>
            <p:cNvPr id="9" name="Rectangle: Rounded Corners 10">
              <a:extLst>
                <a:ext uri="{FF2B5EF4-FFF2-40B4-BE49-F238E27FC236}">
                  <a16:creationId xmlns:a16="http://schemas.microsoft.com/office/drawing/2014/main" id="{65FF3A29-047C-BCB2-3409-D935F1458029}"/>
                </a:ext>
              </a:extLst>
            </p:cNvPr>
            <p:cNvSpPr/>
            <p:nvPr/>
          </p:nvSpPr>
          <p:spPr>
            <a:xfrm>
              <a:off x="3231840" y="2516734"/>
              <a:ext cx="2026024" cy="1039906"/>
            </a:xfrm>
            <a:prstGeom prst="roundRect">
              <a:avLst/>
            </a:prstGeom>
            <a:solidFill>
              <a:schemeClr val="accent4">
                <a:lumMod val="60000"/>
                <a:lumOff val="4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Testable Behaviors</a:t>
              </a:r>
            </a:p>
          </p:txBody>
        </p:sp>
        <p:sp>
          <p:nvSpPr>
            <p:cNvPr id="10" name="Rectangle: Rounded Corners 11">
              <a:extLst>
                <a:ext uri="{FF2B5EF4-FFF2-40B4-BE49-F238E27FC236}">
                  <a16:creationId xmlns:a16="http://schemas.microsoft.com/office/drawing/2014/main" id="{0A5EA2C0-21C5-A177-B818-3F5288A8414F}"/>
                </a:ext>
              </a:extLst>
            </p:cNvPr>
            <p:cNvSpPr/>
            <p:nvPr/>
          </p:nvSpPr>
          <p:spPr>
            <a:xfrm>
              <a:off x="9428819" y="2516734"/>
              <a:ext cx="2026024" cy="1039906"/>
            </a:xfrm>
            <a:prstGeom prst="roundRect">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solidFill>
                    <a:schemeClr val="tx1"/>
                  </a:solidFill>
                </a:rPr>
                <a:t>Executing Code</a:t>
              </a:r>
            </a:p>
          </p:txBody>
        </p:sp>
        <p:sp>
          <p:nvSpPr>
            <p:cNvPr id="11" name="Isosceles Triangle 13">
              <a:extLst>
                <a:ext uri="{FF2B5EF4-FFF2-40B4-BE49-F238E27FC236}">
                  <a16:creationId xmlns:a16="http://schemas.microsoft.com/office/drawing/2014/main" id="{2ACAF0E2-4772-7950-1F0F-4183B101134D}"/>
                </a:ext>
              </a:extLst>
            </p:cNvPr>
            <p:cNvSpPr/>
            <p:nvPr/>
          </p:nvSpPr>
          <p:spPr>
            <a:xfrm rot="5400000">
              <a:off x="227364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2" name="Isosceles Triangle 14">
              <a:extLst>
                <a:ext uri="{FF2B5EF4-FFF2-40B4-BE49-F238E27FC236}">
                  <a16:creationId xmlns:a16="http://schemas.microsoft.com/office/drawing/2014/main" id="{6942D7D3-34AC-8A7A-5E55-5B03E9DD4068}"/>
                </a:ext>
              </a:extLst>
            </p:cNvPr>
            <p:cNvSpPr/>
            <p:nvPr/>
          </p:nvSpPr>
          <p:spPr>
            <a:xfrm rot="5400000">
              <a:off x="537213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3" name="Isosceles Triangle 15">
              <a:extLst>
                <a:ext uri="{FF2B5EF4-FFF2-40B4-BE49-F238E27FC236}">
                  <a16:creationId xmlns:a16="http://schemas.microsoft.com/office/drawing/2014/main" id="{CD688A54-81A6-4752-D593-1DAE613F4C6B}"/>
                </a:ext>
              </a:extLst>
            </p:cNvPr>
            <p:cNvSpPr/>
            <p:nvPr/>
          </p:nvSpPr>
          <p:spPr>
            <a:xfrm rot="5400000">
              <a:off x="8470620" y="2704993"/>
              <a:ext cx="843934" cy="663388"/>
            </a:xfrm>
            <a:prstGeom prst="triangle">
              <a:avLst>
                <a:gd name="adj" fmla="val 45486"/>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sp>
          <p:nvSpPr>
            <p:cNvPr id="14" name="TextBox 13">
              <a:extLst>
                <a:ext uri="{FF2B5EF4-FFF2-40B4-BE49-F238E27FC236}">
                  <a16:creationId xmlns:a16="http://schemas.microsoft.com/office/drawing/2014/main" id="{8F9C8517-35C9-604B-2A9C-F6D7519C4AE5}"/>
                </a:ext>
              </a:extLst>
            </p:cNvPr>
            <p:cNvSpPr txBox="1"/>
            <p:nvPr/>
          </p:nvSpPr>
          <p:spPr>
            <a:xfrm>
              <a:off x="1600232" y="1821455"/>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Analyze</a:t>
              </a:r>
            </a:p>
          </p:txBody>
        </p:sp>
        <p:sp>
          <p:nvSpPr>
            <p:cNvPr id="15" name="TextBox 14">
              <a:extLst>
                <a:ext uri="{FF2B5EF4-FFF2-40B4-BE49-F238E27FC236}">
                  <a16:creationId xmlns:a16="http://schemas.microsoft.com/office/drawing/2014/main" id="{C5C74A3D-107C-A976-8FBC-38494CD8F27E}"/>
                </a:ext>
              </a:extLst>
            </p:cNvPr>
            <p:cNvSpPr txBox="1"/>
            <p:nvPr/>
          </p:nvSpPr>
          <p:spPr>
            <a:xfrm>
              <a:off x="4694927"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Design</a:t>
              </a:r>
            </a:p>
          </p:txBody>
        </p:sp>
        <p:sp>
          <p:nvSpPr>
            <p:cNvPr id="16" name="TextBox 15">
              <a:extLst>
                <a:ext uri="{FF2B5EF4-FFF2-40B4-BE49-F238E27FC236}">
                  <a16:creationId xmlns:a16="http://schemas.microsoft.com/office/drawing/2014/main" id="{0AF3C444-3E10-AB01-92CB-6DD7B9D74DD4}"/>
                </a:ext>
              </a:extLst>
            </p:cNvPr>
            <p:cNvSpPr txBox="1"/>
            <p:nvPr/>
          </p:nvSpPr>
          <p:spPr>
            <a:xfrm>
              <a:off x="7797212" y="1786330"/>
              <a:ext cx="2190750" cy="5524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3200">
                  <a:solidFill>
                    <a:schemeClr val="tx1"/>
                  </a:solidFill>
                </a:rPr>
                <a:t>Code</a:t>
              </a:r>
            </a:p>
          </p:txBody>
        </p:sp>
        <p:sp>
          <p:nvSpPr>
            <p:cNvPr id="17" name="Arrow: Curved Left 19">
              <a:extLst>
                <a:ext uri="{FF2B5EF4-FFF2-40B4-BE49-F238E27FC236}">
                  <a16:creationId xmlns:a16="http://schemas.microsoft.com/office/drawing/2014/main" id="{AB7C0D20-D749-EC73-6E8B-CB49056A9F50}"/>
                </a:ext>
              </a:extLst>
            </p:cNvPr>
            <p:cNvSpPr/>
            <p:nvPr/>
          </p:nvSpPr>
          <p:spPr>
            <a:xfrm rot="5400000">
              <a:off x="8696614" y="2651423"/>
              <a:ext cx="576654" cy="2815637"/>
            </a:xfrm>
            <a:prstGeom prst="curvedLeftArrow">
              <a:avLst>
                <a:gd name="adj1" fmla="val 25001"/>
                <a:gd name="adj2" fmla="val 50000"/>
                <a:gd name="adj3" fmla="val 38214"/>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sp>
          <p:nvSpPr>
            <p:cNvPr id="18" name="Arrow: Curved Left 20">
              <a:extLst>
                <a:ext uri="{FF2B5EF4-FFF2-40B4-BE49-F238E27FC236}">
                  <a16:creationId xmlns:a16="http://schemas.microsoft.com/office/drawing/2014/main" id="{40078796-E590-1AF2-7A37-3AE2581B0C77}"/>
                </a:ext>
              </a:extLst>
            </p:cNvPr>
            <p:cNvSpPr/>
            <p:nvPr/>
          </p:nvSpPr>
          <p:spPr>
            <a:xfrm rot="5400000">
              <a:off x="6769522" y="1163813"/>
              <a:ext cx="1367579" cy="6581775"/>
            </a:xfrm>
            <a:prstGeom prst="curvedLeftArrow">
              <a:avLst>
                <a:gd name="adj1" fmla="val 25000"/>
                <a:gd name="adj2" fmla="val 50000"/>
                <a:gd name="adj3" fmla="val 25000"/>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sp>
          <p:nvSpPr>
            <p:cNvPr id="19" name="Arrow: Curved Left 21">
              <a:extLst>
                <a:ext uri="{FF2B5EF4-FFF2-40B4-BE49-F238E27FC236}">
                  <a16:creationId xmlns:a16="http://schemas.microsoft.com/office/drawing/2014/main" id="{C6790096-E3C0-2B73-9081-85A5C1003C25}"/>
                </a:ext>
              </a:extLst>
            </p:cNvPr>
            <p:cNvSpPr/>
            <p:nvPr/>
          </p:nvSpPr>
          <p:spPr>
            <a:xfrm rot="5400000">
              <a:off x="5032879" y="-135194"/>
              <a:ext cx="2126243" cy="9938454"/>
            </a:xfrm>
            <a:prstGeom prst="curvedLeftArrow">
              <a:avLst>
                <a:gd name="adj1" fmla="val 14986"/>
                <a:gd name="adj2" fmla="val 50000"/>
                <a:gd name="adj3" fmla="val 13801"/>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a:solidFill>
                  <a:schemeClr val="tx1"/>
                </a:solidFill>
              </a:endParaRPr>
            </a:p>
          </p:txBody>
        </p:sp>
      </p:grpSp>
    </p:spTree>
    <p:extLst>
      <p:ext uri="{BB962C8B-B14F-4D97-AF65-F5344CB8AC3E}">
        <p14:creationId xmlns:p14="http://schemas.microsoft.com/office/powerpoint/2010/main" val="1609379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6E8AF-BD74-88AB-9E01-FB6FACEFE331}"/>
              </a:ext>
            </a:extLst>
          </p:cNvPr>
          <p:cNvSpPr>
            <a:spLocks noGrp="1"/>
          </p:cNvSpPr>
          <p:nvPr>
            <p:ph type="title"/>
          </p:nvPr>
        </p:nvSpPr>
        <p:spPr/>
        <p:txBody>
          <a:bodyPr/>
          <a:lstStyle/>
          <a:p>
            <a:r>
              <a:rPr lang="en-US"/>
              <a:t>Review</a:t>
            </a:r>
          </a:p>
        </p:txBody>
      </p:sp>
      <p:sp>
        <p:nvSpPr>
          <p:cNvPr id="3" name="Content Placeholder 2">
            <a:extLst>
              <a:ext uri="{FF2B5EF4-FFF2-40B4-BE49-F238E27FC236}">
                <a16:creationId xmlns:a16="http://schemas.microsoft.com/office/drawing/2014/main" id="{184B73AD-3850-13B8-7AB8-5D8ED30F0C3A}"/>
              </a:ext>
            </a:extLst>
          </p:cNvPr>
          <p:cNvSpPr>
            <a:spLocks noGrp="1"/>
          </p:cNvSpPr>
          <p:nvPr>
            <p:ph idx="1"/>
          </p:nvPr>
        </p:nvSpPr>
        <p:spPr>
          <a:xfrm>
            <a:off x="838200" y="1500159"/>
            <a:ext cx="8429368" cy="5221315"/>
          </a:xfrm>
        </p:spPr>
        <p:txBody>
          <a:bodyPr>
            <a:normAutofit/>
          </a:bodyPr>
          <a:lstStyle/>
          <a:p>
            <a:pPr marL="0" indent="0">
              <a:buNone/>
            </a:pPr>
            <a:r>
              <a:rPr lang="en-US" dirty="0"/>
              <a:t>It’s the end of the lesson, so you should be prepared to:</a:t>
            </a:r>
          </a:p>
          <a:p>
            <a:pPr lvl="1"/>
            <a:r>
              <a:rPr lang="en-US" dirty="0"/>
              <a:t>Explain the basics of Test-Driven Development</a:t>
            </a:r>
          </a:p>
          <a:p>
            <a:pPr lvl="1"/>
            <a:r>
              <a:rPr lang="en-US" dirty="0"/>
              <a:t>Explain the connection between conditions of satisfaction and testable behaviors</a:t>
            </a:r>
          </a:p>
          <a:p>
            <a:pPr lvl="1"/>
            <a:r>
              <a:rPr lang="en-US" dirty="0"/>
              <a:t>Begin developing simple applications using TypeScript and </a:t>
            </a:r>
            <a:r>
              <a:rPr lang="en-US" dirty="0" err="1"/>
              <a:t>Vitest</a:t>
            </a:r>
            <a:endParaRPr lang="en-US" dirty="0"/>
          </a:p>
          <a:p>
            <a:pPr marL="0" indent="0">
              <a:buNone/>
            </a:pPr>
            <a:endParaRPr lang="en-US" dirty="0"/>
          </a:p>
          <a:p>
            <a:endParaRPr lang="en-US" dirty="0"/>
          </a:p>
        </p:txBody>
      </p:sp>
      <p:sp>
        <p:nvSpPr>
          <p:cNvPr id="4" name="Slide Number Placeholder 3">
            <a:extLst>
              <a:ext uri="{FF2B5EF4-FFF2-40B4-BE49-F238E27FC236}">
                <a16:creationId xmlns:a16="http://schemas.microsoft.com/office/drawing/2014/main" id="{98A884B0-329A-C1C7-01BF-6013C6128833}"/>
              </a:ext>
            </a:extLst>
          </p:cNvPr>
          <p:cNvSpPr>
            <a:spLocks noGrp="1"/>
          </p:cNvSpPr>
          <p:nvPr>
            <p:ph type="sldNum" sz="quarter" idx="12"/>
          </p:nvPr>
        </p:nvSpPr>
        <p:spPr/>
        <p:txBody>
          <a:bodyPr/>
          <a:lstStyle/>
          <a:p>
            <a:fld id="{20F37917-FD3A-4669-9018-DA04BCDD3D75}" type="slidenum">
              <a:rPr lang="en-US" smtClean="0"/>
              <a:t>25</a:t>
            </a:fld>
            <a:endParaRPr lang="en-US"/>
          </a:p>
        </p:txBody>
      </p:sp>
    </p:spTree>
    <p:extLst>
      <p:ext uri="{BB962C8B-B14F-4D97-AF65-F5344CB8AC3E}">
        <p14:creationId xmlns:p14="http://schemas.microsoft.com/office/powerpoint/2010/main" val="3814196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20000"/>
            <a:lumOff val="80000"/>
          </a:schemeClr>
        </a:solidFill>
        <a:ln>
          <a:solidFill>
            <a:srgbClr val="0070C0"/>
          </a:solidFill>
        </a:ln>
      </a:spPr>
      <a:bodyPr rtlCol="0" anchor="ctr"/>
      <a:lstStyle>
        <a:defPPr algn="l">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23015</TotalTime>
  <Words>2989</Words>
  <Application>Microsoft Macintosh PowerPoint</Application>
  <PresentationFormat>Widescreen</PresentationFormat>
  <Paragraphs>370</Paragraphs>
  <Slides>25</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Ink Free</vt:lpstr>
      <vt:lpstr>Menlo</vt:lpstr>
      <vt:lpstr>Verdana</vt:lpstr>
      <vt:lpstr>Arial</vt:lpstr>
      <vt:lpstr>Consolas</vt:lpstr>
      <vt:lpstr>Calibri</vt:lpstr>
      <vt:lpstr>Helvetica Neue</vt:lpstr>
      <vt:lpstr>Office Theme</vt:lpstr>
      <vt:lpstr>CS 4530: Fundamentals of Software Engineering Module 2.2: Test-Driven Development</vt:lpstr>
      <vt:lpstr>Learning Goals for this Lesson</vt:lpstr>
      <vt:lpstr>Non-Goals for this Lesson</vt:lpstr>
      <vt:lpstr>Part 3: Test-Driven Development</vt:lpstr>
      <vt:lpstr>Review: User Stories</vt:lpstr>
      <vt:lpstr>Review: Conditions of Satisfaction</vt:lpstr>
      <vt:lpstr>Test Driven Development (TDD)</vt:lpstr>
      <vt:lpstr>The TDD Cycle</vt:lpstr>
      <vt:lpstr>CoS are ultimately about the user</vt:lpstr>
      <vt:lpstr>CoS are ultimately about the user</vt:lpstr>
      <vt:lpstr>Analyzing CoS to get testable behaviors</vt:lpstr>
      <vt:lpstr>Analyzing CoS to get testable behaviors</vt:lpstr>
      <vt:lpstr>The tiniest introduction to Vitest</vt:lpstr>
      <vt:lpstr>The tiniest introduction to Vitest</vt:lpstr>
      <vt:lpstr>The tiniest introduction to Vitest</vt:lpstr>
      <vt:lpstr>The tiniest introduction to Vitest</vt:lpstr>
      <vt:lpstr>Turning testable behaviors into Vitest tests</vt:lpstr>
      <vt:lpstr>Turning testable behaviors into Vitest tests</vt:lpstr>
      <vt:lpstr>Turning testable behaviors into Vitest tests</vt:lpstr>
      <vt:lpstr>Turning testable behaviors into Vitest tests</vt:lpstr>
      <vt:lpstr>Turning testable behaviors into Vitest tests</vt:lpstr>
      <vt:lpstr>Turning testable behaviors into Vitest tests</vt:lpstr>
      <vt:lpstr>A quick word about cleanup</vt:lpstr>
      <vt:lpstr>…now TDD lets us implement addStudent!</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2: From Requirements to Code: Test-Driven Development</dc:title>
  <dc:creator>Mitchell Wand</dc:creator>
  <cp:lastModifiedBy>Simmons, Rob</cp:lastModifiedBy>
  <cp:revision>231</cp:revision>
  <dcterms:created xsi:type="dcterms:W3CDTF">2021-01-07T15:19:22Z</dcterms:created>
  <dcterms:modified xsi:type="dcterms:W3CDTF">2025-12-26T19:04:00Z</dcterms:modified>
</cp:coreProperties>
</file>