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7"/>
  </p:notesMasterIdLst>
  <p:sldIdLst>
    <p:sldId id="485" r:id="rId2"/>
    <p:sldId id="396" r:id="rId3"/>
    <p:sldId id="523" r:id="rId4"/>
    <p:sldId id="576" r:id="rId5"/>
    <p:sldId id="555" r:id="rId6"/>
    <p:sldId id="564" r:id="rId7"/>
    <p:sldId id="351" r:id="rId8"/>
    <p:sldId id="531" r:id="rId9"/>
    <p:sldId id="532" r:id="rId10"/>
    <p:sldId id="582" r:id="rId11"/>
    <p:sldId id="567" r:id="rId12"/>
    <p:sldId id="556" r:id="rId13"/>
    <p:sldId id="601" r:id="rId14"/>
    <p:sldId id="587" r:id="rId15"/>
    <p:sldId id="590" r:id="rId16"/>
    <p:sldId id="591" r:id="rId17"/>
    <p:sldId id="592" r:id="rId18"/>
    <p:sldId id="593" r:id="rId19"/>
    <p:sldId id="596" r:id="rId20"/>
    <p:sldId id="597" r:id="rId21"/>
    <p:sldId id="565" r:id="rId22"/>
    <p:sldId id="598" r:id="rId23"/>
    <p:sldId id="569" r:id="rId24"/>
    <p:sldId id="568" r:id="rId25"/>
    <p:sldId id="570" r:id="rId26"/>
    <p:sldId id="571" r:id="rId27"/>
    <p:sldId id="572" r:id="rId28"/>
    <p:sldId id="573" r:id="rId29"/>
    <p:sldId id="574" r:id="rId30"/>
    <p:sldId id="575" r:id="rId31"/>
    <p:sldId id="602" r:id="rId32"/>
    <p:sldId id="600" r:id="rId33"/>
    <p:sldId id="549" r:id="rId34"/>
    <p:sldId id="599" r:id="rId35"/>
    <p:sldId id="577" r:id="rId36"/>
  </p:sldIdLst>
  <p:sldSz cx="12192000" cy="6858000"/>
  <p:notesSz cx="6858000" cy="9144000"/>
  <p:embeddedFontLst>
    <p:embeddedFont>
      <p:font typeface="Consolas" panose="020B0609020204030204" pitchFamily="49" charset="0"/>
      <p:regular r:id="rId38"/>
      <p:bold r:id="rId39"/>
      <p:italic r:id="rId40"/>
      <p:boldItalic r:id="rId41"/>
    </p:embeddedFont>
    <p:embeddedFont>
      <p:font typeface="Ink Free" panose="03080402000500000000" pitchFamily="66" charset="0"/>
      <p:regular r:id="rId42"/>
    </p:embeddedFont>
    <p:embeddedFont>
      <p:font typeface="Verdana" panose="020B0604030504040204" pitchFamily="34" charset="0"/>
      <p:regular r:id="rId43"/>
      <p:bold r:id="rId44"/>
      <p:italic r:id="rId45"/>
      <p:boldItalic r:id="rId4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76"/>
            <p14:sldId id="555"/>
            <p14:sldId id="564"/>
            <p14:sldId id="351"/>
            <p14:sldId id="531"/>
            <p14:sldId id="532"/>
            <p14:sldId id="582"/>
            <p14:sldId id="567"/>
            <p14:sldId id="556"/>
            <p14:sldId id="601"/>
            <p14:sldId id="587"/>
            <p14:sldId id="590"/>
            <p14:sldId id="591"/>
            <p14:sldId id="592"/>
            <p14:sldId id="593"/>
            <p14:sldId id="596"/>
            <p14:sldId id="597"/>
            <p14:sldId id="565"/>
            <p14:sldId id="598"/>
            <p14:sldId id="569"/>
            <p14:sldId id="568"/>
            <p14:sldId id="570"/>
            <p14:sldId id="571"/>
            <p14:sldId id="572"/>
            <p14:sldId id="573"/>
            <p14:sldId id="574"/>
            <p14:sldId id="575"/>
            <p14:sldId id="602"/>
            <p14:sldId id="600"/>
            <p14:sldId id="549"/>
            <p14:sldId id="599"/>
            <p14:sldId id="57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5677" autoAdjust="0"/>
  </p:normalViewPr>
  <p:slideViewPr>
    <p:cSldViewPr snapToGrid="0">
      <p:cViewPr varScale="1">
        <p:scale>
          <a:sx n="103" d="100"/>
          <a:sy n="103" d="100"/>
        </p:scale>
        <p:origin x="1096" y="16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16B49D51-0857-4A44-AD1A-0C1006418460}" srcId="{7851135E-E593-49EB-9C66-FB8F80DCC8EB}" destId="{0F25331F-8FB8-4E3A-87F2-3F285D74EB32}" srcOrd="2" destOrd="0" parTransId="{324E124D-8500-4C04-A0BA-6F6C2D553D81}" sibTransId="{4716CEE8-C882-4DFA-8AAE-CB3797F9F69F}"/>
    <dgm:cxn modelId="{BBA2886E-1FC2-4FFE-BF42-BABB70DB9D54}" srcId="{ABB0E679-4682-422A-B4B3-34D44CC4C90C}" destId="{79B77230-D940-49CC-AF47-BF1D40797D89}" srcOrd="0" destOrd="0" parTransId="{C50558CC-69DA-4C28-8CB9-2982E9088524}" sibTransId="{01A261DD-4242-4987-8459-53BA826F65E4}"/>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dirty="0"/>
              <a:t>This lecture is providing a bigger picture for the context of user stories in software engineering.</a:t>
            </a:r>
          </a:p>
          <a:p>
            <a:endParaRPr lang="en-US" dirty="0"/>
          </a:p>
          <a:p>
            <a:r>
              <a:rPr lang="en-US" dirty="0"/>
              <a:t>Connecting the actual needs of people to user stories is the role of ”whatever-Driven Design” and other ways of capturing requirements. We use user stories to help us understand and communicate what we’re planning to do.</a:t>
            </a:r>
          </a:p>
          <a:p>
            <a:endParaRPr lang="en-US" dirty="0"/>
          </a:p>
          <a:p>
            <a:r>
              <a:rPr lang="en-US" dirty="0"/>
              <a:t>Connecting user stories with conditions of satisfaction is how we organize our software engineering process — that’s central to what we’re doing in this class.</a:t>
            </a:r>
          </a:p>
          <a:p>
            <a:endParaRPr lang="en-US" dirty="0"/>
          </a:p>
          <a:p>
            <a:r>
              <a:rPr lang="en-US" dirty="0"/>
              <a:t>Connecting conditions of satisfaction to the code we’re running through the practice of test-driven development is how we make sure all our organizing and planning is reflected in what we ultimately create.</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r>
              <a:rPr lang="en-US" dirty="0"/>
              <a:t>This lecture has two parts:</a:t>
            </a:r>
          </a:p>
          <a:p>
            <a:endParaRPr lang="en-US" dirty="0"/>
          </a:p>
          <a:p>
            <a:r>
              <a:rPr lang="en-US" dirty="0"/>
              <a:t> - We’re going to talk about how we decide </a:t>
            </a:r>
            <a:r>
              <a:rPr lang="en-US" i="1" dirty="0"/>
              <a:t>what </a:t>
            </a:r>
            <a:r>
              <a:rPr lang="en-US" i="0" dirty="0"/>
              <a:t>user stories to select as part of our planning</a:t>
            </a:r>
          </a:p>
          <a:p>
            <a:r>
              <a:rPr lang="en-US" i="0" dirty="0"/>
              <a:t> - We’re going to talk about test-driven development, and how it connects our conditions of satisfaction to our actual code</a:t>
            </a:r>
            <a:endParaRPr lang="en-US" dirty="0"/>
          </a:p>
          <a:p>
            <a:endParaRPr lang="en-US" dirty="0"/>
          </a:p>
          <a:p>
            <a:r>
              <a:rPr lang="en-US" dirty="0"/>
              <a:t>Our TAs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we mostly see it it as a technical decision about how to satisfy a user story — a complex technical decision that involves design, but a technical decision? Who decides what actual software should get built, what user stories should get prioritized? How do they </a:t>
            </a:r>
          </a:p>
          <a:p>
            <a:r>
              <a:rPr lang="en-US" dirty="0"/>
              <a:t>decide? </a:t>
            </a:r>
          </a:p>
          <a:p>
            <a:endParaRPr lang="en-US" dirty="0"/>
          </a:p>
          <a:p>
            <a:r>
              <a:rPr lang="en-US" dirty="0"/>
              <a:t>DISCUSS</a:t>
            </a:r>
          </a:p>
          <a:p>
            <a:endParaRPr lang="en-US" dirty="0"/>
          </a:p>
          <a:p>
            <a:r>
              <a:rPr lang="en-US" dirty="0"/>
              <a:t>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947362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E489E-B39A-05BA-EC2E-B555AA53BC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02EC99-460D-10A4-73A1-61B872F46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8B59E-9564-33A6-8B94-B366DE31DFDA}"/>
              </a:ext>
            </a:extLst>
          </p:cNvPr>
          <p:cNvSpPr>
            <a:spLocks noGrp="1"/>
          </p:cNvSpPr>
          <p:nvPr>
            <p:ph type="body" idx="1"/>
          </p:nvPr>
        </p:nvSpPr>
        <p:spPr/>
        <p:txBody>
          <a:bodyPr/>
          <a:lstStyle/>
          <a:p>
            <a:r>
              <a:rPr lang="en-US" dirty="0"/>
              <a:t>.</a:t>
            </a:r>
          </a:p>
        </p:txBody>
      </p:sp>
      <p:sp>
        <p:nvSpPr>
          <p:cNvPr id="4" name="Slide Number Placeholder 3">
            <a:extLst>
              <a:ext uri="{FF2B5EF4-FFF2-40B4-BE49-F238E27FC236}">
                <a16:creationId xmlns:a16="http://schemas.microsoft.com/office/drawing/2014/main" id="{FD59EE5F-ABC6-656D-3DA2-ED662B399DB7}"/>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2347795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r>
              <a:rPr lang="en-US" dirty="0"/>
              <a:t>The process of VSD includes three kinds of investigations:</a:t>
            </a:r>
          </a:p>
          <a:p>
            <a:pPr marL="171450" indent="-171450">
              <a:buFontTx/>
              <a:buChar char="-"/>
            </a:pPr>
            <a:r>
              <a:rPr lang="en-US" dirty="0"/>
              <a:t>Empirical: This is about understanding how the value works in real life based on observations made in the field or from life experiences.</a:t>
            </a:r>
          </a:p>
          <a:p>
            <a:pPr marL="171450" indent="-171450">
              <a:buFontTx/>
              <a:buChar char="-"/>
            </a:pPr>
            <a:r>
              <a:rPr lang="en-US" dirty="0"/>
              <a:t>Value: Involves identifying stakeholders, thinking about their goals and values and then finally resolving the value tensions arising from conflicting interests of stakeholders.</a:t>
            </a:r>
          </a:p>
          <a:p>
            <a:pPr marL="171450" indent="-171450">
              <a:buFontTx/>
              <a:buChar char="-"/>
            </a:pPr>
            <a:r>
              <a:rPr lang="en-US" dirty="0"/>
              <a:t>Technical: The technical feasibility of implementing the solutions.</a:t>
            </a:r>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illustrates how to use VSD to think about a value like informed consent:</a:t>
            </a:r>
          </a:p>
          <a:p>
            <a:endParaRPr lang="en-US" dirty="0"/>
          </a:p>
          <a:p>
            <a:pPr marL="228600" indent="-228600">
              <a:buAutoNum type="arabicPeriod"/>
            </a:pPr>
            <a:r>
              <a:rPr lang="en-US" dirty="0"/>
              <a:t>Do an empirical investigation which involves understanding the meaning of the value. In this case understanding informed consent hinges on four concepts as outlined. Often to understand a value one will have to collaborate with experts in a field such as sociologists, philosophers, domain experts. </a:t>
            </a:r>
          </a:p>
          <a:p>
            <a:pPr marL="228600" indent="-228600">
              <a:buAutoNum type="arabicPeriod"/>
            </a:pPr>
            <a:r>
              <a:rPr lang="en-US" dirty="0"/>
              <a:t>Identify the stakeholders and value tensions. For e.g., the stakeholders here could be site users and site owners. Their interests may align or conflict. For e.g., site users may want to be anonymous, but site owners might want to monetize site usage by sharing personal usage data with advertisers. On the </a:t>
            </a:r>
            <a:r>
              <a:rPr lang="en-US"/>
              <a:t>other hand, </a:t>
            </a:r>
            <a:r>
              <a:rPr lang="en-US" dirty="0"/>
              <a:t>they may align if the site owners want to make accountability and transparently a core value of their operations.</a:t>
            </a:r>
          </a:p>
          <a:p>
            <a:pPr marL="228600" indent="-228600">
              <a:buAutoNum type="arabicPeriod"/>
            </a:pPr>
            <a:r>
              <a:rPr lang="en-US" dirty="0"/>
              <a:t>Cookies in browsers are one way to collect personal information after taking permission from the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5893513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14930-7BFC-B85F-7B1F-91CBE3DB64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686BB-97DB-31D4-DF63-8EBB5830E5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B209EB-F107-C0B9-3F49-D8686F394F46}"/>
              </a:ext>
            </a:extLst>
          </p:cNvPr>
          <p:cNvSpPr>
            <a:spLocks noGrp="1"/>
          </p:cNvSpPr>
          <p:nvPr>
            <p:ph type="body" idx="1"/>
          </p:nvPr>
        </p:nvSpPr>
        <p:spPr/>
        <p:txBody>
          <a:bodyPr/>
          <a:lstStyle/>
          <a:p>
            <a:r>
              <a:rPr lang="en-US" dirty="0"/>
              <a:t>You’re not going to be experts on requirements analysis after this lecture — any form of </a:t>
            </a:r>
            <a:r>
              <a:rPr lang="en-US" i="1" dirty="0">
                <a:latin typeface="Times New Roman" panose="02020603050405020304" pitchFamily="18" charset="0"/>
                <a:cs typeface="Times New Roman" panose="02020603050405020304" pitchFamily="18" charset="0"/>
              </a:rPr>
              <a:t>x</a:t>
            </a:r>
            <a:r>
              <a:rPr lang="en-US" dirty="0"/>
              <a:t>-Driven Design could be the focus of a whole class.</a:t>
            </a:r>
          </a:p>
          <a:p>
            <a:endParaRPr lang="en-US" dirty="0"/>
          </a:p>
          <a:p>
            <a:r>
              <a:rPr lang="en-US" dirty="0"/>
              <a:t>From our perspective, requirements analysis is where the user stories we focus on </a:t>
            </a:r>
            <a:r>
              <a:rPr lang="en-US" i="1" dirty="0"/>
              <a:t>come from in the first place</a:t>
            </a:r>
            <a:r>
              <a:rPr lang="en-US" i="0" dirty="0"/>
              <a:t>, but in this class you’ll mostly be making up user stories based on an imagined idea of what an imagined user might want. That is… unfortunately how things often work in the real world, and a staggering amount of resources have been wasted as a result. (Some would blame Meta/Facebook’s VR projects of failing at this level.)</a:t>
            </a:r>
          </a:p>
          <a:p>
            <a:endParaRPr lang="en-US" i="0" dirty="0"/>
          </a:p>
          <a:p>
            <a:r>
              <a:rPr lang="en-US" i="0" dirty="0"/>
              <a:t>If you’re actually starting any kind of software engineering project in the real world, seriously studying </a:t>
            </a:r>
            <a:r>
              <a:rPr lang="en-US" i="1" dirty="0">
                <a:latin typeface="Times New Roman" panose="02020603050405020304" pitchFamily="18" charset="0"/>
                <a:cs typeface="Times New Roman" panose="02020603050405020304" pitchFamily="18" charset="0"/>
              </a:rPr>
              <a:t>x</a:t>
            </a:r>
            <a:r>
              <a:rPr lang="en-US" dirty="0"/>
              <a:t>-Driven Design for almost any value of x and using it to organize and prioritize your user stories, or partnering with people that have more than a 30-minute lecture’s worth of experience in the idea, is something you should take seriously.</a:t>
            </a:r>
          </a:p>
        </p:txBody>
      </p:sp>
      <p:sp>
        <p:nvSpPr>
          <p:cNvPr id="4" name="Slide Number Placeholder 3">
            <a:extLst>
              <a:ext uri="{FF2B5EF4-FFF2-40B4-BE49-F238E27FC236}">
                <a16:creationId xmlns:a16="http://schemas.microsoft.com/office/drawing/2014/main" id="{1EC54EEA-5545-9264-4800-E56DECBD8058}"/>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8638759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The rest of this lecture is about the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connect conditions of satisfaction with tests at almost any level, and it’s relatively common to write tests at service, controller, and web application layers. But easiest, for this gentle introduction, to write executable tests checking testable behaviors at the </a:t>
            </a:r>
            <a:r>
              <a:rPr lang="en-US" b="1" dirty="0"/>
              <a:t>service</a:t>
            </a:r>
            <a:r>
              <a:rPr lang="en-US" dirty="0"/>
              <a:t> later.</a:t>
            </a:r>
          </a:p>
        </p:txBody>
      </p:sp>
      <p:sp>
        <p:nvSpPr>
          <p:cNvPr id="4" name="Slide Number Placeholder 3"/>
          <p:cNvSpPr>
            <a:spLocks noGrp="1"/>
          </p:cNvSpPr>
          <p:nvPr>
            <p:ph type="sldNum" sz="quarter" idx="5"/>
          </p:nvPr>
        </p:nvSpPr>
        <p:spPr/>
        <p:txBody>
          <a:bodyPr/>
          <a:lstStyle/>
          <a:p>
            <a:fld id="{3927C2FE-14BE-B74D-96F0-2A5DC4BF0069}" type="slidenum">
              <a:rPr lang="en-US" smtClean="0"/>
              <a:t>20</a:t>
            </a:fld>
            <a:endParaRPr lang="en-US"/>
          </a:p>
        </p:txBody>
      </p:sp>
    </p:spTree>
    <p:extLst>
      <p:ext uri="{BB962C8B-B14F-4D97-AF65-F5344CB8AC3E}">
        <p14:creationId xmlns:p14="http://schemas.microsoft.com/office/powerpoint/2010/main" val="16735878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testable behaviors into conditions of satisfaction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will we test “</a:t>
            </a:r>
            <a:r>
              <a:rPr lang="en-US" dirty="0" err="1"/>
              <a:t>addStudent</a:t>
            </a:r>
            <a:r>
              <a:rPr lang="en-US" dirty="0"/>
              <a:t> should permit adding a student with the same name as an existing student"</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actually testing a more specific behavior here, that </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24223114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a:t>
            </a:r>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12/26/25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12/26/25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12/26/25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12/26/25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12/26/25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12/26/25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12/26/25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12/26/25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12/26/25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12/26/25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12/26/25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12/26/25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12/26/25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6.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15.svg"/><Relationship Id="rId9" Type="http://schemas.openxmlformats.org/officeDocument/2006/relationships/image" Target="../media/image7.png"/><Relationship Id="rId14" Type="http://schemas.openxmlformats.org/officeDocument/2006/relationships/image" Target="../media/image12.svg"/></Relationships>
</file>

<file path=ppt/slides/_rels/slide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16.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15.svg"/><Relationship Id="rId9" Type="http://schemas.openxmlformats.org/officeDocument/2006/relationships/image" Target="../media/image7.png"/><Relationship Id="rId14" Type="http://schemas.openxmlformats.org/officeDocument/2006/relationships/image" Target="../media/image12.svg"/></Relationships>
</file>

<file path=ppt/slides/_rels/slide1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 From Requirements to Tests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Rob Simmons</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overall purposes of requirements analysis</a:t>
            </a:r>
          </a:p>
          <a:p>
            <a:pPr lvl="1"/>
            <a:r>
              <a:rPr lang="en-US" dirty="0"/>
              <a:t>Recall the three major dimensions of risk in requirements analysis</a:t>
            </a:r>
          </a:p>
          <a:p>
            <a:pPr lvl="1"/>
            <a:r>
              <a:rPr lang="en-US" dirty="0"/>
              <a:t>Explain the connection between requirements analysis and user stories</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dirty="0"/>
              <a:t>The big picture</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extLst>
              <p:ext uri="{D42A27DB-BD31-4B8C-83A1-F6EECF244321}">
                <p14:modId xmlns:p14="http://schemas.microsoft.com/office/powerpoint/2010/main" val="2196091761"/>
              </p:ext>
            </p:extLst>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992336" y="3820667"/>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233218" y="346139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4318928" y="5408569"/>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98893">
            <a:off x="11064490" y="5442041"/>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400000">
            <a:off x="8858832" y="3454654"/>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1085" y="5051714"/>
            <a:ext cx="637540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800" dirty="0">
                <a:solidFill>
                  <a:prstClr val="black"/>
                </a:solidFill>
                <a:latin typeface="Calibri" panose="020F0502020204030204"/>
              </a:rPr>
              <a:t>conditions</a:t>
            </a: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DD3999F-6DD6-BB84-629B-168F11927A1D}"/>
              </a:ext>
            </a:extLst>
          </p:cNvPr>
          <p:cNvSpPr txBox="1"/>
          <p:nvPr/>
        </p:nvSpPr>
        <p:spPr>
          <a:xfrm>
            <a:off x="6878945" y="4431514"/>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and</a:t>
            </a:r>
          </a:p>
        </p:txBody>
      </p:sp>
    </p:spTree>
    <p:extLst>
      <p:ext uri="{BB962C8B-B14F-4D97-AF65-F5344CB8AC3E}">
        <p14:creationId xmlns:p14="http://schemas.microsoft.com/office/powerpoint/2010/main" val="2139446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a:xfrm>
            <a:off x="838200" y="18255"/>
            <a:ext cx="10515600" cy="1325563"/>
          </a:xfrm>
        </p:spPr>
        <p:txBody>
          <a:bodyPr>
            <a:noAutofit/>
          </a:bodyPr>
          <a:lstStyle/>
          <a:p>
            <a:r>
              <a:rPr lang="en-US" dirty="0"/>
              <a:t>Part 1: Requirements analysis</a:t>
            </a:r>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F983179-0C95-C3C6-3932-381E21E53BA9}"/>
              </a:ext>
            </a:extLst>
          </p:cNvPr>
          <p:cNvSpPr txBox="1"/>
          <p:nvPr/>
        </p:nvSpPr>
        <p:spPr>
          <a:xfrm>
            <a:off x="4319921" y="3842373"/>
            <a:ext cx="7768500" cy="2800767"/>
          </a:xfrm>
          <a:prstGeom prst="rect">
            <a:avLst/>
          </a:prstGeom>
          <a:noFill/>
        </p:spPr>
        <p:txBody>
          <a:bodyPr wrap="square" rtlCol="0">
            <a:spAutoFit/>
          </a:bodyPr>
          <a:lstStyle/>
          <a:p>
            <a:r>
              <a:rPr lang="en-US" sz="4400">
                <a:solidFill>
                  <a:srgbClr val="FF0000"/>
                </a:solidFill>
              </a:rPr>
              <a:t>Requirements Analysis</a:t>
            </a:r>
          </a:p>
          <a:p>
            <a:r>
              <a:rPr lang="en-US" sz="4400"/>
              <a:t>User Stories</a:t>
            </a:r>
          </a:p>
          <a:p>
            <a:r>
              <a:rPr lang="en-US" sz="4400"/>
              <a:t>Testing Conditions of Satisfaction</a:t>
            </a:r>
          </a:p>
          <a:p>
            <a:endParaRPr lang="en-US" sz="4400"/>
          </a:p>
        </p:txBody>
      </p:sp>
    </p:spTree>
    <p:extLst>
      <p:ext uri="{BB962C8B-B14F-4D97-AF65-F5344CB8AC3E}">
        <p14:creationId xmlns:p14="http://schemas.microsoft.com/office/powerpoint/2010/main" val="2107031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Overall question:</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6</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en.wikipedia.org</a:t>
            </a:r>
            <a:r>
              <a:rPr lang="en-US" dirty="0">
                <a:solidFill>
                  <a:schemeClr val="tx1"/>
                </a:solidFill>
              </a:rPr>
              <a:t>/wiki/</a:t>
            </a:r>
            <a:r>
              <a:rPr lang="en-US" dirty="0" err="1">
                <a:solidFill>
                  <a:schemeClr val="tx1"/>
                </a:solidFill>
              </a:rPr>
              <a:t>Tree_swing_cartoon</a:t>
            </a:r>
            <a:endParaRPr lang="en-US" dirty="0">
              <a:solidFill>
                <a:schemeClr val="tx1"/>
              </a:solidFill>
            </a:endParaRPr>
          </a:p>
        </p:txBody>
      </p:sp>
    </p:spTree>
    <p:extLst>
      <p:ext uri="{BB962C8B-B14F-4D97-AF65-F5344CB8AC3E}">
        <p14:creationId xmlns:p14="http://schemas.microsoft.com/office/powerpoint/2010/main" val="13431459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7</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methodologies for this.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8</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lnSpcReduction="10000"/>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dirty="0"/>
              <a:t>User stories 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9</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84FC3-A6B4-8822-C909-3CD8065382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01C65-CC1F-9000-1092-614014941892}"/>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81EDFA6D-EF9F-0801-735C-1951861C5215}"/>
              </a:ext>
            </a:extLst>
          </p:cNvPr>
          <p:cNvSpPr>
            <a:spLocks noGrp="1"/>
          </p:cNvSpPr>
          <p:nvPr>
            <p:ph idx="1"/>
          </p:nvPr>
        </p:nvSpPr>
        <p:spPr>
          <a:xfrm>
            <a:off x="838200" y="1500160"/>
            <a:ext cx="10400414" cy="4856190"/>
          </a:xfrm>
        </p:spPr>
        <p:txBody>
          <a:bodyPr>
            <a:normAutofit/>
          </a:bodyPr>
          <a:lstStyle/>
          <a:p>
            <a:r>
              <a:rPr lang="en-US" dirty="0"/>
              <a:t>“Building the right thing” is necessarily a value judgment </a:t>
            </a:r>
          </a:p>
          <a:p>
            <a:pPr lvl="1"/>
            <a:r>
              <a:rPr lang="en-US" dirty="0"/>
              <a:t>(right for whom? who benefits?)</a:t>
            </a:r>
          </a:p>
          <a:p>
            <a:pPr marL="457200" lvl="1" indent="0">
              <a:buNone/>
            </a:pPr>
            <a:endParaRPr lang="en-US" dirty="0"/>
          </a:p>
          <a:p>
            <a:r>
              <a:rPr lang="en-US" dirty="0"/>
              <a:t>You need some way</a:t>
            </a:r>
            <a:br>
              <a:rPr lang="en-US" dirty="0"/>
            </a:br>
            <a:r>
              <a:rPr lang="en-US" dirty="0"/>
              <a:t>to think about what</a:t>
            </a:r>
            <a:br>
              <a:rPr lang="en-US" dirty="0"/>
            </a:br>
            <a:r>
              <a:rPr lang="en-US" dirty="0"/>
              <a:t>capabilities you </a:t>
            </a:r>
            <a:r>
              <a:rPr lang="en-US" i="1" dirty="0"/>
              <a:t>shouldn’t</a:t>
            </a:r>
            <a:br>
              <a:rPr lang="en-US" i="1" dirty="0"/>
            </a:br>
            <a:r>
              <a:rPr lang="en-US" dirty="0"/>
              <a:t>implement!</a:t>
            </a:r>
          </a:p>
        </p:txBody>
      </p:sp>
      <p:sp>
        <p:nvSpPr>
          <p:cNvPr id="4" name="Slide Number Placeholder 3">
            <a:extLst>
              <a:ext uri="{FF2B5EF4-FFF2-40B4-BE49-F238E27FC236}">
                <a16:creationId xmlns:a16="http://schemas.microsoft.com/office/drawing/2014/main" id="{67DE1525-B84E-A86B-0756-4C6B0096A17A}"/>
              </a:ext>
            </a:extLst>
          </p:cNvPr>
          <p:cNvSpPr>
            <a:spLocks noGrp="1"/>
          </p:cNvSpPr>
          <p:nvPr>
            <p:ph type="sldNum" sz="quarter" idx="12"/>
          </p:nvPr>
        </p:nvSpPr>
        <p:spPr/>
        <p:txBody>
          <a:bodyPr/>
          <a:lstStyle/>
          <a:p>
            <a:fld id="{20F37917-FD3A-4669-9018-DA04BCDD3D75}" type="slidenum">
              <a:rPr lang="en-US" smtClean="0"/>
              <a:t>10</a:t>
            </a:fld>
            <a:endParaRPr lang="en-US"/>
          </a:p>
        </p:txBody>
      </p:sp>
      <p:pic>
        <p:nvPicPr>
          <p:cNvPr id="5" name="Picture 4">
            <a:extLst>
              <a:ext uri="{FF2B5EF4-FFF2-40B4-BE49-F238E27FC236}">
                <a16:creationId xmlns:a16="http://schemas.microsoft.com/office/drawing/2014/main" id="{89C21028-56A4-513C-8705-D4F92C580C2C}"/>
              </a:ext>
            </a:extLst>
          </p:cNvPr>
          <p:cNvPicPr>
            <a:picLocks noChangeAspect="1"/>
          </p:cNvPicPr>
          <p:nvPr/>
        </p:nvPicPr>
        <p:blipFill>
          <a:blip r:embed="rId3"/>
          <a:stretch>
            <a:fillRect/>
          </a:stretch>
        </p:blipFill>
        <p:spPr>
          <a:xfrm flipH="1">
            <a:off x="5888452" y="2897287"/>
            <a:ext cx="2981169" cy="2863800"/>
          </a:xfrm>
          <a:prstGeom prst="rect">
            <a:avLst/>
          </a:prstGeom>
        </p:spPr>
      </p:pic>
      <p:sp>
        <p:nvSpPr>
          <p:cNvPr id="9" name="TextBox 8">
            <a:extLst>
              <a:ext uri="{FF2B5EF4-FFF2-40B4-BE49-F238E27FC236}">
                <a16:creationId xmlns:a16="http://schemas.microsoft.com/office/drawing/2014/main" id="{6A665661-6F17-7AE3-2BAE-1DF9337B378E}"/>
              </a:ext>
            </a:extLst>
          </p:cNvPr>
          <p:cNvSpPr txBox="1"/>
          <p:nvPr/>
        </p:nvSpPr>
        <p:spPr>
          <a:xfrm>
            <a:off x="8869621" y="2857500"/>
            <a:ext cx="2839779" cy="23083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chemeClr val="tx1"/>
                </a:solidFill>
              </a:rPr>
              <a:t>Your scientists were so preoccupied with whether or not they could, they didn't stop to think if they should." </a:t>
            </a:r>
          </a:p>
          <a:p>
            <a:pPr>
              <a:buNone/>
            </a:pPr>
            <a:endParaRPr lang="en-US" b="1" dirty="0">
              <a:solidFill>
                <a:schemeClr val="tx1"/>
              </a:solidFill>
            </a:endParaRPr>
          </a:p>
          <a:p>
            <a:pPr>
              <a:buNone/>
            </a:pPr>
            <a:r>
              <a:rPr lang="en-US" b="1" dirty="0">
                <a:solidFill>
                  <a:schemeClr val="tx1"/>
                </a:solidFill>
              </a:rPr>
              <a:t>- Ian Malcom (in </a:t>
            </a:r>
            <a:r>
              <a:rPr lang="en-US" b="1" i="1" dirty="0">
                <a:solidFill>
                  <a:schemeClr val="tx1"/>
                </a:solidFill>
              </a:rPr>
              <a:t>Jurassic Park</a:t>
            </a:r>
            <a:r>
              <a:rPr lang="en-US" b="1" dirty="0">
                <a:solidFill>
                  <a:schemeClr val="tx1"/>
                </a:solidFill>
              </a:rPr>
              <a:t>, 1993) </a:t>
            </a:r>
          </a:p>
        </p:txBody>
      </p:sp>
    </p:spTree>
    <p:extLst>
      <p:ext uri="{BB962C8B-B14F-4D97-AF65-F5344CB8AC3E}">
        <p14:creationId xmlns:p14="http://schemas.microsoft.com/office/powerpoint/2010/main" val="2614843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Value Sensitive Design (VSD) is one framework (of many!)</a:t>
            </a:r>
          </a:p>
          <a:p>
            <a:r>
              <a:rPr lang="en-US" dirty="0"/>
              <a:t>VSD guides designers and engineers to pay special attention to </a:t>
            </a:r>
            <a:r>
              <a:rPr lang="en-US" b="1" dirty="0"/>
              <a:t>stakeholders</a:t>
            </a:r>
            <a:r>
              <a:rPr lang="en-US" dirty="0"/>
              <a:t> and </a:t>
            </a:r>
            <a:r>
              <a:rPr lang="en-US" b="1" dirty="0"/>
              <a:t>human values </a:t>
            </a:r>
            <a:r>
              <a:rPr lang="en-US" dirty="0"/>
              <a:t>when writing and prioritizing user stories</a:t>
            </a:r>
          </a:p>
          <a:p>
            <a:r>
              <a:rPr lang="en-US" dirty="0"/>
              <a:t>Combines </a:t>
            </a:r>
            <a:r>
              <a:rPr lang="en-US" b="1" dirty="0">
                <a:solidFill>
                  <a:srgbClr val="FF0000"/>
                </a:solidFill>
              </a:rPr>
              <a:t>empirical</a:t>
            </a:r>
            <a:r>
              <a:rPr lang="en-US" dirty="0"/>
              <a:t>, </a:t>
            </a:r>
            <a:r>
              <a:rPr lang="en-US" b="1" dirty="0">
                <a:solidFill>
                  <a:srgbClr val="FF0000"/>
                </a:solidFill>
              </a:rPr>
              <a:t>value</a:t>
            </a:r>
            <a:r>
              <a:rPr lang="en-US" dirty="0"/>
              <a:t>, and </a:t>
            </a:r>
            <a:r>
              <a:rPr lang="en-US" b="1" dirty="0">
                <a:solidFill>
                  <a:srgbClr val="FF0000"/>
                </a:solidFill>
              </a:rPr>
              <a:t>technical</a:t>
            </a:r>
            <a:r>
              <a:rPr lang="en-US" dirty="0"/>
              <a:t> </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11013576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7E31F-9432-D273-E657-9160918E2DFC}"/>
              </a:ext>
            </a:extLst>
          </p:cNvPr>
          <p:cNvSpPr>
            <a:spLocks noGrp="1"/>
          </p:cNvSpPr>
          <p:nvPr>
            <p:ph type="title"/>
          </p:nvPr>
        </p:nvSpPr>
        <p:spPr/>
        <p:txBody>
          <a:bodyPr/>
          <a:lstStyle/>
          <a:p>
            <a:r>
              <a:rPr lang="en-US" dirty="0"/>
              <a:t>VSD Example – Informed Consent</a:t>
            </a:r>
          </a:p>
        </p:txBody>
      </p:sp>
      <p:sp>
        <p:nvSpPr>
          <p:cNvPr id="3" name="Content Placeholder 2">
            <a:extLst>
              <a:ext uri="{FF2B5EF4-FFF2-40B4-BE49-F238E27FC236}">
                <a16:creationId xmlns:a16="http://schemas.microsoft.com/office/drawing/2014/main" id="{A47FEDD6-9257-06C3-64D2-A03956520DFA}"/>
              </a:ext>
            </a:extLst>
          </p:cNvPr>
          <p:cNvSpPr>
            <a:spLocks noGrp="1"/>
          </p:cNvSpPr>
          <p:nvPr>
            <p:ph idx="1"/>
          </p:nvPr>
        </p:nvSpPr>
        <p:spPr>
          <a:xfrm>
            <a:off x="838200" y="1542364"/>
            <a:ext cx="3563678" cy="4856190"/>
          </a:xfrm>
        </p:spPr>
        <p:txBody>
          <a:bodyPr>
            <a:normAutofit fontScale="77500" lnSpcReduction="20000"/>
          </a:bodyPr>
          <a:lstStyle/>
          <a:p>
            <a:pPr marL="0" indent="0">
              <a:buNone/>
            </a:pPr>
            <a:r>
              <a:rPr lang="en-US" sz="3300" dirty="0">
                <a:solidFill>
                  <a:srgbClr val="FF0000"/>
                </a:solidFill>
              </a:rPr>
              <a:t>Empirical Investigation:</a:t>
            </a:r>
          </a:p>
          <a:p>
            <a:pPr>
              <a:buFont typeface="Wingdings" pitchFamily="2" charset="2"/>
              <a:buChar char="v"/>
            </a:pPr>
            <a:r>
              <a:rPr lang="en-US" dirty="0"/>
              <a:t> </a:t>
            </a:r>
            <a:r>
              <a:rPr lang="en-US" sz="3100" dirty="0"/>
              <a:t>Understand what we mean by informed consent, encompasses:</a:t>
            </a:r>
          </a:p>
          <a:p>
            <a:pPr lvl="1">
              <a:buFont typeface="Wingdings" pitchFamily="2" charset="2"/>
              <a:buChar char="Ø"/>
            </a:pPr>
            <a:r>
              <a:rPr lang="en-US" dirty="0"/>
              <a:t> Disclosure. Do we know the pros and cons of taking an action?</a:t>
            </a:r>
          </a:p>
          <a:p>
            <a:pPr lvl="1">
              <a:buFont typeface="Wingdings" pitchFamily="2" charset="2"/>
              <a:buChar char="Ø"/>
            </a:pPr>
            <a:r>
              <a:rPr lang="en-US" dirty="0"/>
              <a:t>Comprehension. Do we understand the disclosures?</a:t>
            </a:r>
          </a:p>
          <a:p>
            <a:pPr lvl="1">
              <a:buFont typeface="Wingdings" pitchFamily="2" charset="2"/>
              <a:buChar char="Ø"/>
            </a:pPr>
            <a:r>
              <a:rPr lang="en-US" dirty="0"/>
              <a:t>Voluntariness. Is there coercion or manipulation?</a:t>
            </a:r>
          </a:p>
          <a:p>
            <a:pPr lvl="1">
              <a:buFont typeface="Wingdings" pitchFamily="2" charset="2"/>
              <a:buChar char="Ø"/>
            </a:pPr>
            <a:r>
              <a:rPr lang="en-US" dirty="0"/>
              <a:t>Agreement. Is there a clear opportunity to consent or not?</a:t>
            </a:r>
          </a:p>
          <a:p>
            <a:pPr lvl="1">
              <a:buFont typeface="Wingdings" pitchFamily="2" charset="2"/>
              <a:buChar char="Ø"/>
            </a:pPr>
            <a:r>
              <a:rPr lang="en-US" dirty="0"/>
              <a:t>Competence. Are we capable to give consent?</a:t>
            </a:r>
          </a:p>
          <a:p>
            <a:pPr>
              <a:buFont typeface="Wingdings" pitchFamily="2" charset="2"/>
              <a:buChar char="v"/>
            </a:pPr>
            <a:endParaRPr lang="en-US" dirty="0"/>
          </a:p>
          <a:p>
            <a:pPr marL="0" indent="0">
              <a:buNone/>
            </a:pPr>
            <a:endParaRPr lang="en-US" dirty="0"/>
          </a:p>
          <a:p>
            <a:pPr lvl="1"/>
            <a:endParaRPr lang="en-US" dirty="0"/>
          </a:p>
        </p:txBody>
      </p:sp>
      <p:sp>
        <p:nvSpPr>
          <p:cNvPr id="4" name="Slide Number Placeholder 3">
            <a:extLst>
              <a:ext uri="{FF2B5EF4-FFF2-40B4-BE49-F238E27FC236}">
                <a16:creationId xmlns:a16="http://schemas.microsoft.com/office/drawing/2014/main" id="{1A309984-5F97-FD9B-DE57-02FEB834038B}"/>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5" name="Content Placeholder 2">
            <a:extLst>
              <a:ext uri="{FF2B5EF4-FFF2-40B4-BE49-F238E27FC236}">
                <a16:creationId xmlns:a16="http://schemas.microsoft.com/office/drawing/2014/main" id="{7C8C59BE-2B9E-3A09-FADE-C47010207B67}"/>
              </a:ext>
            </a:extLst>
          </p:cNvPr>
          <p:cNvSpPr txBox="1">
            <a:spLocks/>
          </p:cNvSpPr>
          <p:nvPr/>
        </p:nvSpPr>
        <p:spPr>
          <a:xfrm>
            <a:off x="4531242" y="1500160"/>
            <a:ext cx="3804684"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Values Investigation:</a:t>
            </a:r>
          </a:p>
          <a:p>
            <a:pPr>
              <a:buFont typeface="Wingdings" pitchFamily="2" charset="2"/>
              <a:buChar char="v"/>
            </a:pPr>
            <a:r>
              <a:rPr lang="en-US" dirty="0"/>
              <a:t> Who are the direct and indirect stakeholders?</a:t>
            </a:r>
          </a:p>
          <a:p>
            <a:pPr>
              <a:buFont typeface="Wingdings" pitchFamily="2" charset="2"/>
              <a:buChar char="v"/>
            </a:pPr>
            <a:r>
              <a:rPr lang="en-US" dirty="0"/>
              <a:t>Do the stakeholders have conflicting values?</a:t>
            </a:r>
          </a:p>
          <a:p>
            <a:pPr>
              <a:buFont typeface="Wingdings" pitchFamily="2" charset="2"/>
              <a:buChar char="v"/>
            </a:pPr>
            <a:r>
              <a:rPr lang="en-US" dirty="0"/>
              <a:t>How can we resolve them?</a:t>
            </a:r>
          </a:p>
          <a:p>
            <a:pPr>
              <a:buFont typeface="Wingdings" pitchFamily="2" charset="2"/>
              <a:buChar char="v"/>
            </a:pPr>
            <a:endParaRPr lang="en-US" dirty="0"/>
          </a:p>
          <a:p>
            <a:pPr lvl="1"/>
            <a:endParaRPr lang="en-US" dirty="0"/>
          </a:p>
        </p:txBody>
      </p:sp>
      <p:sp>
        <p:nvSpPr>
          <p:cNvPr id="6" name="Content Placeholder 2">
            <a:extLst>
              <a:ext uri="{FF2B5EF4-FFF2-40B4-BE49-F238E27FC236}">
                <a16:creationId xmlns:a16="http://schemas.microsoft.com/office/drawing/2014/main" id="{5CBCCECD-1E8C-0DA4-098C-A5837F9D9535}"/>
              </a:ext>
            </a:extLst>
          </p:cNvPr>
          <p:cNvSpPr txBox="1">
            <a:spLocks/>
          </p:cNvSpPr>
          <p:nvPr/>
        </p:nvSpPr>
        <p:spPr>
          <a:xfrm>
            <a:off x="8265042" y="1500160"/>
            <a:ext cx="3804684" cy="43513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Technical Investigation:</a:t>
            </a:r>
          </a:p>
          <a:p>
            <a:pPr>
              <a:buFont typeface="Wingdings" pitchFamily="2" charset="2"/>
              <a:buChar char="v"/>
            </a:pPr>
            <a:r>
              <a:rPr lang="en-US" dirty="0"/>
              <a:t> What are the technical mechanisms for implementing informed consent.</a:t>
            </a:r>
          </a:p>
          <a:p>
            <a:pPr lvl="1">
              <a:buFont typeface="Wingdings" pitchFamily="2" charset="2"/>
              <a:buChar char="Ø"/>
            </a:pPr>
            <a:r>
              <a:rPr lang="en-US" dirty="0"/>
              <a:t> One way =&gt; cookie consent management system.</a:t>
            </a:r>
          </a:p>
          <a:p>
            <a:pPr lvl="1">
              <a:buFont typeface="Wingdings" pitchFamily="2" charset="2"/>
              <a:buChar char="Ø"/>
            </a:pPr>
            <a:r>
              <a:rPr lang="en-US" dirty="0"/>
              <a:t>Websites use them to obtain and manage user permission for using cookies.</a:t>
            </a:r>
          </a:p>
        </p:txBody>
      </p:sp>
      <p:sp>
        <p:nvSpPr>
          <p:cNvPr id="7" name="Rectangle 6">
            <a:extLst>
              <a:ext uri="{FF2B5EF4-FFF2-40B4-BE49-F238E27FC236}">
                <a16:creationId xmlns:a16="http://schemas.microsoft.com/office/drawing/2014/main" id="{B34C18CB-D004-428A-F501-7FEE682E18D0}"/>
              </a:ext>
            </a:extLst>
          </p:cNvPr>
          <p:cNvSpPr/>
          <p:nvPr/>
        </p:nvSpPr>
        <p:spPr>
          <a:xfrm>
            <a:off x="8003005" y="6007840"/>
            <a:ext cx="2743200" cy="681622"/>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800" dirty="0">
                <a:solidFill>
                  <a:schemeClr val="tx1"/>
                </a:solidFill>
              </a:rPr>
              <a:t>Read the tutorial!</a:t>
            </a:r>
          </a:p>
        </p:txBody>
      </p:sp>
    </p:spTree>
    <p:extLst>
      <p:ext uri="{BB962C8B-B14F-4D97-AF65-F5344CB8AC3E}">
        <p14:creationId xmlns:p14="http://schemas.microsoft.com/office/powerpoint/2010/main" val="2148081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FAD71-1BAB-2FC3-01FE-1A85872CF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A0D4C-9481-CBE0-299D-BA526E1FA0DC}"/>
              </a:ext>
            </a:extLst>
          </p:cNvPr>
          <p:cNvSpPr>
            <a:spLocks noGrp="1"/>
          </p:cNvSpPr>
          <p:nvPr>
            <p:ph type="title"/>
          </p:nvPr>
        </p:nvSpPr>
        <p:spPr/>
        <p:txBody>
          <a:bodyPr/>
          <a:lstStyle/>
          <a:p>
            <a:r>
              <a:rPr lang="en-US" dirty="0"/>
              <a:t>Review: Requirements analysis</a:t>
            </a:r>
          </a:p>
        </p:txBody>
      </p:sp>
      <p:sp>
        <p:nvSpPr>
          <p:cNvPr id="12" name="Content Placeholder 11">
            <a:extLst>
              <a:ext uri="{FF2B5EF4-FFF2-40B4-BE49-F238E27FC236}">
                <a16:creationId xmlns:a16="http://schemas.microsoft.com/office/drawing/2014/main" id="{1733AECC-F35D-86D5-0EF0-33A3D6984A79}"/>
              </a:ext>
            </a:extLst>
          </p:cNvPr>
          <p:cNvSpPr>
            <a:spLocks noGrp="1"/>
          </p:cNvSpPr>
          <p:nvPr>
            <p:ph idx="1"/>
          </p:nvPr>
        </p:nvSpPr>
        <p:spPr>
          <a:xfrm>
            <a:off x="838199" y="1500160"/>
            <a:ext cx="8553773" cy="4351338"/>
          </a:xfrm>
        </p:spPr>
        <p:txBody>
          <a:bodyPr/>
          <a:lstStyle/>
          <a:p>
            <a:r>
              <a:rPr lang="en-US" dirty="0"/>
              <a:t>How do we make sure we are building the right thing?</a:t>
            </a:r>
          </a:p>
          <a:p>
            <a:r>
              <a:rPr lang="en-US" dirty="0"/>
              <a:t>How do we learn from potential users before we start?</a:t>
            </a:r>
          </a:p>
          <a:p>
            <a:r>
              <a:rPr lang="en-US" dirty="0"/>
              <a:t>Values: what even makes something the “right thing”</a:t>
            </a:r>
          </a:p>
          <a:p>
            <a:r>
              <a:rPr lang="en-US" dirty="0"/>
              <a:t>Most forms of </a:t>
            </a:r>
            <a:r>
              <a:rPr lang="en-US" i="1" dirty="0">
                <a:latin typeface="Times New Roman" panose="02020603050405020304" pitchFamily="18" charset="0"/>
                <a:cs typeface="Times New Roman" panose="02020603050405020304" pitchFamily="18" charset="0"/>
              </a:rPr>
              <a:t>x</a:t>
            </a:r>
            <a:r>
              <a:rPr lang="en-US" dirty="0"/>
              <a:t>-Driven Design could be a whole course on their own</a:t>
            </a:r>
          </a:p>
        </p:txBody>
      </p:sp>
      <p:sp>
        <p:nvSpPr>
          <p:cNvPr id="13" name="Slide Number Placeholder 3">
            <a:extLst>
              <a:ext uri="{FF2B5EF4-FFF2-40B4-BE49-F238E27FC236}">
                <a16:creationId xmlns:a16="http://schemas.microsoft.com/office/drawing/2014/main" id="{D02726A1-6FBE-22C7-981B-CA52398B7B0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8091218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14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dirty="0"/>
              <a:t>Part 3: 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15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200" y="1500188"/>
            <a:ext cx="7886700" cy="4351337"/>
          </a:xfrm>
        </p:spPr>
        <p:txBody>
          <a:bodyPr>
            <a:normAutofit lnSpcReduction="10000"/>
          </a:bodyPr>
          <a:lstStyle/>
          <a:p>
            <a:r>
              <a:rPr lang="en-US"/>
              <a:t>We will build a secure web application backed by a persistent database that allows an authenticated administrator to:</a:t>
            </a:r>
          </a:p>
          <a:p>
            <a:pPr lvl="1"/>
            <a:r>
              <a:rPr lang="en-US"/>
              <a:t>Add a new student to the database</a:t>
            </a:r>
          </a:p>
          <a:p>
            <a:pPr lvl="1"/>
            <a:r>
              <a:rPr lang="en-US"/>
              <a:t>Add a new student with the same name as an existing student.</a:t>
            </a:r>
          </a:p>
          <a:p>
            <a:pPr lvl="1"/>
            <a:r>
              <a:rPr lang="en-US"/>
              <a:t>Retrieve the transcript for a student</a:t>
            </a:r>
          </a:p>
          <a:p>
            <a:pPr lvl="1"/>
            <a:r>
              <a:rPr lang="en-US"/>
              <a:t>Delete a student from the database</a:t>
            </a:r>
          </a:p>
          <a:p>
            <a:pPr lvl="1"/>
            <a:r>
              <a:rPr lang="en-US"/>
              <a:t>Add a new grade for an existing student</a:t>
            </a:r>
          </a:p>
          <a:p>
            <a:pPr lvl="1"/>
            <a:r>
              <a:rPr lang="en-US"/>
              <a:t>Find out the grade that a student got in a course that they took</a:t>
            </a:r>
          </a:p>
          <a:p>
            <a:endParaRPr lang="en-US"/>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16</a:t>
            </a:fld>
            <a:endParaRPr lang="en-US"/>
          </a:p>
        </p:txBody>
      </p:sp>
    </p:spTree>
    <p:extLst>
      <p:ext uri="{BB962C8B-B14F-4D97-AF65-F5344CB8AC3E}">
        <p14:creationId xmlns:p14="http://schemas.microsoft.com/office/powerpoint/2010/main" val="15742171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104882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18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err="1"/>
              <a:t>CoS</a:t>
            </a:r>
            <a:r>
              <a:rPr lang="en-US"/>
              <a:t> are ultimately about the user</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8"/>
            <a:ext cx="7886700" cy="4351337"/>
          </a:xfrm>
        </p:spPr>
        <p:txBody>
          <a:bodyPr/>
          <a:lstStyle/>
          <a:p>
            <a:pPr marL="0" indent="0">
              <a:buNone/>
            </a:pPr>
            <a:r>
              <a:rPr lang="en-US"/>
              <a:t>We will build a secure web application backed by a persistent database that allows an authenticated administrator to add a new student to the database</a:t>
            </a:r>
          </a:p>
          <a:p>
            <a:endParaRPr lang="en-US"/>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19</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Tree>
    <p:extLst>
      <p:ext uri="{BB962C8B-B14F-4D97-AF65-F5344CB8AC3E}">
        <p14:creationId xmlns:p14="http://schemas.microsoft.com/office/powerpoint/2010/main" val="4034172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EACA1-A09F-277B-02A0-6A94C20E95DF}"/>
            </a:ext>
          </a:extLst>
        </p:cNvPr>
        <p:cNvGrpSpPr/>
        <p:nvPr/>
      </p:nvGrpSpPr>
      <p:grpSpPr>
        <a:xfrm>
          <a:off x="0" y="0"/>
          <a:ext cx="0" cy="0"/>
          <a:chOff x="0" y="0"/>
          <a:chExt cx="0" cy="0"/>
        </a:xfrm>
      </p:grpSpPr>
      <p:sp>
        <p:nvSpPr>
          <p:cNvPr id="17" name="Title 16">
            <a:extLst>
              <a:ext uri="{FF2B5EF4-FFF2-40B4-BE49-F238E27FC236}">
                <a16:creationId xmlns:a16="http://schemas.microsoft.com/office/drawing/2014/main" id="{FEDF6700-C283-C045-A0B8-0E2D89E171C4}"/>
              </a:ext>
            </a:extLst>
          </p:cNvPr>
          <p:cNvSpPr>
            <a:spLocks noGrp="1"/>
          </p:cNvSpPr>
          <p:nvPr>
            <p:ph type="title"/>
          </p:nvPr>
        </p:nvSpPr>
        <p:spPr>
          <a:xfrm>
            <a:off x="838200" y="18255"/>
            <a:ext cx="10515600" cy="1325563"/>
          </a:xfrm>
        </p:spPr>
        <p:txBody>
          <a:bodyPr/>
          <a:lstStyle/>
          <a:p>
            <a:r>
              <a:rPr lang="en-US" err="1"/>
              <a:t>CoS</a:t>
            </a:r>
            <a:r>
              <a:rPr lang="en-US"/>
              <a:t> are ultimately about the user</a:t>
            </a:r>
          </a:p>
        </p:txBody>
      </p:sp>
      <p:sp>
        <p:nvSpPr>
          <p:cNvPr id="18" name="Content Placeholder 17">
            <a:extLst>
              <a:ext uri="{FF2B5EF4-FFF2-40B4-BE49-F238E27FC236}">
                <a16:creationId xmlns:a16="http://schemas.microsoft.com/office/drawing/2014/main" id="{B7BCAE65-694B-6A12-6C4A-3ED711CDADAA}"/>
              </a:ext>
            </a:extLst>
          </p:cNvPr>
          <p:cNvSpPr>
            <a:spLocks noGrp="1"/>
          </p:cNvSpPr>
          <p:nvPr>
            <p:ph idx="1"/>
          </p:nvPr>
        </p:nvSpPr>
        <p:spPr>
          <a:xfrm>
            <a:off x="838200" y="1500188"/>
            <a:ext cx="7886700" cy="4351337"/>
          </a:xfrm>
        </p:spPr>
        <p:txBody>
          <a:bodyPr/>
          <a:lstStyle/>
          <a:p>
            <a:pPr marL="0" indent="0">
              <a:buNone/>
            </a:pPr>
            <a:r>
              <a:rPr lang="en-US"/>
              <a:t>We will build a secure web application backed by a persistent database that allows an authenticated administrator to add a new student to the database</a:t>
            </a:r>
          </a:p>
          <a:p>
            <a:endParaRPr lang="en-US"/>
          </a:p>
          <a:p>
            <a:endParaRPr lang="en-US"/>
          </a:p>
          <a:p>
            <a:endParaRPr lang="en-US"/>
          </a:p>
          <a:p>
            <a:pPr marL="0" indent="0">
              <a:buNone/>
            </a:pPr>
            <a:r>
              <a:rPr lang="en-US"/>
              <a:t>The </a:t>
            </a:r>
            <a:r>
              <a:rPr lang="en-US" err="1"/>
              <a:t>addStudent</a:t>
            </a:r>
            <a:r>
              <a:rPr lang="en-US"/>
              <a:t> service function should add a student to the database</a:t>
            </a:r>
          </a:p>
          <a:p>
            <a:endParaRPr lang="en-US"/>
          </a:p>
        </p:txBody>
      </p:sp>
      <p:sp>
        <p:nvSpPr>
          <p:cNvPr id="4" name="Slide Number Placeholder 3">
            <a:extLst>
              <a:ext uri="{FF2B5EF4-FFF2-40B4-BE49-F238E27FC236}">
                <a16:creationId xmlns:a16="http://schemas.microsoft.com/office/drawing/2014/main" id="{1A1AD88C-AA42-3162-9A5B-04976F0EA13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20</a:t>
            </a:fld>
            <a:endParaRPr lang="en-US"/>
          </a:p>
        </p:txBody>
      </p:sp>
      <p:sp>
        <p:nvSpPr>
          <p:cNvPr id="7" name="Rectangle 6">
            <a:extLst>
              <a:ext uri="{FF2B5EF4-FFF2-40B4-BE49-F238E27FC236}">
                <a16:creationId xmlns:a16="http://schemas.microsoft.com/office/drawing/2014/main" id="{39E6F9CF-31AE-797D-8D1C-3B0239CCD34E}"/>
              </a:ext>
            </a:extLst>
          </p:cNvPr>
          <p:cNvSpPr/>
          <p:nvPr/>
        </p:nvSpPr>
        <p:spPr>
          <a:xfrm>
            <a:off x="8225117" y="3205182"/>
            <a:ext cx="1264023" cy="914400"/>
          </a:xfrm>
          <a:prstGeom prst="rect">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Web Application</a:t>
            </a:r>
          </a:p>
        </p:txBody>
      </p:sp>
      <p:sp>
        <p:nvSpPr>
          <p:cNvPr id="8" name="Left-Right Arrow 7">
            <a:extLst>
              <a:ext uri="{FF2B5EF4-FFF2-40B4-BE49-F238E27FC236}">
                <a16:creationId xmlns:a16="http://schemas.microsoft.com/office/drawing/2014/main" id="{DAA07267-7A35-7E40-7B8A-F328AAC5A1B7}"/>
              </a:ext>
            </a:extLst>
          </p:cNvPr>
          <p:cNvSpPr/>
          <p:nvPr/>
        </p:nvSpPr>
        <p:spPr>
          <a:xfrm>
            <a:off x="9628091" y="3279141"/>
            <a:ext cx="1344707" cy="793376"/>
          </a:xfrm>
          <a:prstGeom prst="leftRightArrow">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browser</a:t>
            </a:r>
          </a:p>
        </p:txBody>
      </p:sp>
      <p:sp>
        <p:nvSpPr>
          <p:cNvPr id="10" name="Rectangle 9">
            <a:extLst>
              <a:ext uri="{FF2B5EF4-FFF2-40B4-BE49-F238E27FC236}">
                <a16:creationId xmlns:a16="http://schemas.microsoft.com/office/drawing/2014/main" id="{0AA6C9C8-1623-2E5B-81AF-779FCC58967D}"/>
              </a:ext>
            </a:extLst>
          </p:cNvPr>
          <p:cNvSpPr/>
          <p:nvPr/>
        </p:nvSpPr>
        <p:spPr>
          <a:xfrm>
            <a:off x="11111749" y="3218629"/>
            <a:ext cx="954745" cy="914400"/>
          </a:xfrm>
          <a:prstGeom prst="rect">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User</a:t>
            </a:r>
          </a:p>
        </p:txBody>
      </p:sp>
      <p:sp>
        <p:nvSpPr>
          <p:cNvPr id="11" name="Left-Right Arrow 10">
            <a:extLst>
              <a:ext uri="{FF2B5EF4-FFF2-40B4-BE49-F238E27FC236}">
                <a16:creationId xmlns:a16="http://schemas.microsoft.com/office/drawing/2014/main" id="{983A3068-C59F-25DE-5090-51E01D946E51}"/>
              </a:ext>
            </a:extLst>
          </p:cNvPr>
          <p:cNvSpPr/>
          <p:nvPr/>
        </p:nvSpPr>
        <p:spPr>
          <a:xfrm>
            <a:off x="6741459" y="3265694"/>
            <a:ext cx="1344707" cy="793376"/>
          </a:xfrm>
          <a:prstGeom prst="leftRightArrow">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internet</a:t>
            </a:r>
          </a:p>
        </p:txBody>
      </p:sp>
      <p:sp>
        <p:nvSpPr>
          <p:cNvPr id="12" name="Rectangle 11">
            <a:extLst>
              <a:ext uri="{FF2B5EF4-FFF2-40B4-BE49-F238E27FC236}">
                <a16:creationId xmlns:a16="http://schemas.microsoft.com/office/drawing/2014/main" id="{A669D640-8F74-F087-6757-D6C8D05A6F82}"/>
              </a:ext>
            </a:extLst>
          </p:cNvPr>
          <p:cNvSpPr/>
          <p:nvPr/>
        </p:nvSpPr>
        <p:spPr>
          <a:xfrm>
            <a:off x="5338485" y="3205182"/>
            <a:ext cx="1264023" cy="914400"/>
          </a:xfrm>
          <a:prstGeom prst="rect">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Controller</a:t>
            </a:r>
          </a:p>
        </p:txBody>
      </p:sp>
      <p:sp>
        <p:nvSpPr>
          <p:cNvPr id="13" name="Left-Right Arrow 12">
            <a:extLst>
              <a:ext uri="{FF2B5EF4-FFF2-40B4-BE49-F238E27FC236}">
                <a16:creationId xmlns:a16="http://schemas.microsoft.com/office/drawing/2014/main" id="{FA632119-4BBD-7F38-E7DC-E18CA4522192}"/>
              </a:ext>
            </a:extLst>
          </p:cNvPr>
          <p:cNvSpPr/>
          <p:nvPr/>
        </p:nvSpPr>
        <p:spPr>
          <a:xfrm>
            <a:off x="4141694" y="3279141"/>
            <a:ext cx="1057840" cy="793376"/>
          </a:xfrm>
          <a:prstGeom prst="leftRightArrow">
            <a:avLst/>
          </a:prstGeom>
          <a:solidFill>
            <a:schemeClr val="accent2">
              <a:lumMod val="20000"/>
              <a:lumOff val="80000"/>
              <a:alpha val="20000"/>
            </a:schemeClr>
          </a:solidFill>
          <a:ln>
            <a:solidFill>
              <a:srgbClr val="0070C0">
                <a:alpha val="20386"/>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bg2">
                    <a:lumMod val="90000"/>
                  </a:schemeClr>
                </a:solidFill>
              </a:rPr>
              <a:t>API</a:t>
            </a:r>
          </a:p>
        </p:txBody>
      </p:sp>
      <p:sp>
        <p:nvSpPr>
          <p:cNvPr id="14" name="Rectangle 13">
            <a:extLst>
              <a:ext uri="{FF2B5EF4-FFF2-40B4-BE49-F238E27FC236}">
                <a16:creationId xmlns:a16="http://schemas.microsoft.com/office/drawing/2014/main" id="{4AA2E9E5-3B60-1E17-428B-A4E8328B6A0F}"/>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8521B346-A6E3-0686-93CD-2D5703AE2E48}"/>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A405CBCC-A842-4D1A-A016-BE13B684EF32}"/>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Tree>
    <p:extLst>
      <p:ext uri="{BB962C8B-B14F-4D97-AF65-F5344CB8AC3E}">
        <p14:creationId xmlns:p14="http://schemas.microsoft.com/office/powerpoint/2010/main" val="1227493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21</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lstStyle/>
          <a:p>
            <a:r>
              <a:rPr lang="en-US"/>
              <a:t>Analyzing </a:t>
            </a:r>
            <a:r>
              <a:rPr lang="en-US" err="1"/>
              <a:t>CoS</a:t>
            </a:r>
            <a:r>
              <a:rPr lang="en-US"/>
              <a:t> to get testable behaviors</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0434919" cy="50513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a:t>
            </a:r>
          </a:p>
          <a:p>
            <a:pPr>
              <a:lnSpc>
                <a:spcPct val="12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Student</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Course</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Transcript</a:t>
            </a:r>
            <a:r>
              <a:rPr lang="en-US" b="0" dirty="0">
                <a:solidFill>
                  <a:srgbClr val="3B3B3B"/>
                </a:solidFill>
                <a:effectLst/>
                <a:latin typeface="Menlo" panose="020B0609030804020204" pitchFamily="49" charset="0"/>
              </a:rPr>
              <a:t>,</a:t>
            </a:r>
          </a:p>
          <a:p>
            <a:pPr>
              <a:lnSpc>
                <a:spcPct val="120000"/>
              </a:lnSpc>
              <a:buNone/>
            </a:pPr>
            <a:r>
              <a:rPr lang="en-US" b="0" dirty="0">
                <a:solidFill>
                  <a:srgbClr val="3B3B3B"/>
                </a:solidFill>
                <a:effectLst/>
                <a:latin typeface="Menlo" panose="020B0609030804020204" pitchFamily="49" charset="0"/>
              </a:rPr>
              <a:t>}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2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interface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getTranscript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deleteStudent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hmm, what to do about errors??</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2602655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22</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a:t>Analyzing </a:t>
            </a:r>
            <a:r>
              <a:rPr lang="en-US" err="1"/>
              <a:t>CoS</a:t>
            </a:r>
            <a:r>
              <a:rPr lang="en-US"/>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err="1"/>
              <a:t>CoS</a:t>
            </a:r>
            <a:r>
              <a:rPr lang="en-US"/>
              <a:t>: The user can…</a:t>
            </a:r>
          </a:p>
          <a:p>
            <a:pPr lvl="1"/>
            <a:r>
              <a:rPr lang="en-US"/>
              <a:t>…add a new student to the database</a:t>
            </a:r>
            <a:br>
              <a:rPr lang="en-US"/>
            </a:br>
            <a:endParaRPr lang="en-US">
              <a:solidFill>
                <a:schemeClr val="bg1"/>
              </a:solidFill>
            </a:endParaRPr>
          </a:p>
          <a:p>
            <a:pPr lvl="1"/>
            <a:br>
              <a:rPr lang="en-US">
                <a:solidFill>
                  <a:schemeClr val="bg1"/>
                </a:solidFill>
              </a:rPr>
            </a:br>
            <a:endParaRPr lang="en-US">
              <a:solidFill>
                <a:schemeClr val="bg1"/>
              </a:solidFill>
            </a:endParaRPr>
          </a:p>
          <a:p>
            <a:pPr lvl="1"/>
            <a:r>
              <a:rPr lang="en-US"/>
              <a:t>…add a new student with the same name as an existing student</a:t>
            </a:r>
            <a:br>
              <a:rPr lang="en-US"/>
            </a:br>
            <a:endParaRPr lang="en-US"/>
          </a:p>
          <a:p>
            <a:pPr lvl="1"/>
            <a:r>
              <a:rPr lang="en-US"/>
              <a:t>…retrieve the transcript for a student</a:t>
            </a:r>
          </a:p>
          <a:p>
            <a:pPr marL="0" indent="0">
              <a:buNone/>
            </a:pPr>
            <a:endParaRPr lang="en-US"/>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7ED2B-C4CB-01DE-2FA2-56655F2FE30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046D1C2-BFC0-F917-D2FE-69F86DADF4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23</a:t>
            </a:fld>
            <a:endParaRPr lang="en-US"/>
          </a:p>
        </p:txBody>
      </p:sp>
      <p:sp>
        <p:nvSpPr>
          <p:cNvPr id="2" name="Title 1">
            <a:extLst>
              <a:ext uri="{FF2B5EF4-FFF2-40B4-BE49-F238E27FC236}">
                <a16:creationId xmlns:a16="http://schemas.microsoft.com/office/drawing/2014/main" id="{08C96DE2-72DE-5DAC-CED0-8E8905B867B7}"/>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5" name="TextBox 4">
            <a:extLst>
              <a:ext uri="{FF2B5EF4-FFF2-40B4-BE49-F238E27FC236}">
                <a16:creationId xmlns:a16="http://schemas.microsoft.com/office/drawing/2014/main" id="{7186BA39-8044-78B9-E113-8F6B857CD2C9}"/>
              </a:ext>
            </a:extLst>
          </p:cNvPr>
          <p:cNvSpPr txBox="1"/>
          <p:nvPr/>
        </p:nvSpPr>
        <p:spPr>
          <a:xfrm>
            <a:off x="-82062" y="370449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a:solidFill>
                <a:schemeClr val="tx1"/>
              </a:solidFill>
            </a:endParaRPr>
          </a:p>
        </p:txBody>
      </p:sp>
      <p:sp>
        <p:nvSpPr>
          <p:cNvPr id="9" name="TextBox 8">
            <a:extLst>
              <a:ext uri="{FF2B5EF4-FFF2-40B4-BE49-F238E27FC236}">
                <a16:creationId xmlns:a16="http://schemas.microsoft.com/office/drawing/2014/main" id="{F7B76826-48CB-DB5F-33DF-45C27E6763EB}"/>
              </a:ext>
            </a:extLst>
          </p:cNvPr>
          <p:cNvSpPr txBox="1"/>
          <p:nvPr/>
        </p:nvSpPr>
        <p:spPr>
          <a:xfrm>
            <a:off x="744069" y="1555036"/>
            <a:ext cx="10434919" cy="50513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a:t>
            </a:r>
          </a:p>
          <a:p>
            <a:pPr>
              <a:lnSpc>
                <a:spcPct val="12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Student</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Course</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001080"/>
                </a:solidFill>
                <a:effectLst/>
                <a:latin typeface="Menlo" panose="020B0609030804020204" pitchFamily="49" charset="0"/>
              </a:rPr>
              <a:t>  Transcript</a:t>
            </a:r>
            <a:r>
              <a:rPr lang="en-US" b="0" dirty="0">
                <a:solidFill>
                  <a:srgbClr val="3B3B3B"/>
                </a:solidFill>
                <a:effectLst/>
                <a:latin typeface="Menlo" panose="020B0609030804020204" pitchFamily="49" charset="0"/>
              </a:rPr>
              <a:t>,</a:t>
            </a:r>
          </a:p>
          <a:p>
            <a:pPr>
              <a:lnSpc>
                <a:spcPct val="120000"/>
              </a:lnSpc>
              <a:buNone/>
            </a:pPr>
            <a:r>
              <a:rPr lang="en-US" b="0" dirty="0">
                <a:solidFill>
                  <a:srgbClr val="3B3B3B"/>
                </a:solidFill>
                <a:effectLst/>
                <a:latin typeface="Menlo" panose="020B0609030804020204" pitchFamily="49" charset="0"/>
              </a:rPr>
              <a:t>}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2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interface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getTranscript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 </a:t>
            </a:r>
            <a:r>
              <a:rPr lang="en-US" dirty="0">
                <a:solidFill>
                  <a:srgbClr val="008000"/>
                </a:solidFill>
                <a:latin typeface="Menlo" panose="020B0609030804020204" pitchFamily="49" charset="0"/>
              </a:rPr>
              <a:t>// throws error if ID invalid</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deleteStudent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a:t>
            </a:r>
            <a:r>
              <a:rPr lang="en-US" dirty="0">
                <a:solidFill>
                  <a:srgbClr val="008000"/>
                </a:solidFill>
                <a:latin typeface="Menlo" panose="020B0609030804020204" pitchFamily="49" charset="0"/>
              </a:rPr>
              <a:t>throws error if ID invalid</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9167119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24</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4" name="TextBox 3">
            <a:extLst>
              <a:ext uri="{FF2B5EF4-FFF2-40B4-BE49-F238E27FC236}">
                <a16:creationId xmlns:a16="http://schemas.microsoft.com/office/drawing/2014/main" id="{07AA5E5E-4768-9FD4-101A-5D84F2F97506}"/>
              </a:ext>
            </a:extLst>
          </p:cNvPr>
          <p:cNvSpPr txBox="1"/>
          <p:nvPr/>
        </p:nvSpPr>
        <p:spPr>
          <a:xfrm>
            <a:off x="744069" y="1555036"/>
            <a:ext cx="10434919" cy="281455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types.ts</a:t>
            </a:r>
            <a:r>
              <a:rPr lang="en-US" b="0" dirty="0">
                <a:solidFill>
                  <a:srgbClr val="008000"/>
                </a:solidFill>
                <a:effectLst/>
                <a:latin typeface="Menlo" panose="020B0609030804020204" pitchFamily="49" charset="0"/>
              </a:rPr>
              <a:t> - types for the transcript service</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StudentName</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student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grades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StudentName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p>
          <a:p>
            <a:pPr>
              <a:lnSpc>
                <a:spcPct val="110000"/>
              </a:lnSpc>
            </a:pPr>
            <a:br>
              <a:rPr lang="en-US" b="0" dirty="0">
                <a:solidFill>
                  <a:srgbClr val="3B3B3B"/>
                </a:solidFill>
                <a:effectLst/>
                <a:latin typeface="Menlo" panose="020B0609030804020204" pitchFamily="49" charset="0"/>
              </a:rPr>
            </a:br>
            <a:endParaRPr lang="en-US"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39373759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25</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types.spec.ts</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describe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expect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it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vitest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Student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0000FF"/>
                </a:solidFill>
                <a:effectLst/>
                <a:latin typeface="Menlo" panose="020B0609030804020204" pitchFamily="49" charset="0"/>
              </a:rPr>
              <a:t>const</a:t>
            </a:r>
            <a:r>
              <a:rPr lang="en-US" b="0" dirty="0">
                <a:solidFill>
                  <a:srgbClr val="3B3B3B"/>
                </a:solidFill>
                <a:effectLst/>
                <a:latin typeface="Menlo" panose="020B0609030804020204" pitchFamily="49" charset="0"/>
              </a:rPr>
              <a:t> </a:t>
            </a:r>
            <a:r>
              <a:rPr lang="en-US" b="0" dirty="0" err="1">
                <a:solidFill>
                  <a:srgbClr val="0070C1"/>
                </a:solidFill>
                <a:effectLst/>
                <a:latin typeface="Menlo" panose="020B0609030804020204" pitchFamily="49" charset="0"/>
              </a:rPr>
              <a:t>alvin</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37</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'Alvin'</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const</a:t>
            </a:r>
            <a:r>
              <a:rPr lang="en-US" b="0" dirty="0">
                <a:solidFill>
                  <a:srgbClr val="3B3B3B"/>
                </a:solidFill>
                <a:effectLst/>
                <a:latin typeface="Menlo" panose="020B0609030804020204" pitchFamily="49" charset="0"/>
              </a:rPr>
              <a:t> </a:t>
            </a:r>
            <a:r>
              <a:rPr lang="en-US" b="0" dirty="0" err="1">
                <a:solidFill>
                  <a:srgbClr val="0070C1"/>
                </a:solidFill>
                <a:effectLst/>
                <a:latin typeface="Menlo" panose="020B0609030804020204" pitchFamily="49" charset="0"/>
              </a:rPr>
              <a:t>bryn</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38</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'Bronwyn'</a:t>
            </a:r>
            <a:r>
              <a:rPr lang="en-US" b="0" dirty="0">
                <a:solidFill>
                  <a:srgbClr val="3B3B3B"/>
                </a:solidFill>
                <a:effectLst/>
                <a:latin typeface="Menlo" panose="020B0609030804020204" pitchFamily="49" charset="0"/>
              </a:rPr>
              <a:t> };</a:t>
            </a:r>
          </a:p>
          <a:p>
            <a:pPr>
              <a:lnSpc>
                <a:spcPct val="110000"/>
              </a:lnSpc>
              <a:buNone/>
            </a:pPr>
            <a:br>
              <a:rPr lang="en-US" b="0" dirty="0">
                <a:solidFill>
                  <a:srgbClr val="3B3B3B"/>
                </a:solidFill>
                <a:effectLst/>
                <a:latin typeface="Menlo" panose="020B0609030804020204" pitchFamily="49" charset="0"/>
              </a:rPr>
            </a:b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'the Student type'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allow extraction of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alvin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98658"/>
                </a:solidFill>
                <a:effectLst/>
                <a:latin typeface="Menlo" panose="020B0609030804020204" pitchFamily="49" charset="0"/>
              </a:rPr>
              <a:t>37</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bryn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98658"/>
                </a:solidFill>
                <a:effectLst/>
                <a:latin typeface="Menlo" panose="020B0609030804020204" pitchFamily="49" charset="0"/>
              </a:rPr>
              <a:t>38</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br>
              <a:rPr lang="en-US" b="0" dirty="0">
                <a:solidFill>
                  <a:srgbClr val="3B3B3B"/>
                </a:solidFill>
                <a:effectLst/>
                <a:latin typeface="Menlo" panose="020B0609030804020204" pitchFamily="49" charset="0"/>
              </a:rPr>
            </a:br>
            <a:r>
              <a:rPr lang="en-US" b="0" dirty="0">
                <a:solidFill>
                  <a:srgbClr val="3B3B3B"/>
                </a:solidFill>
                <a:effectLst/>
                <a:latin typeface="Menlo" panose="020B0609030804020204" pitchFamily="49" charset="0"/>
              </a:rPr>
              <a:t>  </a:t>
            </a:r>
            <a:r>
              <a:rPr lang="en-US" b="0" dirty="0">
                <a:solidFill>
                  <a:srgbClr val="795E26"/>
                </a:solidFill>
                <a:effectLst/>
                <a:latin typeface="Menlo" panose="020B0609030804020204" pitchFamily="49" charset="0"/>
              </a:rPr>
              <a:t>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allow extraction of name'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alvin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'Alvin’</a:t>
            </a:r>
            <a:r>
              <a:rPr lang="en-US" b="0" dirty="0">
                <a:solidFill>
                  <a:srgbClr val="3B3B3B"/>
                </a:solidFill>
                <a:effectLst/>
                <a:latin typeface="Menlo" panose="020B0609030804020204" pitchFamily="49" charset="0"/>
              </a:rPr>
              <a:t>);</a:t>
            </a:r>
          </a:p>
          <a:p>
            <a:pPr>
              <a:lnSpc>
                <a:spcPct val="110000"/>
              </a:lnSpc>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bryn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Jazzhands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will fail</a:t>
            </a:r>
            <a:endParaRPr lang="en-US" b="0" dirty="0">
              <a:solidFill>
                <a:srgbClr val="3B3B3B"/>
              </a:solidFill>
              <a:effectLst/>
              <a:latin typeface="Menlo" panose="020B0609030804020204" pitchFamily="49" charset="0"/>
            </a:endParaRPr>
          </a:p>
          <a:p>
            <a:pPr>
              <a:lnSpc>
                <a:spcPct val="110000"/>
              </a:lnSpc>
              <a:buNone/>
            </a:pPr>
            <a:r>
              <a:rPr lang="en-US" b="0" dirty="0">
                <a:solidFill>
                  <a:srgbClr val="3B3B3B"/>
                </a:solidFill>
                <a:effectLst/>
                <a:latin typeface="Menlo" panose="020B0609030804020204" pitchFamily="49" charset="0"/>
              </a:rPr>
              <a:t>  });</a:t>
            </a:r>
          </a:p>
          <a:p>
            <a:pPr>
              <a:lnSpc>
                <a:spcPct val="11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35776921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26</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lstStyle/>
          <a:p>
            <a:r>
              <a:rPr lang="en-US"/>
              <a:t>The tiniest introduction to Vitest</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Menlo" panose="020B0609030804020204" pitchFamily="49" charset="0"/>
              </a:rPr>
              <a:t>% </a:t>
            </a:r>
            <a:r>
              <a:rPr lang="en-US" sz="1200" dirty="0" err="1">
                <a:solidFill>
                  <a:srgbClr val="000000"/>
                </a:solidFill>
                <a:effectLst/>
                <a:latin typeface="Menlo" panose="020B0609030804020204" pitchFamily="49" charset="0"/>
              </a:rPr>
              <a:t>npx</a:t>
            </a:r>
            <a:r>
              <a:rPr lang="en-US" sz="1200" dirty="0">
                <a:solidFill>
                  <a:srgbClr val="000000"/>
                </a:solidFill>
                <a:effectLst/>
                <a:latin typeface="Menlo" panose="020B0609030804020204" pitchFamily="49" charset="0"/>
              </a:rPr>
              <a:t> </a:t>
            </a:r>
            <a:r>
              <a:rPr lang="en-US" sz="1200" dirty="0" err="1">
                <a:solidFill>
                  <a:srgbClr val="000000"/>
                </a:solidFill>
                <a:effectLst/>
                <a:latin typeface="Menlo" panose="020B0609030804020204" pitchFamily="49" charset="0"/>
              </a:rPr>
              <a:t>vitest</a:t>
            </a:r>
            <a:r>
              <a:rPr lang="en-US" sz="1200" dirty="0">
                <a:solidFill>
                  <a:srgbClr val="000000"/>
                </a:solidFill>
                <a:effectLst/>
                <a:latin typeface="Menlo" panose="020B0609030804020204" pitchFamily="49" charset="0"/>
              </a:rPr>
              <a:t> --run </a:t>
            </a:r>
            <a:r>
              <a:rPr lang="en-US" sz="1200" dirty="0" err="1">
                <a:solidFill>
                  <a:srgbClr val="000000"/>
                </a:solidFill>
                <a:effectLst/>
                <a:latin typeface="Menlo" panose="020B0609030804020204" pitchFamily="49" charset="0"/>
              </a:rPr>
              <a:t>src</a:t>
            </a:r>
            <a:r>
              <a:rPr lang="en-US" sz="1200" dirty="0">
                <a:solidFill>
                  <a:srgbClr val="000000"/>
                </a:solidFill>
                <a:effectLst/>
                <a:latin typeface="Menlo" panose="020B0609030804020204" pitchFamily="49" charset="0"/>
              </a:rPr>
              <a:t>/</a:t>
            </a:r>
            <a:r>
              <a:rPr lang="en-US" sz="1200" dirty="0" err="1">
                <a:solidFill>
                  <a:srgbClr val="000000"/>
                </a:solidFill>
                <a:effectLst/>
                <a:latin typeface="Menlo" panose="020B0609030804020204" pitchFamily="49" charset="0"/>
              </a:rPr>
              <a:t>types.spec.ts</a:t>
            </a:r>
            <a:endParaRPr lang="en-US" sz="1200" dirty="0">
              <a:solidFill>
                <a:srgbClr val="000000"/>
              </a:solidFill>
              <a:effectLst/>
              <a:latin typeface="Menlo" panose="020B0609030804020204" pitchFamily="49" charset="0"/>
            </a:endParaRPr>
          </a:p>
          <a:p>
            <a:pPr>
              <a:buNone/>
            </a:pPr>
            <a:endParaRPr lang="en-US" sz="1200" dirty="0">
              <a:solidFill>
                <a:srgbClr val="000000"/>
              </a:solidFill>
              <a:effectLst/>
              <a:latin typeface="Menlo" panose="020B0609030804020204" pitchFamily="49" charset="0"/>
            </a:endParaRPr>
          </a:p>
          <a:p>
            <a:pPr>
              <a:buNone/>
            </a:pPr>
            <a:r>
              <a:rPr lang="en-US" sz="1200" b="1" dirty="0">
                <a:solidFill>
                  <a:srgbClr val="000000"/>
                </a:solidFill>
                <a:highlight>
                  <a:srgbClr val="0000FF"/>
                </a:highlight>
                <a:latin typeface="Menlo" panose="020B0609030804020204" pitchFamily="49" charset="0"/>
              </a:rPr>
              <a:t> </a:t>
            </a:r>
            <a:r>
              <a:rPr lang="en-US" sz="1200" b="1" dirty="0">
                <a:solidFill>
                  <a:schemeClr val="bg1"/>
                </a:solidFill>
                <a:highlight>
                  <a:srgbClr val="0000FF"/>
                </a:highlight>
                <a:latin typeface="Menlo" panose="020B0609030804020204" pitchFamily="49" charset="0"/>
              </a:rPr>
              <a:t>RUN</a:t>
            </a:r>
            <a:r>
              <a:rPr lang="en-US" sz="1200" b="1" dirty="0">
                <a:solidFill>
                  <a:srgbClr val="000000"/>
                </a:solidFill>
                <a:highlight>
                  <a:srgbClr val="0000FF"/>
                </a:highlight>
                <a:latin typeface="Menlo" panose="020B0609030804020204" pitchFamily="49" charset="0"/>
              </a:rPr>
              <a:t> </a:t>
            </a:r>
            <a:r>
              <a:rPr lang="en-US" sz="1200" b="1" dirty="0">
                <a:solidFill>
                  <a:srgbClr val="000000"/>
                </a:solidFill>
                <a:latin typeface="Menlo" panose="020B0609030804020204" pitchFamily="49" charset="0"/>
              </a:rPr>
              <a:t> </a:t>
            </a:r>
            <a:r>
              <a:rPr lang="en-US" sz="1200" dirty="0">
                <a:solidFill>
                  <a:srgbClr val="0070C0"/>
                </a:solidFill>
                <a:latin typeface="Menlo" panose="020B0609030804020204" pitchFamily="49" charset="0"/>
              </a:rPr>
              <a:t>v4.0.16</a:t>
            </a:r>
            <a:r>
              <a:rPr lang="en-US" sz="1200" dirty="0">
                <a:solidFill>
                  <a:srgbClr val="000000"/>
                </a:solidFill>
                <a:latin typeface="Menlo" panose="020B0609030804020204" pitchFamily="49" charset="0"/>
              </a:rPr>
              <a:t> /Users/</a:t>
            </a:r>
            <a:r>
              <a:rPr lang="en-US" sz="1200" dirty="0" err="1">
                <a:solidFill>
                  <a:srgbClr val="000000"/>
                </a:solidFill>
                <a:latin typeface="Menlo" panose="020B0609030804020204" pitchFamily="49" charset="0"/>
              </a:rPr>
              <a:t>rjsimmon</a:t>
            </a:r>
            <a:r>
              <a:rPr lang="en-US" sz="1200" dirty="0">
                <a:solidFill>
                  <a:srgbClr val="000000"/>
                </a:solidFill>
                <a:latin typeface="Menlo" panose="020B0609030804020204" pitchFamily="49" charset="0"/>
              </a:rPr>
              <a:t>/r/transcript-server</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src</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types.spec.ts</a:t>
            </a: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(2 tests | </a:t>
            </a:r>
            <a:r>
              <a:rPr lang="en-US" sz="1200" dirty="0">
                <a:solidFill>
                  <a:srgbClr val="C00000"/>
                </a:solidFill>
                <a:latin typeface="Menlo" panose="020B0609030804020204" pitchFamily="49" charset="0"/>
              </a:rPr>
              <a:t>1 failed</a:t>
            </a:r>
            <a:r>
              <a:rPr lang="en-US" sz="1200" dirty="0">
                <a:solidFill>
                  <a:schemeClr val="bg1">
                    <a:lumMod val="50000"/>
                  </a:schemeClr>
                </a:solidFill>
                <a:latin typeface="Menlo" panose="020B0609030804020204" pitchFamily="49" charset="0"/>
              </a:rPr>
              <a:t>)</a:t>
            </a:r>
            <a:r>
              <a:rPr lang="en-US" sz="1200" dirty="0">
                <a:solidFill>
                  <a:srgbClr val="000000"/>
                </a:solidFill>
                <a:latin typeface="Menlo" panose="020B0609030804020204" pitchFamily="49" charset="0"/>
              </a:rPr>
              <a:t> 4</a:t>
            </a:r>
            <a:r>
              <a:rPr lang="en-US" sz="1200" dirty="0">
                <a:solidFill>
                  <a:srgbClr val="0070C0"/>
                </a:solidFill>
                <a:latin typeface="Menlo" panose="020B0609030804020204" pitchFamily="49" charset="0"/>
              </a:rPr>
              <a:t>ms</a:t>
            </a: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a:t>
            </a:r>
            <a:r>
              <a:rPr lang="en-US" sz="1200" dirty="0">
                <a:solidFill>
                  <a:srgbClr val="000000"/>
                </a:solidFill>
                <a:latin typeface="Menlo" panose="020B0609030804020204" pitchFamily="49" charset="0"/>
              </a:rPr>
              <a:t> the Student type </a:t>
            </a:r>
            <a:r>
              <a:rPr lang="en-US" sz="1200" dirty="0">
                <a:solidFill>
                  <a:schemeClr val="bg1">
                    <a:lumMod val="50000"/>
                  </a:schemeClr>
                </a:solidFill>
                <a:latin typeface="Menlo" panose="020B0609030804020204" pitchFamily="49" charset="0"/>
              </a:rPr>
              <a:t>(2)</a:t>
            </a:r>
          </a:p>
          <a:p>
            <a:pPr>
              <a:buNone/>
            </a:pPr>
            <a:r>
              <a:rPr lang="en-US" sz="1200" dirty="0">
                <a:solidFill>
                  <a:srgbClr val="000000"/>
                </a:solidFill>
                <a:latin typeface="Menlo" panose="020B0609030804020204" pitchFamily="49" charset="0"/>
              </a:rPr>
              <a:t>     ✓ should allow extraction of id 1</a:t>
            </a:r>
            <a:r>
              <a:rPr lang="en-US" sz="1200" dirty="0">
                <a:solidFill>
                  <a:srgbClr val="0070C0"/>
                </a:solidFill>
                <a:latin typeface="Menlo" panose="020B0609030804020204" pitchFamily="49" charset="0"/>
              </a:rPr>
              <a:t>ms</a:t>
            </a: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 should allow extraction of name </a:t>
            </a:r>
            <a:r>
              <a:rPr lang="en-US" sz="1200" dirty="0">
                <a:solidFill>
                  <a:srgbClr val="000000"/>
                </a:solidFill>
                <a:latin typeface="Menlo" panose="020B0609030804020204" pitchFamily="49" charset="0"/>
              </a:rPr>
              <a:t>3</a:t>
            </a:r>
            <a:r>
              <a:rPr lang="en-US" sz="1200" dirty="0">
                <a:solidFill>
                  <a:srgbClr val="0070C0"/>
                </a:solidFill>
                <a:latin typeface="Menlo" panose="020B0609030804020204" pitchFamily="49" charset="0"/>
              </a:rPr>
              <a:t>ms</a:t>
            </a:r>
          </a:p>
          <a:p>
            <a:pPr>
              <a:buNone/>
            </a:pPr>
            <a:endParaRPr lang="en-US" sz="1200" dirty="0">
              <a:solidFill>
                <a:srgbClr val="C00000"/>
              </a:solidFill>
              <a:latin typeface="Menlo" panose="020B0609030804020204" pitchFamily="49" charset="0"/>
            </a:endParaRPr>
          </a:p>
          <a:p>
            <a:r>
              <a:rPr lang="en-US" sz="1200" dirty="0">
                <a:solidFill>
                  <a:srgbClr val="C00000"/>
                </a:solidFill>
                <a:latin typeface="Menlo" panose="020B0609030804020204" pitchFamily="49" charset="0"/>
              </a:rPr>
              <a:t>⎯⎯⎯⎯⎯⎯⎯⎯⎯⎯⎯⎯⎯⎯⎯⎯⎯⎯⎯⎯⎯⎯⎯⎯⎯⎯⎯⎯⎯⎯⎯⎯⎯⎯⎯⎯⎯⎯⎯⎯</a:t>
            </a:r>
            <a:r>
              <a:rPr lang="en-US" sz="1200" dirty="0">
                <a:solidFill>
                  <a:srgbClr val="000000"/>
                </a:solidFill>
                <a:highlight>
                  <a:srgbClr val="800000"/>
                </a:highlight>
                <a:latin typeface="Menlo" panose="020B0609030804020204" pitchFamily="49" charset="0"/>
              </a:rPr>
              <a:t> </a:t>
            </a:r>
            <a:r>
              <a:rPr lang="en-US" sz="1200" b="1" dirty="0">
                <a:solidFill>
                  <a:schemeClr val="bg1"/>
                </a:solidFill>
                <a:highlight>
                  <a:srgbClr val="800000"/>
                </a:highlight>
                <a:latin typeface="Menlo" panose="020B0609030804020204" pitchFamily="49" charset="0"/>
              </a:rPr>
              <a:t>Failed Tests 1</a:t>
            </a:r>
            <a:r>
              <a:rPr lang="en-US" sz="1200" b="1" dirty="0">
                <a:solidFill>
                  <a:srgbClr val="000000"/>
                </a:solidFill>
                <a:highlight>
                  <a:srgbClr val="800000"/>
                </a:highlight>
                <a:latin typeface="Menlo" panose="020B0609030804020204" pitchFamily="49" charset="0"/>
              </a:rPr>
              <a:t> </a:t>
            </a:r>
            <a:r>
              <a:rPr lang="en-US" sz="1200" dirty="0">
                <a:solidFill>
                  <a:srgbClr val="C00000"/>
                </a:solidFill>
                <a:latin typeface="Menlo" panose="020B0609030804020204" pitchFamily="49" charset="0"/>
              </a:rPr>
              <a:t>⎯⎯⎯⎯⎯⎯⎯⎯⎯⎯⎯⎯⎯⎯⎯⎯⎯⎯⎯⎯⎯⎯⎯⎯⎯⎯⎯⎯⎯⎯⎯⎯⎯⎯⎯⎯⎯⎯⎯⎯⎯⎯⎯⎯⎯⎯⎯⎯⎯⎯⎯⎯⎯⎯⎯⎯⎯⎯⎯⎯⎯⎯⎯⎯⎯⎯</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highlight>
                  <a:srgbClr val="800000"/>
                </a:highlight>
                <a:latin typeface="Menlo" panose="020B0609030804020204" pitchFamily="49" charset="0"/>
              </a:rPr>
              <a:t> </a:t>
            </a:r>
            <a:r>
              <a:rPr lang="en-US" sz="1200" b="1" dirty="0">
                <a:solidFill>
                  <a:schemeClr val="bg1"/>
                </a:solidFill>
                <a:highlight>
                  <a:srgbClr val="800000"/>
                </a:highlight>
                <a:latin typeface="Menlo" panose="020B0609030804020204" pitchFamily="49" charset="0"/>
              </a:rPr>
              <a:t>FAIL</a:t>
            </a:r>
            <a:r>
              <a:rPr lang="en-US" sz="1200" dirty="0">
                <a:solidFill>
                  <a:srgbClr val="000000"/>
                </a:solidFill>
                <a:highlight>
                  <a:srgbClr val="800000"/>
                </a:highlight>
                <a:latin typeface="Menlo" panose="020B0609030804020204" pitchFamily="49" charset="0"/>
              </a:rPr>
              <a:t>  </a:t>
            </a:r>
            <a:r>
              <a:rPr lang="en-US" sz="1200" dirty="0" err="1">
                <a:solidFill>
                  <a:srgbClr val="000000"/>
                </a:solidFill>
                <a:latin typeface="Menlo" panose="020B0609030804020204" pitchFamily="49" charset="0"/>
              </a:rPr>
              <a:t>src</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types.spec.ts</a:t>
            </a:r>
            <a:r>
              <a:rPr lang="en-US" sz="1200" dirty="0">
                <a:solidFill>
                  <a:srgbClr val="000000"/>
                </a:solidFill>
                <a:latin typeface="Menlo" panose="020B0609030804020204" pitchFamily="49" charset="0"/>
              </a:rPr>
              <a:t> &gt; the Student type &gt; should allow extraction of name</a:t>
            </a:r>
          </a:p>
          <a:p>
            <a:pPr>
              <a:buNone/>
            </a:pPr>
            <a:r>
              <a:rPr lang="en-US" sz="1200" b="1" dirty="0" err="1">
                <a:solidFill>
                  <a:srgbClr val="C00000"/>
                </a:solidFill>
                <a:latin typeface="Menlo" panose="020B0609030804020204" pitchFamily="49" charset="0"/>
              </a:rPr>
              <a:t>AssertionError</a:t>
            </a:r>
            <a:r>
              <a:rPr lang="en-US" sz="1200" dirty="0">
                <a:solidFill>
                  <a:srgbClr val="C00000"/>
                </a:solidFill>
                <a:latin typeface="Menlo" panose="020B0609030804020204" pitchFamily="49" charset="0"/>
              </a:rPr>
              <a:t>: expected 'Bronwyn' to deeply equal '</a:t>
            </a:r>
            <a:r>
              <a:rPr lang="en-US" sz="1200" dirty="0" err="1">
                <a:solidFill>
                  <a:srgbClr val="C00000"/>
                </a:solidFill>
                <a:latin typeface="Menlo" panose="020B0609030804020204" pitchFamily="49" charset="0"/>
              </a:rPr>
              <a:t>Jazzhands</a:t>
            </a:r>
            <a:r>
              <a:rPr lang="en-US" sz="1200" dirty="0">
                <a:solidFill>
                  <a:srgbClr val="C00000"/>
                </a:solidFill>
                <a:latin typeface="Menlo" panose="020B0609030804020204" pitchFamily="49" charset="0"/>
              </a:rPr>
              <a:t>'</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Expected: </a:t>
            </a:r>
            <a:r>
              <a:rPr lang="en-US" sz="1200" dirty="0">
                <a:solidFill>
                  <a:schemeClr val="accent6">
                    <a:lumMod val="75000"/>
                  </a:schemeClr>
                </a:solidFill>
                <a:latin typeface="Menlo" panose="020B0609030804020204" pitchFamily="49" charset="0"/>
              </a:rPr>
              <a:t>"</a:t>
            </a:r>
            <a:r>
              <a:rPr lang="en-US" sz="1200" dirty="0" err="1">
                <a:solidFill>
                  <a:schemeClr val="accent6">
                    <a:lumMod val="75000"/>
                  </a:schemeClr>
                </a:solidFill>
                <a:latin typeface="Menlo" panose="020B0609030804020204" pitchFamily="49" charset="0"/>
              </a:rPr>
              <a:t>Jazzhands</a:t>
            </a:r>
            <a:r>
              <a:rPr lang="en-US" sz="1200" dirty="0">
                <a:solidFill>
                  <a:schemeClr val="accent6">
                    <a:lumMod val="75000"/>
                  </a:schemeClr>
                </a:solidFill>
                <a:latin typeface="Menlo" panose="020B0609030804020204" pitchFamily="49" charset="0"/>
              </a:rPr>
              <a:t>"</a:t>
            </a:r>
          </a:p>
          <a:p>
            <a:pPr>
              <a:buNone/>
            </a:pPr>
            <a:r>
              <a:rPr lang="en-US" sz="1200" dirty="0">
                <a:solidFill>
                  <a:srgbClr val="000000"/>
                </a:solidFill>
                <a:latin typeface="Menlo" panose="020B0609030804020204" pitchFamily="49" charset="0"/>
              </a:rPr>
              <a:t>Received: </a:t>
            </a:r>
            <a:r>
              <a:rPr lang="en-US" sz="1200" dirty="0">
                <a:solidFill>
                  <a:srgbClr val="C00000"/>
                </a:solidFill>
                <a:latin typeface="Menlo" panose="020B0609030804020204" pitchFamily="49" charset="0"/>
              </a:rPr>
              <a:t>"Bronwyn"</a:t>
            </a:r>
          </a:p>
          <a:p>
            <a:pPr>
              <a:buNone/>
            </a:pPr>
            <a:endParaRPr lang="en-US" sz="1200" dirty="0">
              <a:solidFill>
                <a:srgbClr val="000000"/>
              </a:solidFill>
              <a:latin typeface="Menlo" panose="020B0609030804020204" pitchFamily="49" charset="0"/>
            </a:endParaRPr>
          </a:p>
          <a:p>
            <a:pPr>
              <a:buNone/>
            </a:pPr>
            <a:r>
              <a:rPr lang="en-US" sz="1200" dirty="0">
                <a:solidFill>
                  <a:srgbClr val="0070C0"/>
                </a:solidFill>
                <a:latin typeface="Menlo" panose="020B0609030804020204" pitchFamily="49" charset="0"/>
              </a:rPr>
              <a:t> ❯ </a:t>
            </a:r>
            <a:r>
              <a:rPr lang="en-US" sz="1200" dirty="0" err="1">
                <a:solidFill>
                  <a:srgbClr val="0070C0"/>
                </a:solidFill>
                <a:latin typeface="Menlo" panose="020B0609030804020204" pitchFamily="49" charset="0"/>
              </a:rPr>
              <a:t>src</a:t>
            </a:r>
            <a:r>
              <a:rPr lang="en-US" sz="1200" dirty="0">
                <a:solidFill>
                  <a:srgbClr val="0070C0"/>
                </a:solidFill>
                <a:latin typeface="Menlo" panose="020B0609030804020204" pitchFamily="49" charset="0"/>
              </a:rPr>
              <a:t>/types.spec.ts:13:30</a:t>
            </a:r>
          </a:p>
          <a:p>
            <a:pPr>
              <a:buNone/>
            </a:pPr>
            <a:r>
              <a:rPr lang="en-US" sz="1200" dirty="0">
                <a:solidFill>
                  <a:srgbClr val="000000"/>
                </a:solidFill>
                <a:latin typeface="Menlo" panose="020B0609030804020204" pitchFamily="49" charset="0"/>
              </a:rPr>
              <a:t>     11|   it(</a:t>
            </a:r>
            <a:r>
              <a:rPr lang="en-US" sz="1200" dirty="0">
                <a:solidFill>
                  <a:schemeClr val="accent6">
                    <a:lumMod val="75000"/>
                  </a:schemeClr>
                </a:solidFill>
                <a:latin typeface="Menlo" panose="020B0609030804020204" pitchFamily="49" charset="0"/>
              </a:rPr>
              <a:t>'should allow extraction of name'</a:t>
            </a:r>
            <a:r>
              <a:rPr lang="en-US" sz="1200" dirty="0">
                <a:solidFill>
                  <a:srgbClr val="000000"/>
                </a:solidFill>
                <a:latin typeface="Menlo" panose="020B0609030804020204" pitchFamily="49" charset="0"/>
              </a:rPr>
              <a:t>, () =&gt; {</a:t>
            </a:r>
          </a:p>
          <a:p>
            <a:pPr>
              <a:buNone/>
            </a:pPr>
            <a:r>
              <a:rPr lang="en-US" sz="1200" dirty="0">
                <a:solidFill>
                  <a:srgbClr val="000000"/>
                </a:solidFill>
                <a:latin typeface="Menlo" panose="020B0609030804020204" pitchFamily="49" charset="0"/>
              </a:rPr>
              <a:t>     12|     expect(</a:t>
            </a:r>
            <a:r>
              <a:rPr lang="en-US" sz="1200" dirty="0" err="1">
                <a:solidFill>
                  <a:srgbClr val="000000"/>
                </a:solidFill>
                <a:latin typeface="Menlo" panose="020B0609030804020204" pitchFamily="49" charset="0"/>
              </a:rPr>
              <a:t>alvin.studentName</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toEqual</a:t>
            </a:r>
            <a:r>
              <a:rPr lang="en-US" sz="1200" dirty="0">
                <a:solidFill>
                  <a:srgbClr val="000000"/>
                </a:solidFill>
                <a:latin typeface="Menlo" panose="020B0609030804020204" pitchFamily="49" charset="0"/>
              </a:rPr>
              <a:t>(</a:t>
            </a:r>
            <a:r>
              <a:rPr lang="en-US" sz="1200" dirty="0">
                <a:solidFill>
                  <a:schemeClr val="accent6">
                    <a:lumMod val="75000"/>
                  </a:schemeClr>
                </a:solidFill>
                <a:latin typeface="Menlo" panose="020B0609030804020204" pitchFamily="49" charset="0"/>
              </a:rPr>
              <a:t>'Alvin'</a:t>
            </a:r>
            <a:r>
              <a:rPr lang="en-US" sz="1200" dirty="0">
                <a:solidFill>
                  <a:srgbClr val="000000"/>
                </a:solidFill>
                <a:latin typeface="Menlo" panose="020B0609030804020204" pitchFamily="49" charset="0"/>
              </a:rPr>
              <a:t>);</a:t>
            </a:r>
          </a:p>
          <a:p>
            <a:pPr>
              <a:buNone/>
            </a:pPr>
            <a:r>
              <a:rPr lang="en-US" sz="1200" dirty="0">
                <a:solidFill>
                  <a:srgbClr val="000000"/>
                </a:solidFill>
                <a:latin typeface="Menlo" panose="020B0609030804020204" pitchFamily="49" charset="0"/>
              </a:rPr>
              <a:t>     13|     expect(</a:t>
            </a:r>
            <a:r>
              <a:rPr lang="en-US" sz="1200" dirty="0" err="1">
                <a:solidFill>
                  <a:srgbClr val="000000"/>
                </a:solidFill>
                <a:latin typeface="Menlo" panose="020B0609030804020204" pitchFamily="49" charset="0"/>
              </a:rPr>
              <a:t>bryn.studentName</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toEqual</a:t>
            </a:r>
            <a:r>
              <a:rPr lang="en-US" sz="1200" dirty="0">
                <a:solidFill>
                  <a:srgbClr val="000000"/>
                </a:solidFill>
                <a:latin typeface="Menlo" panose="020B0609030804020204" pitchFamily="49" charset="0"/>
              </a:rPr>
              <a:t>(</a:t>
            </a:r>
            <a:r>
              <a:rPr lang="en-US" sz="1200" dirty="0">
                <a:solidFill>
                  <a:schemeClr val="accent6">
                    <a:lumMod val="75000"/>
                  </a:schemeClr>
                </a:solidFill>
                <a:latin typeface="Menlo" panose="020B0609030804020204" pitchFamily="49" charset="0"/>
              </a:rPr>
              <a:t>'</a:t>
            </a:r>
            <a:r>
              <a:rPr lang="en-US" sz="1200" dirty="0" err="1">
                <a:solidFill>
                  <a:schemeClr val="accent6">
                    <a:lumMod val="75000"/>
                  </a:schemeClr>
                </a:solidFill>
                <a:latin typeface="Menlo" panose="020B0609030804020204" pitchFamily="49" charset="0"/>
              </a:rPr>
              <a:t>Jazzhands</a:t>
            </a:r>
            <a:r>
              <a:rPr lang="en-US" sz="1200" dirty="0">
                <a:solidFill>
                  <a:schemeClr val="accent6">
                    <a:lumMod val="75000"/>
                  </a:schemeClr>
                </a:solidFill>
                <a:latin typeface="Menlo" panose="020B0609030804020204" pitchFamily="49" charset="0"/>
              </a:rPr>
              <a:t>'</a:t>
            </a:r>
            <a:r>
              <a:rPr lang="en-US" sz="1200" dirty="0">
                <a:solidFill>
                  <a:srgbClr val="000000"/>
                </a:solidFill>
                <a:latin typeface="Menlo" panose="020B0609030804020204" pitchFamily="49" charset="0"/>
              </a:rPr>
              <a:t>); // will fail</a:t>
            </a:r>
          </a:p>
          <a:p>
            <a:pPr>
              <a:buNone/>
            </a:pPr>
            <a:r>
              <a:rPr lang="en-US" sz="1200" dirty="0">
                <a:solidFill>
                  <a:srgbClr val="000000"/>
                </a:solidFill>
                <a:latin typeface="Menlo" panose="020B0609030804020204" pitchFamily="49" charset="0"/>
              </a:rPr>
              <a:t>       |                              ^</a:t>
            </a:r>
          </a:p>
          <a:p>
            <a:pPr>
              <a:buNone/>
            </a:pPr>
            <a:r>
              <a:rPr lang="en-US" sz="1200" dirty="0">
                <a:solidFill>
                  <a:srgbClr val="000000"/>
                </a:solidFill>
                <a:latin typeface="Menlo" panose="020B0609030804020204" pitchFamily="49" charset="0"/>
              </a:rPr>
              <a:t>     14|   });</a:t>
            </a:r>
          </a:p>
          <a:p>
            <a:pPr>
              <a:buNone/>
            </a:pPr>
            <a:r>
              <a:rPr lang="en-US" sz="1200" dirty="0">
                <a:solidFill>
                  <a:srgbClr val="000000"/>
                </a:solidFill>
                <a:latin typeface="Menlo" panose="020B0609030804020204" pitchFamily="49" charset="0"/>
              </a:rPr>
              <a:t>     15| });</a:t>
            </a:r>
          </a:p>
          <a:p>
            <a:pPr>
              <a:buNone/>
            </a:pPr>
            <a:endParaRPr lang="en-US" sz="1200" dirty="0">
              <a:solidFill>
                <a:srgbClr val="000000"/>
              </a:solidFill>
              <a:latin typeface="Menlo" panose="020B0609030804020204" pitchFamily="49" charset="0"/>
            </a:endParaRP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Test Files  </a:t>
            </a:r>
            <a:r>
              <a:rPr lang="en-US" sz="1200" b="1" dirty="0">
                <a:solidFill>
                  <a:srgbClr val="C00000"/>
                </a:solidFill>
                <a:latin typeface="Menlo" panose="020B0609030804020204" pitchFamily="49" charset="0"/>
              </a:rPr>
              <a:t>1 failed </a:t>
            </a:r>
            <a:r>
              <a:rPr lang="en-US" sz="1200" dirty="0">
                <a:solidFill>
                  <a:srgbClr val="000000"/>
                </a:solidFill>
                <a:latin typeface="Menlo" panose="020B0609030804020204" pitchFamily="49" charset="0"/>
              </a:rPr>
              <a:t>(1)</a:t>
            </a:r>
          </a:p>
          <a:p>
            <a:pPr>
              <a:buNone/>
            </a:pP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Tests</a:t>
            </a:r>
            <a:r>
              <a:rPr lang="en-US" sz="1200" dirty="0">
                <a:solidFill>
                  <a:srgbClr val="000000"/>
                </a:solidFill>
                <a:latin typeface="Menlo" panose="020B0609030804020204" pitchFamily="49" charset="0"/>
              </a:rPr>
              <a:t>  </a:t>
            </a:r>
            <a:r>
              <a:rPr lang="en-US" sz="1200" b="1" dirty="0">
                <a:solidFill>
                  <a:srgbClr val="C00000"/>
                </a:solidFill>
                <a:latin typeface="Menlo" panose="020B0609030804020204" pitchFamily="49" charset="0"/>
              </a:rPr>
              <a:t>1 failed </a:t>
            </a:r>
            <a:r>
              <a:rPr lang="en-US" sz="1200" dirty="0">
                <a:solidFill>
                  <a:srgbClr val="000000"/>
                </a:solidFill>
                <a:latin typeface="Menlo" panose="020B0609030804020204" pitchFamily="49" charset="0"/>
              </a:rPr>
              <a:t>| </a:t>
            </a:r>
            <a:r>
              <a:rPr lang="en-US" sz="1200" b="1" dirty="0">
                <a:solidFill>
                  <a:schemeClr val="accent6">
                    <a:lumMod val="75000"/>
                  </a:schemeClr>
                </a:solidFill>
                <a:latin typeface="Menlo" panose="020B0609030804020204" pitchFamily="49" charset="0"/>
              </a:rPr>
              <a:t>1 passed</a:t>
            </a:r>
            <a:r>
              <a:rPr lang="en-US" sz="1200" dirty="0">
                <a:solidFill>
                  <a:srgbClr val="000000"/>
                </a:solidFill>
                <a:latin typeface="Menlo" panose="020B0609030804020204" pitchFamily="49" charset="0"/>
              </a:rPr>
              <a:t> (2)</a:t>
            </a:r>
            <a:endParaRPr lang="en-US" sz="1200" dirty="0">
              <a:solidFill>
                <a:srgbClr val="999999"/>
              </a:solidFill>
              <a:effectLst/>
              <a:latin typeface="Menlo" panose="020B0609030804020204" pitchFamily="49" charset="0"/>
            </a:endParaRPr>
          </a:p>
        </p:txBody>
      </p:sp>
    </p:spTree>
    <p:extLst>
      <p:ext uri="{BB962C8B-B14F-4D97-AF65-F5344CB8AC3E}">
        <p14:creationId xmlns:p14="http://schemas.microsoft.com/office/powerpoint/2010/main" val="1281347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27</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transcript.service.spec.ts</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describe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expect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it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vitest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TranscriptDB</a:t>
            </a:r>
            <a:r>
              <a:rPr lang="en-US" b="0" dirty="0">
                <a:solidFill>
                  <a:srgbClr val="3B3B3B"/>
                </a:solidFill>
                <a:effectLst/>
                <a:latin typeface="Menlo" panose="020B0609030804020204" pitchFamily="49" charset="0"/>
              </a:rPr>
              <a:t>, </a:t>
            </a:r>
            <a:r>
              <a:rPr lang="en-US" b="0" dirty="0">
                <a:solidFill>
                  <a:srgbClr val="AF00DB"/>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dirty="0" err="1">
                <a:solidFill>
                  <a:srgbClr val="A31515"/>
                </a:solidFill>
                <a:latin typeface="Menlo" panose="020B0609030804020204" pitchFamily="49" charset="0"/>
              </a:rPr>
              <a:t>transcript.service</a:t>
            </a:r>
            <a:r>
              <a:rPr lang="en-US" b="0" dirty="0" err="1">
                <a:solidFill>
                  <a:srgbClr val="A31515"/>
                </a:solidFill>
                <a:effectLst/>
                <a:latin typeface="Menlo" panose="020B0609030804020204" pitchFamily="49" charset="0"/>
              </a:rPr>
              <a:t>.ts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a:t>
            </a:r>
          </a:p>
          <a:p>
            <a:pPr>
              <a:lnSpc>
                <a:spcPct val="110000"/>
              </a:lnSpc>
              <a:buNone/>
            </a:pPr>
            <a:r>
              <a:rPr lang="en-US" b="0" dirty="0" err="1">
                <a:solidFill>
                  <a:srgbClr val="795E26"/>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new</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TranscriptDB</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add a student to the database and return their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28</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add a student to the database and return their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endParaRPr lang="en-US" b="0" dirty="0">
              <a:solidFill>
                <a:srgbClr val="795E26"/>
              </a:solidFill>
              <a:effectLst/>
              <a:latin typeface="Menlo" panose="020B0609030804020204" pitchFamily="49" charset="0"/>
            </a:endParaRPr>
          </a:p>
          <a:p>
            <a:pPr>
              <a:lnSpc>
                <a:spcPct val="110000"/>
              </a:lnSpc>
              <a:buNone/>
            </a:pPr>
            <a:endParaRPr lang="en-US" b="0" dirty="0">
              <a:solidFill>
                <a:srgbClr val="795E26"/>
              </a:solidFill>
              <a:effectLst/>
              <a:latin typeface="Menlo" panose="020B0609030804020204" pitchFamily="49" charset="0"/>
            </a:endParaRP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p>
          <a:p>
            <a:pPr>
              <a:lnSpc>
                <a:spcPct val="110000"/>
              </a:lnSpc>
              <a:buNone/>
            </a:pPr>
            <a:endParaRPr lang="en-US" b="0" dirty="0">
              <a:solidFill>
                <a:srgbClr val="0000FF"/>
              </a:solidFill>
              <a:effectLst/>
              <a:latin typeface="Menlo" panose="020B0609030804020204" pitchFamily="49" charset="0"/>
            </a:endParaRPr>
          </a:p>
          <a:p>
            <a:pPr>
              <a:lnSpc>
                <a:spcPct val="110000"/>
              </a:lnSpc>
              <a:buNone/>
            </a:pPr>
            <a:endParaRPr lang="en-US" dirty="0">
              <a:solidFill>
                <a:srgbClr val="0000FF"/>
              </a:solidFill>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endParaRPr lang="en-US" b="0" dirty="0">
              <a:solidFill>
                <a:srgbClr val="795E26"/>
              </a:solidFill>
              <a:effectLst/>
              <a:latin typeface="Menlo" panose="020B0609030804020204" pitchFamily="49" charset="0"/>
            </a:endParaRPr>
          </a:p>
          <a:p>
            <a:pPr>
              <a:lnSpc>
                <a:spcPct val="110000"/>
              </a:lnSpc>
              <a:buNone/>
            </a:pPr>
            <a:endParaRPr lang="en-US" dirty="0">
              <a:solidFill>
                <a:srgbClr val="795E26"/>
              </a:solidFill>
              <a:latin typeface="Menlo" panose="020B0609030804020204" pitchFamily="49" charset="0"/>
            </a:endParaRP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p>
          <a:p>
            <a:pPr>
              <a:lnSpc>
                <a:spcPct val="110000"/>
              </a:lnSpc>
              <a:buNone/>
            </a:pPr>
            <a:endParaRPr lang="en-US" b="0" dirty="0">
              <a:solidFill>
                <a:srgbClr val="3B3B3B"/>
              </a:solidFill>
              <a:effectLst/>
              <a:latin typeface="Menlo" panose="020B0609030804020204" pitchFamily="49" charset="0"/>
            </a:endParaRP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29</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return an ID distinct from any ID in the database'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endParaRPr lang="en-US" b="0" dirty="0">
              <a:solidFill>
                <a:srgbClr val="795E26"/>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we'll add 3 students and check to see that their IDs are all different.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corey</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'del’</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a:t>
            </a:r>
          </a:p>
          <a:p>
            <a:pPr>
              <a:lnSpc>
                <a:spcPct val="110000"/>
              </a:lnSpc>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7A9CB-D4E5-3428-E8C6-F320EB6E41C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2032A9C-7FE0-542E-D328-1DA19D34993F}"/>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30</a:t>
            </a:fld>
            <a:endParaRPr lang="en-US"/>
          </a:p>
        </p:txBody>
      </p:sp>
      <p:sp>
        <p:nvSpPr>
          <p:cNvPr id="2" name="Title 1">
            <a:extLst>
              <a:ext uri="{FF2B5EF4-FFF2-40B4-BE49-F238E27FC236}">
                <a16:creationId xmlns:a16="http://schemas.microsoft.com/office/drawing/2014/main" id="{09145ACD-D6E4-774F-523F-2678FC0960C8}"/>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AA9B8750-ED62-4345-DF6D-792748ADE401}"/>
              </a:ext>
            </a:extLst>
          </p:cNvPr>
          <p:cNvSpPr txBox="1"/>
          <p:nvPr/>
        </p:nvSpPr>
        <p:spPr>
          <a:xfrm>
            <a:off x="744068" y="1555036"/>
            <a:ext cx="11834794"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permit adding a student w/ same name as an existing student’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10135689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31</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1834794"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permit adding a student w/ same name as an existing student’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72850-973D-8EAB-83F6-FA8C0303B79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1B332F-7D57-99F6-0353-6C1BD1948AF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32</a:t>
            </a:fld>
            <a:endParaRPr lang="en-US"/>
          </a:p>
        </p:txBody>
      </p:sp>
      <p:sp>
        <p:nvSpPr>
          <p:cNvPr id="2" name="Title 1">
            <a:extLst>
              <a:ext uri="{FF2B5EF4-FFF2-40B4-BE49-F238E27FC236}">
                <a16:creationId xmlns:a16="http://schemas.microsoft.com/office/drawing/2014/main" id="{C7511F12-D9AC-6766-82BE-1123401E4011}"/>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5489491B-3E78-75A6-E256-C5789A1C7D37}"/>
              </a:ext>
            </a:extLst>
          </p:cNvPr>
          <p:cNvSpPr txBox="1"/>
          <p:nvPr/>
        </p:nvSpPr>
        <p:spPr>
          <a:xfrm>
            <a:off x="744068" y="1555036"/>
            <a:ext cx="11834794" cy="45520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795E26"/>
                </a:solidFill>
                <a:latin typeface="Menlo" panose="020B0609030804020204" pitchFamily="49" charset="0"/>
              </a:rPr>
              <a:t>describe</a:t>
            </a:r>
            <a:r>
              <a:rPr lang="en-US" dirty="0">
                <a:solidFill>
                  <a:srgbClr val="3B3B3B"/>
                </a:solidFill>
                <a:latin typeface="Menlo" panose="020B0609030804020204" pitchFamily="49" charset="0"/>
              </a:rPr>
              <a:t>(</a:t>
            </a:r>
            <a:r>
              <a:rPr lang="en-US" dirty="0">
                <a:solidFill>
                  <a:srgbClr val="A31515"/>
                </a:solidFill>
                <a:latin typeface="Menlo" panose="020B0609030804020204" pitchFamily="49" charset="0"/>
              </a:rPr>
              <a:t>'</a:t>
            </a:r>
            <a:r>
              <a:rPr lang="en-US" dirty="0" err="1">
                <a:solidFill>
                  <a:srgbClr val="A31515"/>
                </a:solidFill>
                <a:latin typeface="Menlo" panose="020B0609030804020204" pitchFamily="49" charset="0"/>
              </a:rPr>
              <a:t>getTranscript</a:t>
            </a:r>
            <a:r>
              <a:rPr lang="en-US" dirty="0">
                <a:solidFill>
                  <a:srgbClr val="A31515"/>
                </a:solidFill>
                <a:latin typeface="Menlo" panose="020B0609030804020204" pitchFamily="49" charset="0"/>
              </a:rPr>
              <a:t>'</a:t>
            </a:r>
            <a:r>
              <a:rPr lang="en-US" dirty="0">
                <a:solidFill>
                  <a:srgbClr val="3B3B3B"/>
                </a:solidFill>
                <a:latin typeface="Menlo" panose="020B0609030804020204" pitchFamily="49" charset="0"/>
              </a:rPr>
              <a:t>, () </a:t>
            </a:r>
            <a:r>
              <a:rPr lang="en-US" dirty="0">
                <a:solidFill>
                  <a:srgbClr val="0000FF"/>
                </a:solidFill>
                <a:latin typeface="Menlo" panose="020B0609030804020204" pitchFamily="49" charset="0"/>
              </a:rPr>
              <a:t>=&gt;</a:t>
            </a:r>
            <a:r>
              <a:rPr lang="en-US" dirty="0">
                <a:solidFill>
                  <a:srgbClr val="3B3B3B"/>
                </a:solidFill>
                <a:latin typeface="Menlo" panose="020B0609030804020204" pitchFamily="49" charset="0"/>
              </a:rPr>
              <a:t> {</a:t>
            </a:r>
          </a:p>
          <a:p>
            <a:r>
              <a:rPr lang="en-US" dirty="0">
                <a:solidFill>
                  <a:schemeClr val="tx1"/>
                </a:solidFill>
                <a:latin typeface="Menlo" panose="020B0609030804020204" pitchFamily="49" charset="0"/>
              </a:rPr>
              <a:t>  </a:t>
            </a:r>
            <a:r>
              <a:rPr lang="en-US" dirty="0">
                <a:solidFill>
                  <a:srgbClr val="795E26"/>
                </a:solidFill>
                <a:latin typeface="Menlo" panose="020B0609030804020204" pitchFamily="49" charset="0"/>
              </a:rPr>
              <a:t>it</a:t>
            </a:r>
            <a:r>
              <a:rPr lang="en-US" dirty="0">
                <a:solidFill>
                  <a:schemeClr val="tx1"/>
                </a:solidFill>
                <a:latin typeface="Menlo" panose="020B0609030804020204" pitchFamily="49" charset="0"/>
              </a:rPr>
              <a:t>(</a:t>
            </a:r>
            <a:r>
              <a:rPr lang="en-US" dirty="0">
                <a:solidFill>
                  <a:srgbClr val="C00000"/>
                </a:solidFill>
                <a:latin typeface="Menlo" panose="020B0609030804020204" pitchFamily="49" charset="0"/>
              </a:rPr>
              <a:t>'should permit adding a student w/ same name as an existing student’</a:t>
            </a:r>
            <a:r>
              <a:rPr lang="en-US" dirty="0">
                <a:solidFill>
                  <a:schemeClr val="tx1"/>
                </a:solidFill>
                <a:latin typeface="Menlo" panose="020B0609030804020204" pitchFamily="49" charset="0"/>
              </a:rPr>
              <a:t>, () =&gt; {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rPr>
              <a:t>const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70C1"/>
                </a:solidFill>
                <a:latin typeface="Menlo" panose="020B0609030804020204" pitchFamily="49" charset="0"/>
              </a:rPr>
              <a:t>id1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db.addStudent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dirty="0" err="1">
                <a:solidFill>
                  <a:srgbClr val="C00000"/>
                </a:solidFill>
                <a:latin typeface="Menlo" panose="020B0609030804020204" pitchFamily="49" charset="0"/>
                <a:ea typeface="Menlo" panose="020B0609030804020204" pitchFamily="49" charset="0"/>
                <a:cs typeface="Menlo" panose="020B0609030804020204" pitchFamily="49" charset="0"/>
              </a:rPr>
              <a:t>blair</a:t>
            </a:r>
            <a:r>
              <a:rPr lang="en-US"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db.getTranscript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rgbClr val="0070C1"/>
                </a:solidFill>
                <a:latin typeface="Menlo" panose="020B0609030804020204" pitchFamily="49" charset="0"/>
              </a:rPr>
              <a:t>id1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not.toBeNull</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br>
              <a:rPr lang="en-US" dirty="0">
                <a:solidFill>
                  <a:schemeClr val="tx1"/>
                </a:solidFill>
                <a:latin typeface="Menlo" panose="020B0609030804020204" pitchFamily="49" charset="0"/>
                <a:ea typeface="Menlo" panose="020B0609030804020204" pitchFamily="49" charset="0"/>
                <a:cs typeface="Menlo" panose="020B0609030804020204" pitchFamily="49" charset="0"/>
              </a:rPr>
            </a:br>
            <a:endParaRPr lang="en-US"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dirty="0">
                <a:solidFill>
                  <a:schemeClr val="tx1"/>
                </a:solidFill>
                <a:latin typeface="Menlo" panose="020B0609030804020204" pitchFamily="49" charset="0"/>
              </a:rPr>
              <a:t>  </a:t>
            </a:r>
            <a:r>
              <a:rPr lang="en-US" dirty="0">
                <a:solidFill>
                  <a:srgbClr val="795E26"/>
                </a:solidFill>
                <a:latin typeface="Menlo" panose="020B0609030804020204" pitchFamily="49" charset="0"/>
              </a:rPr>
              <a:t>it</a:t>
            </a:r>
            <a:r>
              <a:rPr lang="en-US" dirty="0">
                <a:solidFill>
                  <a:schemeClr val="tx1"/>
                </a:solidFill>
                <a:latin typeface="Menlo" panose="020B0609030804020204" pitchFamily="49" charset="0"/>
              </a:rPr>
              <a:t>(</a:t>
            </a:r>
            <a:r>
              <a:rPr lang="en-US" dirty="0">
                <a:solidFill>
                  <a:srgbClr val="C00000"/>
                </a:solidFill>
                <a:latin typeface="Menlo" panose="020B0609030804020204" pitchFamily="49" charset="0"/>
              </a:rPr>
              <a:t>'should permit adding a student w/ same name as an existing student’</a:t>
            </a:r>
            <a:r>
              <a:rPr lang="en-US" dirty="0">
                <a:solidFill>
                  <a:schemeClr val="tx1"/>
                </a:solidFill>
                <a:latin typeface="Menlo" panose="020B0609030804020204" pitchFamily="49" charset="0"/>
              </a:rPr>
              <a:t>, () =&gt; {</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in an empty database, all IDs are bad :)</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Note: the expression you expect to throw</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must be wrapped in a (() =&gt;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=&gt;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db.getTranscript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toThrowError</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b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br>
            <a:endPar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23836908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let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1080"/>
                </a:solidFill>
                <a:latin typeface="Menlo" panose="020B0609030804020204" pitchFamily="49" charset="0"/>
                <a:ea typeface="Menlo" panose="020B0609030804020204" pitchFamily="49" charset="0"/>
                <a:cs typeface="Menlo" panose="020B0609030804020204" pitchFamily="49" charset="0"/>
              </a:rPr>
              <a:t>db</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267F99"/>
                </a:solidFill>
                <a:latin typeface="Menlo" panose="020B0609030804020204" pitchFamily="49" charset="0"/>
                <a:ea typeface="Menlo" panose="020B0609030804020204" pitchFamily="49" charset="0"/>
                <a:cs typeface="Menlo" panose="020B0609030804020204" pitchFamily="49" charset="0"/>
              </a:rPr>
              <a:t>TranscriptService</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r>
              <a:rPr lang="en-US" dirty="0" err="1">
                <a:solidFill>
                  <a:srgbClr val="795E26"/>
                </a:solidFill>
                <a:latin typeface="Menlo" panose="020B0609030804020204" pitchFamily="49" charset="0"/>
                <a:ea typeface="Menlo" panose="020B0609030804020204" pitchFamily="49" charset="0"/>
                <a:cs typeface="Menlo" panose="020B0609030804020204" pitchFamily="49" charset="0"/>
              </a:rPr>
              <a:t>beforeAll</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=&gt;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p>
          <a:p>
            <a:pPr>
              <a:lnSpc>
                <a:spcPct val="110000"/>
              </a:lnSpc>
              <a:buNone/>
            </a:pPr>
            <a:r>
              <a:rPr lang="en-US" dirty="0">
                <a:solidFill>
                  <a:srgbClr val="001080"/>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1080"/>
                </a:solidFill>
                <a:latin typeface="Menlo" panose="020B0609030804020204" pitchFamily="49" charset="0"/>
                <a:ea typeface="Menlo" panose="020B0609030804020204" pitchFamily="49" charset="0"/>
                <a:cs typeface="Menlo" panose="020B0609030804020204" pitchFamily="49" charset="0"/>
              </a:rPr>
              <a:t>db</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new</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267F99"/>
                </a:solidFill>
                <a:latin typeface="Menlo" panose="020B0609030804020204" pitchFamily="49" charset="0"/>
                <a:ea typeface="Menlo" panose="020B0609030804020204" pitchFamily="49" charset="0"/>
                <a:cs typeface="Menlo" panose="020B0609030804020204" pitchFamily="49" charset="0"/>
              </a:rPr>
              <a:t>TranscriptDB</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endParaRPr lang="en-US" dirty="0">
              <a:solidFill>
                <a:srgbClr val="3B3B3B"/>
              </a:solidFill>
              <a:latin typeface="Menlo" panose="020B0609030804020204" pitchFamily="49" charset="0"/>
              <a:ea typeface="Menlo" panose="020B0609030804020204" pitchFamily="49" charset="0"/>
              <a:cs typeface="Menlo" panose="020B0609030804020204" pitchFamily="49" charset="0"/>
            </a:endParaRPr>
          </a:p>
          <a:p>
            <a:r>
              <a:rPr lang="en-US" dirty="0" err="1">
                <a:solidFill>
                  <a:srgbClr val="795E26"/>
                </a:solidFill>
                <a:latin typeface="Menlo" panose="020B0609030804020204" pitchFamily="49" charset="0"/>
                <a:ea typeface="Menlo" panose="020B0609030804020204" pitchFamily="49" charset="0"/>
                <a:cs typeface="Menlo" panose="020B0609030804020204" pitchFamily="49" charset="0"/>
              </a:rPr>
              <a:t>beforeEach</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=&gt;</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p>
          <a:p>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0000"/>
                </a:solidFill>
                <a:latin typeface="Menlo" panose="020B0609030804020204" pitchFamily="49" charset="0"/>
                <a:ea typeface="Menlo" panose="020B0609030804020204" pitchFamily="49" charset="0"/>
                <a:cs typeface="Menlo" panose="020B0609030804020204" pitchFamily="49" charset="0"/>
              </a:rPr>
              <a:t>db.clear</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p>
          <a:p>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p>
          <a:p>
            <a:endParaRPr lang="en-US" b="0" dirty="0">
              <a:solidFill>
                <a:srgbClr val="000000"/>
              </a:solidFill>
              <a:effectLst/>
              <a:latin typeface="Menlo" panose="020B0609030804020204" pitchFamily="49" charset="0"/>
              <a:ea typeface="Menlo" panose="020B0609030804020204" pitchFamily="49" charset="0"/>
              <a:cs typeface="Menlo" panose="020B060903080402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33</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a:t>
            </a:r>
          </a:p>
          <a:p>
            <a:pPr>
              <a:lnSpc>
                <a:spcPct val="110000"/>
              </a:lnSpc>
              <a:buNone/>
            </a:pPr>
            <a:r>
              <a:rPr lang="en-US" b="0" dirty="0" err="1">
                <a:solidFill>
                  <a:srgbClr val="795E26"/>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new</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TranscriptDB</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a:t>…now TDD lets us implement </a:t>
            </a:r>
            <a:r>
              <a:rPr lang="en-US" err="1"/>
              <a:t>addStudent</a:t>
            </a:r>
            <a:r>
              <a:rPr lang="en-US"/>
              <a:t>!</a:t>
            </a:r>
          </a:p>
        </p:txBody>
      </p:sp>
      <p:sp>
        <p:nvSpPr>
          <p:cNvPr id="5" name="Content Placeholder 4">
            <a:extLst>
              <a:ext uri="{FF2B5EF4-FFF2-40B4-BE49-F238E27FC236}">
                <a16:creationId xmlns:a16="http://schemas.microsoft.com/office/drawing/2014/main" id="{2CC0F007-BB9D-7A51-F58C-1EA9644E83F3}"/>
              </a:ext>
            </a:extLst>
          </p:cNvPr>
          <p:cNvSpPr>
            <a:spLocks noGrp="1"/>
          </p:cNvSpPr>
          <p:nvPr>
            <p:ph idx="1"/>
          </p:nvPr>
        </p:nvSpPr>
        <p:spPr>
          <a:xfrm>
            <a:off x="838199" y="1500159"/>
            <a:ext cx="10322169" cy="1688517"/>
          </a:xfrm>
        </p:spPr>
        <p:txBody>
          <a:bodyPr>
            <a:normAutofit/>
          </a:bodyPr>
          <a:lstStyle/>
          <a:p>
            <a:pPr marL="0" indent="0">
              <a:buNone/>
            </a:pPr>
            <a:r>
              <a:rPr lang="en-US"/>
              <a:t>Implementing the </a:t>
            </a:r>
            <a:r>
              <a:rPr lang="en-US" err="1"/>
              <a:t>TranscriptDB</a:t>
            </a:r>
            <a:r>
              <a:rPr lang="en-US"/>
              <a:t> according to the </a:t>
            </a:r>
            <a:r>
              <a:rPr lang="en-US" err="1"/>
              <a:t>TranscriptService</a:t>
            </a:r>
            <a:r>
              <a:rPr lang="en-US"/>
              <a:t> spec will let us turn our testable behaviors into fully executable tests.</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34</a:t>
            </a:fld>
            <a:endParaRPr lang="en-US"/>
          </a:p>
        </p:txBody>
      </p:sp>
      <p:grpSp>
        <p:nvGrpSpPr>
          <p:cNvPr id="6" name="Group 5">
            <a:extLst>
              <a:ext uri="{FF2B5EF4-FFF2-40B4-BE49-F238E27FC236}">
                <a16:creationId xmlns:a16="http://schemas.microsoft.com/office/drawing/2014/main" id="{699F15D9-00BA-F146-965A-3D5E61FB4703}"/>
              </a:ext>
            </a:extLst>
          </p:cNvPr>
          <p:cNvGrpSpPr/>
          <p:nvPr/>
        </p:nvGrpSpPr>
        <p:grpSpPr>
          <a:xfrm>
            <a:off x="435253" y="2610651"/>
            <a:ext cx="11321493" cy="4110824"/>
            <a:chOff x="133350" y="1786330"/>
            <a:chExt cx="11321493" cy="4110824"/>
          </a:xfrm>
        </p:grpSpPr>
        <p:sp>
          <p:nvSpPr>
            <p:cNvPr id="7" name="Rectangle: Rounded Corners 8">
              <a:extLst>
                <a:ext uri="{FF2B5EF4-FFF2-40B4-BE49-F238E27FC236}">
                  <a16:creationId xmlns:a16="http://schemas.microsoft.com/office/drawing/2014/main" id="{37D04995-0B29-D574-44D6-1C1347C7A3F1}"/>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Satisfaction Conditions</a:t>
              </a:r>
            </a:p>
          </p:txBody>
        </p:sp>
        <p:sp>
          <p:nvSpPr>
            <p:cNvPr id="8" name="Rectangle: Rounded Corners 9">
              <a:extLst>
                <a:ext uri="{FF2B5EF4-FFF2-40B4-BE49-F238E27FC236}">
                  <a16:creationId xmlns:a16="http://schemas.microsoft.com/office/drawing/2014/main" id="{B1BFD337-6AA2-B07D-05F3-02949B505BD2}"/>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Executable Tests</a:t>
              </a:r>
            </a:p>
          </p:txBody>
        </p:sp>
        <p:sp>
          <p:nvSpPr>
            <p:cNvPr id="9" name="Rectangle: Rounded Corners 10">
              <a:extLst>
                <a:ext uri="{FF2B5EF4-FFF2-40B4-BE49-F238E27FC236}">
                  <a16:creationId xmlns:a16="http://schemas.microsoft.com/office/drawing/2014/main" id="{65FF3A29-047C-BCB2-3409-D935F1458029}"/>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Testable Behaviors</a:t>
              </a:r>
            </a:p>
          </p:txBody>
        </p:sp>
        <p:sp>
          <p:nvSpPr>
            <p:cNvPr id="10" name="Rectangle: Rounded Corners 11">
              <a:extLst>
                <a:ext uri="{FF2B5EF4-FFF2-40B4-BE49-F238E27FC236}">
                  <a16:creationId xmlns:a16="http://schemas.microsoft.com/office/drawing/2014/main" id="{0A5EA2C0-21C5-A177-B818-3F5288A8414F}"/>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Executing Code</a:t>
              </a:r>
            </a:p>
          </p:txBody>
        </p:sp>
        <p:sp>
          <p:nvSpPr>
            <p:cNvPr id="11" name="Isosceles Triangle 13">
              <a:extLst>
                <a:ext uri="{FF2B5EF4-FFF2-40B4-BE49-F238E27FC236}">
                  <a16:creationId xmlns:a16="http://schemas.microsoft.com/office/drawing/2014/main" id="{2ACAF0E2-4772-7950-1F0F-4183B101134D}"/>
                </a:ext>
              </a:extLst>
            </p:cNvPr>
            <p:cNvSpPr/>
            <p:nvPr/>
          </p:nvSpPr>
          <p:spPr>
            <a:xfrm rot="5400000">
              <a:off x="227364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2" name="Isosceles Triangle 14">
              <a:extLst>
                <a:ext uri="{FF2B5EF4-FFF2-40B4-BE49-F238E27FC236}">
                  <a16:creationId xmlns:a16="http://schemas.microsoft.com/office/drawing/2014/main" id="{6942D7D3-34AC-8A7A-5E55-5B03E9DD4068}"/>
                </a:ext>
              </a:extLst>
            </p:cNvPr>
            <p:cNvSpPr/>
            <p:nvPr/>
          </p:nvSpPr>
          <p:spPr>
            <a:xfrm rot="5400000">
              <a:off x="537213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3" name="Isosceles Triangle 15">
              <a:extLst>
                <a:ext uri="{FF2B5EF4-FFF2-40B4-BE49-F238E27FC236}">
                  <a16:creationId xmlns:a16="http://schemas.microsoft.com/office/drawing/2014/main" id="{CD688A54-81A6-4752-D593-1DAE613F4C6B}"/>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4" name="TextBox 13">
              <a:extLst>
                <a:ext uri="{FF2B5EF4-FFF2-40B4-BE49-F238E27FC236}">
                  <a16:creationId xmlns:a16="http://schemas.microsoft.com/office/drawing/2014/main" id="{8F9C8517-35C9-604B-2A9C-F6D7519C4AE5}"/>
                </a:ext>
              </a:extLst>
            </p:cNvPr>
            <p:cNvSpPr txBox="1"/>
            <p:nvPr/>
          </p:nvSpPr>
          <p:spPr>
            <a:xfrm>
              <a:off x="1600232" y="1821455"/>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Analyze</a:t>
              </a:r>
            </a:p>
          </p:txBody>
        </p:sp>
        <p:sp>
          <p:nvSpPr>
            <p:cNvPr id="15" name="TextBox 14">
              <a:extLst>
                <a:ext uri="{FF2B5EF4-FFF2-40B4-BE49-F238E27FC236}">
                  <a16:creationId xmlns:a16="http://schemas.microsoft.com/office/drawing/2014/main" id="{C5C74A3D-107C-A976-8FBC-38494CD8F27E}"/>
                </a:ext>
              </a:extLst>
            </p:cNvPr>
            <p:cNvSpPr txBox="1"/>
            <p:nvPr/>
          </p:nvSpPr>
          <p:spPr>
            <a:xfrm>
              <a:off x="4694927"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Design</a:t>
              </a:r>
            </a:p>
          </p:txBody>
        </p:sp>
        <p:sp>
          <p:nvSpPr>
            <p:cNvPr id="16" name="TextBox 15">
              <a:extLst>
                <a:ext uri="{FF2B5EF4-FFF2-40B4-BE49-F238E27FC236}">
                  <a16:creationId xmlns:a16="http://schemas.microsoft.com/office/drawing/2014/main" id="{0AF3C444-3E10-AB01-92CB-6DD7B9D74DD4}"/>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Code</a:t>
              </a:r>
            </a:p>
          </p:txBody>
        </p:sp>
        <p:sp>
          <p:nvSpPr>
            <p:cNvPr id="17" name="Arrow: Curved Left 19">
              <a:extLst>
                <a:ext uri="{FF2B5EF4-FFF2-40B4-BE49-F238E27FC236}">
                  <a16:creationId xmlns:a16="http://schemas.microsoft.com/office/drawing/2014/main" id="{AB7C0D20-D749-EC73-6E8B-CB49056A9F50}"/>
                </a:ext>
              </a:extLst>
            </p:cNvPr>
            <p:cNvSpPr/>
            <p:nvPr/>
          </p:nvSpPr>
          <p:spPr>
            <a:xfrm rot="5400000">
              <a:off x="8696614" y="2651423"/>
              <a:ext cx="576654" cy="2815637"/>
            </a:xfrm>
            <a:prstGeom prst="curvedLeftArrow">
              <a:avLst>
                <a:gd name="adj1" fmla="val 25001"/>
                <a:gd name="adj2" fmla="val 50000"/>
                <a:gd name="adj3" fmla="val 38214"/>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8" name="Arrow: Curved Left 20">
              <a:extLst>
                <a:ext uri="{FF2B5EF4-FFF2-40B4-BE49-F238E27FC236}">
                  <a16:creationId xmlns:a16="http://schemas.microsoft.com/office/drawing/2014/main" id="{40078796-E590-1AF2-7A37-3AE2581B0C77}"/>
                </a:ext>
              </a:extLst>
            </p:cNvPr>
            <p:cNvSpPr/>
            <p:nvPr/>
          </p:nvSpPr>
          <p:spPr>
            <a:xfrm rot="5400000">
              <a:off x="6769522" y="1163813"/>
              <a:ext cx="1367579" cy="6581775"/>
            </a:xfrm>
            <a:prstGeom prst="curvedLeftArrow">
              <a:avLst>
                <a:gd name="adj1" fmla="val 25000"/>
                <a:gd name="adj2" fmla="val 50000"/>
                <a:gd name="adj3" fmla="val 25000"/>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9" name="Arrow: Curved Left 21">
              <a:extLst>
                <a:ext uri="{FF2B5EF4-FFF2-40B4-BE49-F238E27FC236}">
                  <a16:creationId xmlns:a16="http://schemas.microsoft.com/office/drawing/2014/main" id="{C6790096-E3C0-2B73-9081-85A5C1003C25}"/>
                </a:ext>
              </a:extLst>
            </p:cNvPr>
            <p:cNvSpPr/>
            <p:nvPr/>
          </p:nvSpPr>
          <p:spPr>
            <a:xfrm rot="5400000">
              <a:off x="5032879" y="-135194"/>
              <a:ext cx="2126243" cy="9938454"/>
            </a:xfrm>
            <a:prstGeom prst="curvedLeftArrow">
              <a:avLst>
                <a:gd name="adj1" fmla="val 14986"/>
                <a:gd name="adj2" fmla="val 50000"/>
                <a:gd name="adj3" fmla="val 13801"/>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grpSp>
    </p:spTree>
    <p:extLst>
      <p:ext uri="{BB962C8B-B14F-4D97-AF65-F5344CB8AC3E}">
        <p14:creationId xmlns:p14="http://schemas.microsoft.com/office/powerpoint/2010/main" val="16093796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a:t>Review</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1500159"/>
            <a:ext cx="8429368" cy="5221315"/>
          </a:xfrm>
        </p:spPr>
        <p:txBody>
          <a:bodyPr>
            <a:normAutofit/>
          </a:bodyPr>
          <a:lstStyle/>
          <a:p>
            <a:pPr marL="0" indent="0">
              <a:buNone/>
            </a:pPr>
            <a:r>
              <a:rPr lang="en-US" dirty="0"/>
              <a:t>It’s the end of the lesson, so you should be prepared to:</a:t>
            </a:r>
          </a:p>
          <a:p>
            <a:pPr lvl="1"/>
            <a:r>
              <a:rPr lang="en-US" dirty="0"/>
              <a:t>Explain the overall purposes of requirements analysis</a:t>
            </a:r>
          </a:p>
          <a:p>
            <a:pPr lvl="1"/>
            <a:r>
              <a:rPr lang="en-US" dirty="0"/>
              <a:t>Recall the three major dimensions of risk in requirements analysis</a:t>
            </a:r>
          </a:p>
          <a:p>
            <a:pPr lvl="1"/>
            <a:r>
              <a:rPr lang="en-US" dirty="0"/>
              <a:t>Explain the connection between requirements analysis and user stories</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35</a:t>
            </a:fld>
            <a:endParaRPr lang="en-US"/>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23003</TotalTime>
  <Words>4840</Words>
  <Application>Microsoft Macintosh PowerPoint</Application>
  <PresentationFormat>Widescreen</PresentationFormat>
  <Paragraphs>534</Paragraphs>
  <Slides>35</Slides>
  <Notes>26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35</vt:i4>
      </vt:variant>
    </vt:vector>
  </HeadingPairs>
  <TitlesOfParts>
    <vt:vector size="46" baseType="lpstr">
      <vt:lpstr>Ink Free</vt:lpstr>
      <vt:lpstr>Arial</vt:lpstr>
      <vt:lpstr>Verdana</vt:lpstr>
      <vt:lpstr>Consolas</vt:lpstr>
      <vt:lpstr>Menlo</vt:lpstr>
      <vt:lpstr>Calibri</vt:lpstr>
      <vt:lpstr>Helvetica Neue</vt:lpstr>
      <vt:lpstr>Times New Roman</vt:lpstr>
      <vt:lpstr>Calibri Light</vt:lpstr>
      <vt:lpstr>Wingdings</vt:lpstr>
      <vt:lpstr>Office Theme</vt:lpstr>
      <vt:lpstr>CS 4530: Fundamentals of Software Engineering Module 2: From Requirements to Tests</vt:lpstr>
      <vt:lpstr>Learning Goals for this Lesson</vt:lpstr>
      <vt:lpstr>Non-Goals for this Lesson</vt:lpstr>
      <vt:lpstr>The big picture</vt:lpstr>
      <vt:lpstr>Part 1: Requirements analysis</vt:lpstr>
      <vt:lpstr>Overall question: How to make sure we are building the right thing</vt:lpstr>
      <vt:lpstr>Why is requirements analysis hard?</vt:lpstr>
      <vt:lpstr>How do we capture the requirements?</vt:lpstr>
      <vt:lpstr>Common Elements</vt:lpstr>
      <vt:lpstr>Requirements gathering frameworks inform the structure and priority of user stories</vt:lpstr>
      <vt:lpstr>Requirements gathering frameworks inform the structure and priority of user stories</vt:lpstr>
      <vt:lpstr>VSD Example – Informed Consent</vt:lpstr>
      <vt:lpstr>Review: Requirements analysis</vt:lpstr>
      <vt:lpstr>Part 3: Test-Driven Development</vt:lpstr>
      <vt:lpstr>Review: User Stories</vt:lpstr>
      <vt:lpstr>Review: Conditions of Satisfaction</vt:lpstr>
      <vt:lpstr>Test Driven Development (TDD)</vt:lpstr>
      <vt:lpstr>The TDD Cycle</vt:lpstr>
      <vt:lpstr>CoS are ultimately about the user</vt:lpstr>
      <vt:lpstr>CoS are ultimately about the user</vt:lpstr>
      <vt:lpstr>Analyzing CoS to get testable behaviors</vt:lpstr>
      <vt:lpstr>Analyzing CoS to get testable behaviors</vt:lpstr>
      <vt:lpstr>The tiniest introduction to Vitest</vt:lpstr>
      <vt:lpstr>The tiniest introduction to Vitest</vt:lpstr>
      <vt:lpstr>The tiniest introduction to Vitest</vt:lpstr>
      <vt:lpstr>The tiniest introduction to Vitest</vt:lpstr>
      <vt:lpstr>Turning testable behaviors into Vitest tests</vt:lpstr>
      <vt:lpstr>Turning testable behaviors into Vitest tests</vt:lpstr>
      <vt:lpstr>Turning testable behaviors into Vitest tests</vt:lpstr>
      <vt:lpstr>Turning testable behaviors into Vitest tests</vt:lpstr>
      <vt:lpstr>Turning testable behaviors into Vitest tests</vt:lpstr>
      <vt:lpstr>Turning testable behaviors into Vitest tests</vt:lpstr>
      <vt:lpstr>A quick word about cleanup</vt:lpstr>
      <vt:lpstr>…now TDD lets us implement addStudent!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229</cp:revision>
  <dcterms:created xsi:type="dcterms:W3CDTF">2021-01-07T15:19:22Z</dcterms:created>
  <dcterms:modified xsi:type="dcterms:W3CDTF">2025-12-26T15:37:31Z</dcterms:modified>
</cp:coreProperties>
</file>